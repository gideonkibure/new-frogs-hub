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4"/>
  </p:notesMasterIdLst>
  <p:handoutMasterIdLst>
    <p:handoutMasterId r:id="rId35"/>
  </p:handoutMasterIdLst>
  <p:sldIdLst>
    <p:sldId id="258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9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A50021"/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2735" autoAdjust="0"/>
  </p:normalViewPr>
  <p:slideViewPr>
    <p:cSldViewPr>
      <p:cViewPr varScale="1">
        <p:scale>
          <a:sx n="58" d="100"/>
          <a:sy n="58" d="100"/>
        </p:scale>
        <p:origin x="96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4FD6D92A-567C-5E8E-5CE1-04DB7D368F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ClrTx/>
              <a:buFontTx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17638FEC-864D-19D9-C4FF-95103E6F45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24" name="Rectangle 4">
            <a:extLst>
              <a:ext uri="{FF2B5EF4-FFF2-40B4-BE49-F238E27FC236}">
                <a16:creationId xmlns:a16="http://schemas.microsoft.com/office/drawing/2014/main" id="{20627B5E-86C7-DFC3-1162-FC3A5BF0B90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ClrTx/>
              <a:buFontTx/>
              <a:buNone/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25" name="Rectangle 5">
            <a:extLst>
              <a:ext uri="{FF2B5EF4-FFF2-40B4-BE49-F238E27FC236}">
                <a16:creationId xmlns:a16="http://schemas.microsoft.com/office/drawing/2014/main" id="{B8191844-85D3-E475-36F2-BBF25865FA3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650198C-24FC-4868-8ED9-0C7864A3C2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2CA96D-E46D-E2EE-2E10-A366D9DD71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85CC4-D485-5103-C545-E631DA4BE3B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D0712598-9D70-4539-BD81-ECB19EF002F4}" type="datetimeFigureOut">
              <a:rPr lang="en-US"/>
              <a:pPr>
                <a:defRPr/>
              </a:pPr>
              <a:t>4/14/2026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C9547F8-957E-07A1-CAC8-F519590F05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EF7E12-41A2-A60B-44D0-FDB3438E3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BED80-6108-8F9A-5168-459159F8E8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A2059-AE96-4F82-BCAE-69F54231B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9A8D02F-8890-4DBC-9EEF-63343974DC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1E9E5263-B270-2F12-A3F9-234DD11FF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84" y="1916114"/>
            <a:ext cx="103632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2284" y="549275"/>
            <a:ext cx="10363200" cy="1371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31D669A-6A25-0C11-A1B8-5042D3013D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BF989A6-B01B-51AD-997D-FE8CA55AD9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4D8456E-6242-F5AD-6E80-FDDB26C1C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B43C8-606B-4356-BE11-0D1DADF995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78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28D398-29B0-B809-B393-8E2DC393D5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DC0987E-04F7-6707-8CDE-EBCE65002B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C85D30A-E6CF-DD68-256D-5F901C4C3A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5CA47-D66B-4EDE-A423-2A0EC296C9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764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7C6BAD-D2A2-8E8C-F51D-3C28504C0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51C58E9-5388-FC6F-AB28-849CFF602A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0F476A4-A5E7-5C38-DE0E-ACDAD6A899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3B8A3-65AB-4288-91A5-E4C6AD9976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565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341438"/>
            <a:ext cx="5232400" cy="4678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341438"/>
            <a:ext cx="5232400" cy="4678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F46C56-0291-98D0-689A-3BA00177C9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2A8F67F-A154-D0DE-0F7E-B2A5A998A3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270BC5C-F4E7-592D-6D63-AA171914FC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85FDDE-9F6A-4427-AE5B-DBD1DDCA1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94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849125-51F4-BB7D-52B0-3E60C13FC3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DC167-51FC-69C6-DDC2-DE539AB465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2202BA-1B2F-B811-8354-127C13642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28AF05-812C-40DF-A284-5F7DBA05CB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558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C9A93D0-96EE-9D93-EAC4-EEBBB4940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8381682-CD4B-52C9-3249-032418418A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CF134CE-A522-CB63-42D3-C9C38759B7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14D25-6E25-437A-8021-80FAC4429F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6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89ACF30-C58B-DC9D-8AC5-4ADA034108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6048C8FC-37CD-6D97-6D31-D1B53F09CE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B311693-3D66-A12D-2F26-9670B6B027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6EC1B-DC1A-4364-9FD1-AF27513249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19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3EB7EC-7EF9-0A43-8BBA-CC7E5648AC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B789123-2F86-9DA0-ABB6-7F13B3FDC9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3BB8BEE-02F3-410D-193D-37BED4085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7959A-867C-4A15-9FF7-EE460BE24D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78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71E747F-B785-0927-1011-1C6F82F85A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8854C46-0BA4-1473-66E9-9922503559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42A9175-E981-2011-D699-D487C1891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AF3E0-DAB9-4DEF-AE12-B15ABD66DD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264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6A01EB-4954-D4D8-54E4-1FF3DBCEBC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9556907-D098-8BA1-AE7C-C50C5380AB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5B72D0C-E0AC-3310-FADB-D1B26411C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705AB-13AB-4DEB-9F98-FAD00D795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50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174864-D79E-A184-6739-25FE353750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5C4D859-D888-D7A4-584B-B82D55EE4E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C0ED729-4C01-67EB-D505-64ED45E90F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CB89E-5502-4B22-94FF-A2F7727ADB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7485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21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55651" y="1341438"/>
            <a:ext cx="5232400" cy="4678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341438"/>
            <a:ext cx="5232400" cy="4678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99FD92C-4403-3C68-8644-F21D85F9F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6CA29BB-99C0-A6E5-7500-9E43E37A7A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845FE67-FF9F-9F67-829D-46AEE1F3A8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A78205-D390-46AA-AAEC-941D8FC717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6114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8921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5651" y="1341438"/>
            <a:ext cx="10668000" cy="467836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95124E5-B68F-EBFD-A3A6-703D1F8082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157FC76-7B9A-82C2-1088-E1521DEED5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7FA8D21-CFEE-DFCF-835E-E690645751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797631-B653-4D50-97B6-4A72E3096D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672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1D23618-0853-E6B8-9A2A-155028994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2945089-3ECA-1E35-D02E-EE5AC9190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341438"/>
            <a:ext cx="10668000" cy="467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19006520-B9A9-4CA6-0F96-A557E04D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18" y="1196975"/>
            <a:ext cx="10610849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161D0314-5CDB-B554-1DAE-7CC39A1B37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4917" y="6237288"/>
            <a:ext cx="10566400" cy="0"/>
          </a:xfrm>
          <a:prstGeom prst="line">
            <a:avLst/>
          </a:prstGeom>
          <a:noFill/>
          <a:ln w="31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616D83BF-4ACE-D8CE-8162-075B466998E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ClrTx/>
              <a:buFontTx/>
              <a:buNone/>
              <a:defRPr sz="1200">
                <a:latin typeface="Verdan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8B0433F1-EC9C-C257-364B-AB65C9A504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FontTx/>
              <a:buNone/>
              <a:defRPr sz="1200">
                <a:latin typeface="Verdana" pitchFamily="34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3B4BA152-A550-790F-CFED-45C9E016CF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941EF315-CC5F-455C-ADEE-898FD72059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-"/>
        <a:defRPr sz="2400">
          <a:solidFill>
            <a:schemeClr val="tx1"/>
          </a:solidFill>
          <a:latin typeface="+mn-lt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907B797-5366-72A2-AEC4-5533A0A2C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424" y="836712"/>
            <a:ext cx="9793088" cy="1084163"/>
          </a:xfrm>
        </p:spPr>
        <p:txBody>
          <a:bodyPr/>
          <a:lstStyle/>
          <a:p>
            <a:br>
              <a:rPr lang="en-US" sz="2800" b="1" i="1" dirty="0">
                <a:solidFill>
                  <a:srgbClr val="FF0000"/>
                </a:solidFill>
              </a:rPr>
            </a:br>
            <a:endParaRPr lang="en-US" sz="3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AF9C6D8-3BD9-EBA2-4EEE-4F1B4815B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12192000" cy="4787764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             </a:t>
            </a:r>
            <a:r>
              <a:rPr lang="en-US" sz="2400" b="1" dirty="0"/>
              <a:t>Outline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DE905-DC59-C070-FCF2-5B32FDCD4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023174"/>
            <a:ext cx="3340272" cy="711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9661BC-A1D7-E7C2-6748-F41ECD3A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2600435"/>
            <a:ext cx="3930852" cy="1854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6B39B-9852-2E6D-416E-7E7AF9163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5284148"/>
            <a:ext cx="8928992" cy="55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9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FCA7-B5F9-2CEF-CED2-E0883D33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4295B-D3C5-0FFF-5232-135A1E19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38" y="3068960"/>
            <a:ext cx="9577646" cy="280831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8F80122-793E-423B-C228-4BE5183103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761938" y="1493615"/>
            <a:ext cx="9577646" cy="1575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7268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E634-20A5-88B7-6EE1-DC058535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E27D22-446A-AFAA-CEB6-8A18FE0EA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700808"/>
            <a:ext cx="3816546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4D595-F5EA-1B29-76A9-24E7B0942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1864" y="1700808"/>
            <a:ext cx="3949903" cy="2736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CD312F-E2C0-0C40-A0DE-60857402A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352" y="2492896"/>
            <a:ext cx="2016224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22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42B02-F0A2-508A-0906-26225C2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193D34-08A0-6DCF-1453-17F05B3B0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2" y="1340768"/>
            <a:ext cx="10668001" cy="5517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881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8444-F111-832A-FCD7-FB6BD62A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8C1374-7D7D-4A48-6EE1-A36EBAEA1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484784"/>
            <a:ext cx="11234423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811DFE-BD2C-4ECD-E7BC-D74E8D513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3" y="4604600"/>
            <a:ext cx="11234423" cy="15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3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0AC9-BCC1-37B5-D9C5-CB7356B3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ED8D7C-87C8-2E0C-4CAB-8D6F180B1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2636912"/>
            <a:ext cx="8136904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A1F092-D67A-382D-4A01-5ECFF6E06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68" y="276759"/>
            <a:ext cx="8145370" cy="236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93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01EF-B775-9F20-304E-C49FB4C7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8ACE82-0BD1-6391-36EB-B20C1979B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2" y="1556792"/>
            <a:ext cx="10802375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CA8A-47C5-C191-8FCA-9966A5FB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C4E58-C20E-62E8-C53D-51D2CB554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sinusoid can be expressed in either sine or cosine form. When</a:t>
            </a:r>
          </a:p>
          <a:p>
            <a:r>
              <a:rPr lang="en-US" dirty="0"/>
              <a:t>comparing two sinusoids, it is expedient to express both as either sine</a:t>
            </a:r>
          </a:p>
          <a:p>
            <a:r>
              <a:rPr lang="en-US" dirty="0"/>
              <a:t>or cosine with positive amplitudes. This is achieved by using the trigonometric identities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8BCAF-2E69-17D3-4CB1-A1417244D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3" y="3284984"/>
            <a:ext cx="9938279" cy="35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7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6496-171C-498C-852C-EFB7F9BA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Example 01.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C73CBF-CA54-8206-D0AC-1DBF921E5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87021" y="2060848"/>
            <a:ext cx="9145016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6849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FBA83-FE73-91D6-C318-175E3D0E1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7A0EB8-5A08-8CB7-FDFC-F81BBC631F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700808"/>
            <a:ext cx="9725754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57BF3C-4F53-BA69-3A32-F5454F512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8" y="3212976"/>
            <a:ext cx="10245936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46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7960-ACCE-DB69-F93E-1A25D560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943DFC-B0AB-3C0A-07D2-DEE045000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340768"/>
            <a:ext cx="10509544" cy="4870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7466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0619-E741-7B90-9A6A-325D5A5C4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542967-E1D4-1BD0-DF88-DA98B89D6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484784"/>
            <a:ext cx="8854157" cy="280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DD9BCA-D46B-9725-B971-EB292E997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2" y="4314038"/>
            <a:ext cx="8854157" cy="18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87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8E734-A534-80A0-7AF4-67656EBD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Home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6898CD-5274-9F39-7196-21C696871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72158" y="1484784"/>
            <a:ext cx="10292394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7181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29574-B233-ACC9-3711-2476EB8A5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F0F424-145E-74A4-8927-9B475D6FF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95401" y="1700808"/>
            <a:ext cx="11233248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3583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456D-25CE-E659-15B5-DC3AA549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CD16C-8B2E-DDDE-0FE4-B120E6C2B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94812" y="1196976"/>
            <a:ext cx="10802375" cy="38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3800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98B5-A241-2BF2-29CC-24520D6EE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1F174A-9B6C-B3A5-D9C9-7295B3601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38640" y="1412776"/>
            <a:ext cx="9533823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C1AE00-C9EE-024B-4FDA-0D12F79F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99" y="3717032"/>
            <a:ext cx="9577063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78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E5E6-D500-DAB9-0005-493A5989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C10DCA-4240-7FBD-5640-E993824C4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340768"/>
            <a:ext cx="10978626" cy="537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408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799E-B90E-7645-B8AA-4AD1D49E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0A1DA3-BCEA-3256-5831-F5D9A7707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51384" y="1630612"/>
            <a:ext cx="8282094" cy="522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C5628-DDFA-75C0-C21D-6B7E3C5FD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88640"/>
            <a:ext cx="8282094" cy="144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509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6822-CCD4-6842-0CB4-1A31A353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70FA5D-FB44-4D18-0DD6-2C7510E5E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91471" y="1394893"/>
            <a:ext cx="10642761" cy="4410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9077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4D7C-57D5-3CC5-49A6-7BA8FB1F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FDBE-560D-80F9-67BD-A73789346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F2CEE-39F8-CA32-E0DA-AF7BC3AD6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3" y="1444580"/>
            <a:ext cx="10514343" cy="522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36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7D3A4-AA7C-8134-55D0-BFC2F7E8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8B47E6-F093-65A1-4D06-F3C1D410E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94659" y="1412776"/>
            <a:ext cx="8541702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64A572-3507-AB2C-EEC2-C850EED55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3" y="4567669"/>
            <a:ext cx="8541702" cy="216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82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FEEF-00AD-EB2E-4A4A-2C3FBE11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E580B9-AC03-74B2-AA2F-8C137DCBC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99768" y="1484784"/>
            <a:ext cx="10984863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993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C7F2-7AEE-3636-5BCD-AFF932EB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H/W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E98F4F-30A9-E25B-C9C7-F212AF987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11424" y="1412776"/>
            <a:ext cx="9649072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15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D101E-B9D2-5F94-F129-D3621D6CC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Phasor Relationships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for Circuit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B2A70-6A6A-6E00-96B2-C16774980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Now that we know how to represent a voltage or current in the phasor or frequency domain, one may legitimately ask how we apply</a:t>
            </a:r>
          </a:p>
          <a:p>
            <a:pPr algn="just"/>
            <a:r>
              <a:rPr lang="en-US" dirty="0"/>
              <a:t>This to circuits involving the passive elements</a:t>
            </a:r>
          </a:p>
          <a:p>
            <a:pPr algn="just"/>
            <a:r>
              <a:rPr lang="en-US" dirty="0"/>
              <a:t>R,L, and C. What we need to do is to transform the voltage-current relationship from the time domain to the frequency domain for each element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672A41-1C5B-E40B-AE11-D35FE725F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3933056"/>
            <a:ext cx="8712027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20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D98E-2768-6501-A1FC-2953E0D4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2AD605-B8D3-3537-A149-CB7E083D6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410" y="14238"/>
            <a:ext cx="12159590" cy="684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2207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5B59-02EA-D160-8233-54287871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9B3122-458D-FB88-2BE9-80465D0A1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340768"/>
            <a:ext cx="11233248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1434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69EA-CADB-B781-6739-F0AA8AF8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Impedance and Admittance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21477C-3B5F-23E7-3B35-BB86F0A44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53971" y="1268760"/>
            <a:ext cx="9734517" cy="547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5521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EEFC5-9C37-81F2-9B2B-C5BF77FE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71C931-1561-D9CB-6041-C12EFC6714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484784"/>
            <a:ext cx="10154303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4B6AEE-A823-FA27-366A-F586EA791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3" y="2852936"/>
            <a:ext cx="5904656" cy="354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78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8A72-618B-0DC9-4E33-D48E91EF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493ABA-0C02-1789-403E-B0A5997C1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3339" y="1340768"/>
            <a:ext cx="9160239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D82DE2-8F2A-F89D-74AE-D7D62161C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38" y="4753256"/>
            <a:ext cx="7722973" cy="136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70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9434-680B-9BC9-23A6-7DDA57789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Kirchhoff’s Laws in the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Frequency Domain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30985B-D694-CEA3-35A8-DA9707B87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628800"/>
            <a:ext cx="6897010" cy="892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56030-11A0-29A0-F360-13DA072D2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2" y="2520976"/>
            <a:ext cx="7345991" cy="24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9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6F864-E57D-F5BF-967B-02560EFD7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H/W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EC1CD8-D4B8-6018-A72E-E9AB6FE2EF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82845" y="1556792"/>
            <a:ext cx="9489619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818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4EC5-2D38-B842-1C97-725749FE5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H/W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E2199-0E37-FC96-24D2-707B6E670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66233" y="1484784"/>
            <a:ext cx="604984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3C50CD-A191-F64D-8A99-CB19E8F8D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32" y="2492896"/>
            <a:ext cx="6265871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5334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3366FF"/>
          </a:solidFill>
          <a:prstDash val="solid"/>
          <a:round/>
          <a:headEnd type="triangle" w="med" len="lg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3366FF"/>
          </a:solidFill>
          <a:prstDash val="solid"/>
          <a:round/>
          <a:headEnd type="triangle" w="med" len="lg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2353</TotalTime>
  <Words>170</Words>
  <Application>Microsoft Office PowerPoint</Application>
  <PresentationFormat>Widescreen</PresentationFormat>
  <Paragraphs>35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Times New Roman</vt:lpstr>
      <vt:lpstr>Verdana</vt:lpstr>
      <vt:lpstr>Wingdings</vt:lpstr>
      <vt:lpstr>Profile</vt:lpstr>
      <vt:lpstr> </vt:lpstr>
      <vt:lpstr>Cont..</vt:lpstr>
      <vt:lpstr>Cont..</vt:lpstr>
      <vt:lpstr>Cont..</vt:lpstr>
      <vt:lpstr>Cont..</vt:lpstr>
      <vt:lpstr>Cont..</vt:lpstr>
      <vt:lpstr>Cont..</vt:lpstr>
      <vt:lpstr>Cont..</vt:lpstr>
      <vt:lpstr> Example 01.</vt:lpstr>
      <vt:lpstr>Example 02</vt:lpstr>
      <vt:lpstr>Cont..</vt:lpstr>
      <vt:lpstr>Cont..</vt:lpstr>
      <vt:lpstr>Home work</vt:lpstr>
      <vt:lpstr>Phasors</vt:lpstr>
      <vt:lpstr>Cont..</vt:lpstr>
      <vt:lpstr>Cont..</vt:lpstr>
      <vt:lpstr>Cont..</vt:lpstr>
      <vt:lpstr>PowerPoint Presentation</vt:lpstr>
      <vt:lpstr>Cont..</vt:lpstr>
      <vt:lpstr>Example</vt:lpstr>
      <vt:lpstr>Home work</vt:lpstr>
      <vt:lpstr>example</vt:lpstr>
      <vt:lpstr>H/W</vt:lpstr>
      <vt:lpstr>Phasor Relationships for Circuit Elements</vt:lpstr>
      <vt:lpstr>PowerPoint Presentation</vt:lpstr>
      <vt:lpstr>Example.</vt:lpstr>
      <vt:lpstr>Impedance and Admittance</vt:lpstr>
      <vt:lpstr>PowerPoint Presentation</vt:lpstr>
      <vt:lpstr>PowerPoint Presentation</vt:lpstr>
      <vt:lpstr>Kirchhoff’s Laws in the Frequency Domain</vt:lpstr>
      <vt:lpstr>H/W</vt:lpstr>
      <vt:lpstr>H/W</vt:lpstr>
    </vt:vector>
  </TitlesOfParts>
  <Company>uofw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Motors</dc:title>
  <dc:creator>Brew</dc:creator>
  <cp:lastModifiedBy>Mnaka Ndyanido</cp:lastModifiedBy>
  <cp:revision>225</cp:revision>
  <dcterms:created xsi:type="dcterms:W3CDTF">2004-10-07T14:58:55Z</dcterms:created>
  <dcterms:modified xsi:type="dcterms:W3CDTF">2026-04-14T16:58:47Z</dcterms:modified>
</cp:coreProperties>
</file>