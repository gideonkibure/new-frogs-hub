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303" r:id="rId2"/>
    <p:sldId id="378" r:id="rId3"/>
    <p:sldId id="379" r:id="rId4"/>
    <p:sldId id="380" r:id="rId5"/>
    <p:sldId id="385" r:id="rId6"/>
    <p:sldId id="388" r:id="rId7"/>
    <p:sldId id="389" r:id="rId8"/>
    <p:sldId id="390" r:id="rId9"/>
    <p:sldId id="391" r:id="rId10"/>
    <p:sldId id="399" r:id="rId11"/>
    <p:sldId id="404" r:id="rId12"/>
    <p:sldId id="405" r:id="rId13"/>
    <p:sldId id="406" r:id="rId14"/>
    <p:sldId id="407" r:id="rId15"/>
    <p:sldId id="408" r:id="rId16"/>
    <p:sldId id="409" r:id="rId17"/>
    <p:sldId id="410" r:id="rId18"/>
    <p:sldId id="400" r:id="rId19"/>
    <p:sldId id="402" r:id="rId20"/>
    <p:sldId id="411"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6" autoAdjust="0"/>
    <p:restoredTop sz="94660"/>
  </p:normalViewPr>
  <p:slideViewPr>
    <p:cSldViewPr>
      <p:cViewPr varScale="1">
        <p:scale>
          <a:sx n="82" d="100"/>
          <a:sy n="82" d="100"/>
        </p:scale>
        <p:origin x="1502"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62EFDA-4D8A-4258-A851-AC9BC64FFE82}" type="datetimeFigureOut">
              <a:rPr lang="en-US" smtClean="0"/>
              <a:pPr/>
              <a:t>5/14/2026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A07A236-8973-44AC-8332-5A04DBE796F9}" type="slidenum">
              <a:rPr lang="en-US" smtClean="0"/>
              <a:pPr/>
              <a:t>‹#›</a:t>
            </a:fld>
            <a:endParaRPr lang="en-US"/>
          </a:p>
        </p:txBody>
      </p:sp>
    </p:spTree>
    <p:extLst>
      <p:ext uri="{BB962C8B-B14F-4D97-AF65-F5344CB8AC3E}">
        <p14:creationId xmlns:p14="http://schemas.microsoft.com/office/powerpoint/2010/main" val="2105938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4" name="Text Box 1"/>
          <p:cNvSpPr txBox="1">
            <a:spLocks noChangeArrowheads="1"/>
          </p:cNvSpPr>
          <p:nvPr/>
        </p:nvSpPr>
        <p:spPr bwMode="auto">
          <a:xfrm>
            <a:off x="0" y="-5172075"/>
            <a:ext cx="1588" cy="11733213"/>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28675" name="Rectangle 2"/>
          <p:cNvSpPr>
            <a:spLocks noGrp="1" noChangeArrowheads="1"/>
          </p:cNvSpPr>
          <p:nvPr>
            <p:ph type="body"/>
          </p:nvPr>
        </p:nvSpPr>
        <p:spPr>
          <a:xfrm>
            <a:off x="685800" y="4343400"/>
            <a:ext cx="5483225" cy="4114800"/>
          </a:xfrm>
          <a:noFill/>
          <a:ln/>
        </p:spPr>
        <p:txBody>
          <a:bodyPr wrap="none" anchor="ctr"/>
          <a:lstStyle/>
          <a:p>
            <a:endParaRPr lang="en-US">
              <a:latin typeface="Arial" charset="0"/>
            </a:endParaRPr>
          </a:p>
        </p:txBody>
      </p:sp>
    </p:spTree>
    <p:extLst>
      <p:ext uri="{BB962C8B-B14F-4D97-AF65-F5344CB8AC3E}">
        <p14:creationId xmlns:p14="http://schemas.microsoft.com/office/powerpoint/2010/main" val="25946552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7EE2726-57AB-4559-87B5-CBE54DC2119A}"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98C2A0-E8CF-4CDB-A4E2-D2727D1D191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EE2726-57AB-4559-87B5-CBE54DC2119A}"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98C2A0-E8CF-4CDB-A4E2-D2727D1D191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EE2726-57AB-4559-87B5-CBE54DC2119A}"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98C2A0-E8CF-4CDB-A4E2-D2727D1D191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EE2726-57AB-4559-87B5-CBE54DC2119A}" type="datetimeFigureOut">
              <a:rPr lang="en-US" smtClean="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98C2A0-E8CF-4CDB-A4E2-D2727D1D191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7EE2726-57AB-4559-87B5-CBE54DC2119A}" type="datetimeFigureOut">
              <a:rPr lang="en-US" smtClean="0"/>
              <a:pPr/>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E98C2A0-E8CF-4CDB-A4E2-D2727D1D191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7EE2726-57AB-4559-87B5-CBE54DC2119A}" type="datetimeFigureOut">
              <a:rPr lang="en-US" smtClean="0"/>
              <a:pPr/>
              <a:t>5/14/2026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E98C2A0-E8CF-4CDB-A4E2-D2727D1D191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EE2726-57AB-4559-87B5-CBE54DC2119A}" type="datetimeFigureOut">
              <a:rPr lang="en-US" smtClean="0"/>
              <a:pPr/>
              <a:t>5/14/2026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E98C2A0-E8CF-4CDB-A4E2-D2727D1D191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7EE2726-57AB-4559-87B5-CBE54DC2119A}" type="datetimeFigureOut">
              <a:rPr lang="en-US" smtClean="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98C2A0-E8CF-4CDB-A4E2-D2727D1D191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7EE2726-57AB-4559-87B5-CBE54DC2119A}" type="datetimeFigureOut">
              <a:rPr lang="en-US" smtClean="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98C2A0-E8CF-4CDB-A4E2-D2727D1D191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EE2726-57AB-4559-87B5-CBE54DC2119A}"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98C2A0-E8CF-4CDB-A4E2-D2727D1D191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EE2726-57AB-4559-87B5-CBE54DC2119A}"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98C2A0-E8CF-4CDB-A4E2-D2727D1D191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EE2726-57AB-4559-87B5-CBE54DC2119A}" type="datetimeFigureOut">
              <a:rPr lang="en-US" smtClean="0"/>
              <a:pPr/>
              <a:t>5/14/2026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98C2A0-E8CF-4CDB-A4E2-D2727D1D191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p:cNvSpPr>
            <a:spLocks noGrp="1" noChangeArrowheads="1"/>
          </p:cNvSpPr>
          <p:nvPr>
            <p:ph type="title"/>
          </p:nvPr>
        </p:nvSpPr>
        <p:spPr>
          <a:xfrm>
            <a:off x="0" y="0"/>
            <a:ext cx="9144000" cy="838200"/>
          </a:xfrm>
        </p:spPr>
        <p:txBody>
          <a:bodyPr/>
          <a:lstStyle/>
          <a:p>
            <a:r>
              <a:rPr lang="en-GB" dirty="0">
                <a:solidFill>
                  <a:srgbClr val="FF0000"/>
                </a:solidFill>
              </a:rPr>
              <a:t>Starting System</a:t>
            </a:r>
            <a:endParaRPr lang="en-GB" dirty="0"/>
          </a:p>
        </p:txBody>
      </p:sp>
      <p:sp>
        <p:nvSpPr>
          <p:cNvPr id="4099" name="Rectangle 2"/>
          <p:cNvSpPr>
            <a:spLocks noGrp="1" noChangeArrowheads="1"/>
          </p:cNvSpPr>
          <p:nvPr>
            <p:ph idx="1"/>
          </p:nvPr>
        </p:nvSpPr>
        <p:spPr>
          <a:xfrm>
            <a:off x="76200" y="990600"/>
            <a:ext cx="9067800" cy="5867400"/>
          </a:xfrm>
        </p:spPr>
        <p:txBody>
          <a:bodyPr>
            <a:normAutofit/>
          </a:bodyPr>
          <a:lstStyle/>
          <a:p>
            <a:pPr marL="0" indent="0">
              <a:buNone/>
            </a:pPr>
            <a:r>
              <a:rPr lang="en-US" b="1" dirty="0">
                <a:solidFill>
                  <a:srgbClr val="FF0000"/>
                </a:solidFill>
              </a:rPr>
              <a:t>Starting System</a:t>
            </a:r>
            <a:r>
              <a:rPr lang="en-GB" dirty="0">
                <a:solidFill>
                  <a:srgbClr val="FF0000"/>
                </a:solidFill>
              </a:rPr>
              <a:t> </a:t>
            </a:r>
            <a:r>
              <a:rPr lang="en-US" b="1" dirty="0">
                <a:solidFill>
                  <a:srgbClr val="FF0000"/>
                </a:solidFill>
              </a:rPr>
              <a:t>Overview</a:t>
            </a:r>
            <a:r>
              <a:rPr lang="en-US" dirty="0">
                <a:solidFill>
                  <a:srgbClr val="FF0000"/>
                </a:solidFill>
              </a:rPr>
              <a:t>:</a:t>
            </a:r>
            <a:endParaRPr lang="en-GB" dirty="0">
              <a:solidFill>
                <a:srgbClr val="FF0000"/>
              </a:solidFill>
            </a:endParaRPr>
          </a:p>
          <a:p>
            <a:pPr lvl="0">
              <a:buFont typeface="Wingdings" panose="05000000000000000000" pitchFamily="2" charset="2"/>
              <a:buChar char="Ø"/>
            </a:pPr>
            <a:r>
              <a:rPr lang="en-US" dirty="0"/>
              <a:t>Uses a powerful electric motor to drive the engine at about 200 RPM (fast enough to allow the fuel and ignition systems to operate).</a:t>
            </a:r>
            <a:endParaRPr lang="en-GB" dirty="0"/>
          </a:p>
          <a:p>
            <a:pPr lvl="0">
              <a:buFont typeface="Wingdings" panose="05000000000000000000" pitchFamily="2" charset="2"/>
              <a:buChar char="Ø"/>
            </a:pPr>
            <a:r>
              <a:rPr lang="en-US" dirty="0"/>
              <a:t>Drives the engine through a pinion gear engaged with a ring gear on the flywheel.</a:t>
            </a:r>
            <a:endParaRPr lang="en-GB" dirty="0"/>
          </a:p>
          <a:p>
            <a:pPr lvl="0">
              <a:buFont typeface="Wingdings" panose="05000000000000000000" pitchFamily="2" charset="2"/>
              <a:buChar char="Ø"/>
            </a:pPr>
            <a:r>
              <a:rPr lang="en-US" dirty="0"/>
              <a:t>Disengages as soon as the engine starts.</a:t>
            </a:r>
            <a:endParaRPr lang="en-GB" dirty="0"/>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76200"/>
            <a:ext cx="9067800" cy="838200"/>
          </a:xfrm>
        </p:spPr>
        <p:txBody>
          <a:bodyPr>
            <a:normAutofit/>
          </a:bodyPr>
          <a:lstStyle/>
          <a:p>
            <a:r>
              <a:rPr lang="en-US" b="1" dirty="0">
                <a:solidFill>
                  <a:srgbClr val="FF0000"/>
                </a:solidFill>
              </a:rPr>
              <a:t>Starting System Components</a:t>
            </a:r>
            <a:endParaRPr lang="en-GB" dirty="0">
              <a:solidFill>
                <a:srgbClr val="FF0000"/>
              </a:solidFill>
            </a:endParaRPr>
          </a:p>
        </p:txBody>
      </p:sp>
      <p:sp>
        <p:nvSpPr>
          <p:cNvPr id="3" name="Content Placeholder 2"/>
          <p:cNvSpPr>
            <a:spLocks noGrp="1"/>
          </p:cNvSpPr>
          <p:nvPr>
            <p:ph idx="1"/>
          </p:nvPr>
        </p:nvSpPr>
        <p:spPr>
          <a:xfrm>
            <a:off x="76200" y="838200"/>
            <a:ext cx="9067800" cy="6019800"/>
          </a:xfrm>
        </p:spPr>
        <p:txBody>
          <a:bodyPr>
            <a:normAutofit/>
          </a:bodyPr>
          <a:lstStyle/>
          <a:p>
            <a:pPr>
              <a:buFont typeface="Wingdings" panose="05000000000000000000" pitchFamily="2" charset="2"/>
              <a:buChar char="Ø"/>
            </a:pPr>
            <a:r>
              <a:rPr lang="en-US" dirty="0"/>
              <a:t>These components make up a starting system</a:t>
            </a:r>
            <a:endParaRPr lang="en-GB" dirty="0"/>
          </a:p>
          <a:p>
            <a:pPr marL="514350" lvl="0" indent="-514350">
              <a:buFont typeface="+mj-lt"/>
              <a:buAutoNum type="arabicPeriod"/>
            </a:pPr>
            <a:r>
              <a:rPr lang="en-US" dirty="0"/>
              <a:t>Starter motor</a:t>
            </a:r>
            <a:endParaRPr lang="en-GB" dirty="0"/>
          </a:p>
          <a:p>
            <a:pPr marL="514350" lvl="0" indent="-514350">
              <a:buFont typeface="+mj-lt"/>
              <a:buAutoNum type="arabicPeriod"/>
            </a:pPr>
            <a:r>
              <a:rPr lang="en-US" dirty="0"/>
              <a:t>Magnetic switch</a:t>
            </a:r>
            <a:endParaRPr lang="en-GB" dirty="0"/>
          </a:p>
          <a:p>
            <a:pPr marL="514350" lvl="0" indent="-514350">
              <a:buFont typeface="+mj-lt"/>
              <a:buAutoNum type="arabicPeriod"/>
            </a:pPr>
            <a:r>
              <a:rPr lang="en-US" dirty="0"/>
              <a:t>Over−running clutch</a:t>
            </a:r>
            <a:endParaRPr lang="en-GB" dirty="0"/>
          </a:p>
          <a:p>
            <a:pPr marL="514350" lvl="0" indent="-514350">
              <a:buFont typeface="+mj-lt"/>
              <a:buAutoNum type="arabicPeriod"/>
            </a:pPr>
            <a:r>
              <a:rPr lang="en-US" dirty="0"/>
              <a:t>Ignition switch contacts</a:t>
            </a:r>
            <a:endParaRPr lang="en-GB" dirty="0"/>
          </a:p>
          <a:p>
            <a:pPr marL="514350" lvl="0" indent="-514350">
              <a:buFont typeface="+mj-lt"/>
              <a:buAutoNum type="arabicPeriod"/>
            </a:pPr>
            <a:r>
              <a:rPr lang="en-US" dirty="0"/>
              <a:t>Park/neutral position (A/T) or clutch start (M/T) switch</a:t>
            </a:r>
            <a:endParaRPr lang="en-GB" dirty="0"/>
          </a:p>
          <a:p>
            <a:pPr marL="514350" lvl="0" indent="-514350">
              <a:buFont typeface="+mj-lt"/>
              <a:buAutoNum type="arabicPeriod"/>
            </a:pPr>
            <a:r>
              <a:rPr lang="en-US" dirty="0"/>
              <a:t>Clutch start cancel switch (on some models)</a:t>
            </a:r>
            <a:endParaRPr lang="en-GB" dirty="0"/>
          </a:p>
          <a:p>
            <a:pPr marL="514350" lvl="0" indent="-514350">
              <a:buFont typeface="+mj-lt"/>
              <a:buAutoNum type="arabicPeriod"/>
            </a:pPr>
            <a:r>
              <a:rPr lang="en-US" dirty="0"/>
              <a:t>Starter relay</a:t>
            </a:r>
            <a:br>
              <a:rPr lang="en-US" dirty="0"/>
            </a:br>
            <a:endParaRPr lang="en-GB" dirty="0"/>
          </a:p>
        </p:txBody>
      </p:sp>
    </p:spTree>
    <p:extLst>
      <p:ext uri="{BB962C8B-B14F-4D97-AF65-F5344CB8AC3E}">
        <p14:creationId xmlns:p14="http://schemas.microsoft.com/office/powerpoint/2010/main" val="23617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fontScale="90000"/>
          </a:bodyPr>
          <a:lstStyle/>
          <a:p>
            <a:r>
              <a:rPr lang="en-US" b="1" i="1" dirty="0">
                <a:solidFill>
                  <a:srgbClr val="FF0000"/>
                </a:solidFill>
              </a:rPr>
              <a:t>Starting System Components – Automatic Transmission</a:t>
            </a:r>
            <a:endParaRPr lang="en-GB" dirty="0">
              <a:solidFill>
                <a:srgbClr val="FF0000"/>
              </a:solidFill>
            </a:endParaRPr>
          </a:p>
        </p:txBody>
      </p:sp>
      <p:pic>
        <p:nvPicPr>
          <p:cNvPr id="4" name="Content Placeholder 3"/>
          <p:cNvPicPr>
            <a:picLocks noGrp="1" noChangeAspect="1"/>
          </p:cNvPicPr>
          <p:nvPr>
            <p:ph idx="1"/>
          </p:nvPr>
        </p:nvPicPr>
        <p:blipFill>
          <a:blip r:embed="rId2"/>
          <a:stretch>
            <a:fillRect/>
          </a:stretch>
        </p:blipFill>
        <p:spPr>
          <a:xfrm>
            <a:off x="457200" y="1371600"/>
            <a:ext cx="8153400" cy="5334000"/>
          </a:xfrm>
          <a:prstGeom prst="rect">
            <a:avLst/>
          </a:prstGeom>
        </p:spPr>
      </p:pic>
    </p:spTree>
    <p:extLst>
      <p:ext uri="{BB962C8B-B14F-4D97-AF65-F5344CB8AC3E}">
        <p14:creationId xmlns:p14="http://schemas.microsoft.com/office/powerpoint/2010/main" val="497094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295400"/>
          </a:xfrm>
        </p:spPr>
        <p:txBody>
          <a:bodyPr>
            <a:normAutofit fontScale="90000"/>
          </a:bodyPr>
          <a:lstStyle/>
          <a:p>
            <a:r>
              <a:rPr lang="en-US" b="1" i="1" dirty="0">
                <a:solidFill>
                  <a:srgbClr val="FF0000"/>
                </a:solidFill>
              </a:rPr>
              <a:t>Starting System Components -</a:t>
            </a:r>
            <a:br>
              <a:rPr lang="en-GB" dirty="0">
                <a:solidFill>
                  <a:srgbClr val="FF0000"/>
                </a:solidFill>
              </a:rPr>
            </a:br>
            <a:r>
              <a:rPr lang="en-US" b="1" i="1" dirty="0">
                <a:solidFill>
                  <a:srgbClr val="FF0000"/>
                </a:solidFill>
              </a:rPr>
              <a:t>Manual Transmission</a:t>
            </a:r>
            <a:endParaRPr lang="en-GB" dirty="0">
              <a:solidFill>
                <a:srgbClr val="FF0000"/>
              </a:solidFill>
            </a:endParaRPr>
          </a:p>
        </p:txBody>
      </p:sp>
      <p:pic>
        <p:nvPicPr>
          <p:cNvPr id="4" name="Content Placeholder 3"/>
          <p:cNvPicPr>
            <a:picLocks noGrp="1" noChangeAspect="1"/>
          </p:cNvPicPr>
          <p:nvPr>
            <p:ph idx="1"/>
          </p:nvPr>
        </p:nvPicPr>
        <p:blipFill>
          <a:blip r:embed="rId2"/>
          <a:stretch>
            <a:fillRect/>
          </a:stretch>
        </p:blipFill>
        <p:spPr>
          <a:xfrm>
            <a:off x="228600" y="1396422"/>
            <a:ext cx="8382000" cy="5461578"/>
          </a:xfrm>
          <a:prstGeom prst="rect">
            <a:avLst/>
          </a:prstGeom>
        </p:spPr>
      </p:pic>
    </p:spTree>
    <p:extLst>
      <p:ext uri="{BB962C8B-B14F-4D97-AF65-F5344CB8AC3E}">
        <p14:creationId xmlns:p14="http://schemas.microsoft.com/office/powerpoint/2010/main" val="4095072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20200" cy="838200"/>
          </a:xfrm>
        </p:spPr>
        <p:txBody>
          <a:bodyPr/>
          <a:lstStyle/>
          <a:p>
            <a:r>
              <a:rPr lang="en-US" b="1" dirty="0">
                <a:solidFill>
                  <a:srgbClr val="FF0000"/>
                </a:solidFill>
              </a:rPr>
              <a:t>Starting System Components…..</a:t>
            </a:r>
            <a:endParaRPr lang="en-GB" dirty="0"/>
          </a:p>
        </p:txBody>
      </p:sp>
      <p:pic>
        <p:nvPicPr>
          <p:cNvPr id="4" name="Content Placeholder 3"/>
          <p:cNvPicPr>
            <a:picLocks noGrp="1" noChangeAspect="1"/>
          </p:cNvPicPr>
          <p:nvPr>
            <p:ph idx="1"/>
          </p:nvPr>
        </p:nvPicPr>
        <p:blipFill>
          <a:blip r:embed="rId2"/>
          <a:stretch>
            <a:fillRect/>
          </a:stretch>
        </p:blipFill>
        <p:spPr>
          <a:xfrm>
            <a:off x="762000" y="990600"/>
            <a:ext cx="7696200" cy="5867400"/>
          </a:xfrm>
          <a:prstGeom prst="rect">
            <a:avLst/>
          </a:prstGeom>
        </p:spPr>
      </p:pic>
    </p:spTree>
    <p:extLst>
      <p:ext uri="{BB962C8B-B14F-4D97-AF65-F5344CB8AC3E}">
        <p14:creationId xmlns:p14="http://schemas.microsoft.com/office/powerpoint/2010/main" val="628539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lstStyle/>
          <a:p>
            <a:r>
              <a:rPr lang="en-GB" dirty="0">
                <a:solidFill>
                  <a:srgbClr val="FF0000"/>
                </a:solidFill>
              </a:rPr>
              <a:t>over−running clutch</a:t>
            </a:r>
          </a:p>
        </p:txBody>
      </p:sp>
      <p:sp>
        <p:nvSpPr>
          <p:cNvPr id="3" name="Content Placeholder 2"/>
          <p:cNvSpPr>
            <a:spLocks noGrp="1"/>
          </p:cNvSpPr>
          <p:nvPr>
            <p:ph idx="1"/>
          </p:nvPr>
        </p:nvSpPr>
        <p:spPr>
          <a:xfrm>
            <a:off x="0" y="1417638"/>
            <a:ext cx="9144000" cy="5440362"/>
          </a:xfrm>
        </p:spPr>
        <p:txBody>
          <a:bodyPr>
            <a:normAutofit fontScale="85000" lnSpcReduction="20000"/>
          </a:bodyPr>
          <a:lstStyle/>
          <a:p>
            <a:pPr>
              <a:buFont typeface="Wingdings" panose="05000000000000000000" pitchFamily="2" charset="2"/>
              <a:buChar char="Ø"/>
            </a:pPr>
            <a:r>
              <a:rPr lang="en-GB" dirty="0"/>
              <a:t>The clutch prevents damage to the starter when the engine starts.</a:t>
            </a:r>
          </a:p>
          <a:p>
            <a:endParaRPr lang="en-GB" dirty="0"/>
          </a:p>
          <a:p>
            <a:pPr marL="0" indent="0">
              <a:buNone/>
            </a:pPr>
            <a:r>
              <a:rPr lang="en-GB" dirty="0">
                <a:solidFill>
                  <a:srgbClr val="FF0000"/>
                </a:solidFill>
              </a:rPr>
              <a:t>Clutch Operation:</a:t>
            </a:r>
          </a:p>
          <a:p>
            <a:pPr marL="514350" indent="-514350">
              <a:buFont typeface="+mj-lt"/>
              <a:buAutoNum type="arabicParenR"/>
            </a:pPr>
            <a:r>
              <a:rPr lang="en-GB" dirty="0"/>
              <a:t>During engine start, the starter pinion gear drives the engine’s flywheel ring gear.</a:t>
            </a:r>
          </a:p>
          <a:p>
            <a:pPr marL="514350" indent="-514350">
              <a:buFont typeface="+mj-lt"/>
              <a:buAutoNum type="arabicParenR"/>
            </a:pPr>
            <a:r>
              <a:rPr lang="en-GB" dirty="0"/>
              <a:t>Once the engine fires, the ring gear almost instantly begins to turn faster than the starter pinion gear. Over−speeding would damage the starter motor if it were not immediately disengaged from the pinion gear.</a:t>
            </a:r>
          </a:p>
          <a:p>
            <a:pPr marL="514350" indent="-514350">
              <a:buFont typeface="+mj-lt"/>
              <a:buAutoNum type="arabicParenR"/>
            </a:pPr>
            <a:r>
              <a:rPr lang="en-GB" dirty="0"/>
              <a:t>The clutch uses its wedged rollers and springs to disengage the pinion shaft from the clutch housing (which turns with the motor armature). This happens any time the pinion shaft tries to turn faster than the clutch housing.</a:t>
            </a:r>
          </a:p>
          <a:p>
            <a:endParaRPr lang="en-GB" dirty="0"/>
          </a:p>
        </p:txBody>
      </p:sp>
    </p:spTree>
    <p:extLst>
      <p:ext uri="{BB962C8B-B14F-4D97-AF65-F5344CB8AC3E}">
        <p14:creationId xmlns:p14="http://schemas.microsoft.com/office/powerpoint/2010/main" val="2744126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lstStyle/>
          <a:p>
            <a:r>
              <a:rPr lang="en-GB" dirty="0">
                <a:solidFill>
                  <a:srgbClr val="FF0000"/>
                </a:solidFill>
              </a:rPr>
              <a:t>over−running clutch…..</a:t>
            </a:r>
            <a:endParaRPr lang="en-GB" dirty="0"/>
          </a:p>
        </p:txBody>
      </p:sp>
      <p:pic>
        <p:nvPicPr>
          <p:cNvPr id="4" name="Content Placeholder 3"/>
          <p:cNvPicPr>
            <a:picLocks noGrp="1" noChangeAspect="1"/>
          </p:cNvPicPr>
          <p:nvPr>
            <p:ph idx="1"/>
          </p:nvPr>
        </p:nvPicPr>
        <p:blipFill>
          <a:blip r:embed="rId2"/>
          <a:stretch>
            <a:fillRect/>
          </a:stretch>
        </p:blipFill>
        <p:spPr>
          <a:xfrm>
            <a:off x="152400" y="1024636"/>
            <a:ext cx="8845230" cy="5680964"/>
          </a:xfrm>
          <a:prstGeom prst="rect">
            <a:avLst/>
          </a:prstGeom>
        </p:spPr>
      </p:pic>
    </p:spTree>
    <p:extLst>
      <p:ext uri="{BB962C8B-B14F-4D97-AF65-F5344CB8AC3E}">
        <p14:creationId xmlns:p14="http://schemas.microsoft.com/office/powerpoint/2010/main" val="255304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3880"/>
          </a:xfrm>
        </p:spPr>
        <p:txBody>
          <a:bodyPr/>
          <a:lstStyle/>
          <a:p>
            <a:r>
              <a:rPr lang="en-GB" dirty="0">
                <a:solidFill>
                  <a:srgbClr val="FF0000"/>
                </a:solidFill>
              </a:rPr>
              <a:t>over−running clutch…..</a:t>
            </a:r>
            <a:endParaRPr lang="en-GB" dirty="0"/>
          </a:p>
        </p:txBody>
      </p:sp>
      <p:pic>
        <p:nvPicPr>
          <p:cNvPr id="4" name="Content Placeholder 3"/>
          <p:cNvPicPr>
            <a:picLocks noGrp="1" noChangeAspect="1"/>
          </p:cNvPicPr>
          <p:nvPr>
            <p:ph idx="1"/>
          </p:nvPr>
        </p:nvPicPr>
        <p:blipFill>
          <a:blip r:embed="rId2"/>
          <a:stretch>
            <a:fillRect/>
          </a:stretch>
        </p:blipFill>
        <p:spPr>
          <a:xfrm>
            <a:off x="228600" y="873880"/>
            <a:ext cx="8686800" cy="5907920"/>
          </a:xfrm>
          <a:prstGeom prst="rect">
            <a:avLst/>
          </a:prstGeom>
        </p:spPr>
      </p:pic>
    </p:spTree>
    <p:extLst>
      <p:ext uri="{BB962C8B-B14F-4D97-AF65-F5344CB8AC3E}">
        <p14:creationId xmlns:p14="http://schemas.microsoft.com/office/powerpoint/2010/main" val="2184304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normAutofit/>
          </a:bodyPr>
          <a:lstStyle/>
          <a:p>
            <a:r>
              <a:rPr lang="en-US" b="1" dirty="0">
                <a:solidFill>
                  <a:srgbClr val="FF0000"/>
                </a:solidFill>
              </a:rPr>
              <a:t>Ignition Switch</a:t>
            </a:r>
            <a:endParaRPr lang="en-GB" dirty="0">
              <a:solidFill>
                <a:srgbClr val="FF0000"/>
              </a:solidFill>
            </a:endParaRPr>
          </a:p>
        </p:txBody>
      </p:sp>
      <p:sp>
        <p:nvSpPr>
          <p:cNvPr id="3" name="Content Placeholder 2"/>
          <p:cNvSpPr>
            <a:spLocks noGrp="1"/>
          </p:cNvSpPr>
          <p:nvPr>
            <p:ph idx="1"/>
          </p:nvPr>
        </p:nvSpPr>
        <p:spPr>
          <a:xfrm>
            <a:off x="0" y="990600"/>
            <a:ext cx="9144000" cy="5867400"/>
          </a:xfrm>
        </p:spPr>
        <p:txBody>
          <a:bodyPr/>
          <a:lstStyle/>
          <a:p>
            <a:pPr>
              <a:buFont typeface="Wingdings" panose="05000000000000000000" pitchFamily="2" charset="2"/>
              <a:buChar char="Ø"/>
            </a:pPr>
            <a:r>
              <a:rPr lang="en-US" dirty="0"/>
              <a:t>The ignition switch incorporates contacts to provide B+ to the starter. The relay energizes the starter magnetic switch when the driver turns the ignition key to the START position.</a:t>
            </a:r>
            <a:endParaRPr lang="en-GB" dirty="0"/>
          </a:p>
          <a:p>
            <a:endParaRPr lang="en-GB" dirty="0"/>
          </a:p>
        </p:txBody>
      </p:sp>
      <p:pic>
        <p:nvPicPr>
          <p:cNvPr id="4" name="Picture 3"/>
          <p:cNvPicPr>
            <a:picLocks noChangeAspect="1"/>
          </p:cNvPicPr>
          <p:nvPr/>
        </p:nvPicPr>
        <p:blipFill>
          <a:blip r:embed="rId2"/>
          <a:stretch>
            <a:fillRect/>
          </a:stretch>
        </p:blipFill>
        <p:spPr>
          <a:xfrm>
            <a:off x="1981200" y="3048000"/>
            <a:ext cx="5867399" cy="3810000"/>
          </a:xfrm>
          <a:prstGeom prst="rect">
            <a:avLst/>
          </a:prstGeom>
        </p:spPr>
      </p:pic>
    </p:spTree>
    <p:extLst>
      <p:ext uri="{BB962C8B-B14F-4D97-AF65-F5344CB8AC3E}">
        <p14:creationId xmlns:p14="http://schemas.microsoft.com/office/powerpoint/2010/main" val="755926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b="1" dirty="0">
                <a:solidFill>
                  <a:srgbClr val="FF0000"/>
                </a:solidFill>
              </a:rPr>
              <a:t>Diagnosis and Testing</a:t>
            </a:r>
            <a:endParaRPr lang="en-GB" dirty="0">
              <a:solidFill>
                <a:srgbClr val="FF0000"/>
              </a:solidFill>
            </a:endParaRPr>
          </a:p>
        </p:txBody>
      </p:sp>
      <p:sp>
        <p:nvSpPr>
          <p:cNvPr id="3" name="Content Placeholder 2"/>
          <p:cNvSpPr>
            <a:spLocks noGrp="1"/>
          </p:cNvSpPr>
          <p:nvPr>
            <p:ph idx="1"/>
          </p:nvPr>
        </p:nvSpPr>
        <p:spPr>
          <a:xfrm>
            <a:off x="0" y="914400"/>
            <a:ext cx="9144000" cy="5943600"/>
          </a:xfrm>
        </p:spPr>
        <p:txBody>
          <a:bodyPr>
            <a:normAutofit fontScale="85000" lnSpcReduction="10000"/>
          </a:bodyPr>
          <a:lstStyle/>
          <a:p>
            <a:pPr>
              <a:buFont typeface="Wingdings" panose="05000000000000000000" pitchFamily="2" charset="2"/>
              <a:buChar char="Ø"/>
            </a:pPr>
            <a:r>
              <a:rPr lang="en-GB" dirty="0"/>
              <a:t>The starting system requires little maintenance. The battery should be fully charged and connections kept clean and tight.</a:t>
            </a:r>
          </a:p>
          <a:p>
            <a:pPr>
              <a:buFont typeface="Wingdings" panose="05000000000000000000" pitchFamily="2" charset="2"/>
              <a:buChar char="Ø"/>
            </a:pPr>
            <a:r>
              <a:rPr lang="en-GB" dirty="0"/>
              <a:t>Diagnosis of starting system problems is usually straightforward. Problems may be </a:t>
            </a:r>
            <a:r>
              <a:rPr lang="en-GB" dirty="0">
                <a:solidFill>
                  <a:srgbClr val="FF0000"/>
                </a:solidFill>
              </a:rPr>
              <a:t>electrical or mechanical</a:t>
            </a:r>
            <a:r>
              <a:rPr lang="en-GB" dirty="0"/>
              <a:t>.</a:t>
            </a:r>
          </a:p>
          <a:p>
            <a:pPr>
              <a:buFont typeface="Wingdings" panose="05000000000000000000" pitchFamily="2" charset="2"/>
              <a:buChar char="Ø"/>
            </a:pPr>
            <a:r>
              <a:rPr lang="en-GB" dirty="0"/>
              <a:t>The Starting System Troubleshooting chart lists the most common </a:t>
            </a:r>
            <a:r>
              <a:rPr lang="en-GB" dirty="0">
                <a:solidFill>
                  <a:srgbClr val="FF0000"/>
                </a:solidFill>
              </a:rPr>
              <a:t>starting system problems</a:t>
            </a:r>
            <a:r>
              <a:rPr lang="en-GB" dirty="0"/>
              <a:t>, the </a:t>
            </a:r>
            <a:r>
              <a:rPr lang="en-GB" dirty="0">
                <a:solidFill>
                  <a:srgbClr val="FF0000"/>
                </a:solidFill>
              </a:rPr>
              <a:t>possible causes</a:t>
            </a:r>
            <a:r>
              <a:rPr lang="en-GB" dirty="0"/>
              <a:t>, and </a:t>
            </a:r>
            <a:r>
              <a:rPr lang="en-GB" dirty="0">
                <a:solidFill>
                  <a:srgbClr val="FF0000"/>
                </a:solidFill>
              </a:rPr>
              <a:t>recommended actions</a:t>
            </a:r>
            <a:r>
              <a:rPr lang="en-GB" dirty="0"/>
              <a:t> to resolve the problem.</a:t>
            </a:r>
          </a:p>
          <a:p>
            <a:pPr>
              <a:buFont typeface="Wingdings" panose="05000000000000000000" pitchFamily="2" charset="2"/>
              <a:buChar char="Ø"/>
            </a:pPr>
            <a:r>
              <a:rPr lang="en-GB" dirty="0"/>
              <a:t>Begin with a thorough visual inspection. If this fails to turn up the possible cause, several tests are available to help you find the problem:</a:t>
            </a:r>
          </a:p>
          <a:p>
            <a:r>
              <a:rPr lang="en-GB" dirty="0"/>
              <a:t>Starter motor current draw test</a:t>
            </a:r>
          </a:p>
          <a:p>
            <a:r>
              <a:rPr lang="en-GB" dirty="0"/>
              <a:t>Voltage drop tests</a:t>
            </a:r>
          </a:p>
          <a:p>
            <a:r>
              <a:rPr lang="en-GB" dirty="0"/>
              <a:t>Operational and continuity tests</a:t>
            </a:r>
          </a:p>
          <a:p>
            <a:r>
              <a:rPr lang="en-GB" dirty="0"/>
              <a:t>Starter motor bench tests</a:t>
            </a:r>
          </a:p>
          <a:p>
            <a:endParaRPr lang="en-GB" dirty="0"/>
          </a:p>
        </p:txBody>
      </p:sp>
    </p:spTree>
    <p:extLst>
      <p:ext uri="{BB962C8B-B14F-4D97-AF65-F5344CB8AC3E}">
        <p14:creationId xmlns:p14="http://schemas.microsoft.com/office/powerpoint/2010/main" val="3520128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fontScale="90000"/>
          </a:bodyPr>
          <a:lstStyle/>
          <a:p>
            <a:r>
              <a:rPr lang="en-US" b="1" dirty="0">
                <a:solidFill>
                  <a:srgbClr val="FF0000"/>
                </a:solidFill>
              </a:rPr>
              <a:t>Voltage Drop Tests-  Starter Motor</a:t>
            </a:r>
            <a:r>
              <a:rPr lang="en-GB" dirty="0">
                <a:solidFill>
                  <a:srgbClr val="FF0000"/>
                </a:solidFill>
              </a:rPr>
              <a:t> </a:t>
            </a:r>
            <a:r>
              <a:rPr lang="en-US" b="1" dirty="0">
                <a:solidFill>
                  <a:srgbClr val="FF0000"/>
                </a:solidFill>
              </a:rPr>
              <a:t>Circuit</a:t>
            </a:r>
            <a:endParaRPr lang="en-GB" dirty="0">
              <a:solidFill>
                <a:srgbClr val="FF0000"/>
              </a:solidFill>
            </a:endParaRPr>
          </a:p>
        </p:txBody>
      </p:sp>
      <p:sp>
        <p:nvSpPr>
          <p:cNvPr id="3" name="Content Placeholder 2"/>
          <p:cNvSpPr>
            <a:spLocks noGrp="1"/>
          </p:cNvSpPr>
          <p:nvPr>
            <p:ph idx="1"/>
          </p:nvPr>
        </p:nvSpPr>
        <p:spPr>
          <a:xfrm>
            <a:off x="0" y="990600"/>
            <a:ext cx="9144000" cy="5867400"/>
          </a:xfrm>
        </p:spPr>
        <p:txBody>
          <a:bodyPr>
            <a:normAutofit fontScale="85000" lnSpcReduction="10000"/>
          </a:bodyPr>
          <a:lstStyle/>
          <a:p>
            <a:pPr>
              <a:buFont typeface="Wingdings" panose="05000000000000000000" pitchFamily="2" charset="2"/>
              <a:buChar char="Ø"/>
            </a:pPr>
            <a:r>
              <a:rPr lang="en-US" dirty="0"/>
              <a:t>Voltage drop tests can find excessive resistance in the starting system. High resistance in the starter motor circuit can;</a:t>
            </a:r>
            <a:endParaRPr lang="en-GB" dirty="0"/>
          </a:p>
          <a:p>
            <a:pPr lvl="0"/>
            <a:r>
              <a:rPr lang="en-US" dirty="0"/>
              <a:t>Reduce starter motor current.</a:t>
            </a:r>
            <a:endParaRPr lang="en-GB" dirty="0"/>
          </a:p>
          <a:p>
            <a:pPr lvl="0"/>
            <a:r>
              <a:rPr lang="en-US" dirty="0"/>
              <a:t>Cause slow cranking. </a:t>
            </a:r>
            <a:endParaRPr lang="en-GB" dirty="0"/>
          </a:p>
          <a:p>
            <a:pPr marL="0" indent="0">
              <a:buNone/>
            </a:pPr>
            <a:r>
              <a:rPr lang="en-US" dirty="0">
                <a:solidFill>
                  <a:srgbClr val="FF0000"/>
                </a:solidFill>
              </a:rPr>
              <a:t>Preparation</a:t>
            </a:r>
            <a:r>
              <a:rPr lang="en-US" dirty="0"/>
              <a:t> − Prepare the tester and the vehicle with these steps:</a:t>
            </a:r>
            <a:endParaRPr lang="en-GB" dirty="0"/>
          </a:p>
          <a:p>
            <a:pPr marL="514350" lvl="0" indent="-514350">
              <a:buFont typeface="+mj-lt"/>
              <a:buAutoNum type="arabicParenR"/>
            </a:pPr>
            <a:r>
              <a:rPr lang="en-US" dirty="0"/>
              <a:t>Disable the fuel or ignition system so engine will not start while cranking.</a:t>
            </a:r>
            <a:r>
              <a:rPr lang="en-GB" dirty="0"/>
              <a:t> </a:t>
            </a:r>
            <a:r>
              <a:rPr lang="en-US" dirty="0"/>
              <a:t>For most vehicles, you can pull the Electronic Fuel Injection (EFI) fuse or relay to prevent engine start.</a:t>
            </a:r>
            <a:endParaRPr lang="en-GB" dirty="0"/>
          </a:p>
          <a:p>
            <a:pPr marL="514350" lvl="0" indent="-514350">
              <a:buFont typeface="+mj-lt"/>
              <a:buAutoNum type="arabicParenR"/>
            </a:pPr>
            <a:r>
              <a:rPr lang="en-US" dirty="0"/>
              <a:t>Set the VAT−40 volt selector to EXT 3 (volts). If you’re using a DMM, select a low voltage scale.</a:t>
            </a:r>
          </a:p>
          <a:p>
            <a:pPr marL="0" indent="0">
              <a:buNone/>
            </a:pPr>
            <a:r>
              <a:rPr lang="en-US" dirty="0">
                <a:solidFill>
                  <a:srgbClr val="FF0000"/>
                </a:solidFill>
              </a:rPr>
              <a:t>Normal voltage drops in the starting system are in the range of 0.2 volts to 0.5 volts.</a:t>
            </a:r>
            <a:endParaRPr lang="en-GB" dirty="0">
              <a:solidFill>
                <a:srgbClr val="FF0000"/>
              </a:solidFill>
            </a:endParaRPr>
          </a:p>
          <a:p>
            <a:pPr marL="0" lvl="0" indent="0">
              <a:buNone/>
            </a:pPr>
            <a:endParaRPr lang="en-GB" dirty="0">
              <a:solidFill>
                <a:srgbClr val="FF0000"/>
              </a:solidFill>
            </a:endParaRPr>
          </a:p>
          <a:p>
            <a:endParaRPr lang="en-GB" dirty="0"/>
          </a:p>
        </p:txBody>
      </p:sp>
    </p:spTree>
    <p:extLst>
      <p:ext uri="{BB962C8B-B14F-4D97-AF65-F5344CB8AC3E}">
        <p14:creationId xmlns:p14="http://schemas.microsoft.com/office/powerpoint/2010/main" val="23900867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4000" cy="838200"/>
          </a:xfrm>
        </p:spPr>
        <p:txBody>
          <a:bodyPr>
            <a:normAutofit/>
          </a:bodyPr>
          <a:lstStyle/>
          <a:p>
            <a:r>
              <a:rPr lang="en-US" b="1" dirty="0">
                <a:solidFill>
                  <a:srgbClr val="FF0000"/>
                </a:solidFill>
              </a:rPr>
              <a:t>Battery Positive</a:t>
            </a:r>
            <a:r>
              <a:rPr lang="en-GB" b="1" dirty="0">
                <a:solidFill>
                  <a:srgbClr val="FF0000"/>
                </a:solidFill>
              </a:rPr>
              <a:t> </a:t>
            </a:r>
            <a:r>
              <a:rPr lang="en-US" b="1" dirty="0">
                <a:solidFill>
                  <a:srgbClr val="FF0000"/>
                </a:solidFill>
              </a:rPr>
              <a:t>Cable</a:t>
            </a:r>
            <a:endParaRPr lang="en-GB" dirty="0">
              <a:solidFill>
                <a:srgbClr val="FF0000"/>
              </a:solidFill>
            </a:endParaRPr>
          </a:p>
        </p:txBody>
      </p:sp>
      <p:sp>
        <p:nvSpPr>
          <p:cNvPr id="3" name="Content Placeholder 2"/>
          <p:cNvSpPr>
            <a:spLocks noGrp="1"/>
          </p:cNvSpPr>
          <p:nvPr>
            <p:ph idx="1"/>
          </p:nvPr>
        </p:nvSpPr>
        <p:spPr>
          <a:xfrm>
            <a:off x="76200" y="838202"/>
            <a:ext cx="9067800" cy="6019798"/>
          </a:xfrm>
        </p:spPr>
        <p:txBody>
          <a:bodyPr>
            <a:normAutofit fontScale="77500" lnSpcReduction="20000"/>
          </a:bodyPr>
          <a:lstStyle/>
          <a:p>
            <a:pPr>
              <a:buFont typeface="Wingdings" panose="05000000000000000000" pitchFamily="2" charset="2"/>
              <a:buChar char="Ø"/>
            </a:pPr>
            <a:r>
              <a:rPr lang="en-US" dirty="0"/>
              <a:t>This test measures the voltage drop across the positive battery post to the cable and the connections at the battery and the starter.</a:t>
            </a:r>
            <a:endParaRPr lang="en-GB" dirty="0"/>
          </a:p>
          <a:p>
            <a:pPr>
              <a:buFont typeface="Wingdings" panose="05000000000000000000" pitchFamily="2" charset="2"/>
              <a:buChar char="Ø"/>
            </a:pPr>
            <a:r>
              <a:rPr lang="en-US" dirty="0"/>
              <a:t>Do not crank the engine longer than 10 seconds at a time. </a:t>
            </a:r>
          </a:p>
          <a:p>
            <a:pPr>
              <a:buFont typeface="Wingdings" panose="05000000000000000000" pitchFamily="2" charset="2"/>
              <a:buChar char="Ø"/>
            </a:pPr>
            <a:r>
              <a:rPr lang="en-US" dirty="0"/>
              <a:t>Crank the engine and note the voltage reading</a:t>
            </a:r>
            <a:r>
              <a:rPr lang="en-US" dirty="0">
                <a:solidFill>
                  <a:srgbClr val="FF0000"/>
                </a:solidFill>
              </a:rPr>
              <a:t>:</a:t>
            </a:r>
            <a:r>
              <a:rPr lang="en-GB" dirty="0">
                <a:solidFill>
                  <a:srgbClr val="FF0000"/>
                </a:solidFill>
              </a:rPr>
              <a:t> </a:t>
            </a:r>
            <a:r>
              <a:rPr lang="en-US" dirty="0">
                <a:solidFill>
                  <a:srgbClr val="FF0000"/>
                </a:solidFill>
              </a:rPr>
              <a:t>0.5 volts </a:t>
            </a:r>
            <a:r>
              <a:rPr lang="en-US" dirty="0"/>
              <a:t>or less is acceptable resistance</a:t>
            </a:r>
            <a:r>
              <a:rPr lang="en-GB" dirty="0"/>
              <a:t>, </a:t>
            </a:r>
            <a:r>
              <a:rPr lang="en-US" dirty="0">
                <a:solidFill>
                  <a:srgbClr val="FF0000"/>
                </a:solidFill>
              </a:rPr>
              <a:t>More than 0.5 </a:t>
            </a:r>
            <a:r>
              <a:rPr lang="en-US" dirty="0"/>
              <a:t>volts is excessive resistance </a:t>
            </a:r>
            <a:endParaRPr lang="en-GB" dirty="0"/>
          </a:p>
          <a:p>
            <a:pPr marL="0" indent="0">
              <a:buNone/>
            </a:pPr>
            <a:r>
              <a:rPr lang="en-US" dirty="0"/>
              <a:t>If you find excessive resistance, perform these steps:</a:t>
            </a:r>
            <a:endParaRPr lang="en-GB" dirty="0"/>
          </a:p>
          <a:p>
            <a:pPr lvl="0"/>
            <a:r>
              <a:rPr lang="en-US" dirty="0">
                <a:solidFill>
                  <a:srgbClr val="FF0000"/>
                </a:solidFill>
              </a:rPr>
              <a:t>Isolate the cause</a:t>
            </a:r>
            <a:endParaRPr lang="en-GB" dirty="0">
              <a:solidFill>
                <a:srgbClr val="FF0000"/>
              </a:solidFill>
            </a:endParaRPr>
          </a:p>
          <a:p>
            <a:pPr lvl="0"/>
            <a:r>
              <a:rPr lang="en-US" dirty="0">
                <a:solidFill>
                  <a:srgbClr val="FF0000"/>
                </a:solidFill>
              </a:rPr>
              <a:t>Repair the fault</a:t>
            </a:r>
            <a:endParaRPr lang="en-GB" dirty="0">
              <a:solidFill>
                <a:srgbClr val="FF0000"/>
              </a:solidFill>
            </a:endParaRPr>
          </a:p>
          <a:p>
            <a:pPr lvl="0"/>
            <a:r>
              <a:rPr lang="en-US" dirty="0">
                <a:solidFill>
                  <a:srgbClr val="FF0000"/>
                </a:solidFill>
              </a:rPr>
              <a:t>Re−test the voltage drop</a:t>
            </a:r>
            <a:endParaRPr lang="en-GB" dirty="0">
              <a:solidFill>
                <a:srgbClr val="FF0000"/>
              </a:solidFill>
            </a:endParaRPr>
          </a:p>
          <a:p>
            <a:pPr marL="0" indent="0">
              <a:buNone/>
            </a:pPr>
            <a:r>
              <a:rPr lang="en-US" dirty="0"/>
              <a:t>Excessive resistance could be caused by any of these:</a:t>
            </a:r>
            <a:endParaRPr lang="en-GB" dirty="0"/>
          </a:p>
          <a:p>
            <a:pPr lvl="0"/>
            <a:r>
              <a:rPr lang="en-US" dirty="0">
                <a:solidFill>
                  <a:srgbClr val="FF0000"/>
                </a:solidFill>
              </a:rPr>
              <a:t>Damaged battery cable</a:t>
            </a:r>
            <a:endParaRPr lang="en-GB" dirty="0">
              <a:solidFill>
                <a:srgbClr val="FF0000"/>
              </a:solidFill>
            </a:endParaRPr>
          </a:p>
          <a:p>
            <a:pPr lvl="0"/>
            <a:r>
              <a:rPr lang="en-US" dirty="0">
                <a:solidFill>
                  <a:srgbClr val="FF0000"/>
                </a:solidFill>
              </a:rPr>
              <a:t>Poor connection at battery or starter terminal</a:t>
            </a:r>
            <a:endParaRPr lang="en-GB" dirty="0">
              <a:solidFill>
                <a:srgbClr val="FF0000"/>
              </a:solidFill>
            </a:endParaRPr>
          </a:p>
          <a:p>
            <a:pPr lvl="0"/>
            <a:r>
              <a:rPr lang="en-US" dirty="0">
                <a:solidFill>
                  <a:srgbClr val="FF0000"/>
                </a:solidFill>
              </a:rPr>
              <a:t>Defective magnetic switch</a:t>
            </a:r>
            <a:br>
              <a:rPr lang="en-US" dirty="0"/>
            </a:br>
            <a:endParaRPr lang="en-GB" dirty="0"/>
          </a:p>
        </p:txBody>
      </p:sp>
    </p:spTree>
    <p:extLst>
      <p:ext uri="{BB962C8B-B14F-4D97-AF65-F5344CB8AC3E}">
        <p14:creationId xmlns:p14="http://schemas.microsoft.com/office/powerpoint/2010/main" val="3995830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lstStyle/>
          <a:p>
            <a:r>
              <a:rPr lang="en-US" b="1" dirty="0">
                <a:solidFill>
                  <a:srgbClr val="FF0000"/>
                </a:solidFill>
              </a:rPr>
              <a:t>Battery Positive</a:t>
            </a:r>
            <a:r>
              <a:rPr lang="en-GB" b="1" dirty="0">
                <a:solidFill>
                  <a:srgbClr val="FF0000"/>
                </a:solidFill>
              </a:rPr>
              <a:t> </a:t>
            </a:r>
            <a:r>
              <a:rPr lang="en-US" b="1" dirty="0">
                <a:solidFill>
                  <a:srgbClr val="FF0000"/>
                </a:solidFill>
              </a:rPr>
              <a:t>Cable…..</a:t>
            </a:r>
            <a:endParaRPr lang="en-GB" dirty="0"/>
          </a:p>
        </p:txBody>
      </p:sp>
      <p:pic>
        <p:nvPicPr>
          <p:cNvPr id="4" name="Content Placeholder 3"/>
          <p:cNvPicPr>
            <a:picLocks noGrp="1" noChangeAspect="1"/>
          </p:cNvPicPr>
          <p:nvPr>
            <p:ph idx="1"/>
          </p:nvPr>
        </p:nvPicPr>
        <p:blipFill>
          <a:blip r:embed="rId2"/>
          <a:stretch>
            <a:fillRect/>
          </a:stretch>
        </p:blipFill>
        <p:spPr>
          <a:xfrm>
            <a:off x="1371600" y="1371600"/>
            <a:ext cx="6737575" cy="5059363"/>
          </a:xfrm>
          <a:prstGeom prst="rect">
            <a:avLst/>
          </a:prstGeom>
        </p:spPr>
      </p:pic>
    </p:spTree>
    <p:extLst>
      <p:ext uri="{BB962C8B-B14F-4D97-AF65-F5344CB8AC3E}">
        <p14:creationId xmlns:p14="http://schemas.microsoft.com/office/powerpoint/2010/main" val="30286568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9144000" cy="990600"/>
          </a:xfrm>
        </p:spPr>
        <p:txBody>
          <a:bodyPr>
            <a:normAutofit/>
          </a:bodyPr>
          <a:lstStyle/>
          <a:p>
            <a:r>
              <a:rPr lang="en-US" b="1" dirty="0">
                <a:solidFill>
                  <a:srgbClr val="FF0000"/>
                </a:solidFill>
              </a:rPr>
              <a:t>Battery Negative</a:t>
            </a:r>
            <a:r>
              <a:rPr lang="en-GB" b="1" dirty="0">
                <a:solidFill>
                  <a:srgbClr val="FF0000"/>
                </a:solidFill>
              </a:rPr>
              <a:t> </a:t>
            </a:r>
            <a:r>
              <a:rPr lang="en-US" b="1" dirty="0">
                <a:solidFill>
                  <a:srgbClr val="FF0000"/>
                </a:solidFill>
              </a:rPr>
              <a:t>Cable</a:t>
            </a:r>
            <a:endParaRPr lang="en-GB" dirty="0">
              <a:solidFill>
                <a:srgbClr val="FF0000"/>
              </a:solidFill>
            </a:endParaRPr>
          </a:p>
        </p:txBody>
      </p:sp>
      <p:sp>
        <p:nvSpPr>
          <p:cNvPr id="3" name="Content Placeholder 2"/>
          <p:cNvSpPr>
            <a:spLocks noGrp="1"/>
          </p:cNvSpPr>
          <p:nvPr>
            <p:ph idx="1"/>
          </p:nvPr>
        </p:nvSpPr>
        <p:spPr>
          <a:xfrm>
            <a:off x="0" y="914400"/>
            <a:ext cx="9144000" cy="5943600"/>
          </a:xfrm>
        </p:spPr>
        <p:txBody>
          <a:bodyPr>
            <a:normAutofit fontScale="62500" lnSpcReduction="20000"/>
          </a:bodyPr>
          <a:lstStyle/>
          <a:p>
            <a:pPr>
              <a:buFont typeface="Wingdings" panose="05000000000000000000" pitchFamily="2" charset="2"/>
              <a:buChar char="Ø"/>
            </a:pPr>
            <a:r>
              <a:rPr lang="en-US" dirty="0"/>
              <a:t>This test measures the voltage drop across the negative battery cable, the connections at the battery and the starter, and the connection to ground through the starter motor case:</a:t>
            </a:r>
            <a:endParaRPr lang="en-GB" dirty="0"/>
          </a:p>
          <a:p>
            <a:pPr marL="514350" indent="-514350">
              <a:buFont typeface="+mj-lt"/>
              <a:buAutoNum type="arabicParenR"/>
            </a:pPr>
            <a:r>
              <a:rPr lang="en-US" dirty="0"/>
              <a:t>Connect the tester or meter leads:</a:t>
            </a:r>
            <a:endParaRPr lang="en-GB" dirty="0"/>
          </a:p>
          <a:p>
            <a:pPr lvl="1"/>
            <a:r>
              <a:rPr lang="en-US" dirty="0"/>
              <a:t>Red lead to the starter motor housing</a:t>
            </a:r>
            <a:endParaRPr lang="en-GB" dirty="0"/>
          </a:p>
          <a:p>
            <a:pPr lvl="1"/>
            <a:r>
              <a:rPr lang="en-US" dirty="0"/>
              <a:t>Black lead to negative terminal of the battery</a:t>
            </a:r>
            <a:endParaRPr lang="en-GB" dirty="0"/>
          </a:p>
          <a:p>
            <a:pPr marL="0" indent="0">
              <a:buNone/>
            </a:pPr>
            <a:r>
              <a:rPr lang="en-US" dirty="0">
                <a:solidFill>
                  <a:srgbClr val="FF0000"/>
                </a:solidFill>
              </a:rPr>
              <a:t>Note; do not crank the engine longer than 10 seconds at a time</a:t>
            </a:r>
            <a:r>
              <a:rPr lang="en-US" dirty="0"/>
              <a:t>.</a:t>
            </a:r>
            <a:endParaRPr lang="en-GB" dirty="0"/>
          </a:p>
          <a:p>
            <a:pPr marL="0" lvl="0" indent="0">
              <a:buNone/>
            </a:pPr>
            <a:r>
              <a:rPr lang="en-US" dirty="0"/>
              <a:t>2)  Crank the engine and note the voltage reading:</a:t>
            </a:r>
            <a:endParaRPr lang="en-GB" dirty="0"/>
          </a:p>
          <a:p>
            <a:pPr lvl="1"/>
            <a:r>
              <a:rPr lang="en-US" dirty="0"/>
              <a:t>0.2 volts or less is acceptable resistance</a:t>
            </a:r>
            <a:endParaRPr lang="en-GB" dirty="0"/>
          </a:p>
          <a:p>
            <a:pPr lvl="1"/>
            <a:r>
              <a:rPr lang="en-US" dirty="0"/>
              <a:t>More than 0.2 volts is excessive resistance</a:t>
            </a:r>
            <a:endParaRPr lang="en-GB" dirty="0"/>
          </a:p>
          <a:p>
            <a:pPr>
              <a:buFont typeface="Wingdings" panose="05000000000000000000" pitchFamily="2" charset="2"/>
              <a:buChar char="Ø"/>
            </a:pPr>
            <a:r>
              <a:rPr lang="en-US" dirty="0"/>
              <a:t>If you find excessive resistance, perform these steps:</a:t>
            </a:r>
            <a:endParaRPr lang="en-GB" dirty="0"/>
          </a:p>
          <a:p>
            <a:pPr lvl="0"/>
            <a:r>
              <a:rPr lang="en-US" dirty="0">
                <a:solidFill>
                  <a:srgbClr val="FF0000"/>
                </a:solidFill>
              </a:rPr>
              <a:t>Isolate the cause</a:t>
            </a:r>
            <a:endParaRPr lang="en-GB" dirty="0">
              <a:solidFill>
                <a:srgbClr val="FF0000"/>
              </a:solidFill>
            </a:endParaRPr>
          </a:p>
          <a:p>
            <a:pPr lvl="0"/>
            <a:r>
              <a:rPr lang="en-US" dirty="0">
                <a:solidFill>
                  <a:srgbClr val="FF0000"/>
                </a:solidFill>
              </a:rPr>
              <a:t>Repair the fault</a:t>
            </a:r>
            <a:endParaRPr lang="en-GB" dirty="0">
              <a:solidFill>
                <a:srgbClr val="FF0000"/>
              </a:solidFill>
            </a:endParaRPr>
          </a:p>
          <a:p>
            <a:pPr lvl="0"/>
            <a:r>
              <a:rPr lang="en-US" dirty="0">
                <a:solidFill>
                  <a:srgbClr val="FF0000"/>
                </a:solidFill>
              </a:rPr>
              <a:t>Re−test the voltage drop</a:t>
            </a:r>
          </a:p>
          <a:p>
            <a:pPr>
              <a:buFont typeface="Wingdings" panose="05000000000000000000" pitchFamily="2" charset="2"/>
              <a:buChar char="Ø"/>
            </a:pPr>
            <a:r>
              <a:rPr lang="en-US" dirty="0"/>
              <a:t>Excessive resistance could be caused by any of these:</a:t>
            </a:r>
            <a:endParaRPr lang="en-GB" dirty="0"/>
          </a:p>
          <a:p>
            <a:pPr lvl="0"/>
            <a:r>
              <a:rPr lang="en-US" dirty="0">
                <a:solidFill>
                  <a:srgbClr val="FF0000"/>
                </a:solidFill>
              </a:rPr>
              <a:t>Damaged battery cable</a:t>
            </a:r>
            <a:endParaRPr lang="en-GB" dirty="0">
              <a:solidFill>
                <a:srgbClr val="FF0000"/>
              </a:solidFill>
            </a:endParaRPr>
          </a:p>
          <a:p>
            <a:pPr lvl="0"/>
            <a:r>
              <a:rPr lang="en-US" dirty="0">
                <a:solidFill>
                  <a:srgbClr val="FF0000"/>
                </a:solidFill>
              </a:rPr>
              <a:t>Poor connection at battery or starter terminal</a:t>
            </a:r>
            <a:endParaRPr lang="en-GB" dirty="0">
              <a:solidFill>
                <a:srgbClr val="FF0000"/>
              </a:solidFill>
            </a:endParaRPr>
          </a:p>
          <a:p>
            <a:pPr lvl="0"/>
            <a:r>
              <a:rPr lang="en-US" dirty="0">
                <a:solidFill>
                  <a:srgbClr val="FF0000"/>
                </a:solidFill>
              </a:rPr>
              <a:t>Poor connection between the starter case and the vehicle chassis (could be caused by a loose motor mount)</a:t>
            </a:r>
            <a:endParaRPr lang="en-GB" dirty="0">
              <a:solidFill>
                <a:srgbClr val="FF0000"/>
              </a:solidFill>
            </a:endParaRPr>
          </a:p>
          <a:p>
            <a:endParaRPr lang="en-GB" dirty="0"/>
          </a:p>
        </p:txBody>
      </p:sp>
    </p:spTree>
    <p:extLst>
      <p:ext uri="{BB962C8B-B14F-4D97-AF65-F5344CB8AC3E}">
        <p14:creationId xmlns:p14="http://schemas.microsoft.com/office/powerpoint/2010/main" val="9750110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293" y="-34705"/>
            <a:ext cx="8991600" cy="838200"/>
          </a:xfrm>
        </p:spPr>
        <p:txBody>
          <a:bodyPr/>
          <a:lstStyle/>
          <a:p>
            <a:r>
              <a:rPr lang="en-US" b="1" dirty="0">
                <a:solidFill>
                  <a:srgbClr val="FF0000"/>
                </a:solidFill>
              </a:rPr>
              <a:t>Battery Negative</a:t>
            </a:r>
            <a:r>
              <a:rPr lang="en-GB" b="1" dirty="0">
                <a:solidFill>
                  <a:srgbClr val="FF0000"/>
                </a:solidFill>
              </a:rPr>
              <a:t> </a:t>
            </a:r>
            <a:r>
              <a:rPr lang="en-US" b="1" dirty="0">
                <a:solidFill>
                  <a:srgbClr val="FF0000"/>
                </a:solidFill>
              </a:rPr>
              <a:t>Cable……</a:t>
            </a:r>
            <a:endParaRPr lang="en-GB" dirty="0"/>
          </a:p>
        </p:txBody>
      </p:sp>
      <p:pic>
        <p:nvPicPr>
          <p:cNvPr id="4" name="Content Placeholder 3"/>
          <p:cNvPicPr>
            <a:picLocks noGrp="1" noChangeAspect="1"/>
          </p:cNvPicPr>
          <p:nvPr>
            <p:ph idx="1"/>
          </p:nvPr>
        </p:nvPicPr>
        <p:blipFill>
          <a:blip r:embed="rId2"/>
          <a:stretch>
            <a:fillRect/>
          </a:stretch>
        </p:blipFill>
        <p:spPr>
          <a:xfrm>
            <a:off x="914400" y="1066800"/>
            <a:ext cx="7239000" cy="5791200"/>
          </a:xfrm>
          <a:prstGeom prst="rect">
            <a:avLst/>
          </a:prstGeom>
        </p:spPr>
      </p:pic>
    </p:spTree>
    <p:extLst>
      <p:ext uri="{BB962C8B-B14F-4D97-AF65-F5344CB8AC3E}">
        <p14:creationId xmlns:p14="http://schemas.microsoft.com/office/powerpoint/2010/main" val="18202725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b="1" dirty="0">
                <a:solidFill>
                  <a:srgbClr val="FF0000"/>
                </a:solidFill>
              </a:rPr>
              <a:t>Ignition Switch</a:t>
            </a:r>
            <a:r>
              <a:rPr lang="en-GB" b="1" dirty="0">
                <a:solidFill>
                  <a:srgbClr val="FF0000"/>
                </a:solidFill>
              </a:rPr>
              <a:t> </a:t>
            </a:r>
            <a:r>
              <a:rPr lang="en-US" b="1" dirty="0">
                <a:solidFill>
                  <a:srgbClr val="FF0000"/>
                </a:solidFill>
              </a:rPr>
              <a:t>and Key</a:t>
            </a:r>
            <a:endParaRPr lang="en-GB" dirty="0">
              <a:solidFill>
                <a:srgbClr val="FF0000"/>
              </a:solidFill>
            </a:endParaRPr>
          </a:p>
        </p:txBody>
      </p:sp>
      <p:sp>
        <p:nvSpPr>
          <p:cNvPr id="3" name="Content Placeholder 2"/>
          <p:cNvSpPr>
            <a:spLocks noGrp="1"/>
          </p:cNvSpPr>
          <p:nvPr>
            <p:ph idx="1"/>
          </p:nvPr>
        </p:nvSpPr>
        <p:spPr>
          <a:xfrm>
            <a:off x="0" y="838200"/>
            <a:ext cx="9144000" cy="6019800"/>
          </a:xfrm>
        </p:spPr>
        <p:txBody>
          <a:bodyPr>
            <a:normAutofit/>
          </a:bodyPr>
          <a:lstStyle/>
          <a:p>
            <a:pPr>
              <a:buFont typeface="Wingdings" panose="05000000000000000000" pitchFamily="2" charset="2"/>
              <a:buChar char="Ø"/>
            </a:pPr>
            <a:r>
              <a:rPr lang="en-GB" dirty="0"/>
              <a:t>Check the ignition switch both mechanically and electrically.</a:t>
            </a:r>
          </a:p>
          <a:p>
            <a:pPr marL="0" indent="0">
              <a:buNone/>
            </a:pPr>
            <a:r>
              <a:rPr lang="en-GB" dirty="0">
                <a:solidFill>
                  <a:srgbClr val="FF0000"/>
                </a:solidFill>
              </a:rPr>
              <a:t>Mechanically</a:t>
            </a:r>
            <a:r>
              <a:rPr lang="en-GB" dirty="0"/>
              <a:t> − Switch should turn smoothly without binding. Binding may mean problems with the lock cylinder or the electrical contacts.</a:t>
            </a:r>
          </a:p>
          <a:p>
            <a:pPr marL="0" indent="0">
              <a:buNone/>
            </a:pPr>
            <a:r>
              <a:rPr lang="en-GB" dirty="0"/>
              <a:t>Check the ignition key for excessive wear or rough surfaces.</a:t>
            </a:r>
          </a:p>
          <a:p>
            <a:pPr marL="0" indent="0">
              <a:buNone/>
            </a:pPr>
            <a:r>
              <a:rPr lang="en-GB" dirty="0">
                <a:solidFill>
                  <a:srgbClr val="FF0000"/>
                </a:solidFill>
              </a:rPr>
              <a:t>Electrically</a:t>
            </a:r>
            <a:r>
              <a:rPr lang="en-GB" dirty="0"/>
              <a:t> − Disconnect the battery ground cable and check for continuity through the ST contacts. Refer to the appropriate service manual for wiring details.</a:t>
            </a:r>
          </a:p>
          <a:p>
            <a:endParaRPr lang="en-GB" dirty="0"/>
          </a:p>
        </p:txBody>
      </p:sp>
    </p:spTree>
    <p:extLst>
      <p:ext uri="{BB962C8B-B14F-4D97-AF65-F5344CB8AC3E}">
        <p14:creationId xmlns:p14="http://schemas.microsoft.com/office/powerpoint/2010/main" val="34171464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991600" cy="1600200"/>
          </a:xfrm>
        </p:spPr>
        <p:txBody>
          <a:bodyPr>
            <a:normAutofit/>
          </a:bodyPr>
          <a:lstStyle/>
          <a:p>
            <a:r>
              <a:rPr lang="en-GB" dirty="0">
                <a:solidFill>
                  <a:srgbClr val="FF0000"/>
                </a:solidFill>
              </a:rPr>
              <a:t>Component testing and electrical testing</a:t>
            </a:r>
          </a:p>
        </p:txBody>
      </p:sp>
      <p:sp>
        <p:nvSpPr>
          <p:cNvPr id="3" name="Content Placeholder 2"/>
          <p:cNvSpPr>
            <a:spLocks noGrp="1"/>
          </p:cNvSpPr>
          <p:nvPr>
            <p:ph idx="1"/>
          </p:nvPr>
        </p:nvSpPr>
        <p:spPr/>
        <p:txBody>
          <a:bodyPr/>
          <a:lstStyle/>
          <a:p>
            <a:endParaRPr lang="en-GB" dirty="0"/>
          </a:p>
        </p:txBody>
      </p:sp>
    </p:spTree>
    <p:extLst>
      <p:ext uri="{BB962C8B-B14F-4D97-AF65-F5344CB8AC3E}">
        <p14:creationId xmlns:p14="http://schemas.microsoft.com/office/powerpoint/2010/main" val="4599873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pic>
        <p:nvPicPr>
          <p:cNvPr id="4" name="Content Placeholder 3"/>
          <p:cNvPicPr>
            <a:picLocks noGrp="1" noChangeAspect="1"/>
          </p:cNvPicPr>
          <p:nvPr>
            <p:ph idx="1"/>
          </p:nvPr>
        </p:nvPicPr>
        <p:blipFill>
          <a:blip r:embed="rId2"/>
          <a:stretch>
            <a:fillRect/>
          </a:stretch>
        </p:blipFill>
        <p:spPr>
          <a:xfrm>
            <a:off x="914400" y="0"/>
            <a:ext cx="7162800" cy="6858000"/>
          </a:xfrm>
          <a:prstGeom prst="rect">
            <a:avLst/>
          </a:prstGeom>
        </p:spPr>
      </p:pic>
    </p:spTree>
    <p:extLst>
      <p:ext uri="{BB962C8B-B14F-4D97-AF65-F5344CB8AC3E}">
        <p14:creationId xmlns:p14="http://schemas.microsoft.com/office/powerpoint/2010/main" val="39682456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Content Placeholder 3"/>
          <p:cNvPicPr>
            <a:picLocks noGrp="1" noChangeAspect="1"/>
          </p:cNvPicPr>
          <p:nvPr>
            <p:ph idx="1"/>
          </p:nvPr>
        </p:nvPicPr>
        <p:blipFill>
          <a:blip r:embed="rId2"/>
          <a:stretch>
            <a:fillRect/>
          </a:stretch>
        </p:blipFill>
        <p:spPr>
          <a:xfrm>
            <a:off x="0" y="76200"/>
            <a:ext cx="9143999" cy="6781800"/>
          </a:xfrm>
          <a:prstGeom prst="rect">
            <a:avLst/>
          </a:prstGeom>
        </p:spPr>
      </p:pic>
    </p:spTree>
    <p:extLst>
      <p:ext uri="{BB962C8B-B14F-4D97-AF65-F5344CB8AC3E}">
        <p14:creationId xmlns:p14="http://schemas.microsoft.com/office/powerpoint/2010/main" val="2804687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Reading List</a:t>
            </a:r>
            <a:endParaRPr lang="en-GB" dirty="0"/>
          </a:p>
        </p:txBody>
      </p:sp>
      <p:sp>
        <p:nvSpPr>
          <p:cNvPr id="3" name="Content Placeholder 2"/>
          <p:cNvSpPr>
            <a:spLocks noGrp="1"/>
          </p:cNvSpPr>
          <p:nvPr>
            <p:ph idx="1"/>
          </p:nvPr>
        </p:nvSpPr>
        <p:spPr/>
        <p:txBody>
          <a:bodyPr>
            <a:normAutofit fontScale="47500" lnSpcReduction="20000"/>
          </a:bodyPr>
          <a:lstStyle/>
          <a:p>
            <a:pPr lvl="0"/>
            <a:r>
              <a:rPr lang="en-GB" dirty="0"/>
              <a:t>Ronald </a:t>
            </a:r>
            <a:r>
              <a:rPr lang="en-GB" dirty="0" err="1"/>
              <a:t>K.Jurgen</a:t>
            </a:r>
            <a:r>
              <a:rPr lang="en-GB" dirty="0"/>
              <a:t> (2003) Sensor and Transducers, , SAE</a:t>
            </a:r>
          </a:p>
          <a:p>
            <a:pPr lvl="0"/>
            <a:r>
              <a:rPr lang="en-GB" dirty="0"/>
              <a:t> Ronald K. </a:t>
            </a:r>
            <a:r>
              <a:rPr lang="en-GB" dirty="0" err="1"/>
              <a:t>Jurgen</a:t>
            </a:r>
            <a:r>
              <a:rPr lang="en-GB" dirty="0"/>
              <a:t> (2002) Electric and Hybrid-electric vehicles, SAE.</a:t>
            </a:r>
          </a:p>
          <a:p>
            <a:pPr lvl="0"/>
            <a:r>
              <a:rPr lang="en-GB" dirty="0"/>
              <a:t>Tom Denton, (2000). “Automobile Electrical and Electronics Systems”, Edward Arnold Publishers, </a:t>
            </a:r>
          </a:p>
          <a:p>
            <a:pPr lvl="0"/>
            <a:r>
              <a:rPr lang="en-GB" dirty="0"/>
              <a:t>Barry </a:t>
            </a:r>
            <a:r>
              <a:rPr lang="en-GB" dirty="0" err="1"/>
              <a:t>Hollembeak</a:t>
            </a:r>
            <a:r>
              <a:rPr lang="en-GB" dirty="0"/>
              <a:t>, (2001) “Automotive Electricity, Electronics &amp; Computer Controls”, Delmar Publishers,.</a:t>
            </a:r>
          </a:p>
          <a:p>
            <a:pPr lvl="0"/>
            <a:r>
              <a:rPr lang="en-GB" dirty="0"/>
              <a:t>Richard K. </a:t>
            </a:r>
            <a:r>
              <a:rPr lang="en-GB" dirty="0" err="1"/>
              <a:t>Dupuy</a:t>
            </a:r>
            <a:r>
              <a:rPr lang="en-GB" dirty="0"/>
              <a:t> (2000). “Fuel System and Emission controls”, Check Chart Publication, </a:t>
            </a:r>
          </a:p>
          <a:p>
            <a:pPr lvl="0"/>
            <a:r>
              <a:rPr lang="en-GB" dirty="0"/>
              <a:t>Ronald. K. </a:t>
            </a:r>
            <a:r>
              <a:rPr lang="en-GB" dirty="0" err="1"/>
              <a:t>Jurgon</a:t>
            </a:r>
            <a:r>
              <a:rPr lang="en-GB" dirty="0"/>
              <a:t>, (1999) “Automotive Electronics Handbook”, McGraw-Hill,.</a:t>
            </a:r>
          </a:p>
          <a:p>
            <a:pPr lvl="0"/>
            <a:r>
              <a:rPr lang="en-GB" dirty="0" err="1"/>
              <a:t>Ribbens</a:t>
            </a:r>
            <a:r>
              <a:rPr lang="en-GB" dirty="0"/>
              <a:t>, (2013) "Understanding Automotive Electronics", 7</a:t>
            </a:r>
            <a:r>
              <a:rPr lang="en-GB" baseline="30000" dirty="0"/>
              <a:t>th</a:t>
            </a:r>
            <a:r>
              <a:rPr lang="en-GB" dirty="0"/>
              <a:t>  Edition, Elsevier, Indian Reprint, </a:t>
            </a:r>
          </a:p>
          <a:p>
            <a:pPr lvl="0"/>
            <a:r>
              <a:rPr lang="en-GB" dirty="0"/>
              <a:t>William B. </a:t>
            </a:r>
            <a:r>
              <a:rPr lang="en-GB" dirty="0" err="1"/>
              <a:t>Ribben</a:t>
            </a:r>
            <a:r>
              <a:rPr lang="en-GB" dirty="0"/>
              <a:t>, (2003). Understanding Automotive Electronics, 6</a:t>
            </a:r>
            <a:r>
              <a:rPr lang="en-GB" baseline="30000" dirty="0"/>
              <a:t>th</a:t>
            </a:r>
            <a:r>
              <a:rPr lang="en-GB" dirty="0"/>
              <a:t>  edition Elsevier Science</a:t>
            </a:r>
          </a:p>
          <a:p>
            <a:pPr lvl="0"/>
            <a:r>
              <a:rPr lang="en-GB" dirty="0"/>
              <a:t>V. A. W. Hillier and F. W. </a:t>
            </a:r>
            <a:r>
              <a:rPr lang="en-GB" dirty="0" err="1"/>
              <a:t>Pittuck</a:t>
            </a:r>
            <a:r>
              <a:rPr lang="en-GB" dirty="0"/>
              <a:t>, (1993) Fundamentals of Motor Vehicle Technology, Hutchison Educational, London.</a:t>
            </a:r>
          </a:p>
          <a:p>
            <a:pPr lvl="0"/>
            <a:r>
              <a:rPr lang="en-GB" dirty="0"/>
              <a:t>W. H. Crouse (1983) Automotive Mechanics, McGraw-Hill Publisher, London.</a:t>
            </a:r>
          </a:p>
          <a:p>
            <a:pPr lvl="0"/>
            <a:r>
              <a:rPr lang="en-GB" dirty="0" err="1"/>
              <a:t>Nunney</a:t>
            </a:r>
            <a:r>
              <a:rPr lang="en-GB" dirty="0"/>
              <a:t> (2008), Light and Heavy Vehicle Technology, </a:t>
            </a:r>
            <a:r>
              <a:rPr lang="en-GB" dirty="0" err="1"/>
              <a:t>Routledge</a:t>
            </a:r>
            <a:endParaRPr lang="en-GB" dirty="0"/>
          </a:p>
          <a:p>
            <a:pPr lvl="0"/>
            <a:r>
              <a:rPr lang="en-GB" dirty="0"/>
              <a:t>William </a:t>
            </a:r>
            <a:r>
              <a:rPr lang="en-GB" dirty="0" err="1"/>
              <a:t>Ribbens</a:t>
            </a:r>
            <a:r>
              <a:rPr lang="en-GB" dirty="0"/>
              <a:t> (2017) Understanding Automotive Electronics, Eighth Edition, Butterworth-Heinemann;</a:t>
            </a:r>
          </a:p>
          <a:p>
            <a:pPr lvl="0"/>
            <a:r>
              <a:rPr lang="en-GB" dirty="0"/>
              <a:t>Tom Denton (2016) Automotive Technician Training, </a:t>
            </a:r>
            <a:r>
              <a:rPr lang="en-GB" dirty="0" err="1"/>
              <a:t>Routledge</a:t>
            </a:r>
            <a:r>
              <a:rPr lang="en-GB" dirty="0"/>
              <a:t> publisher</a:t>
            </a:r>
          </a:p>
          <a:p>
            <a:pPr lvl="0"/>
            <a:r>
              <a:rPr lang="en-GB" dirty="0"/>
              <a:t>Robert Bosch GmbH (2014) Bosch Automotive Handbook 9</a:t>
            </a:r>
            <a:r>
              <a:rPr lang="en-GB" baseline="30000" dirty="0"/>
              <a:t>th</a:t>
            </a:r>
            <a:r>
              <a:rPr lang="en-GB" dirty="0"/>
              <a:t> Edition </a:t>
            </a:r>
            <a:r>
              <a:rPr lang="en-GB" dirty="0" err="1"/>
              <a:t>bently</a:t>
            </a:r>
            <a:r>
              <a:rPr lang="en-GB" dirty="0"/>
              <a:t> publisher</a:t>
            </a:r>
          </a:p>
          <a:p>
            <a:pPr lvl="0"/>
            <a:r>
              <a:rPr lang="en-GB" dirty="0"/>
              <a:t>Richard Stone, Jeffrey K. Ball (2004) Automotive Engineering Fundamentals, SAE International</a:t>
            </a:r>
          </a:p>
        </p:txBody>
      </p:sp>
    </p:spTree>
    <p:extLst>
      <p:ext uri="{BB962C8B-B14F-4D97-AF65-F5344CB8AC3E}">
        <p14:creationId xmlns:p14="http://schemas.microsoft.com/office/powerpoint/2010/main" val="7345294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1760</TotalTime>
  <Words>1113</Words>
  <Application>Microsoft Office PowerPoint</Application>
  <PresentationFormat>On-screen Show (4:3)</PresentationFormat>
  <Paragraphs>98</Paragraphs>
  <Slides>20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Wingdings</vt:lpstr>
      <vt:lpstr>Office Theme</vt:lpstr>
      <vt:lpstr>Starting System</vt:lpstr>
      <vt:lpstr>Starting System Components</vt:lpstr>
      <vt:lpstr>Starting System Components – Automatic Transmission</vt:lpstr>
      <vt:lpstr>Starting System Components - Manual Transmission</vt:lpstr>
      <vt:lpstr>Starting System Components…..</vt:lpstr>
      <vt:lpstr>over−running clutch</vt:lpstr>
      <vt:lpstr>over−running clutch…..</vt:lpstr>
      <vt:lpstr>over−running clutch…..</vt:lpstr>
      <vt:lpstr>Ignition Switch</vt:lpstr>
      <vt:lpstr>Diagnosis and Testing</vt:lpstr>
      <vt:lpstr>Voltage Drop Tests-  Starter Motor Circuit</vt:lpstr>
      <vt:lpstr>Battery Positive Cable</vt:lpstr>
      <vt:lpstr>Battery Positive Cable…..</vt:lpstr>
      <vt:lpstr>Battery Negative Cable</vt:lpstr>
      <vt:lpstr>Battery Negative Cable……</vt:lpstr>
      <vt:lpstr>Ignition Switch and Key</vt:lpstr>
      <vt:lpstr>Component testing and electrical testing</vt:lpstr>
      <vt:lpstr>PowerPoint Presentation</vt:lpstr>
      <vt:lpstr>PowerPoint Presentation</vt:lpstr>
      <vt:lpstr>Reading 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Emmanuel Samson</cp:lastModifiedBy>
  <cp:revision>74</cp:revision>
  <dcterms:created xsi:type="dcterms:W3CDTF">2018-02-08T14:45:54Z</dcterms:created>
  <dcterms:modified xsi:type="dcterms:W3CDTF">2026-05-14T19:21:36Z</dcterms:modified>
</cp:coreProperties>
</file>