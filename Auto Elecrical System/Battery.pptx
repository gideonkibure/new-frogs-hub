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9" r:id="rId6"/>
    <p:sldId id="263" r:id="rId7"/>
    <p:sldId id="260" r:id="rId8"/>
    <p:sldId id="264" r:id="rId9"/>
    <p:sldId id="261" r:id="rId10"/>
    <p:sldId id="265" r:id="rId11"/>
    <p:sldId id="266" r:id="rId12"/>
    <p:sldId id="267" r:id="rId13"/>
    <p:sldId id="268" r:id="rId14"/>
    <p:sldId id="270" r:id="rId15"/>
    <p:sldId id="271" r:id="rId16"/>
    <p:sldId id="272" r:id="rId17"/>
    <p:sldId id="273" r:id="rId18"/>
    <p:sldId id="274" r:id="rId19"/>
    <p:sldId id="275" r:id="rId20"/>
    <p:sldId id="276" r:id="rId21"/>
    <p:sldId id="277" r:id="rId22"/>
    <p:sldId id="278" r:id="rId23"/>
    <p:sldId id="279" r:id="rId24"/>
    <p:sldId id="281" r:id="rId25"/>
    <p:sldId id="282" r:id="rId26"/>
    <p:sldId id="283" r:id="rId27"/>
    <p:sldId id="287" r:id="rId28"/>
    <p:sldId id="285" r:id="rId29"/>
    <p:sldId id="286" r:id="rId30"/>
    <p:sldId id="288" r:id="rId31"/>
    <p:sldId id="290" r:id="rId32"/>
    <p:sldId id="289" r:id="rId33"/>
    <p:sldId id="291" r:id="rId34"/>
    <p:sldId id="292" r:id="rId35"/>
    <p:sldId id="294" r:id="rId36"/>
    <p:sldId id="295" r:id="rId37"/>
    <p:sldId id="293"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32"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FF92A230-58F6-471F-B3FD-1B2AC6B8C639}" type="datetimeFigureOut">
              <a:rPr lang="en-GB" smtClean="0"/>
              <a:pPr/>
              <a:t>11/05/2021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4FA5B3-335F-4ABE-9140-EC7FF34B98CA}" type="slidenum">
              <a:rPr lang="en-GB" smtClean="0"/>
              <a:pPr/>
              <a:t>‹#›</a:t>
            </a:fld>
            <a:endParaRPr lang="en-GB"/>
          </a:p>
        </p:txBody>
      </p:sp>
    </p:spTree>
    <p:extLst>
      <p:ext uri="{BB962C8B-B14F-4D97-AF65-F5344CB8AC3E}">
        <p14:creationId xmlns:p14="http://schemas.microsoft.com/office/powerpoint/2010/main" val="600502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F92A230-58F6-471F-B3FD-1B2AC6B8C639}" type="datetimeFigureOut">
              <a:rPr lang="en-GB" smtClean="0"/>
              <a:pPr/>
              <a:t>11/05/2021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4FA5B3-335F-4ABE-9140-EC7FF34B98CA}" type="slidenum">
              <a:rPr lang="en-GB" smtClean="0"/>
              <a:pPr/>
              <a:t>‹#›</a:t>
            </a:fld>
            <a:endParaRPr lang="en-GB"/>
          </a:p>
        </p:txBody>
      </p:sp>
    </p:spTree>
    <p:extLst>
      <p:ext uri="{BB962C8B-B14F-4D97-AF65-F5344CB8AC3E}">
        <p14:creationId xmlns:p14="http://schemas.microsoft.com/office/powerpoint/2010/main" val="3465393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F92A230-58F6-471F-B3FD-1B2AC6B8C639}" type="datetimeFigureOut">
              <a:rPr lang="en-GB" smtClean="0"/>
              <a:pPr/>
              <a:t>11/05/2021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4FA5B3-335F-4ABE-9140-EC7FF34B98CA}" type="slidenum">
              <a:rPr lang="en-GB" smtClean="0"/>
              <a:pPr/>
              <a:t>‹#›</a:t>
            </a:fld>
            <a:endParaRPr lang="en-GB"/>
          </a:p>
        </p:txBody>
      </p:sp>
    </p:spTree>
    <p:extLst>
      <p:ext uri="{BB962C8B-B14F-4D97-AF65-F5344CB8AC3E}">
        <p14:creationId xmlns:p14="http://schemas.microsoft.com/office/powerpoint/2010/main" val="1001416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FF92A230-58F6-471F-B3FD-1B2AC6B8C639}" type="datetimeFigureOut">
              <a:rPr lang="en-GB" smtClean="0"/>
              <a:pPr/>
              <a:t>11/05/2021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F4FA5B3-335F-4ABE-9140-EC7FF34B98CA}" type="slidenum">
              <a:rPr lang="en-GB" smtClean="0"/>
              <a:pPr/>
              <a:t>‹#›</a:t>
            </a:fld>
            <a:endParaRPr lang="en-GB"/>
          </a:p>
        </p:txBody>
      </p:sp>
    </p:spTree>
    <p:extLst>
      <p:ext uri="{BB962C8B-B14F-4D97-AF65-F5344CB8AC3E}">
        <p14:creationId xmlns:p14="http://schemas.microsoft.com/office/powerpoint/2010/main" val="1580027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FF92A230-58F6-471F-B3FD-1B2AC6B8C639}" type="datetimeFigureOut">
              <a:rPr lang="en-GB" smtClean="0"/>
              <a:pPr/>
              <a:t>11/05/2021</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F4FA5B3-335F-4ABE-9140-EC7FF34B98CA}" type="slidenum">
              <a:rPr lang="en-GB" smtClean="0"/>
              <a:pPr/>
              <a:t>‹#›</a:t>
            </a:fld>
            <a:endParaRPr lang="en-GB"/>
          </a:p>
        </p:txBody>
      </p:sp>
    </p:spTree>
    <p:extLst>
      <p:ext uri="{BB962C8B-B14F-4D97-AF65-F5344CB8AC3E}">
        <p14:creationId xmlns:p14="http://schemas.microsoft.com/office/powerpoint/2010/main" val="2747267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FF92A230-58F6-471F-B3FD-1B2AC6B8C639}" type="datetimeFigureOut">
              <a:rPr lang="en-GB" smtClean="0"/>
              <a:pPr/>
              <a:t>11/05/2021</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F4FA5B3-335F-4ABE-9140-EC7FF34B98CA}" type="slidenum">
              <a:rPr lang="en-GB" smtClean="0"/>
              <a:pPr/>
              <a:t>‹#›</a:t>
            </a:fld>
            <a:endParaRPr lang="en-GB"/>
          </a:p>
        </p:txBody>
      </p:sp>
    </p:spTree>
    <p:extLst>
      <p:ext uri="{BB962C8B-B14F-4D97-AF65-F5344CB8AC3E}">
        <p14:creationId xmlns:p14="http://schemas.microsoft.com/office/powerpoint/2010/main" val="672523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92A230-58F6-471F-B3FD-1B2AC6B8C639}" type="datetimeFigureOut">
              <a:rPr lang="en-GB" smtClean="0"/>
              <a:pPr/>
              <a:t>11/05/2021</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F4FA5B3-335F-4ABE-9140-EC7FF34B98CA}" type="slidenum">
              <a:rPr lang="en-GB" smtClean="0"/>
              <a:pPr/>
              <a:t>‹#›</a:t>
            </a:fld>
            <a:endParaRPr lang="en-GB"/>
          </a:p>
        </p:txBody>
      </p:sp>
    </p:spTree>
    <p:extLst>
      <p:ext uri="{BB962C8B-B14F-4D97-AF65-F5344CB8AC3E}">
        <p14:creationId xmlns:p14="http://schemas.microsoft.com/office/powerpoint/2010/main" val="2450925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F92A230-58F6-471F-B3FD-1B2AC6B8C639}" type="datetimeFigureOut">
              <a:rPr lang="en-GB" smtClean="0"/>
              <a:pPr/>
              <a:t>11/05/2021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F4FA5B3-335F-4ABE-9140-EC7FF34B98CA}" type="slidenum">
              <a:rPr lang="en-GB" smtClean="0"/>
              <a:pPr/>
              <a:t>‹#›</a:t>
            </a:fld>
            <a:endParaRPr lang="en-GB"/>
          </a:p>
        </p:txBody>
      </p:sp>
    </p:spTree>
    <p:extLst>
      <p:ext uri="{BB962C8B-B14F-4D97-AF65-F5344CB8AC3E}">
        <p14:creationId xmlns:p14="http://schemas.microsoft.com/office/powerpoint/2010/main" val="1724523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F92A230-58F6-471F-B3FD-1B2AC6B8C639}" type="datetimeFigureOut">
              <a:rPr lang="en-GB" smtClean="0"/>
              <a:pPr/>
              <a:t>11/05/2021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F4FA5B3-335F-4ABE-9140-EC7FF34B98CA}" type="slidenum">
              <a:rPr lang="en-GB" smtClean="0"/>
              <a:pPr/>
              <a:t>‹#›</a:t>
            </a:fld>
            <a:endParaRPr lang="en-GB"/>
          </a:p>
        </p:txBody>
      </p:sp>
    </p:spTree>
    <p:extLst>
      <p:ext uri="{BB962C8B-B14F-4D97-AF65-F5344CB8AC3E}">
        <p14:creationId xmlns:p14="http://schemas.microsoft.com/office/powerpoint/2010/main" val="341309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F92A230-58F6-471F-B3FD-1B2AC6B8C639}" type="datetimeFigureOut">
              <a:rPr lang="en-GB" smtClean="0"/>
              <a:pPr/>
              <a:t>11/05/2021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4FA5B3-335F-4ABE-9140-EC7FF34B98CA}" type="slidenum">
              <a:rPr lang="en-GB" smtClean="0"/>
              <a:pPr/>
              <a:t>‹#›</a:t>
            </a:fld>
            <a:endParaRPr lang="en-GB"/>
          </a:p>
        </p:txBody>
      </p:sp>
    </p:spTree>
    <p:extLst>
      <p:ext uri="{BB962C8B-B14F-4D97-AF65-F5344CB8AC3E}">
        <p14:creationId xmlns:p14="http://schemas.microsoft.com/office/powerpoint/2010/main" val="4209102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F92A230-58F6-471F-B3FD-1B2AC6B8C639}" type="datetimeFigureOut">
              <a:rPr lang="en-GB" smtClean="0"/>
              <a:pPr/>
              <a:t>11/05/2021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4FA5B3-335F-4ABE-9140-EC7FF34B98CA}" type="slidenum">
              <a:rPr lang="en-GB" smtClean="0"/>
              <a:pPr/>
              <a:t>‹#›</a:t>
            </a:fld>
            <a:endParaRPr lang="en-GB"/>
          </a:p>
        </p:txBody>
      </p:sp>
    </p:spTree>
    <p:extLst>
      <p:ext uri="{BB962C8B-B14F-4D97-AF65-F5344CB8AC3E}">
        <p14:creationId xmlns:p14="http://schemas.microsoft.com/office/powerpoint/2010/main" val="4027271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92A230-58F6-471F-B3FD-1B2AC6B8C639}" type="datetimeFigureOut">
              <a:rPr lang="en-GB" smtClean="0"/>
              <a:pPr/>
              <a:t>11/05/2021</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FA5B3-335F-4ABE-9140-EC7FF34B98CA}" type="slidenum">
              <a:rPr lang="en-GB" smtClean="0"/>
              <a:pPr/>
              <a:t>‹#›</a:t>
            </a:fld>
            <a:endParaRPr lang="en-GB"/>
          </a:p>
        </p:txBody>
      </p:sp>
    </p:spTree>
    <p:extLst>
      <p:ext uri="{BB962C8B-B14F-4D97-AF65-F5344CB8AC3E}">
        <p14:creationId xmlns:p14="http://schemas.microsoft.com/office/powerpoint/2010/main" val="2724330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12192000" cy="1016950"/>
          </a:xfrm>
        </p:spPr>
        <p:txBody>
          <a:bodyPr>
            <a:normAutofit/>
          </a:bodyPr>
          <a:lstStyle/>
          <a:p>
            <a:r>
              <a:rPr lang="en-US" sz="4400" dirty="0" smtClean="0">
                <a:solidFill>
                  <a:srgbClr val="FF0000"/>
                </a:solidFill>
              </a:rPr>
              <a:t>Battery</a:t>
            </a:r>
            <a:endParaRPr lang="en-GB" sz="4400" dirty="0">
              <a:solidFill>
                <a:srgbClr val="FF0000"/>
              </a:solidFill>
            </a:endParaRPr>
          </a:p>
        </p:txBody>
      </p:sp>
      <p:sp>
        <p:nvSpPr>
          <p:cNvPr id="3" name="Subtitle 2"/>
          <p:cNvSpPr>
            <a:spLocks noGrp="1"/>
          </p:cNvSpPr>
          <p:nvPr>
            <p:ph type="subTitle" idx="1"/>
          </p:nvPr>
        </p:nvSpPr>
        <p:spPr>
          <a:xfrm>
            <a:off x="0" y="1145137"/>
            <a:ext cx="12117936" cy="5712864"/>
          </a:xfrm>
        </p:spPr>
        <p:txBody>
          <a:bodyPr>
            <a:normAutofit/>
          </a:bodyPr>
          <a:lstStyle/>
          <a:p>
            <a:pPr marL="342900" indent="-342900" algn="l">
              <a:buFont typeface="Wingdings" panose="05000000000000000000" pitchFamily="2" charset="2"/>
              <a:buChar char="Ø"/>
            </a:pPr>
            <a:r>
              <a:rPr lang="en-US" dirty="0" smtClean="0"/>
              <a:t> </a:t>
            </a:r>
            <a:r>
              <a:rPr lang="en-US" sz="3600" dirty="0"/>
              <a:t>is the primary "source" of electrical energy on </a:t>
            </a:r>
            <a:r>
              <a:rPr lang="en-US" sz="3600" dirty="0" smtClean="0"/>
              <a:t>vehicles</a:t>
            </a:r>
            <a:r>
              <a:rPr lang="en-US" sz="3600" dirty="0"/>
              <a:t>. </a:t>
            </a:r>
            <a:r>
              <a:rPr lang="en-US" sz="3600" dirty="0" smtClean="0"/>
              <a:t>It </a:t>
            </a:r>
            <a:r>
              <a:rPr lang="en-US" sz="3600" dirty="0"/>
              <a:t>stores chemicals, not electricity. </a:t>
            </a:r>
            <a:endParaRPr lang="en-US" sz="3600" dirty="0" smtClean="0"/>
          </a:p>
          <a:p>
            <a:pPr marL="342900" indent="-342900" algn="l">
              <a:buFont typeface="Wingdings" panose="05000000000000000000" pitchFamily="2" charset="2"/>
              <a:buChar char="Ø"/>
            </a:pPr>
            <a:r>
              <a:rPr lang="en-US" sz="3600" dirty="0" smtClean="0"/>
              <a:t>Two </a:t>
            </a:r>
            <a:r>
              <a:rPr lang="en-US" sz="3600" dirty="0"/>
              <a:t>different types of lead in an acid mixture react to produce an electrical pressure. </a:t>
            </a:r>
            <a:endParaRPr lang="en-US" sz="3600" dirty="0" smtClean="0"/>
          </a:p>
          <a:p>
            <a:pPr marL="342900" indent="-342900" algn="l">
              <a:buFont typeface="Wingdings" panose="05000000000000000000" pitchFamily="2" charset="2"/>
              <a:buChar char="Ø"/>
            </a:pPr>
            <a:r>
              <a:rPr lang="en-US" sz="3600" dirty="0" smtClean="0"/>
              <a:t>This </a:t>
            </a:r>
            <a:r>
              <a:rPr lang="en-US" sz="3600" b="1" dirty="0">
                <a:solidFill>
                  <a:srgbClr val="FF0000"/>
                </a:solidFill>
              </a:rPr>
              <a:t>electrochemical reaction </a:t>
            </a:r>
            <a:r>
              <a:rPr lang="en-US" sz="3600" dirty="0"/>
              <a:t>changes chemical energy to electrical energy.</a:t>
            </a:r>
            <a:endParaRPr lang="en-GB" sz="3600" dirty="0"/>
          </a:p>
          <a:p>
            <a:pPr algn="l"/>
            <a:r>
              <a:rPr lang="en-US" sz="3600" dirty="0"/>
              <a:t> </a:t>
            </a:r>
            <a:endParaRPr lang="en-GB" sz="3600" dirty="0"/>
          </a:p>
        </p:txBody>
      </p:sp>
    </p:spTree>
    <p:extLst>
      <p:ext uri="{BB962C8B-B14F-4D97-AF65-F5344CB8AC3E}">
        <p14:creationId xmlns:p14="http://schemas.microsoft.com/office/powerpoint/2010/main" val="32606071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025494"/>
          </a:xfrm>
        </p:spPr>
        <p:txBody>
          <a:bodyPr/>
          <a:lstStyle/>
          <a:p>
            <a:pPr algn="ctr"/>
            <a:r>
              <a:rPr lang="en-US" b="1" dirty="0" smtClean="0"/>
              <a:t>Battery Functions</a:t>
            </a:r>
            <a:endParaRPr lang="en-GB" b="1" dirty="0" smtClean="0"/>
          </a:p>
        </p:txBody>
      </p:sp>
      <p:sp>
        <p:nvSpPr>
          <p:cNvPr id="3" name="Content Placeholder 2"/>
          <p:cNvSpPr>
            <a:spLocks noGrp="1"/>
          </p:cNvSpPr>
          <p:nvPr>
            <p:ph idx="1"/>
          </p:nvPr>
        </p:nvSpPr>
        <p:spPr>
          <a:xfrm>
            <a:off x="0" y="1025495"/>
            <a:ext cx="12192000" cy="5832505"/>
          </a:xfrm>
        </p:spPr>
        <p:txBody>
          <a:bodyPr>
            <a:normAutofit lnSpcReduction="10000"/>
          </a:bodyPr>
          <a:lstStyle/>
          <a:p>
            <a:pPr marL="514350" lvl="0" indent="-514350">
              <a:buFont typeface="+mj-lt"/>
              <a:buAutoNum type="arabicParenR"/>
            </a:pPr>
            <a:r>
              <a:rPr lang="en-US" sz="3200" b="1" dirty="0" smtClean="0">
                <a:solidFill>
                  <a:srgbClr val="FF0000"/>
                </a:solidFill>
              </a:rPr>
              <a:t>ENGINE OFF</a:t>
            </a:r>
            <a:r>
              <a:rPr lang="en-US" sz="3200" b="1" dirty="0" smtClean="0"/>
              <a:t>: </a:t>
            </a:r>
            <a:r>
              <a:rPr lang="en-US" sz="3200" dirty="0" smtClean="0"/>
              <a:t>Battery energy is used to operate the lighting and accessory systems.</a:t>
            </a:r>
            <a:endParaRPr lang="en-GB" sz="3200" dirty="0"/>
          </a:p>
          <a:p>
            <a:pPr marL="514350" lvl="0" indent="-514350">
              <a:buFont typeface="+mj-lt"/>
              <a:buAutoNum type="arabicParenR"/>
            </a:pPr>
            <a:r>
              <a:rPr lang="en-US" sz="3200" b="1" dirty="0" smtClean="0">
                <a:solidFill>
                  <a:srgbClr val="FF0000"/>
                </a:solidFill>
              </a:rPr>
              <a:t>ENGINE STARTING</a:t>
            </a:r>
            <a:r>
              <a:rPr lang="en-US" sz="3200" b="1" dirty="0" smtClean="0"/>
              <a:t>: </a:t>
            </a:r>
            <a:r>
              <a:rPr lang="en-US" sz="3200" dirty="0" smtClean="0"/>
              <a:t>Battery energy is  used to operate the starter motor and to provide current for the ignition system during cranking.</a:t>
            </a:r>
            <a:endParaRPr lang="en-GB" sz="3200" dirty="0"/>
          </a:p>
          <a:p>
            <a:pPr marL="514350" lvl="0" indent="-514350">
              <a:buFont typeface="+mj-lt"/>
              <a:buAutoNum type="arabicParenR"/>
            </a:pPr>
            <a:r>
              <a:rPr lang="en-US" sz="3200" b="1" dirty="0" smtClean="0">
                <a:solidFill>
                  <a:srgbClr val="FF0000"/>
                </a:solidFill>
              </a:rPr>
              <a:t>ENGINE RUNNING</a:t>
            </a:r>
            <a:r>
              <a:rPr lang="en-US" sz="3200" b="1" dirty="0" smtClean="0"/>
              <a:t>: </a:t>
            </a:r>
            <a:r>
              <a:rPr lang="en-US" sz="3200" dirty="0" smtClean="0"/>
              <a:t>Battery energy may be needed when the vehicle's electrical load requirements exceed the supply from the charging system.</a:t>
            </a:r>
            <a:endParaRPr lang="en-GB" sz="3200" dirty="0"/>
          </a:p>
          <a:p>
            <a:pPr marL="0" lvl="0" indent="0">
              <a:buNone/>
            </a:pPr>
            <a:endParaRPr lang="en-US" sz="3200" dirty="0"/>
          </a:p>
          <a:p>
            <a:pPr marL="0" indent="0">
              <a:buNone/>
            </a:pPr>
            <a:r>
              <a:rPr lang="en-US" sz="3200" dirty="0" smtClean="0"/>
              <a:t>In addition, the battery also serves as a </a:t>
            </a:r>
            <a:r>
              <a:rPr lang="en-US" sz="3200" b="1" dirty="0" smtClean="0"/>
              <a:t>voltage stabilizer</a:t>
            </a:r>
            <a:r>
              <a:rPr lang="en-US" sz="3200" dirty="0" smtClean="0"/>
              <a:t>, or large filter, by </a:t>
            </a:r>
            <a:r>
              <a:rPr lang="en-US" sz="3200" dirty="0" smtClean="0">
                <a:solidFill>
                  <a:srgbClr val="FF0000"/>
                </a:solidFill>
              </a:rPr>
              <a:t>absorbing abnormal</a:t>
            </a:r>
            <a:r>
              <a:rPr lang="en-US" sz="3200" dirty="0" smtClean="0"/>
              <a:t>, </a:t>
            </a:r>
            <a:r>
              <a:rPr lang="en-US" sz="3200" dirty="0" smtClean="0">
                <a:solidFill>
                  <a:srgbClr val="FF0000"/>
                </a:solidFill>
              </a:rPr>
              <a:t>transient voltages </a:t>
            </a:r>
            <a:r>
              <a:rPr lang="en-US" sz="3200" dirty="0" smtClean="0"/>
              <a:t>in the vehicle's electrical system. </a:t>
            </a:r>
          </a:p>
          <a:p>
            <a:pPr marL="0" indent="0">
              <a:buNone/>
            </a:pPr>
            <a:r>
              <a:rPr lang="en-US" sz="3200" dirty="0" smtClean="0"/>
              <a:t>Without this protection, certain electrical or electronic components could be damaged by these high voltages.</a:t>
            </a:r>
            <a:endParaRPr lang="en-GB" sz="3200" dirty="0" smtClean="0"/>
          </a:p>
          <a:p>
            <a:pPr marL="0" indent="0">
              <a:buNone/>
            </a:pPr>
            <a:endParaRPr lang="en-GB" dirty="0" smtClean="0"/>
          </a:p>
          <a:p>
            <a:endParaRPr lang="en-GB" dirty="0"/>
          </a:p>
        </p:txBody>
      </p:sp>
    </p:spTree>
    <p:extLst>
      <p:ext uri="{BB962C8B-B14F-4D97-AF65-F5344CB8AC3E}">
        <p14:creationId xmlns:p14="http://schemas.microsoft.com/office/powerpoint/2010/main" val="24803927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119498"/>
          </a:xfrm>
        </p:spPr>
        <p:txBody>
          <a:bodyPr>
            <a:normAutofit/>
          </a:bodyPr>
          <a:lstStyle/>
          <a:p>
            <a:pPr algn="ctr"/>
            <a:r>
              <a:rPr lang="en-US" b="1" dirty="0" smtClean="0"/>
              <a:t>Battery Types</a:t>
            </a:r>
            <a:endParaRPr lang="en-GB" dirty="0"/>
          </a:p>
        </p:txBody>
      </p:sp>
      <p:sp>
        <p:nvSpPr>
          <p:cNvPr id="3" name="Content Placeholder 2"/>
          <p:cNvSpPr>
            <a:spLocks noGrp="1"/>
          </p:cNvSpPr>
          <p:nvPr>
            <p:ph idx="1"/>
          </p:nvPr>
        </p:nvSpPr>
        <p:spPr>
          <a:xfrm>
            <a:off x="0" y="1119498"/>
            <a:ext cx="12192000" cy="5738501"/>
          </a:xfrm>
        </p:spPr>
        <p:txBody>
          <a:bodyPr>
            <a:normAutofit/>
          </a:bodyPr>
          <a:lstStyle/>
          <a:p>
            <a:pPr lvl="0">
              <a:buFont typeface="Wingdings" panose="05000000000000000000" pitchFamily="2" charset="2"/>
              <a:buChar char="Ø"/>
            </a:pPr>
            <a:r>
              <a:rPr lang="en-US" sz="3200" b="1" dirty="0" smtClean="0">
                <a:solidFill>
                  <a:srgbClr val="FF0000"/>
                </a:solidFill>
              </a:rPr>
              <a:t>According to cell</a:t>
            </a:r>
          </a:p>
          <a:p>
            <a:pPr marL="514350" lvl="0" indent="-514350">
              <a:buFont typeface="+mj-lt"/>
              <a:buAutoNum type="arabicParenR"/>
            </a:pPr>
            <a:r>
              <a:rPr lang="en-US" sz="3200" b="1" dirty="0" smtClean="0"/>
              <a:t>PRIMARY </a:t>
            </a:r>
            <a:r>
              <a:rPr lang="en-US" sz="3200" b="1" dirty="0"/>
              <a:t>CELL: </a:t>
            </a:r>
            <a:r>
              <a:rPr lang="en-US" sz="3200" dirty="0"/>
              <a:t>The chemical reaction totally destroys one of the metals after a period of time. Small batteries for flashlights and radios are primary cells</a:t>
            </a:r>
            <a:r>
              <a:rPr lang="en-US" sz="3200" dirty="0" smtClean="0"/>
              <a:t>.</a:t>
            </a:r>
            <a:r>
              <a:rPr lang="en-US" sz="3200" dirty="0"/>
              <a:t> </a:t>
            </a:r>
            <a:endParaRPr lang="en-GB" sz="3200" dirty="0" smtClean="0"/>
          </a:p>
          <a:p>
            <a:pPr marL="514350" lvl="0" indent="-514350">
              <a:buFont typeface="+mj-lt"/>
              <a:buAutoNum type="arabicParenR"/>
            </a:pPr>
            <a:r>
              <a:rPr lang="en-US" sz="3200" b="1" dirty="0" smtClean="0"/>
              <a:t>SECONDARY </a:t>
            </a:r>
            <a:r>
              <a:rPr lang="en-US" sz="3200" b="1" dirty="0"/>
              <a:t>CELLS: </a:t>
            </a:r>
            <a:r>
              <a:rPr lang="en-US" sz="3200" dirty="0"/>
              <a:t>The metals and acid mixture change as the battery supplies voltage. The  metals become similar, the acid strength weakens. This is called </a:t>
            </a:r>
            <a:r>
              <a:rPr lang="en-US" sz="3200" b="1" dirty="0"/>
              <a:t>discharging</a:t>
            </a:r>
            <a:r>
              <a:rPr lang="en-US" sz="3200" dirty="0"/>
              <a:t>. By applying current to the battery in the opposite direction, the battery materials can be restored. This is called </a:t>
            </a:r>
            <a:r>
              <a:rPr lang="en-US" sz="3200" b="1" dirty="0"/>
              <a:t>charging</a:t>
            </a:r>
            <a:r>
              <a:rPr lang="en-US" sz="3200" dirty="0"/>
              <a:t>. Automotive lead-acid batteries are secondary cells</a:t>
            </a:r>
            <a:r>
              <a:rPr lang="en-US" sz="3200" dirty="0" smtClean="0"/>
              <a:t>.</a:t>
            </a:r>
            <a:endParaRPr lang="en-GB" sz="3200" dirty="0"/>
          </a:p>
        </p:txBody>
      </p:sp>
    </p:spTree>
    <p:extLst>
      <p:ext uri="{BB962C8B-B14F-4D97-AF65-F5344CB8AC3E}">
        <p14:creationId xmlns:p14="http://schemas.microsoft.com/office/powerpoint/2010/main" val="20015559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965674"/>
          </a:xfrm>
        </p:spPr>
        <p:txBody>
          <a:bodyPr/>
          <a:lstStyle/>
          <a:p>
            <a:pPr algn="ctr"/>
            <a:r>
              <a:rPr lang="en-US" b="1" dirty="0" smtClean="0"/>
              <a:t>Battery Types</a:t>
            </a:r>
            <a:endParaRPr lang="en-GB" dirty="0"/>
          </a:p>
        </p:txBody>
      </p:sp>
      <p:sp>
        <p:nvSpPr>
          <p:cNvPr id="3" name="Content Placeholder 2"/>
          <p:cNvSpPr>
            <a:spLocks noGrp="1"/>
          </p:cNvSpPr>
          <p:nvPr>
            <p:ph idx="1"/>
          </p:nvPr>
        </p:nvSpPr>
        <p:spPr>
          <a:xfrm>
            <a:off x="0" y="1434314"/>
            <a:ext cx="12192000" cy="5167312"/>
          </a:xfrm>
        </p:spPr>
        <p:txBody>
          <a:bodyPr/>
          <a:lstStyle/>
          <a:p>
            <a:pPr lvl="0">
              <a:buFont typeface="Wingdings" panose="05000000000000000000" pitchFamily="2" charset="2"/>
              <a:buChar char="Ø"/>
            </a:pPr>
            <a:r>
              <a:rPr lang="en-US" sz="3200" b="1" dirty="0" smtClean="0">
                <a:solidFill>
                  <a:srgbClr val="FF0000"/>
                </a:solidFill>
              </a:rPr>
              <a:t>According to charged </a:t>
            </a:r>
          </a:p>
          <a:p>
            <a:pPr marL="514350" lvl="0" indent="-514350">
              <a:buFont typeface="+mj-lt"/>
              <a:buAutoNum type="arabicParenR"/>
            </a:pPr>
            <a:r>
              <a:rPr lang="en-US" sz="3200" b="1" dirty="0" smtClean="0"/>
              <a:t>WET-CHARGED: </a:t>
            </a:r>
            <a:r>
              <a:rPr lang="en-US" sz="3200" dirty="0" smtClean="0"/>
              <a:t>The lead-acid battery is filled with electrolyte and charged when it is built. During storage, a slow chemical reaction will cause self- discharge. Periodic charging is required. this is every 5 to 7 months.</a:t>
            </a:r>
            <a:endParaRPr lang="en-GB" sz="3200" dirty="0"/>
          </a:p>
          <a:p>
            <a:pPr marL="514350" lvl="0" indent="-514350">
              <a:buFont typeface="+mj-lt"/>
              <a:buAutoNum type="arabicParenR"/>
            </a:pPr>
            <a:r>
              <a:rPr lang="en-US" sz="3200" b="1" dirty="0" smtClean="0"/>
              <a:t>DRY-CHARGED: </a:t>
            </a:r>
            <a:r>
              <a:rPr lang="en-US" sz="3200" dirty="0" smtClean="0"/>
              <a:t>The battery is built, charged, washed and dried, sealed, and shipped without electrolyte. It can be stored for 12 to .18 months. When put into use, it requires adding electrolyte and charging. </a:t>
            </a:r>
            <a:endParaRPr lang="en-GB" sz="3200" dirty="0" smtClean="0"/>
          </a:p>
          <a:p>
            <a:endParaRPr lang="en-GB" dirty="0"/>
          </a:p>
        </p:txBody>
      </p:sp>
    </p:spTree>
    <p:extLst>
      <p:ext uri="{BB962C8B-B14F-4D97-AF65-F5344CB8AC3E}">
        <p14:creationId xmlns:p14="http://schemas.microsoft.com/office/powerpoint/2010/main" val="4161426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259173"/>
          </a:xfrm>
        </p:spPr>
        <p:txBody>
          <a:bodyPr/>
          <a:lstStyle/>
          <a:p>
            <a:pPr algn="ctr"/>
            <a:r>
              <a:rPr lang="en-US" b="1" dirty="0" smtClean="0">
                <a:solidFill>
                  <a:srgbClr val="FF0000"/>
                </a:solidFill>
              </a:rPr>
              <a:t>Battery Construction</a:t>
            </a:r>
            <a:endParaRPr lang="en-US" dirty="0">
              <a:solidFill>
                <a:srgbClr val="FF0000"/>
              </a:solidFill>
            </a:endParaRPr>
          </a:p>
        </p:txBody>
      </p:sp>
      <p:sp>
        <p:nvSpPr>
          <p:cNvPr id="3" name="Content Placeholder 2"/>
          <p:cNvSpPr>
            <a:spLocks noGrp="1"/>
          </p:cNvSpPr>
          <p:nvPr>
            <p:ph idx="1"/>
          </p:nvPr>
        </p:nvSpPr>
        <p:spPr>
          <a:xfrm>
            <a:off x="0" y="1154242"/>
            <a:ext cx="12192000" cy="5703757"/>
          </a:xfrm>
        </p:spPr>
        <p:txBody>
          <a:bodyPr>
            <a:normAutofit/>
          </a:bodyPr>
          <a:lstStyle/>
          <a:p>
            <a:pPr>
              <a:buFont typeface="Wingdings" panose="05000000000000000000" pitchFamily="2" charset="2"/>
              <a:buChar char="Ø"/>
            </a:pPr>
            <a:r>
              <a:rPr lang="en-US" sz="3600" dirty="0" smtClean="0"/>
              <a:t>An automobile battery contains a diluted sulfuric acid electrolyte and positive and negative electrodes, in the form of several plates. </a:t>
            </a:r>
          </a:p>
          <a:p>
            <a:pPr>
              <a:buFont typeface="Wingdings" panose="05000000000000000000" pitchFamily="2" charset="2"/>
              <a:buChar char="Ø"/>
            </a:pPr>
            <a:r>
              <a:rPr lang="en-US" sz="3600" dirty="0" smtClean="0"/>
              <a:t>Since the plates are made of lead or lead-derived materials, this type of battery is often called a lead acid battery.</a:t>
            </a:r>
          </a:p>
          <a:p>
            <a:pPr>
              <a:buFont typeface="Wingdings" panose="05000000000000000000" pitchFamily="2" charset="2"/>
              <a:buChar char="Ø"/>
            </a:pPr>
            <a:r>
              <a:rPr lang="en-US" sz="3600" dirty="0" smtClean="0"/>
              <a:t>A battery is separated into several cells (</a:t>
            </a:r>
            <a:r>
              <a:rPr lang="en-US" sz="3600" dirty="0" smtClean="0">
                <a:solidFill>
                  <a:srgbClr val="FF0000"/>
                </a:solidFill>
              </a:rPr>
              <a:t>usually six in the case of automobile batteries</a:t>
            </a:r>
            <a:r>
              <a:rPr lang="en-US" sz="3600" dirty="0" smtClean="0"/>
              <a:t>), and in each cell there are several battery elements, all bathed in the electrolyte solution</a:t>
            </a:r>
            <a:endParaRPr lang="en-US" sz="36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076769"/>
          </a:xfrm>
        </p:spPr>
        <p:txBody>
          <a:bodyPr/>
          <a:lstStyle/>
          <a:p>
            <a:pPr algn="ctr"/>
            <a:r>
              <a:rPr lang="en-US" b="1" dirty="0" smtClean="0">
                <a:solidFill>
                  <a:srgbClr val="FF0000"/>
                </a:solidFill>
              </a:rPr>
              <a:t>Battery Construction</a:t>
            </a:r>
            <a:endParaRPr lang="en-US" dirty="0">
              <a:solidFill>
                <a:srgbClr val="FF0000"/>
              </a:solidFill>
            </a:endParaRPr>
          </a:p>
        </p:txBody>
      </p:sp>
      <p:pic>
        <p:nvPicPr>
          <p:cNvPr id="1026" name="Picture 2"/>
          <p:cNvPicPr>
            <a:picLocks noGrp="1" noChangeAspect="1" noChangeArrowheads="1"/>
          </p:cNvPicPr>
          <p:nvPr>
            <p:ph idx="1"/>
          </p:nvPr>
        </p:nvPicPr>
        <p:blipFill>
          <a:blip r:embed="rId2"/>
          <a:srcRect/>
          <a:stretch>
            <a:fillRect/>
          </a:stretch>
        </p:blipFill>
        <p:spPr bwMode="auto">
          <a:xfrm>
            <a:off x="1072498" y="1259174"/>
            <a:ext cx="8071501" cy="559882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019330"/>
          </a:xfrm>
        </p:spPr>
        <p:txBody>
          <a:bodyPr>
            <a:normAutofit/>
          </a:bodyPr>
          <a:lstStyle/>
          <a:p>
            <a:pPr algn="ctr"/>
            <a:r>
              <a:rPr lang="en-US" b="1" dirty="0" smtClean="0">
                <a:solidFill>
                  <a:srgbClr val="FF0000"/>
                </a:solidFill>
              </a:rPr>
              <a:t>Battery Construction………..</a:t>
            </a:r>
            <a:endParaRPr lang="en-US" dirty="0">
              <a:solidFill>
                <a:srgbClr val="FF0000"/>
              </a:solidFill>
            </a:endParaRPr>
          </a:p>
        </p:txBody>
      </p:sp>
      <p:sp>
        <p:nvSpPr>
          <p:cNvPr id="3" name="Content Placeholder 2"/>
          <p:cNvSpPr>
            <a:spLocks noGrp="1"/>
          </p:cNvSpPr>
          <p:nvPr>
            <p:ph idx="1"/>
          </p:nvPr>
        </p:nvSpPr>
        <p:spPr>
          <a:xfrm>
            <a:off x="0" y="974360"/>
            <a:ext cx="12192000" cy="5883639"/>
          </a:xfrm>
        </p:spPr>
        <p:txBody>
          <a:bodyPr>
            <a:normAutofit/>
          </a:bodyPr>
          <a:lstStyle/>
          <a:p>
            <a:pPr marL="514350" lvl="0" indent="-514350">
              <a:buNone/>
            </a:pPr>
            <a:r>
              <a:rPr lang="en-US" b="1" dirty="0" smtClean="0">
                <a:solidFill>
                  <a:srgbClr val="FF0000"/>
                </a:solidFill>
              </a:rPr>
              <a:t>CASE</a:t>
            </a:r>
            <a:r>
              <a:rPr lang="en-US" b="1" dirty="0" smtClean="0"/>
              <a:t>: </a:t>
            </a:r>
            <a:r>
              <a:rPr lang="en-US" dirty="0" smtClean="0"/>
              <a:t>Container which holds and protects all battery components and electrolyte, separates cells, and provides space at the bottom for sediment (active materials washed off plates). Translucent plastic cases allow checking electrolyte level without removing vent caps. </a:t>
            </a:r>
          </a:p>
          <a:p>
            <a:pPr marL="514350" lvl="0" indent="-514350">
              <a:buNone/>
            </a:pPr>
            <a:r>
              <a:rPr lang="en-US" b="1" dirty="0" smtClean="0">
                <a:solidFill>
                  <a:srgbClr val="FF0000"/>
                </a:solidFill>
              </a:rPr>
              <a:t>COVER</a:t>
            </a:r>
            <a:r>
              <a:rPr lang="en-US" b="1" dirty="0" smtClean="0"/>
              <a:t>: </a:t>
            </a:r>
            <a:r>
              <a:rPr lang="en-US" dirty="0" smtClean="0"/>
              <a:t>Permanently sealed to the top of the case, provides outlets for terminal posts, vent holes for venting of gases and for battery maintenance (checking electrolyte, adding water).</a:t>
            </a:r>
          </a:p>
          <a:p>
            <a:pPr marL="514350" lvl="0" indent="-514350">
              <a:buNone/>
            </a:pPr>
            <a:r>
              <a:rPr lang="en-US" b="1" dirty="0" smtClean="0">
                <a:solidFill>
                  <a:srgbClr val="FF0000"/>
                </a:solidFill>
              </a:rPr>
              <a:t>PLATES</a:t>
            </a:r>
            <a:r>
              <a:rPr lang="en-US" b="1" dirty="0" smtClean="0"/>
              <a:t>: </a:t>
            </a:r>
            <a:r>
              <a:rPr lang="en-US" dirty="0" smtClean="0"/>
              <a:t>Positive and negative plates have a grid framework of antimony and lead alloy. Active material is pasted to the grid. </a:t>
            </a:r>
            <a:r>
              <a:rPr lang="en-US" dirty="0" smtClean="0">
                <a:solidFill>
                  <a:srgbClr val="FF0000"/>
                </a:solidFill>
              </a:rPr>
              <a:t>brown-colored</a:t>
            </a:r>
            <a:r>
              <a:rPr lang="en-US" dirty="0" smtClean="0"/>
              <a:t>  lead dioxide on positive plates, </a:t>
            </a:r>
            <a:r>
              <a:rPr lang="en-US" dirty="0" smtClean="0">
                <a:solidFill>
                  <a:srgbClr val="FF0000"/>
                </a:solidFill>
              </a:rPr>
              <a:t>gray- colored </a:t>
            </a:r>
            <a:r>
              <a:rPr lang="en-US" dirty="0" smtClean="0"/>
              <a:t>sponge lead on negative plates. The number and size of the plates determine current capability. Batteries with large plates or many plates produce more current than batteries with small plates or few plates.</a:t>
            </a: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124261"/>
          </a:xfrm>
        </p:spPr>
        <p:txBody>
          <a:bodyPr/>
          <a:lstStyle/>
          <a:p>
            <a:pPr algn="ctr"/>
            <a:r>
              <a:rPr lang="en-US" b="1" dirty="0" smtClean="0">
                <a:solidFill>
                  <a:srgbClr val="FF0000"/>
                </a:solidFill>
              </a:rPr>
              <a:t>Battery Construction…….</a:t>
            </a:r>
            <a:endParaRPr lang="en-US" dirty="0">
              <a:solidFill>
                <a:srgbClr val="FF0000"/>
              </a:solidFill>
            </a:endParaRPr>
          </a:p>
        </p:txBody>
      </p:sp>
      <p:sp>
        <p:nvSpPr>
          <p:cNvPr id="3" name="Content Placeholder 2"/>
          <p:cNvSpPr>
            <a:spLocks noGrp="1"/>
          </p:cNvSpPr>
          <p:nvPr>
            <p:ph idx="1"/>
          </p:nvPr>
        </p:nvSpPr>
        <p:spPr>
          <a:xfrm>
            <a:off x="0" y="948583"/>
            <a:ext cx="12192000" cy="5909417"/>
          </a:xfrm>
        </p:spPr>
        <p:txBody>
          <a:bodyPr>
            <a:normAutofit fontScale="92500"/>
          </a:bodyPr>
          <a:lstStyle/>
          <a:p>
            <a:pPr marL="0" lvl="0" indent="0">
              <a:buNone/>
            </a:pPr>
            <a:r>
              <a:rPr lang="en-US" sz="3200" b="1" dirty="0" smtClean="0">
                <a:solidFill>
                  <a:srgbClr val="FF0000"/>
                </a:solidFill>
              </a:rPr>
              <a:t>CELL PARTITIONS</a:t>
            </a:r>
            <a:r>
              <a:rPr lang="en-US" sz="3200" b="1" dirty="0" smtClean="0"/>
              <a:t>: </a:t>
            </a:r>
            <a:r>
              <a:rPr lang="en-US" sz="3200" dirty="0" smtClean="0"/>
              <a:t>Part of the case, the partitions separate each cell.</a:t>
            </a:r>
          </a:p>
          <a:p>
            <a:pPr marL="0" lvl="0" indent="0">
              <a:buNone/>
            </a:pPr>
            <a:r>
              <a:rPr lang="en-US" sz="3200" b="1" dirty="0" smtClean="0">
                <a:solidFill>
                  <a:srgbClr val="FF0000"/>
                </a:solidFill>
              </a:rPr>
              <a:t>TERMINAL POSTS</a:t>
            </a:r>
            <a:r>
              <a:rPr lang="en-US" sz="3200" b="1" dirty="0" smtClean="0"/>
              <a:t>: </a:t>
            </a:r>
            <a:r>
              <a:rPr lang="en-US" sz="3200" dirty="0" smtClean="0"/>
              <a:t>Positive and negative posts (terminals) on the case top have thick, heavy cables connected to them. These cables connect the battery to the vehicle's electrical system (positive) and to ground (negative). </a:t>
            </a:r>
          </a:p>
          <a:p>
            <a:pPr marL="0" indent="0">
              <a:buNone/>
            </a:pPr>
            <a:r>
              <a:rPr lang="en-US" sz="3200" b="1" dirty="0" smtClean="0">
                <a:solidFill>
                  <a:srgbClr val="FF0000"/>
                </a:solidFill>
              </a:rPr>
              <a:t>VENT CAPS</a:t>
            </a:r>
            <a:r>
              <a:rPr lang="en-US" sz="3200" b="1" dirty="0" smtClean="0"/>
              <a:t>: </a:t>
            </a:r>
            <a:r>
              <a:rPr lang="en-US" sz="3200" dirty="0" smtClean="0"/>
              <a:t>Types include individual filler plugs, strip-type, or box-type. They allow controlled release of hydrogen gas during charging (vehicle operation). Removed, they permit checking electrolyte and, if necessary, adding water.</a:t>
            </a:r>
            <a:r>
              <a:rPr lang="en-US" sz="3200" b="1" dirty="0">
                <a:solidFill>
                  <a:srgbClr val="FF0000"/>
                </a:solidFill>
              </a:rPr>
              <a:t> </a:t>
            </a:r>
            <a:endParaRPr lang="en-US" sz="3200" b="1" dirty="0" smtClean="0">
              <a:solidFill>
                <a:srgbClr val="FF0000"/>
              </a:solidFill>
            </a:endParaRPr>
          </a:p>
          <a:p>
            <a:pPr marL="0" indent="0">
              <a:buNone/>
            </a:pPr>
            <a:r>
              <a:rPr lang="en-US" sz="3200" b="1" dirty="0" smtClean="0">
                <a:solidFill>
                  <a:srgbClr val="FF0000"/>
                </a:solidFill>
              </a:rPr>
              <a:t>ELECTROLYTE</a:t>
            </a:r>
            <a:r>
              <a:rPr lang="en-US" sz="3200" b="1" dirty="0"/>
              <a:t>: </a:t>
            </a:r>
            <a:r>
              <a:rPr lang="en-US" sz="3200" dirty="0"/>
              <a:t>A mixture of sulfuric acid and water. It reacts chemically  with the active materials in the plates to create an electrical pressure (voltage). And, it conducts the electrical current produced by that pressure from plate to plate. A fully charged battery will have about 36% acid and 64% water.</a:t>
            </a:r>
          </a:p>
          <a:p>
            <a:pPr marL="0" lvl="0" indent="0">
              <a:buNone/>
            </a:pPr>
            <a:endParaRPr lang="en-US" sz="3200" dirty="0" smtClean="0"/>
          </a:p>
          <a:p>
            <a:endParaRPr lang="en-US"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349114"/>
          </a:xfrm>
        </p:spPr>
        <p:txBody>
          <a:bodyPr/>
          <a:lstStyle/>
          <a:p>
            <a:pPr algn="ctr"/>
            <a:r>
              <a:rPr lang="en-US" b="1" dirty="0" smtClean="0">
                <a:solidFill>
                  <a:srgbClr val="FF0000"/>
                </a:solidFill>
              </a:rPr>
              <a:t>Battery Construction…….</a:t>
            </a:r>
            <a:endParaRPr lang="en-US" dirty="0">
              <a:solidFill>
                <a:srgbClr val="FF0000"/>
              </a:solidFill>
            </a:endParaRPr>
          </a:p>
        </p:txBody>
      </p:sp>
      <p:sp>
        <p:nvSpPr>
          <p:cNvPr id="4" name="Content Placeholder 3"/>
          <p:cNvSpPr>
            <a:spLocks noGrp="1"/>
          </p:cNvSpPr>
          <p:nvPr>
            <p:ph idx="1"/>
          </p:nvPr>
        </p:nvSpPr>
        <p:spPr>
          <a:xfrm>
            <a:off x="0" y="1199212"/>
            <a:ext cx="12192000" cy="5658787"/>
          </a:xfrm>
        </p:spPr>
        <p:txBody>
          <a:bodyPr>
            <a:normAutofit/>
          </a:bodyPr>
          <a:lstStyle/>
          <a:p>
            <a:pPr lvl="0">
              <a:buNone/>
            </a:pPr>
            <a:r>
              <a:rPr lang="en-US" sz="3200" b="1" dirty="0" smtClean="0">
                <a:solidFill>
                  <a:srgbClr val="FF0000"/>
                </a:solidFill>
              </a:rPr>
              <a:t>SEPARATORS</a:t>
            </a:r>
            <a:r>
              <a:rPr lang="en-US" sz="3200" b="1" dirty="0" smtClean="0"/>
              <a:t>: </a:t>
            </a:r>
            <a:r>
              <a:rPr lang="en-US" sz="3200" dirty="0" smtClean="0"/>
              <a:t>Thin, porous insulators (woven glass or plastic envelopes) are placed between positive and negative plates. They allow passage of electrolyte, yet prevent the plates from touching and shorting out.</a:t>
            </a:r>
          </a:p>
          <a:p>
            <a:pPr lvl="0">
              <a:buNone/>
            </a:pPr>
            <a:r>
              <a:rPr lang="en-US" sz="3200" b="1" dirty="0" smtClean="0">
                <a:solidFill>
                  <a:srgbClr val="FF0000"/>
                </a:solidFill>
              </a:rPr>
              <a:t>CELLS</a:t>
            </a:r>
            <a:r>
              <a:rPr lang="en-US" sz="3200" b="1" dirty="0" smtClean="0"/>
              <a:t>: </a:t>
            </a:r>
            <a:r>
              <a:rPr lang="en-US" sz="3200" dirty="0" smtClean="0"/>
              <a:t>An assembly of connected positive and negative plates with separators in between is called a cell or element. When immersed in electrolyte, a cell produces about 2.1 volts(regardless of the number or size of plates). Battery cells are connected in series, so the number of cells determines the battery voltage. A "1 2 - volt" battery has six cells.</a:t>
            </a:r>
            <a:r>
              <a:rPr lang="en-US" sz="3200" b="1" dirty="0" smtClean="0"/>
              <a:t> </a:t>
            </a:r>
          </a:p>
          <a:p>
            <a:pPr lvl="0">
              <a:buNone/>
            </a:pPr>
            <a:r>
              <a:rPr lang="en-US" sz="3200" b="1" dirty="0" smtClean="0">
                <a:solidFill>
                  <a:srgbClr val="FF0000"/>
                </a:solidFill>
              </a:rPr>
              <a:t>CELL CONNECTORS</a:t>
            </a:r>
            <a:r>
              <a:rPr lang="en-US" sz="3200" b="1" dirty="0" smtClean="0"/>
              <a:t>: </a:t>
            </a:r>
            <a:r>
              <a:rPr lang="en-US" sz="3200" dirty="0" smtClean="0"/>
              <a:t>Heavy, cast alloy metal straps are welded to the negative terminal of one cell and the positive terminal of the adjoining cell until all six cells are connected in series.</a:t>
            </a:r>
          </a:p>
          <a:p>
            <a:pPr>
              <a:buNone/>
            </a:pPr>
            <a:endParaRPr lang="en-US" dirty="0" smtClean="0"/>
          </a:p>
          <a:p>
            <a:pPr lvl="0">
              <a:buNone/>
            </a:pPr>
            <a:endParaRPr lang="en-US" dirty="0" smtClean="0"/>
          </a:p>
          <a:p>
            <a:pPr lvl="0">
              <a:buNone/>
            </a:pPr>
            <a:endParaRPr lang="en-US" dirty="0" smtClean="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871670"/>
          </a:xfrm>
        </p:spPr>
        <p:txBody>
          <a:bodyPr>
            <a:normAutofit/>
          </a:bodyPr>
          <a:lstStyle/>
          <a:p>
            <a:pPr algn="ctr"/>
            <a:r>
              <a:rPr lang="en-US" b="1" dirty="0" smtClean="0">
                <a:solidFill>
                  <a:srgbClr val="FF0000"/>
                </a:solidFill>
              </a:rPr>
              <a:t>CELL THEORY</a:t>
            </a:r>
            <a:endParaRPr lang="en-US" dirty="0">
              <a:solidFill>
                <a:srgbClr val="FF0000"/>
              </a:solidFill>
            </a:endParaRPr>
          </a:p>
        </p:txBody>
      </p:sp>
      <p:sp>
        <p:nvSpPr>
          <p:cNvPr id="3" name="Content Placeholder 2"/>
          <p:cNvSpPr>
            <a:spLocks noGrp="1"/>
          </p:cNvSpPr>
          <p:nvPr>
            <p:ph idx="1"/>
          </p:nvPr>
        </p:nvSpPr>
        <p:spPr>
          <a:xfrm>
            <a:off x="0" y="989351"/>
            <a:ext cx="12192000" cy="5868649"/>
          </a:xfrm>
        </p:spPr>
        <p:txBody>
          <a:bodyPr>
            <a:normAutofit lnSpcReduction="10000"/>
          </a:bodyPr>
          <a:lstStyle/>
          <a:p>
            <a:pPr>
              <a:buFont typeface="Wingdings" panose="05000000000000000000" pitchFamily="2" charset="2"/>
              <a:buChar char="Ø"/>
            </a:pPr>
            <a:r>
              <a:rPr lang="en-US" sz="3200" dirty="0" smtClean="0"/>
              <a:t>A lead-acid cell works by a simple principle: when two different metals are immersed in an acid solution, a chemical reaction creates an electrical pressure.</a:t>
            </a:r>
          </a:p>
          <a:p>
            <a:pPr>
              <a:buFont typeface="Wingdings" panose="05000000000000000000" pitchFamily="2" charset="2"/>
              <a:buChar char="Ø"/>
            </a:pPr>
            <a:r>
              <a:rPr lang="en-US" sz="3200" dirty="0" smtClean="0"/>
              <a:t>One metal is brown-colored lead dioxide (Pb02). It has a positive electrical charge. The other metal is gray colored sponge lead (</a:t>
            </a:r>
            <a:r>
              <a:rPr lang="en-US" sz="3200" dirty="0" err="1" smtClean="0"/>
              <a:t>Pb</a:t>
            </a:r>
            <a:r>
              <a:rPr lang="en-US" sz="3200" dirty="0" smtClean="0"/>
              <a:t>). It has a negative electrical charge. The acid solution is a mixture of sulfuric acid (H2SO4) and water (H20). It is called electrolyte.</a:t>
            </a:r>
          </a:p>
          <a:p>
            <a:pPr>
              <a:buFont typeface="Wingdings" panose="05000000000000000000" pitchFamily="2" charset="2"/>
              <a:buChar char="Ø"/>
            </a:pPr>
            <a:r>
              <a:rPr lang="en-US" sz="3200" dirty="0" smtClean="0"/>
              <a:t>If a conductor and a </a:t>
            </a:r>
            <a:r>
              <a:rPr lang="en-US" sz="3200" dirty="0" smtClean="0">
                <a:solidFill>
                  <a:srgbClr val="FF0000"/>
                </a:solidFill>
              </a:rPr>
              <a:t>load are connected between the two metals, current will flow. This </a:t>
            </a:r>
            <a:r>
              <a:rPr lang="en-US" sz="3200" b="1" dirty="0" smtClean="0">
                <a:solidFill>
                  <a:srgbClr val="FF0000"/>
                </a:solidFill>
              </a:rPr>
              <a:t>discharging </a:t>
            </a:r>
            <a:r>
              <a:rPr lang="en-US" sz="3200" dirty="0" smtClean="0"/>
              <a:t>will continue until the metals become alike and the acid is used up. The action can be reversed by sending current into the cell in the opposite direction. This </a:t>
            </a:r>
            <a:r>
              <a:rPr lang="en-US" sz="3200" b="1" dirty="0" smtClean="0">
                <a:solidFill>
                  <a:srgbClr val="FF0000"/>
                </a:solidFill>
              </a:rPr>
              <a:t>charging </a:t>
            </a:r>
            <a:r>
              <a:rPr lang="en-US" sz="3200" dirty="0" smtClean="0"/>
              <a:t>will continue until the cell materials are restored to their original condition.</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364104"/>
          </a:xfrm>
        </p:spPr>
        <p:txBody>
          <a:bodyPr/>
          <a:lstStyle/>
          <a:p>
            <a:pPr algn="ctr"/>
            <a:r>
              <a:rPr lang="en-US" b="1" dirty="0" smtClean="0">
                <a:solidFill>
                  <a:srgbClr val="FF0000"/>
                </a:solidFill>
              </a:rPr>
              <a:t>CELL THEORY……….</a:t>
            </a:r>
            <a:endParaRPr lang="en-US" dirty="0">
              <a:solidFill>
                <a:srgbClr val="FF0000"/>
              </a:solidFill>
            </a:endParaRPr>
          </a:p>
        </p:txBody>
      </p:sp>
      <p:pic>
        <p:nvPicPr>
          <p:cNvPr id="2050" name="Picture 2"/>
          <p:cNvPicPr>
            <a:picLocks noGrp="1" noChangeAspect="1" noChangeArrowheads="1"/>
          </p:cNvPicPr>
          <p:nvPr>
            <p:ph idx="1"/>
          </p:nvPr>
        </p:nvPicPr>
        <p:blipFill>
          <a:blip r:embed="rId2"/>
          <a:srcRect/>
          <a:stretch>
            <a:fillRect/>
          </a:stretch>
        </p:blipFill>
        <p:spPr bwMode="auto">
          <a:xfrm>
            <a:off x="1918741" y="1514008"/>
            <a:ext cx="6820525" cy="511752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1999" cy="931492"/>
          </a:xfrm>
        </p:spPr>
        <p:txBody>
          <a:bodyPr>
            <a:normAutofit/>
          </a:bodyPr>
          <a:lstStyle/>
          <a:p>
            <a:pPr algn="ctr"/>
            <a:r>
              <a:rPr lang="en-US" b="1" dirty="0" smtClean="0">
                <a:solidFill>
                  <a:srgbClr val="FF0000"/>
                </a:solidFill>
              </a:rPr>
              <a:t>ELECTROCHEMICAL REACTION</a:t>
            </a:r>
            <a:endParaRPr lang="en-US" dirty="0">
              <a:solidFill>
                <a:srgbClr val="FF0000"/>
              </a:solidFill>
            </a:endParaRPr>
          </a:p>
        </p:txBody>
      </p:sp>
      <p:sp>
        <p:nvSpPr>
          <p:cNvPr id="3" name="Content Placeholder 2"/>
          <p:cNvSpPr>
            <a:spLocks noGrp="1"/>
          </p:cNvSpPr>
          <p:nvPr>
            <p:ph idx="1"/>
          </p:nvPr>
        </p:nvSpPr>
        <p:spPr>
          <a:xfrm>
            <a:off x="1" y="1064302"/>
            <a:ext cx="12192000" cy="5793698"/>
          </a:xfrm>
        </p:spPr>
        <p:txBody>
          <a:bodyPr>
            <a:normAutofit/>
          </a:bodyPr>
          <a:lstStyle/>
          <a:p>
            <a:pPr>
              <a:buFont typeface="Wingdings" panose="05000000000000000000" pitchFamily="2" charset="2"/>
              <a:buChar char="Ø"/>
            </a:pPr>
            <a:r>
              <a:rPr lang="en-US" sz="3600" dirty="0" smtClean="0"/>
              <a:t>A lead-acid storage battery can be partially discharged and recharged many times. </a:t>
            </a:r>
          </a:p>
          <a:p>
            <a:pPr>
              <a:buFont typeface="Wingdings" panose="05000000000000000000" pitchFamily="2" charset="2"/>
              <a:buChar char="Ø"/>
            </a:pPr>
            <a:r>
              <a:rPr lang="en-US" sz="3600" dirty="0" smtClean="0"/>
              <a:t>There are four stages in this discharging/charging cycle.</a:t>
            </a:r>
          </a:p>
          <a:p>
            <a:pPr marL="514350" lvl="0" indent="-514350">
              <a:buFont typeface="+mj-lt"/>
              <a:buAutoNum type="arabicParenR"/>
            </a:pPr>
            <a:r>
              <a:rPr lang="en-US" sz="3600" b="1" dirty="0" smtClean="0">
                <a:solidFill>
                  <a:srgbClr val="FF0000"/>
                </a:solidFill>
              </a:rPr>
              <a:t>CHARGED</a:t>
            </a:r>
          </a:p>
          <a:p>
            <a:pPr marL="514350" lvl="0" indent="-514350">
              <a:buFont typeface="+mj-lt"/>
              <a:buAutoNum type="arabicParenR"/>
            </a:pPr>
            <a:r>
              <a:rPr lang="en-US" sz="3600" b="1" dirty="0" smtClean="0">
                <a:solidFill>
                  <a:srgbClr val="FF0000"/>
                </a:solidFill>
              </a:rPr>
              <a:t>DISCHARGING</a:t>
            </a:r>
          </a:p>
          <a:p>
            <a:pPr marL="514350" lvl="0" indent="-514350">
              <a:buFont typeface="+mj-lt"/>
              <a:buAutoNum type="arabicParenR"/>
            </a:pPr>
            <a:r>
              <a:rPr lang="en-US" sz="3600" b="1" dirty="0" smtClean="0">
                <a:solidFill>
                  <a:srgbClr val="FF0000"/>
                </a:solidFill>
              </a:rPr>
              <a:t>DISCHARGED</a:t>
            </a:r>
          </a:p>
          <a:p>
            <a:pPr marL="514350" lvl="0" indent="-514350">
              <a:buFont typeface="+mj-lt"/>
              <a:buAutoNum type="arabicParenR"/>
            </a:pPr>
            <a:r>
              <a:rPr lang="en-US" sz="3600" b="1" dirty="0" smtClean="0">
                <a:solidFill>
                  <a:srgbClr val="FF0000"/>
                </a:solidFill>
              </a:rPr>
              <a:t>CHARGING</a:t>
            </a:r>
            <a:endParaRPr lang="en-US" sz="3600" dirty="0">
              <a:solidFill>
                <a:srgbClr val="FF0000"/>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319133"/>
          </a:xfrm>
        </p:spPr>
        <p:txBody>
          <a:bodyPr/>
          <a:lstStyle/>
          <a:p>
            <a:pPr algn="ctr"/>
            <a:r>
              <a:rPr lang="en-US" b="1" dirty="0" smtClean="0">
                <a:solidFill>
                  <a:srgbClr val="FF0000"/>
                </a:solidFill>
              </a:rPr>
              <a:t>CHARGED</a:t>
            </a:r>
            <a:endParaRPr lang="en-US" dirty="0">
              <a:solidFill>
                <a:srgbClr val="FF0000"/>
              </a:solidFill>
            </a:endParaRPr>
          </a:p>
        </p:txBody>
      </p:sp>
      <p:sp>
        <p:nvSpPr>
          <p:cNvPr id="3" name="Content Placeholder 2"/>
          <p:cNvSpPr>
            <a:spLocks noGrp="1"/>
          </p:cNvSpPr>
          <p:nvPr>
            <p:ph idx="1"/>
          </p:nvPr>
        </p:nvSpPr>
        <p:spPr>
          <a:xfrm>
            <a:off x="0" y="1244184"/>
            <a:ext cx="12192000" cy="5613816"/>
          </a:xfrm>
        </p:spPr>
        <p:txBody>
          <a:bodyPr/>
          <a:lstStyle/>
          <a:p>
            <a:pPr lvl="0">
              <a:buFont typeface="Wingdings" panose="05000000000000000000" pitchFamily="2" charset="2"/>
              <a:buChar char="Ø"/>
            </a:pPr>
            <a:r>
              <a:rPr lang="en-US" dirty="0" smtClean="0"/>
              <a:t>A fully charged battery contains a negative plate of sponge lead (</a:t>
            </a:r>
            <a:r>
              <a:rPr lang="en-US" dirty="0" err="1" smtClean="0"/>
              <a:t>Pb</a:t>
            </a:r>
            <a:r>
              <a:rPr lang="en-US" dirty="0" smtClean="0"/>
              <a:t>), a positive plate  of lead dioxide (Pb02), and electrolyte of sulfuric acid (H2SO4) and water (H20).</a:t>
            </a:r>
          </a:p>
          <a:p>
            <a:endParaRPr lang="en-US" dirty="0"/>
          </a:p>
        </p:txBody>
      </p:sp>
      <p:pic>
        <p:nvPicPr>
          <p:cNvPr id="3076" name="Picture 4"/>
          <p:cNvPicPr>
            <a:picLocks noChangeAspect="1" noChangeArrowheads="1"/>
          </p:cNvPicPr>
          <p:nvPr/>
        </p:nvPicPr>
        <p:blipFill>
          <a:blip r:embed="rId2"/>
          <a:srcRect/>
          <a:stretch>
            <a:fillRect/>
          </a:stretch>
        </p:blipFill>
        <p:spPr bwMode="auto">
          <a:xfrm>
            <a:off x="2851176" y="2488366"/>
            <a:ext cx="6023001" cy="4369633"/>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109271"/>
          </a:xfrm>
        </p:spPr>
        <p:txBody>
          <a:bodyPr/>
          <a:lstStyle/>
          <a:p>
            <a:pPr algn="ctr"/>
            <a:r>
              <a:rPr lang="en-US" b="1" dirty="0" smtClean="0">
                <a:solidFill>
                  <a:srgbClr val="FF0000"/>
                </a:solidFill>
              </a:rPr>
              <a:t>DISCHARGING</a:t>
            </a:r>
            <a:endParaRPr lang="en-US" dirty="0">
              <a:solidFill>
                <a:srgbClr val="FF0000"/>
              </a:solidFill>
            </a:endParaRPr>
          </a:p>
        </p:txBody>
      </p:sp>
      <p:sp>
        <p:nvSpPr>
          <p:cNvPr id="3" name="Content Placeholder 2"/>
          <p:cNvSpPr>
            <a:spLocks noGrp="1"/>
          </p:cNvSpPr>
          <p:nvPr>
            <p:ph idx="1"/>
          </p:nvPr>
        </p:nvSpPr>
        <p:spPr>
          <a:xfrm>
            <a:off x="0" y="1139252"/>
            <a:ext cx="12192000" cy="5718748"/>
          </a:xfrm>
        </p:spPr>
        <p:txBody>
          <a:bodyPr/>
          <a:lstStyle/>
          <a:p>
            <a:pPr lvl="0">
              <a:buFont typeface="Wingdings" panose="05000000000000000000" pitchFamily="2" charset="2"/>
              <a:buChar char="Ø"/>
            </a:pPr>
            <a:r>
              <a:rPr lang="en-US" dirty="0" smtClean="0"/>
              <a:t>As the battery is discharging, the electrolyte becomes diluted and the plates become sulfated. The electrolyte divides into hydrogen (H2) and sulfate(S04) . The hydrogen (H2) combines with oxygen (0) from the positive plate to form more water (H20). The sulfate combines with the lead (</a:t>
            </a:r>
            <a:r>
              <a:rPr lang="en-US" dirty="0" err="1" smtClean="0"/>
              <a:t>Pb</a:t>
            </a:r>
            <a:r>
              <a:rPr lang="en-US" dirty="0" smtClean="0"/>
              <a:t>) in both plates to form lead sulfate (PbS04)</a:t>
            </a:r>
          </a:p>
          <a:p>
            <a:pPr lvl="0">
              <a:buNone/>
            </a:pPr>
            <a:endParaRPr lang="en-US" dirty="0" smtClean="0"/>
          </a:p>
          <a:p>
            <a:endParaRPr lang="en-US" dirty="0"/>
          </a:p>
        </p:txBody>
      </p:sp>
      <p:pic>
        <p:nvPicPr>
          <p:cNvPr id="4" name="Picture 3"/>
          <p:cNvPicPr>
            <a:picLocks noChangeAspect="1"/>
          </p:cNvPicPr>
          <p:nvPr/>
        </p:nvPicPr>
        <p:blipFill>
          <a:blip r:embed="rId2"/>
          <a:stretch>
            <a:fillRect/>
          </a:stretch>
        </p:blipFill>
        <p:spPr>
          <a:xfrm>
            <a:off x="4775319" y="2991028"/>
            <a:ext cx="5214715" cy="3548329"/>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187864"/>
          </a:xfrm>
        </p:spPr>
        <p:txBody>
          <a:bodyPr/>
          <a:lstStyle/>
          <a:p>
            <a:pPr lvl="0" algn="ctr"/>
            <a:r>
              <a:rPr lang="en-US" b="1" dirty="0" smtClean="0">
                <a:solidFill>
                  <a:srgbClr val="FF0000"/>
                </a:solidFill>
              </a:rPr>
              <a:t>DISCHARGED</a:t>
            </a:r>
            <a:endParaRPr lang="en-GB" dirty="0">
              <a:solidFill>
                <a:srgbClr val="FF0000"/>
              </a:solidFill>
            </a:endParaRPr>
          </a:p>
        </p:txBody>
      </p:sp>
      <p:sp>
        <p:nvSpPr>
          <p:cNvPr id="3" name="Content Placeholder 2"/>
          <p:cNvSpPr>
            <a:spLocks noGrp="1"/>
          </p:cNvSpPr>
          <p:nvPr>
            <p:ph idx="1"/>
          </p:nvPr>
        </p:nvSpPr>
        <p:spPr>
          <a:xfrm>
            <a:off x="0" y="1187865"/>
            <a:ext cx="12192000" cy="5670135"/>
          </a:xfrm>
        </p:spPr>
        <p:txBody>
          <a:bodyPr/>
          <a:lstStyle/>
          <a:p>
            <a:pPr lvl="0">
              <a:buFont typeface="Wingdings" panose="05000000000000000000" pitchFamily="2" charset="2"/>
              <a:buChar char="Ø"/>
            </a:pPr>
            <a:r>
              <a:rPr lang="en-US" dirty="0" smtClean="0"/>
              <a:t>In </a:t>
            </a:r>
            <a:r>
              <a:rPr lang="en-US" dirty="0"/>
              <a:t>a fully discharged battery, both plates are covered with lead sulfate (PbSO4) and the electrolyte is diluted to mostly water (H2O).</a:t>
            </a:r>
            <a:endParaRPr lang="en-GB" dirty="0"/>
          </a:p>
          <a:p>
            <a:endParaRPr lang="en-GB" dirty="0"/>
          </a:p>
          <a:p>
            <a:endParaRPr lang="en-GB" dirty="0"/>
          </a:p>
        </p:txBody>
      </p:sp>
      <p:pic>
        <p:nvPicPr>
          <p:cNvPr id="4" name="Picture 3"/>
          <p:cNvPicPr>
            <a:picLocks noChangeAspect="1"/>
          </p:cNvPicPr>
          <p:nvPr/>
        </p:nvPicPr>
        <p:blipFill>
          <a:blip r:embed="rId2"/>
          <a:stretch>
            <a:fillRect/>
          </a:stretch>
        </p:blipFill>
        <p:spPr>
          <a:xfrm>
            <a:off x="3016420" y="2307364"/>
            <a:ext cx="6159159" cy="4245256"/>
          </a:xfrm>
          <a:prstGeom prst="rect">
            <a:avLst/>
          </a:prstGeom>
        </p:spPr>
      </p:pic>
    </p:spTree>
    <p:extLst>
      <p:ext uri="{BB962C8B-B14F-4D97-AF65-F5344CB8AC3E}">
        <p14:creationId xmlns:p14="http://schemas.microsoft.com/office/powerpoint/2010/main" val="15187039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063867"/>
          </a:xfrm>
        </p:spPr>
        <p:txBody>
          <a:bodyPr>
            <a:normAutofit/>
          </a:bodyPr>
          <a:lstStyle/>
          <a:p>
            <a:pPr lvl="0" algn="ctr"/>
            <a:r>
              <a:rPr lang="en-US" b="1" dirty="0" smtClean="0">
                <a:solidFill>
                  <a:srgbClr val="FF0000"/>
                </a:solidFill>
              </a:rPr>
              <a:t>CHARGING</a:t>
            </a:r>
            <a:endParaRPr lang="en-GB" b="1" dirty="0">
              <a:solidFill>
                <a:srgbClr val="FF0000"/>
              </a:solidFill>
            </a:endParaRPr>
          </a:p>
        </p:txBody>
      </p:sp>
      <p:sp>
        <p:nvSpPr>
          <p:cNvPr id="5" name="Content Placeholder 4"/>
          <p:cNvSpPr>
            <a:spLocks noGrp="1"/>
          </p:cNvSpPr>
          <p:nvPr>
            <p:ph idx="1"/>
          </p:nvPr>
        </p:nvSpPr>
        <p:spPr>
          <a:xfrm>
            <a:off x="0" y="1063868"/>
            <a:ext cx="12192000" cy="5794131"/>
          </a:xfrm>
        </p:spPr>
        <p:txBody>
          <a:bodyPr/>
          <a:lstStyle/>
          <a:p>
            <a:pPr lvl="0">
              <a:buFont typeface="Wingdings" panose="05000000000000000000" pitchFamily="2" charset="2"/>
              <a:buChar char="Ø"/>
            </a:pPr>
            <a:r>
              <a:rPr lang="en-US" dirty="0" smtClean="0"/>
              <a:t>During </a:t>
            </a:r>
            <a:r>
              <a:rPr lang="en-US" dirty="0"/>
              <a:t>charging, the chemical action is reversed. Sulfate (S04) leaves the plates and combines with hydrogen (H2) to become sulfuric acid (H2SO4). Free oxygen (02) combines with lead (</a:t>
            </a:r>
            <a:r>
              <a:rPr lang="en-US" dirty="0" err="1"/>
              <a:t>Pb</a:t>
            </a:r>
            <a:r>
              <a:rPr lang="en-US" dirty="0"/>
              <a:t>) on the positive plate to form lead dioxide (Pb02). Gassing occurs as the battery nears full charge, and hydrogen bubbles out at the negative plates, oxygen at the positive.</a:t>
            </a:r>
            <a:endParaRPr lang="en-GB" dirty="0"/>
          </a:p>
          <a:p>
            <a:pPr marL="0" indent="0">
              <a:buNone/>
            </a:pPr>
            <a:r>
              <a:rPr lang="en-US" dirty="0"/>
              <a:t/>
            </a:r>
            <a:br>
              <a:rPr lang="en-US" dirty="0"/>
            </a:br>
            <a:endParaRPr lang="en-GB" dirty="0"/>
          </a:p>
        </p:txBody>
      </p:sp>
      <p:pic>
        <p:nvPicPr>
          <p:cNvPr id="6" name="Picture 5"/>
          <p:cNvPicPr>
            <a:picLocks noChangeAspect="1"/>
          </p:cNvPicPr>
          <p:nvPr/>
        </p:nvPicPr>
        <p:blipFill>
          <a:blip r:embed="rId2"/>
          <a:stretch>
            <a:fillRect/>
          </a:stretch>
        </p:blipFill>
        <p:spPr>
          <a:xfrm>
            <a:off x="6463825" y="2910253"/>
            <a:ext cx="5483469" cy="3947746"/>
          </a:xfrm>
          <a:prstGeom prst="rect">
            <a:avLst/>
          </a:prstGeom>
        </p:spPr>
      </p:pic>
    </p:spTree>
    <p:extLst>
      <p:ext uri="{BB962C8B-B14F-4D97-AF65-F5344CB8AC3E}">
        <p14:creationId xmlns:p14="http://schemas.microsoft.com/office/powerpoint/2010/main" val="325292475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195753"/>
          </a:xfrm>
        </p:spPr>
        <p:txBody>
          <a:bodyPr/>
          <a:lstStyle/>
          <a:p>
            <a:pPr algn="ctr"/>
            <a:r>
              <a:rPr lang="en-US" b="1" dirty="0">
                <a:solidFill>
                  <a:srgbClr val="FF0000"/>
                </a:solidFill>
              </a:rPr>
              <a:t>Capacity </a:t>
            </a:r>
            <a:r>
              <a:rPr lang="en-US" b="1" dirty="0" smtClean="0">
                <a:solidFill>
                  <a:srgbClr val="FF0000"/>
                </a:solidFill>
              </a:rPr>
              <a:t>Ratings</a:t>
            </a:r>
            <a:endParaRPr lang="en-GB" dirty="0">
              <a:solidFill>
                <a:srgbClr val="FF0000"/>
              </a:solidFill>
            </a:endParaRPr>
          </a:p>
        </p:txBody>
      </p:sp>
      <p:sp>
        <p:nvSpPr>
          <p:cNvPr id="3" name="Content Placeholder 2"/>
          <p:cNvSpPr>
            <a:spLocks noGrp="1"/>
          </p:cNvSpPr>
          <p:nvPr>
            <p:ph idx="1"/>
          </p:nvPr>
        </p:nvSpPr>
        <p:spPr>
          <a:xfrm>
            <a:off x="0" y="1195754"/>
            <a:ext cx="12192000" cy="5662246"/>
          </a:xfrm>
        </p:spPr>
        <p:txBody>
          <a:bodyPr>
            <a:normAutofit/>
          </a:bodyPr>
          <a:lstStyle/>
          <a:p>
            <a:pPr>
              <a:buFont typeface="Wingdings" panose="05000000000000000000" pitchFamily="2" charset="2"/>
              <a:buChar char="Ø"/>
            </a:pPr>
            <a:r>
              <a:rPr lang="en-US" dirty="0" smtClean="0"/>
              <a:t>The </a:t>
            </a:r>
            <a:r>
              <a:rPr lang="en-US" dirty="0"/>
              <a:t>battery must be capable of cranking the engine and providing adequate reserve capacity. Its capacity is the amount of electrical energy the battery can deliver when fully charged. </a:t>
            </a:r>
            <a:endParaRPr lang="en-US" dirty="0" smtClean="0"/>
          </a:p>
          <a:p>
            <a:pPr>
              <a:buFont typeface="Wingdings" panose="05000000000000000000" pitchFamily="2" charset="2"/>
              <a:buChar char="Ø"/>
            </a:pPr>
            <a:r>
              <a:rPr lang="en-US" dirty="0" smtClean="0"/>
              <a:t>Capacity </a:t>
            </a:r>
            <a:r>
              <a:rPr lang="en-US" dirty="0"/>
              <a:t>is determined by the size and number of plates, the number of cells, and the strength and volume of </a:t>
            </a:r>
            <a:r>
              <a:rPr lang="en-US" dirty="0" smtClean="0"/>
              <a:t>electrolyte.</a:t>
            </a:r>
            <a:endParaRPr lang="en-GB" dirty="0"/>
          </a:p>
          <a:p>
            <a:pPr>
              <a:buFont typeface="Wingdings" panose="05000000000000000000" pitchFamily="2" charset="2"/>
              <a:buChar char="Ø"/>
            </a:pPr>
            <a:r>
              <a:rPr lang="en-US" dirty="0" smtClean="0">
                <a:solidFill>
                  <a:srgbClr val="FF0000"/>
                </a:solidFill>
              </a:rPr>
              <a:t>The </a:t>
            </a:r>
            <a:r>
              <a:rPr lang="en-US" dirty="0">
                <a:solidFill>
                  <a:srgbClr val="FF0000"/>
                </a:solidFill>
              </a:rPr>
              <a:t>most commonly used ratings are</a:t>
            </a:r>
            <a:r>
              <a:rPr lang="en-US" dirty="0" smtClean="0">
                <a:solidFill>
                  <a:srgbClr val="FF0000"/>
                </a:solidFill>
              </a:rPr>
              <a:t>:</a:t>
            </a:r>
            <a:endParaRPr lang="en-GB" dirty="0" smtClean="0">
              <a:solidFill>
                <a:srgbClr val="FF0000"/>
              </a:solidFill>
            </a:endParaRPr>
          </a:p>
          <a:p>
            <a:pPr marL="514350" indent="-514350">
              <a:buFont typeface="+mj-lt"/>
              <a:buAutoNum type="arabicParenR"/>
            </a:pPr>
            <a:r>
              <a:rPr lang="en-US" dirty="0" smtClean="0"/>
              <a:t>Cold Cranking Amperes (CCA)</a:t>
            </a:r>
            <a:endParaRPr lang="en-GB" dirty="0" smtClean="0"/>
          </a:p>
          <a:p>
            <a:pPr marL="514350" indent="-514350">
              <a:buFont typeface="+mj-lt"/>
              <a:buAutoNum type="arabicParenR"/>
            </a:pPr>
            <a:r>
              <a:rPr lang="en-US" dirty="0" smtClean="0"/>
              <a:t>Reserve </a:t>
            </a:r>
            <a:r>
              <a:rPr lang="en-US" dirty="0"/>
              <a:t>Capacity (</a:t>
            </a:r>
            <a:r>
              <a:rPr lang="en-US" dirty="0" smtClean="0"/>
              <a:t>RC)</a:t>
            </a:r>
            <a:endParaRPr lang="en-GB" dirty="0"/>
          </a:p>
          <a:p>
            <a:pPr marL="514350" indent="-514350">
              <a:buFont typeface="+mj-lt"/>
              <a:buAutoNum type="arabicParenR"/>
            </a:pPr>
            <a:r>
              <a:rPr lang="en-US" dirty="0" smtClean="0"/>
              <a:t>Amp-Hours </a:t>
            </a:r>
            <a:r>
              <a:rPr lang="en-US" dirty="0"/>
              <a:t>(</a:t>
            </a:r>
            <a:r>
              <a:rPr lang="en-US" dirty="0" smtClean="0"/>
              <a:t>AH)</a:t>
            </a:r>
            <a:endParaRPr lang="en-GB" dirty="0"/>
          </a:p>
          <a:p>
            <a:pPr marL="514350" indent="-514350">
              <a:buFont typeface="+mj-lt"/>
              <a:buAutoNum type="arabicParenR"/>
            </a:pPr>
            <a:r>
              <a:rPr lang="en-US" dirty="0" smtClean="0"/>
              <a:t>Power </a:t>
            </a:r>
            <a:r>
              <a:rPr lang="en-US" dirty="0"/>
              <a:t>(Watts</a:t>
            </a:r>
            <a:r>
              <a:rPr lang="en-US" dirty="0" smtClean="0"/>
              <a:t>)</a:t>
            </a:r>
            <a:endParaRPr lang="en-GB" dirty="0"/>
          </a:p>
        </p:txBody>
      </p:sp>
    </p:spTree>
    <p:extLst>
      <p:ext uri="{BB962C8B-B14F-4D97-AF65-F5344CB8AC3E}">
        <p14:creationId xmlns:p14="http://schemas.microsoft.com/office/powerpoint/2010/main" val="266953600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
            <a:ext cx="12192001" cy="1375872"/>
          </a:xfrm>
        </p:spPr>
        <p:txBody>
          <a:bodyPr/>
          <a:lstStyle/>
          <a:p>
            <a:pPr algn="ctr"/>
            <a:r>
              <a:rPr lang="en-US" b="1" dirty="0">
                <a:solidFill>
                  <a:srgbClr val="FF0000"/>
                </a:solidFill>
              </a:rPr>
              <a:t>COLD-CRANKING AMPERES (CCA</a:t>
            </a:r>
            <a:r>
              <a:rPr lang="en-US" b="1" dirty="0" smtClean="0">
                <a:solidFill>
                  <a:srgbClr val="FF0000"/>
                </a:solidFill>
              </a:rPr>
              <a:t>)</a:t>
            </a:r>
            <a:endParaRPr lang="en-GB" dirty="0">
              <a:solidFill>
                <a:srgbClr val="FF0000"/>
              </a:solidFill>
            </a:endParaRPr>
          </a:p>
        </p:txBody>
      </p:sp>
      <p:sp>
        <p:nvSpPr>
          <p:cNvPr id="3" name="Content Placeholder 2"/>
          <p:cNvSpPr>
            <a:spLocks noGrp="1"/>
          </p:cNvSpPr>
          <p:nvPr>
            <p:ph idx="1"/>
          </p:nvPr>
        </p:nvSpPr>
        <p:spPr>
          <a:xfrm>
            <a:off x="0" y="991312"/>
            <a:ext cx="12192000" cy="5866688"/>
          </a:xfrm>
        </p:spPr>
        <p:txBody>
          <a:bodyPr>
            <a:normAutofit/>
          </a:bodyPr>
          <a:lstStyle/>
          <a:p>
            <a:pPr>
              <a:buFont typeface="Wingdings" panose="05000000000000000000" pitchFamily="2" charset="2"/>
              <a:buChar char="Ø"/>
            </a:pPr>
            <a:r>
              <a:rPr lang="en-US" sz="3600" dirty="0" smtClean="0"/>
              <a:t>The </a:t>
            </a:r>
            <a:r>
              <a:rPr lang="en-US" sz="3600" dirty="0"/>
              <a:t>battery's primary function is to provide energy to crank the engine during starting. This requires a  large discharge in a short time. </a:t>
            </a:r>
            <a:endParaRPr lang="en-US" sz="3600" dirty="0" smtClean="0"/>
          </a:p>
          <a:p>
            <a:pPr>
              <a:buFont typeface="Wingdings" panose="05000000000000000000" pitchFamily="2" charset="2"/>
              <a:buChar char="Ø"/>
            </a:pPr>
            <a:r>
              <a:rPr lang="en-US" sz="3600" dirty="0" smtClean="0"/>
              <a:t>The </a:t>
            </a:r>
            <a:r>
              <a:rPr lang="en-US" sz="3600" b="1" dirty="0"/>
              <a:t>CCA Rating </a:t>
            </a:r>
            <a:r>
              <a:rPr lang="en-US" sz="3600" dirty="0"/>
              <a:t>specifies, in amperes, the discharge load a fully charged battery at 0˚F (-1 7.8˚C) can deliver for 30 seconds while maintaining a voltage of at least 1.2 volts per cell (7.2 volts total for a 12-volt battery</a:t>
            </a:r>
            <a:r>
              <a:rPr lang="en-US" sz="3600" dirty="0" smtClean="0"/>
              <a:t>).</a:t>
            </a:r>
            <a:endParaRPr lang="en-GB" sz="3600" dirty="0" smtClean="0"/>
          </a:p>
          <a:p>
            <a:pPr>
              <a:buFont typeface="Wingdings" panose="05000000000000000000" pitchFamily="2" charset="2"/>
              <a:buChar char="Ø"/>
            </a:pPr>
            <a:r>
              <a:rPr lang="en-US" sz="3600" dirty="0" smtClean="0"/>
              <a:t>Batteries </a:t>
            </a:r>
            <a:r>
              <a:rPr lang="en-US" sz="3600" dirty="0"/>
              <a:t>used on various </a:t>
            </a:r>
            <a:r>
              <a:rPr lang="en-US" sz="3600" dirty="0" smtClean="0"/>
              <a:t>vehicles </a:t>
            </a:r>
            <a:r>
              <a:rPr lang="en-US" sz="3600" dirty="0"/>
              <a:t>have CCA ratings ranging from 350 to 560 amps.</a:t>
            </a:r>
            <a:endParaRPr lang="en-GB" sz="3600" dirty="0"/>
          </a:p>
          <a:p>
            <a:pPr marL="0" indent="0">
              <a:buNone/>
            </a:pPr>
            <a:endParaRPr lang="en-GB" dirty="0"/>
          </a:p>
          <a:p>
            <a:endParaRPr lang="en-GB" dirty="0"/>
          </a:p>
        </p:txBody>
      </p:sp>
    </p:spTree>
    <p:extLst>
      <p:ext uri="{BB962C8B-B14F-4D97-AF65-F5344CB8AC3E}">
        <p14:creationId xmlns:p14="http://schemas.microsoft.com/office/powerpoint/2010/main" val="2573205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007" y="1"/>
            <a:ext cx="12003993" cy="1008403"/>
          </a:xfrm>
        </p:spPr>
        <p:txBody>
          <a:bodyPr/>
          <a:lstStyle/>
          <a:p>
            <a:pPr algn="ctr"/>
            <a:r>
              <a:rPr lang="en-US" b="1" dirty="0">
                <a:solidFill>
                  <a:srgbClr val="FF0000"/>
                </a:solidFill>
              </a:rPr>
              <a:t>RESERVE CAPACITY (RC</a:t>
            </a:r>
            <a:r>
              <a:rPr lang="en-US" b="1" dirty="0" smtClean="0">
                <a:solidFill>
                  <a:srgbClr val="FF0000"/>
                </a:solidFill>
              </a:rPr>
              <a:t>)</a:t>
            </a:r>
            <a:endParaRPr lang="en-GB" dirty="0">
              <a:solidFill>
                <a:srgbClr val="FF0000"/>
              </a:solidFill>
            </a:endParaRPr>
          </a:p>
        </p:txBody>
      </p:sp>
      <p:sp>
        <p:nvSpPr>
          <p:cNvPr id="3" name="Content Placeholder 2"/>
          <p:cNvSpPr>
            <a:spLocks noGrp="1"/>
          </p:cNvSpPr>
          <p:nvPr>
            <p:ph idx="1"/>
          </p:nvPr>
        </p:nvSpPr>
        <p:spPr>
          <a:xfrm>
            <a:off x="0" y="1008404"/>
            <a:ext cx="12192000" cy="5849596"/>
          </a:xfrm>
        </p:spPr>
        <p:txBody>
          <a:bodyPr/>
          <a:lstStyle/>
          <a:p>
            <a:pPr>
              <a:buFont typeface="Wingdings" panose="05000000000000000000" pitchFamily="2" charset="2"/>
              <a:buChar char="Ø"/>
            </a:pPr>
            <a:r>
              <a:rPr lang="en-US" sz="3200" dirty="0" smtClean="0"/>
              <a:t>The </a:t>
            </a:r>
            <a:r>
              <a:rPr lang="en-US" sz="3200" dirty="0"/>
              <a:t>battery must provide emergency energy for</a:t>
            </a:r>
            <a:r>
              <a:rPr lang="en-US" sz="3200" dirty="0">
                <a:solidFill>
                  <a:srgbClr val="FF0000"/>
                </a:solidFill>
              </a:rPr>
              <a:t> ignition</a:t>
            </a:r>
            <a:r>
              <a:rPr lang="en-US" sz="3200" dirty="0"/>
              <a:t>, </a:t>
            </a:r>
            <a:r>
              <a:rPr lang="en-US" sz="3200" dirty="0">
                <a:solidFill>
                  <a:srgbClr val="FF0000"/>
                </a:solidFill>
              </a:rPr>
              <a:t>lights</a:t>
            </a:r>
            <a:r>
              <a:rPr lang="en-US" sz="3200" dirty="0"/>
              <a:t>, and </a:t>
            </a:r>
            <a:r>
              <a:rPr lang="en-US" sz="3200" dirty="0">
                <a:solidFill>
                  <a:srgbClr val="FF0000"/>
                </a:solidFill>
              </a:rPr>
              <a:t>accessories</a:t>
            </a:r>
            <a:r>
              <a:rPr lang="en-US" sz="3200" dirty="0"/>
              <a:t> if the vehicle's charging system fails. This requires adequate capacity at normal temperatures for a certain amount of time. </a:t>
            </a:r>
            <a:endParaRPr lang="en-US" sz="3200" dirty="0" smtClean="0"/>
          </a:p>
          <a:p>
            <a:pPr>
              <a:buFont typeface="Wingdings" panose="05000000000000000000" pitchFamily="2" charset="2"/>
              <a:buChar char="Ø"/>
            </a:pPr>
            <a:r>
              <a:rPr lang="en-US" sz="3200" dirty="0" smtClean="0"/>
              <a:t>The </a:t>
            </a:r>
            <a:r>
              <a:rPr lang="en-US" sz="3200" b="1" dirty="0"/>
              <a:t>RC Rating </a:t>
            </a:r>
            <a:r>
              <a:rPr lang="en-US" sz="3200" dirty="0"/>
              <a:t>specifies, in minutes, the length of time a fully charged battery at 80˚F (26.7'C) can be discharged at 25 amps while maintaining a voltage of at least 1.75 volts per cell (10.5 volts total for a 12-volt battery). Batteries used on various </a:t>
            </a:r>
            <a:r>
              <a:rPr lang="en-US" sz="3200" dirty="0" smtClean="0"/>
              <a:t>vehicles </a:t>
            </a:r>
            <a:r>
              <a:rPr lang="en-US" sz="3200" dirty="0"/>
              <a:t>have RC ratings ranging from 55 to 115 minutes</a:t>
            </a:r>
            <a:endParaRPr lang="en-GB" sz="3200" dirty="0"/>
          </a:p>
          <a:p>
            <a:endParaRPr lang="en-GB" dirty="0"/>
          </a:p>
        </p:txBody>
      </p:sp>
    </p:spTree>
    <p:extLst>
      <p:ext uri="{BB962C8B-B14F-4D97-AF65-F5344CB8AC3E}">
        <p14:creationId xmlns:p14="http://schemas.microsoft.com/office/powerpoint/2010/main" val="12498685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230593"/>
          </a:xfrm>
        </p:spPr>
        <p:txBody>
          <a:bodyPr>
            <a:normAutofit/>
          </a:bodyPr>
          <a:lstStyle/>
          <a:p>
            <a:pPr algn="ctr"/>
            <a:r>
              <a:rPr lang="en-US" b="1" dirty="0">
                <a:solidFill>
                  <a:srgbClr val="FF0000"/>
                </a:solidFill>
              </a:rPr>
              <a:t>AMP-HOURS (AH</a:t>
            </a:r>
            <a:r>
              <a:rPr lang="en-US" b="1" dirty="0" smtClean="0">
                <a:solidFill>
                  <a:srgbClr val="FF0000"/>
                </a:solidFill>
              </a:rPr>
              <a:t>)</a:t>
            </a:r>
            <a:endParaRPr lang="en-GB" dirty="0">
              <a:solidFill>
                <a:srgbClr val="FF0000"/>
              </a:solidFill>
            </a:endParaRPr>
          </a:p>
        </p:txBody>
      </p:sp>
      <p:sp>
        <p:nvSpPr>
          <p:cNvPr id="3" name="Content Placeholder 2"/>
          <p:cNvSpPr>
            <a:spLocks noGrp="1"/>
          </p:cNvSpPr>
          <p:nvPr>
            <p:ph idx="1"/>
          </p:nvPr>
        </p:nvSpPr>
        <p:spPr>
          <a:xfrm>
            <a:off x="0" y="1230594"/>
            <a:ext cx="12192000" cy="5627406"/>
          </a:xfrm>
        </p:spPr>
        <p:txBody>
          <a:bodyPr>
            <a:normAutofit/>
          </a:bodyPr>
          <a:lstStyle/>
          <a:p>
            <a:pPr>
              <a:buFont typeface="Wingdings" panose="05000000000000000000" pitchFamily="2" charset="2"/>
              <a:buChar char="Ø"/>
            </a:pPr>
            <a:r>
              <a:rPr lang="en-US" sz="3200" dirty="0" smtClean="0"/>
              <a:t>The </a:t>
            </a:r>
            <a:r>
              <a:rPr lang="en-US" sz="3200" dirty="0"/>
              <a:t>battery must maintain active materials on its plates and adequate lasting power under light-load conditions. This method of rating batteries is also called the 20-hour discharge rating. Original equipment batteries are rated in amp-hours. The ratings of these batteries are listed in the parts microfiche. </a:t>
            </a:r>
            <a:endParaRPr lang="en-US" sz="3200" dirty="0" smtClean="0"/>
          </a:p>
          <a:p>
            <a:pPr>
              <a:buFont typeface="Wingdings" panose="05000000000000000000" pitchFamily="2" charset="2"/>
              <a:buChar char="Ø"/>
            </a:pPr>
            <a:r>
              <a:rPr lang="en-US" sz="3200" dirty="0" smtClean="0"/>
              <a:t>The </a:t>
            </a:r>
            <a:r>
              <a:rPr lang="en-US" sz="3200" b="1" dirty="0"/>
              <a:t>Amp-Hour Rating </a:t>
            </a:r>
            <a:r>
              <a:rPr lang="en-US" sz="3200" dirty="0"/>
              <a:t>specifies, in </a:t>
            </a:r>
            <a:r>
              <a:rPr lang="en-US" sz="3200" dirty="0" smtClean="0"/>
              <a:t>amp hours</a:t>
            </a:r>
            <a:r>
              <a:rPr lang="en-US" sz="3200" dirty="0"/>
              <a:t>, the current the battery can provide for 20 hours at 80˚F (26.7˚C) while maintaining a voltage of at least 1.75 volts per cell (10.5 volts total for a 12-  volt battery). </a:t>
            </a:r>
            <a:endParaRPr lang="en-US" sz="3200" dirty="0" smtClean="0"/>
          </a:p>
          <a:p>
            <a:pPr>
              <a:buFont typeface="Wingdings" panose="05000000000000000000" pitchFamily="2" charset="2"/>
              <a:buChar char="Ø"/>
            </a:pPr>
            <a:r>
              <a:rPr lang="en-US" sz="3200" dirty="0" smtClean="0"/>
              <a:t>For </a:t>
            </a:r>
            <a:r>
              <a:rPr lang="en-US" sz="3200" dirty="0"/>
              <a:t>example, a battery that can deliver 4 amps for 20 hours is rated at 80 amp-hours (4 x 20 = 80). Batteries used on various </a:t>
            </a:r>
            <a:r>
              <a:rPr lang="en-US" sz="3200" dirty="0" smtClean="0"/>
              <a:t>vehicles </a:t>
            </a:r>
            <a:r>
              <a:rPr lang="en-US" sz="3200" dirty="0"/>
              <a:t>have AH ratings ranging from 40 to 80 amp-hours</a:t>
            </a:r>
            <a:r>
              <a:rPr lang="en-US" sz="3200" dirty="0" smtClean="0"/>
              <a:t>.</a:t>
            </a:r>
            <a:endParaRPr lang="en-GB" sz="3200" dirty="0"/>
          </a:p>
          <a:p>
            <a:endParaRPr lang="en-GB" dirty="0"/>
          </a:p>
        </p:txBody>
      </p:sp>
    </p:spTree>
    <p:extLst>
      <p:ext uri="{BB962C8B-B14F-4D97-AF65-F5344CB8AC3E}">
        <p14:creationId xmlns:p14="http://schemas.microsoft.com/office/powerpoint/2010/main" val="26328486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222048"/>
          </a:xfrm>
        </p:spPr>
        <p:txBody>
          <a:bodyPr>
            <a:normAutofit/>
          </a:bodyPr>
          <a:lstStyle/>
          <a:p>
            <a:pPr algn="ctr"/>
            <a:r>
              <a:rPr lang="en-US" b="1" dirty="0">
                <a:solidFill>
                  <a:srgbClr val="FF0000"/>
                </a:solidFill>
              </a:rPr>
              <a:t>POWER (WATTS</a:t>
            </a:r>
            <a:r>
              <a:rPr lang="en-US" b="1" dirty="0" smtClean="0">
                <a:solidFill>
                  <a:srgbClr val="FF0000"/>
                </a:solidFill>
              </a:rPr>
              <a:t>)</a:t>
            </a:r>
            <a:endParaRPr lang="en-GB" dirty="0">
              <a:solidFill>
                <a:srgbClr val="FF0000"/>
              </a:solidFill>
            </a:endParaRPr>
          </a:p>
        </p:txBody>
      </p:sp>
      <p:sp>
        <p:nvSpPr>
          <p:cNvPr id="3" name="Content Placeholder 2"/>
          <p:cNvSpPr>
            <a:spLocks noGrp="1"/>
          </p:cNvSpPr>
          <p:nvPr>
            <p:ph idx="1"/>
          </p:nvPr>
        </p:nvSpPr>
        <p:spPr>
          <a:xfrm>
            <a:off x="0" y="1042586"/>
            <a:ext cx="12192000" cy="5815413"/>
          </a:xfrm>
        </p:spPr>
        <p:txBody>
          <a:bodyPr/>
          <a:lstStyle/>
          <a:p>
            <a:pPr>
              <a:buFont typeface="Wingdings" panose="05000000000000000000" pitchFamily="2" charset="2"/>
              <a:buChar char="Ø"/>
            </a:pPr>
            <a:r>
              <a:rPr lang="en-US" dirty="0" smtClean="0"/>
              <a:t>The </a:t>
            </a:r>
            <a:r>
              <a:rPr lang="en-US" dirty="0"/>
              <a:t>battery's available cranking power may also be measured in watts. </a:t>
            </a:r>
          </a:p>
          <a:p>
            <a:pPr>
              <a:buFont typeface="Wingdings" panose="05000000000000000000" pitchFamily="2" charset="2"/>
              <a:buChar char="Ø"/>
            </a:pPr>
            <a:r>
              <a:rPr lang="en-US" dirty="0" smtClean="0"/>
              <a:t>The </a:t>
            </a:r>
            <a:r>
              <a:rPr lang="en-US" b="1" dirty="0"/>
              <a:t>Power Rating</a:t>
            </a:r>
            <a:r>
              <a:rPr lang="en-US" dirty="0"/>
              <a:t>, in watts, is determined by multiplying the current available by the battery voltage at 0˚F (-1 7.8˚C). </a:t>
            </a:r>
          </a:p>
          <a:p>
            <a:pPr>
              <a:buFont typeface="Wingdings" panose="05000000000000000000" pitchFamily="2" charset="2"/>
              <a:buChar char="Ø"/>
            </a:pPr>
            <a:r>
              <a:rPr lang="en-US" dirty="0" smtClean="0"/>
              <a:t>Batteries </a:t>
            </a:r>
            <a:r>
              <a:rPr lang="en-US" dirty="0"/>
              <a:t>used on various </a:t>
            </a:r>
            <a:r>
              <a:rPr lang="en-US" dirty="0" smtClean="0"/>
              <a:t>vehicles </a:t>
            </a:r>
            <a:r>
              <a:rPr lang="en-US" dirty="0"/>
              <a:t>have power ratings ranging from 2000 to 4000 watts</a:t>
            </a:r>
            <a:endParaRPr lang="en-GB" dirty="0"/>
          </a:p>
        </p:txBody>
      </p:sp>
    </p:spTree>
    <p:extLst>
      <p:ext uri="{BB962C8B-B14F-4D97-AF65-F5344CB8AC3E}">
        <p14:creationId xmlns:p14="http://schemas.microsoft.com/office/powerpoint/2010/main" val="6970377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341689"/>
          </a:xfrm>
        </p:spPr>
        <p:txBody>
          <a:bodyPr/>
          <a:lstStyle/>
          <a:p>
            <a:pPr algn="ctr"/>
            <a:r>
              <a:rPr lang="en-US" b="1" dirty="0">
                <a:solidFill>
                  <a:srgbClr val="FF0000"/>
                </a:solidFill>
              </a:rPr>
              <a:t>FACTORS AFFECTING </a:t>
            </a:r>
            <a:r>
              <a:rPr lang="en-US" b="1" dirty="0" smtClean="0">
                <a:solidFill>
                  <a:srgbClr val="FF0000"/>
                </a:solidFill>
              </a:rPr>
              <a:t>CHARGING</a:t>
            </a:r>
            <a:endParaRPr lang="en-GB" dirty="0">
              <a:solidFill>
                <a:srgbClr val="FF0000"/>
              </a:solidFill>
            </a:endParaRPr>
          </a:p>
        </p:txBody>
      </p:sp>
      <p:sp>
        <p:nvSpPr>
          <p:cNvPr id="3" name="Content Placeholder 2"/>
          <p:cNvSpPr>
            <a:spLocks noGrp="1"/>
          </p:cNvSpPr>
          <p:nvPr>
            <p:ph idx="1"/>
          </p:nvPr>
        </p:nvSpPr>
        <p:spPr>
          <a:xfrm>
            <a:off x="0" y="1273322"/>
            <a:ext cx="12192000" cy="5584677"/>
          </a:xfrm>
        </p:spPr>
        <p:txBody>
          <a:bodyPr>
            <a:normAutofit fontScale="92500" lnSpcReduction="10000"/>
          </a:bodyPr>
          <a:lstStyle/>
          <a:p>
            <a:pPr>
              <a:buFont typeface="Wingdings" panose="05000000000000000000" pitchFamily="2" charset="2"/>
              <a:buChar char="Ø"/>
            </a:pPr>
            <a:r>
              <a:rPr lang="en-US" dirty="0" smtClean="0"/>
              <a:t>Five </a:t>
            </a:r>
            <a:r>
              <a:rPr lang="en-US" dirty="0"/>
              <a:t>factors affect battery charging by increasing its internal resistance and CEMF (counter-electromotive force produced by the electrochemical </a:t>
            </a:r>
            <a:r>
              <a:rPr lang="en-US" dirty="0" smtClean="0"/>
              <a:t>reaction)</a:t>
            </a:r>
          </a:p>
          <a:p>
            <a:pPr marL="514350" indent="-514350">
              <a:buFont typeface="+mj-lt"/>
              <a:buAutoNum type="arabicParenR"/>
            </a:pPr>
            <a:r>
              <a:rPr lang="en-US" b="1" dirty="0" smtClean="0">
                <a:solidFill>
                  <a:srgbClr val="FF0000"/>
                </a:solidFill>
              </a:rPr>
              <a:t>TEMPERATURE</a:t>
            </a:r>
            <a:r>
              <a:rPr lang="en-US" b="1" dirty="0">
                <a:solidFill>
                  <a:srgbClr val="FF0000"/>
                </a:solidFill>
              </a:rPr>
              <a:t>:</a:t>
            </a:r>
            <a:r>
              <a:rPr lang="en-US" b="1" dirty="0"/>
              <a:t> </a:t>
            </a:r>
            <a:r>
              <a:rPr lang="en-US" dirty="0"/>
              <a:t>As the temperature decreases the electrolyte resists charging. A cold battery will take more time to charge; a warm battery, less time. Never attempt to charge a frozen </a:t>
            </a:r>
            <a:r>
              <a:rPr lang="en-US" dirty="0" smtClean="0"/>
              <a:t>battery.</a:t>
            </a:r>
            <a:endParaRPr lang="en-GB" dirty="0"/>
          </a:p>
          <a:p>
            <a:pPr marL="514350" indent="-514350">
              <a:buFont typeface="+mj-lt"/>
              <a:buAutoNum type="arabicParenR"/>
            </a:pPr>
            <a:r>
              <a:rPr lang="en-US" b="1" dirty="0" smtClean="0">
                <a:solidFill>
                  <a:srgbClr val="FF0000"/>
                </a:solidFill>
              </a:rPr>
              <a:t>STATE-OF-CHARGE</a:t>
            </a:r>
            <a:r>
              <a:rPr lang="en-US" b="1" dirty="0">
                <a:solidFill>
                  <a:srgbClr val="FF0000"/>
                </a:solidFill>
              </a:rPr>
              <a:t>: </a:t>
            </a:r>
            <a:r>
              <a:rPr lang="en-US" dirty="0"/>
              <a:t>The condition of the battery's active materials will affect charging. A battery that is severely discharged will have hard sulfate crystals on its plates. The vehicle's charging system may charge at too high of a rate to remove such </a:t>
            </a:r>
            <a:r>
              <a:rPr lang="en-US" dirty="0" smtClean="0"/>
              <a:t>sulfates.</a:t>
            </a:r>
          </a:p>
          <a:p>
            <a:pPr marL="514350" indent="-514350">
              <a:buFont typeface="+mj-lt"/>
              <a:buAutoNum type="arabicParenR"/>
            </a:pPr>
            <a:r>
              <a:rPr lang="en-US" b="1" dirty="0" smtClean="0">
                <a:solidFill>
                  <a:srgbClr val="FF0000"/>
                </a:solidFill>
              </a:rPr>
              <a:t>PLATE </a:t>
            </a:r>
            <a:r>
              <a:rPr lang="en-US" b="1" dirty="0">
                <a:solidFill>
                  <a:srgbClr val="FF0000"/>
                </a:solidFill>
              </a:rPr>
              <a:t>AREA: </a:t>
            </a:r>
            <a:r>
              <a:rPr lang="en-US" dirty="0"/>
              <a:t>Small plates are charged faster than large plates. When </a:t>
            </a:r>
            <a:r>
              <a:rPr lang="en-US" dirty="0" err="1"/>
              <a:t>sulfation</a:t>
            </a:r>
            <a:r>
              <a:rPr lang="en-US" dirty="0"/>
              <a:t> covers most of the plate area, the charging system may not be able to restore the </a:t>
            </a:r>
            <a:r>
              <a:rPr lang="en-US" dirty="0" smtClean="0"/>
              <a:t>battery.</a:t>
            </a:r>
            <a:endParaRPr lang="en-GB" dirty="0"/>
          </a:p>
          <a:p>
            <a:pPr marL="514350" indent="-514350">
              <a:buFont typeface="+mj-lt"/>
              <a:buAutoNum type="arabicParenR"/>
            </a:pPr>
            <a:r>
              <a:rPr lang="en-US" b="1" dirty="0" smtClean="0">
                <a:solidFill>
                  <a:srgbClr val="FF0000"/>
                </a:solidFill>
              </a:rPr>
              <a:t>IMPURITIES</a:t>
            </a:r>
            <a:r>
              <a:rPr lang="en-US" b="1" dirty="0">
                <a:solidFill>
                  <a:srgbClr val="FF0000"/>
                </a:solidFill>
              </a:rPr>
              <a:t>: </a:t>
            </a:r>
            <a:r>
              <a:rPr lang="en-US" dirty="0"/>
              <a:t>Dirt and other impurities in the electrolyte increase charging </a:t>
            </a:r>
            <a:r>
              <a:rPr lang="en-US" dirty="0" smtClean="0"/>
              <a:t>difficulty.</a:t>
            </a:r>
            <a:endParaRPr lang="en-GB" dirty="0"/>
          </a:p>
          <a:p>
            <a:pPr marL="514350" indent="-514350">
              <a:buFont typeface="+mj-lt"/>
              <a:buAutoNum type="arabicParenR"/>
            </a:pPr>
            <a:r>
              <a:rPr lang="en-US" b="1" dirty="0" smtClean="0">
                <a:solidFill>
                  <a:srgbClr val="FF0000"/>
                </a:solidFill>
              </a:rPr>
              <a:t>GASSING</a:t>
            </a:r>
            <a:r>
              <a:rPr lang="en-US" dirty="0">
                <a:solidFill>
                  <a:srgbClr val="FF0000"/>
                </a:solidFill>
              </a:rPr>
              <a:t>: </a:t>
            </a:r>
            <a:r>
              <a:rPr lang="en-US" dirty="0"/>
              <a:t>Hydrogen and oxygen bubbles form at the plates during charging. As these bubble out, they wash away active material, cause water loss, and increase charging difficulty.</a:t>
            </a:r>
            <a:endParaRPr lang="en-GB" dirty="0"/>
          </a:p>
          <a:p>
            <a:pPr marL="514350" indent="-514350">
              <a:buFont typeface="+mj-lt"/>
              <a:buAutoNum type="arabicParenR"/>
            </a:pPr>
            <a:endParaRPr lang="en-GB" dirty="0"/>
          </a:p>
          <a:p>
            <a:endParaRPr lang="en-GB" dirty="0"/>
          </a:p>
        </p:txBody>
      </p:sp>
    </p:spTree>
    <p:extLst>
      <p:ext uri="{BB962C8B-B14F-4D97-AF65-F5344CB8AC3E}">
        <p14:creationId xmlns:p14="http://schemas.microsoft.com/office/powerpoint/2010/main" val="347324980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004" y="1"/>
            <a:ext cx="12097996" cy="1316051"/>
          </a:xfrm>
        </p:spPr>
        <p:txBody>
          <a:bodyPr/>
          <a:lstStyle/>
          <a:p>
            <a:pPr algn="ctr"/>
            <a:r>
              <a:rPr lang="en-US" b="1" dirty="0">
                <a:solidFill>
                  <a:srgbClr val="FF0000"/>
                </a:solidFill>
              </a:rPr>
              <a:t>FACTORS AFFECTING </a:t>
            </a:r>
            <a:r>
              <a:rPr lang="en-US" b="1" dirty="0" smtClean="0">
                <a:solidFill>
                  <a:srgbClr val="FF0000"/>
                </a:solidFill>
              </a:rPr>
              <a:t>CHARGING………</a:t>
            </a:r>
            <a:endParaRPr lang="en-GB" dirty="0"/>
          </a:p>
        </p:txBody>
      </p:sp>
      <p:pic>
        <p:nvPicPr>
          <p:cNvPr id="4" name="Content Placeholder 3"/>
          <p:cNvPicPr>
            <a:picLocks noGrp="1" noChangeAspect="1"/>
          </p:cNvPicPr>
          <p:nvPr>
            <p:ph idx="1"/>
          </p:nvPr>
        </p:nvPicPr>
        <p:blipFill>
          <a:blip r:embed="rId2"/>
          <a:stretch>
            <a:fillRect/>
          </a:stretch>
        </p:blipFill>
        <p:spPr>
          <a:xfrm>
            <a:off x="1914258" y="1316052"/>
            <a:ext cx="7990318" cy="5426579"/>
          </a:xfrm>
          <a:prstGeom prst="rect">
            <a:avLst/>
          </a:prstGeom>
        </p:spPr>
      </p:pic>
    </p:spTree>
    <p:extLst>
      <p:ext uri="{BB962C8B-B14F-4D97-AF65-F5344CB8AC3E}">
        <p14:creationId xmlns:p14="http://schemas.microsoft.com/office/powerpoint/2010/main" val="269461349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image8.png"/>
          <p:cNvPicPr>
            <a:picLocks noGrp="1"/>
          </p:cNvPicPr>
          <p:nvPr>
            <p:ph idx="1"/>
          </p:nvPr>
        </p:nvPicPr>
        <p:blipFill>
          <a:blip r:embed="rId2" cstate="print"/>
          <a:stretch>
            <a:fillRect/>
          </a:stretch>
        </p:blipFill>
        <p:spPr>
          <a:xfrm>
            <a:off x="1194986" y="76913"/>
            <a:ext cx="10158813" cy="6708448"/>
          </a:xfrm>
          <a:prstGeom prst="rect">
            <a:avLst/>
          </a:prstGeom>
        </p:spPr>
      </p:pic>
    </p:spTree>
    <p:extLst>
      <p:ext uri="{BB962C8B-B14F-4D97-AF65-F5344CB8AC3E}">
        <p14:creationId xmlns:p14="http://schemas.microsoft.com/office/powerpoint/2010/main" val="146122896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187864"/>
          </a:xfrm>
        </p:spPr>
        <p:txBody>
          <a:bodyPr>
            <a:normAutofit/>
          </a:bodyPr>
          <a:lstStyle/>
          <a:p>
            <a:pPr algn="ctr"/>
            <a:r>
              <a:rPr lang="en-US" b="1" dirty="0">
                <a:solidFill>
                  <a:srgbClr val="FF0000"/>
                </a:solidFill>
              </a:rPr>
              <a:t>Diagnosis and </a:t>
            </a:r>
            <a:r>
              <a:rPr lang="en-US" b="1" dirty="0" smtClean="0">
                <a:solidFill>
                  <a:srgbClr val="FF0000"/>
                </a:solidFill>
              </a:rPr>
              <a:t>Testing</a:t>
            </a:r>
            <a:endParaRPr lang="en-GB" dirty="0">
              <a:solidFill>
                <a:srgbClr val="FF0000"/>
              </a:solidFill>
            </a:endParaRPr>
          </a:p>
        </p:txBody>
      </p:sp>
      <p:sp>
        <p:nvSpPr>
          <p:cNvPr id="3" name="Content Placeholder 2"/>
          <p:cNvSpPr>
            <a:spLocks noGrp="1"/>
          </p:cNvSpPr>
          <p:nvPr>
            <p:ph idx="1"/>
          </p:nvPr>
        </p:nvSpPr>
        <p:spPr>
          <a:xfrm>
            <a:off x="0" y="1110952"/>
            <a:ext cx="12192000" cy="5747047"/>
          </a:xfrm>
        </p:spPr>
        <p:txBody>
          <a:bodyPr/>
          <a:lstStyle/>
          <a:p>
            <a:r>
              <a:rPr lang="en-US" dirty="0" smtClean="0"/>
              <a:t>All </a:t>
            </a:r>
            <a:r>
              <a:rPr lang="en-US" dirty="0"/>
              <a:t>batteries require routine maintenance to identify and correct problems caused by physical abuse and low electrolyte levels. </a:t>
            </a:r>
            <a:endParaRPr lang="en-US" dirty="0" smtClean="0"/>
          </a:p>
          <a:p>
            <a:pPr marL="514350" indent="-514350">
              <a:buFont typeface="+mj-lt"/>
              <a:buAutoNum type="arabicParenR"/>
            </a:pPr>
            <a:r>
              <a:rPr lang="en-US" b="1" dirty="0" smtClean="0">
                <a:solidFill>
                  <a:srgbClr val="FF0000"/>
                </a:solidFill>
              </a:rPr>
              <a:t>A </a:t>
            </a:r>
            <a:r>
              <a:rPr lang="en-US" b="1" dirty="0">
                <a:solidFill>
                  <a:srgbClr val="FF0000"/>
                </a:solidFill>
              </a:rPr>
              <a:t>visual inspection </a:t>
            </a:r>
            <a:r>
              <a:rPr lang="en-US" dirty="0"/>
              <a:t>can identify such physical problems. </a:t>
            </a:r>
            <a:endParaRPr lang="en-US" dirty="0" smtClean="0"/>
          </a:p>
          <a:p>
            <a:pPr marL="514350" indent="-514350">
              <a:buFont typeface="+mj-lt"/>
              <a:buAutoNum type="arabicParenR"/>
            </a:pPr>
            <a:r>
              <a:rPr lang="en-US" b="1" dirty="0" smtClean="0">
                <a:solidFill>
                  <a:srgbClr val="FF0000"/>
                </a:solidFill>
              </a:rPr>
              <a:t>A </a:t>
            </a:r>
            <a:r>
              <a:rPr lang="en-US" b="1" dirty="0">
                <a:solidFill>
                  <a:srgbClr val="FF0000"/>
                </a:solidFill>
              </a:rPr>
              <a:t>state-of-charge test </a:t>
            </a:r>
            <a:r>
              <a:rPr lang="en-US" dirty="0"/>
              <a:t>checks the electrolyte strength</a:t>
            </a:r>
            <a:r>
              <a:rPr lang="en-US" dirty="0" smtClean="0"/>
              <a:t>. (Specific Gravity</a:t>
            </a:r>
            <a:r>
              <a:rPr lang="en-GB" sz="2000" dirty="0"/>
              <a:t> </a:t>
            </a:r>
            <a:r>
              <a:rPr lang="en-GB" sz="2000" dirty="0" smtClean="0"/>
              <a:t>and </a:t>
            </a:r>
            <a:r>
              <a:rPr lang="en-US" dirty="0" smtClean="0"/>
              <a:t>Open </a:t>
            </a:r>
            <a:r>
              <a:rPr lang="en-US" dirty="0"/>
              <a:t>Circuit </a:t>
            </a:r>
            <a:r>
              <a:rPr lang="en-US" dirty="0" smtClean="0"/>
              <a:t>Voltage)</a:t>
            </a:r>
            <a:endParaRPr lang="en-GB" sz="2000" dirty="0"/>
          </a:p>
          <a:p>
            <a:pPr marL="514350" indent="-514350">
              <a:buFont typeface="+mj-lt"/>
              <a:buAutoNum type="arabicParenR"/>
            </a:pPr>
            <a:r>
              <a:rPr lang="en-US" b="1" dirty="0" smtClean="0">
                <a:solidFill>
                  <a:srgbClr val="FF0000"/>
                </a:solidFill>
              </a:rPr>
              <a:t>Electrical testing (</a:t>
            </a:r>
            <a:r>
              <a:rPr lang="en-US" b="1" dirty="0" smtClean="0"/>
              <a:t>Capacity </a:t>
            </a:r>
            <a:r>
              <a:rPr lang="en-US" b="1" dirty="0"/>
              <a:t>or Heavy Load </a:t>
            </a:r>
            <a:r>
              <a:rPr lang="en-US" b="1" dirty="0" smtClean="0"/>
              <a:t>Test)</a:t>
            </a:r>
            <a:r>
              <a:rPr lang="en-GB" b="1" dirty="0"/>
              <a:t> </a:t>
            </a:r>
            <a:r>
              <a:rPr lang="en-US" dirty="0" smtClean="0"/>
              <a:t>identifies </a:t>
            </a:r>
            <a:r>
              <a:rPr lang="en-US" dirty="0"/>
              <a:t>overcharging or undercharging problems. </a:t>
            </a:r>
            <a:endParaRPr lang="en-GB" dirty="0"/>
          </a:p>
        </p:txBody>
      </p:sp>
    </p:spTree>
    <p:extLst>
      <p:ext uri="{BB962C8B-B14F-4D97-AF65-F5344CB8AC3E}">
        <p14:creationId xmlns:p14="http://schemas.microsoft.com/office/powerpoint/2010/main" val="276000165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059678"/>
          </a:xfrm>
        </p:spPr>
        <p:txBody>
          <a:bodyPr/>
          <a:lstStyle/>
          <a:p>
            <a:pPr algn="ctr"/>
            <a:r>
              <a:rPr lang="en-US" b="1" dirty="0">
                <a:solidFill>
                  <a:srgbClr val="FF0000"/>
                </a:solidFill>
              </a:rPr>
              <a:t>SAFETY FIRST</a:t>
            </a:r>
            <a:r>
              <a:rPr lang="en-US" b="1" dirty="0" smtClean="0">
                <a:solidFill>
                  <a:srgbClr val="FF0000"/>
                </a:solidFill>
              </a:rPr>
              <a:t>!</a:t>
            </a:r>
            <a:endParaRPr lang="en-GB" dirty="0">
              <a:solidFill>
                <a:srgbClr val="FF0000"/>
              </a:solidFill>
            </a:endParaRPr>
          </a:p>
        </p:txBody>
      </p:sp>
      <p:sp>
        <p:nvSpPr>
          <p:cNvPr id="3" name="Content Placeholder 2"/>
          <p:cNvSpPr>
            <a:spLocks noGrp="1"/>
          </p:cNvSpPr>
          <p:nvPr>
            <p:ph idx="1"/>
          </p:nvPr>
        </p:nvSpPr>
        <p:spPr>
          <a:xfrm>
            <a:off x="0" y="1059678"/>
            <a:ext cx="12192000" cy="5798321"/>
          </a:xfrm>
        </p:spPr>
        <p:txBody>
          <a:bodyPr>
            <a:normAutofit/>
          </a:bodyPr>
          <a:lstStyle/>
          <a:p>
            <a:pPr>
              <a:buFont typeface="Wingdings" panose="05000000000000000000" pitchFamily="2" charset="2"/>
              <a:buChar char="Ø"/>
            </a:pPr>
            <a:r>
              <a:rPr lang="en-US" dirty="0" smtClean="0"/>
              <a:t>When </a:t>
            </a:r>
            <a:r>
              <a:rPr lang="en-US" dirty="0"/>
              <a:t>testing or servicing a battery, safety should be your first consideration. </a:t>
            </a:r>
            <a:endParaRPr lang="en-US" dirty="0" smtClean="0"/>
          </a:p>
          <a:p>
            <a:pPr>
              <a:buFont typeface="Wingdings" panose="05000000000000000000" pitchFamily="2" charset="2"/>
              <a:buChar char="Ø"/>
            </a:pPr>
            <a:r>
              <a:rPr lang="en-US" dirty="0" smtClean="0"/>
              <a:t>The </a:t>
            </a:r>
            <a:r>
              <a:rPr lang="en-US" dirty="0"/>
              <a:t>electrolyte contains sulfuric acid. It can eat your clothes. It can burn your skin. It can blind you if it gets in your eyes. It can    also ruin a car's finish or upholstery. </a:t>
            </a:r>
            <a:endParaRPr lang="en-US" dirty="0" smtClean="0"/>
          </a:p>
          <a:p>
            <a:pPr>
              <a:buFont typeface="Wingdings" panose="05000000000000000000" pitchFamily="2" charset="2"/>
              <a:buChar char="Ø"/>
            </a:pPr>
            <a:r>
              <a:rPr lang="en-US" dirty="0" smtClean="0"/>
              <a:t>If </a:t>
            </a:r>
            <a:r>
              <a:rPr lang="en-US" dirty="0"/>
              <a:t>electrolyte is splashed on your skin or in your eyes, wash it away immediately with large amounts of water. </a:t>
            </a:r>
            <a:endParaRPr lang="en-US" dirty="0" smtClean="0"/>
          </a:p>
          <a:p>
            <a:pPr>
              <a:buFont typeface="Wingdings" panose="05000000000000000000" pitchFamily="2" charset="2"/>
              <a:buChar char="Ø"/>
            </a:pPr>
            <a:r>
              <a:rPr lang="en-US" dirty="0" smtClean="0"/>
              <a:t>If </a:t>
            </a:r>
            <a:r>
              <a:rPr lang="en-US" dirty="0"/>
              <a:t>electrolyte is spilled on the car, wash it away with a solution of baking soda and </a:t>
            </a:r>
            <a:r>
              <a:rPr lang="en-US" dirty="0" smtClean="0"/>
              <a:t>water.</a:t>
            </a:r>
            <a:endParaRPr lang="en-GB" dirty="0"/>
          </a:p>
          <a:p>
            <a:pPr>
              <a:buFont typeface="Wingdings" panose="05000000000000000000" pitchFamily="2" charset="2"/>
              <a:buChar char="Ø"/>
            </a:pPr>
            <a:r>
              <a:rPr lang="en-US" dirty="0" smtClean="0"/>
              <a:t>When </a:t>
            </a:r>
            <a:r>
              <a:rPr lang="en-US" dirty="0"/>
              <a:t>a battery is being charged, either by the charging system or by a separate charger, gassing will occur. Hydrogen gas is explosive. Any flame or spark can ignite it. If the flame travels into the cells, the battery may explode</a:t>
            </a:r>
            <a:r>
              <a:rPr lang="en-US" dirty="0" smtClean="0"/>
              <a:t>.</a:t>
            </a:r>
            <a:r>
              <a:rPr lang="en-US" dirty="0"/>
              <a:t> </a:t>
            </a:r>
            <a:endParaRPr lang="en-GB" dirty="0"/>
          </a:p>
        </p:txBody>
      </p:sp>
    </p:spTree>
    <p:extLst>
      <p:ext uri="{BB962C8B-B14F-4D97-AF65-F5344CB8AC3E}">
        <p14:creationId xmlns:p14="http://schemas.microsoft.com/office/powerpoint/2010/main" val="3104182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911"/>
            <a:ext cx="12192000" cy="1034040"/>
          </a:xfrm>
        </p:spPr>
        <p:txBody>
          <a:bodyPr/>
          <a:lstStyle/>
          <a:p>
            <a:pPr algn="ctr"/>
            <a:r>
              <a:rPr lang="en-US" b="1" dirty="0">
                <a:solidFill>
                  <a:srgbClr val="FF0000"/>
                </a:solidFill>
              </a:rPr>
              <a:t>Safety precautions include:</a:t>
            </a:r>
            <a:endParaRPr lang="en-GB" dirty="0"/>
          </a:p>
        </p:txBody>
      </p:sp>
      <p:sp>
        <p:nvSpPr>
          <p:cNvPr id="3" name="Content Placeholder 2"/>
          <p:cNvSpPr>
            <a:spLocks noGrp="1"/>
          </p:cNvSpPr>
          <p:nvPr>
            <p:ph idx="1"/>
          </p:nvPr>
        </p:nvSpPr>
        <p:spPr>
          <a:xfrm>
            <a:off x="0" y="957128"/>
            <a:ext cx="12192000" cy="5900871"/>
          </a:xfrm>
        </p:spPr>
        <p:txBody>
          <a:bodyPr>
            <a:normAutofit/>
          </a:bodyPr>
          <a:lstStyle/>
          <a:p>
            <a:pPr marL="0" indent="0">
              <a:buNone/>
            </a:pPr>
            <a:r>
              <a:rPr lang="en-US" b="1" dirty="0">
                <a:solidFill>
                  <a:srgbClr val="FF0000"/>
                </a:solidFill>
              </a:rPr>
              <a:t>Safety precautions include:</a:t>
            </a:r>
            <a:endParaRPr lang="en-GB" b="1" dirty="0">
              <a:solidFill>
                <a:srgbClr val="FF0000"/>
              </a:solidFill>
            </a:endParaRPr>
          </a:p>
          <a:p>
            <a:pPr marL="514350" lvl="0" indent="-514350">
              <a:buFont typeface="+mj-lt"/>
              <a:buAutoNum type="arabicParenR"/>
            </a:pPr>
            <a:r>
              <a:rPr lang="en-US" dirty="0"/>
              <a:t>Wear gloves and safety glasses.</a:t>
            </a:r>
            <a:endParaRPr lang="en-GB" dirty="0"/>
          </a:p>
          <a:p>
            <a:pPr marL="514350" lvl="0" indent="-514350">
              <a:buFont typeface="+mj-lt"/>
              <a:buAutoNum type="arabicParenR"/>
            </a:pPr>
            <a:r>
              <a:rPr lang="en-US" dirty="0"/>
              <a:t>Remove rings, watches, other jewelry.</a:t>
            </a:r>
            <a:endParaRPr lang="en-GB" dirty="0"/>
          </a:p>
          <a:p>
            <a:pPr marL="514350" lvl="0" indent="-514350">
              <a:buFont typeface="+mj-lt"/>
              <a:buAutoNum type="arabicParenR"/>
            </a:pPr>
            <a:r>
              <a:rPr lang="en-US" dirty="0"/>
              <a:t>Never use spark-producing tools near a battery.</a:t>
            </a:r>
            <a:endParaRPr lang="en-GB" dirty="0"/>
          </a:p>
          <a:p>
            <a:pPr marL="514350" lvl="0" indent="-514350">
              <a:buFont typeface="+mj-lt"/>
              <a:buAutoNum type="arabicParenR"/>
            </a:pPr>
            <a:r>
              <a:rPr lang="en-US" dirty="0"/>
              <a:t>Never lay tools on the battery</a:t>
            </a:r>
            <a:r>
              <a:rPr lang="en-US" dirty="0" smtClean="0"/>
              <a:t>.</a:t>
            </a:r>
          </a:p>
          <a:p>
            <a:pPr marL="514350" lvl="0" indent="-514350">
              <a:buAutoNum type="arabicParenR" startAt="5"/>
            </a:pPr>
            <a:r>
              <a:rPr lang="en-US" dirty="0"/>
              <a:t>When removing cables, always remove the ground cable first.</a:t>
            </a:r>
            <a:endParaRPr lang="en-GB" dirty="0"/>
          </a:p>
          <a:p>
            <a:pPr marL="514350" lvl="0" indent="-514350">
              <a:buAutoNum type="arabicParenR" startAt="5"/>
            </a:pPr>
            <a:r>
              <a:rPr lang="en-US" dirty="0"/>
              <a:t>When connecting cables, always connect the ground cable last.</a:t>
            </a:r>
            <a:endParaRPr lang="en-GB" dirty="0"/>
          </a:p>
          <a:p>
            <a:pPr marL="514350" lvl="0" indent="-514350">
              <a:buAutoNum type="arabicParenR" startAt="5"/>
            </a:pPr>
            <a:r>
              <a:rPr lang="en-US" dirty="0"/>
              <a:t>Do not use the battery ground terminal when checking for ignition spark.</a:t>
            </a:r>
            <a:endParaRPr lang="en-GB" dirty="0"/>
          </a:p>
          <a:p>
            <a:pPr marL="514350" lvl="0" indent="-514350">
              <a:buAutoNum type="arabicParenR" startAt="5"/>
            </a:pPr>
            <a:r>
              <a:rPr lang="en-US" dirty="0" smtClean="0"/>
              <a:t>If </a:t>
            </a:r>
            <a:r>
              <a:rPr lang="en-US" dirty="0"/>
              <a:t>you have to mix battery electrolyte, pour the acid into the water - not the water into the acid.</a:t>
            </a:r>
            <a:endParaRPr lang="en-GB" dirty="0"/>
          </a:p>
          <a:p>
            <a:pPr marL="514350" lvl="0" indent="-514350">
              <a:buAutoNum type="arabicParenR" startAt="5"/>
            </a:pPr>
            <a:r>
              <a:rPr lang="en-US" dirty="0"/>
              <a:t>Always follow the recommended procedures for battery testing and charging and for jump starting an engine.</a:t>
            </a:r>
            <a:endParaRPr lang="en-GB" dirty="0"/>
          </a:p>
        </p:txBody>
      </p:sp>
    </p:spTree>
    <p:extLst>
      <p:ext uri="{BB962C8B-B14F-4D97-AF65-F5344CB8AC3E}">
        <p14:creationId xmlns:p14="http://schemas.microsoft.com/office/powerpoint/2010/main" val="27135412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880216"/>
          </a:xfrm>
        </p:spPr>
        <p:txBody>
          <a:bodyPr/>
          <a:lstStyle/>
          <a:p>
            <a:pPr algn="ctr"/>
            <a:r>
              <a:rPr lang="en-US" b="1" dirty="0">
                <a:solidFill>
                  <a:srgbClr val="FF0000"/>
                </a:solidFill>
              </a:rPr>
              <a:t>CARE OF </a:t>
            </a:r>
            <a:r>
              <a:rPr lang="en-US" b="1" dirty="0" smtClean="0">
                <a:solidFill>
                  <a:srgbClr val="FF0000"/>
                </a:solidFill>
              </a:rPr>
              <a:t>ELECTRONICS</a:t>
            </a:r>
            <a:endParaRPr lang="en-GB" dirty="0">
              <a:solidFill>
                <a:srgbClr val="FF0000"/>
              </a:solidFill>
            </a:endParaRPr>
          </a:p>
        </p:txBody>
      </p:sp>
      <p:sp>
        <p:nvSpPr>
          <p:cNvPr id="3" name="Content Placeholder 2"/>
          <p:cNvSpPr>
            <a:spLocks noGrp="1"/>
          </p:cNvSpPr>
          <p:nvPr>
            <p:ph idx="1"/>
          </p:nvPr>
        </p:nvSpPr>
        <p:spPr>
          <a:xfrm>
            <a:off x="0" y="1153682"/>
            <a:ext cx="12192000" cy="5704318"/>
          </a:xfrm>
        </p:spPr>
        <p:txBody>
          <a:bodyPr>
            <a:normAutofit/>
          </a:bodyPr>
          <a:lstStyle/>
          <a:p>
            <a:pPr>
              <a:buFont typeface="Wingdings" panose="05000000000000000000" pitchFamily="2" charset="2"/>
              <a:buChar char="Ø"/>
            </a:pPr>
            <a:r>
              <a:rPr lang="en-US" sz="3200" dirty="0" smtClean="0"/>
              <a:t>Disconnecting </a:t>
            </a:r>
            <a:r>
              <a:rPr lang="en-US" sz="3200" dirty="0"/>
              <a:t>the battery will erase the memory on electronic devices. Write down trouble codes </a:t>
            </a:r>
            <a:r>
              <a:rPr lang="en-US" sz="3200" dirty="0" smtClean="0"/>
              <a:t>and</a:t>
            </a:r>
            <a:r>
              <a:rPr lang="en-US" sz="3200" dirty="0"/>
              <a:t> </a:t>
            </a:r>
            <a:r>
              <a:rPr lang="en-US" sz="3200" dirty="0" smtClean="0"/>
              <a:t>programmed </a:t>
            </a:r>
            <a:r>
              <a:rPr lang="en-US" sz="3200" dirty="0"/>
              <a:t>settings before disconnecting the </a:t>
            </a:r>
            <a:r>
              <a:rPr lang="en-US" sz="3200" dirty="0" smtClean="0"/>
              <a:t>battery.</a:t>
            </a:r>
            <a:endParaRPr lang="en-GB" sz="3200" dirty="0"/>
          </a:p>
          <a:p>
            <a:pPr>
              <a:buFont typeface="Wingdings" panose="05000000000000000000" pitchFamily="2" charset="2"/>
              <a:buChar char="Ø"/>
            </a:pPr>
            <a:r>
              <a:rPr lang="en-US" sz="3200" dirty="0" smtClean="0">
                <a:solidFill>
                  <a:srgbClr val="FF0000"/>
                </a:solidFill>
              </a:rPr>
              <a:t>Also</a:t>
            </a:r>
            <a:r>
              <a:rPr lang="en-US" sz="3200" dirty="0">
                <a:solidFill>
                  <a:srgbClr val="FF0000"/>
                </a:solidFill>
              </a:rPr>
              <a:t>, to prevent damage to electronic components</a:t>
            </a:r>
            <a:r>
              <a:rPr lang="en-US" sz="3200" dirty="0" smtClean="0">
                <a:solidFill>
                  <a:srgbClr val="FF0000"/>
                </a:solidFill>
              </a:rPr>
              <a:t>:</a:t>
            </a:r>
            <a:r>
              <a:rPr lang="en-US" sz="3200" dirty="0">
                <a:solidFill>
                  <a:srgbClr val="FF0000"/>
                </a:solidFill>
              </a:rPr>
              <a:t> </a:t>
            </a:r>
            <a:endParaRPr lang="en-GB" sz="3200" dirty="0">
              <a:solidFill>
                <a:srgbClr val="FF0000"/>
              </a:solidFill>
            </a:endParaRPr>
          </a:p>
          <a:p>
            <a:pPr marL="514350" lvl="0" indent="-514350">
              <a:buFont typeface="+mj-lt"/>
              <a:buAutoNum type="arabicParenR"/>
            </a:pPr>
            <a:r>
              <a:rPr lang="en-US" sz="3200" dirty="0"/>
              <a:t>Never disconnect the battery with the ignition ON</a:t>
            </a:r>
            <a:r>
              <a:rPr lang="en-US" sz="3200" dirty="0" smtClean="0"/>
              <a:t>.</a:t>
            </a:r>
            <a:r>
              <a:rPr lang="en-US" sz="3200" dirty="0"/>
              <a:t> </a:t>
            </a:r>
            <a:endParaRPr lang="en-GB" sz="3200" dirty="0"/>
          </a:p>
          <a:p>
            <a:pPr marL="514350" lvl="0" indent="-514350">
              <a:buFont typeface="+mj-lt"/>
              <a:buAutoNum type="arabicParenR"/>
            </a:pPr>
            <a:r>
              <a:rPr lang="en-US" sz="3200" dirty="0" smtClean="0"/>
              <a:t>Never </a:t>
            </a:r>
            <a:r>
              <a:rPr lang="en-US" sz="3200" dirty="0"/>
              <a:t>use an electric welder without the battery cables </a:t>
            </a:r>
            <a:r>
              <a:rPr lang="en-US" sz="3200" dirty="0" smtClean="0"/>
              <a:t>disconnected.</a:t>
            </a:r>
            <a:endParaRPr lang="en-GB" sz="3200" dirty="0"/>
          </a:p>
          <a:p>
            <a:pPr marL="514350" lvl="0" indent="-514350">
              <a:buFont typeface="+mj-lt"/>
              <a:buAutoNum type="arabicParenR"/>
            </a:pPr>
            <a:r>
              <a:rPr lang="en-US" sz="3200" dirty="0" smtClean="0"/>
              <a:t>Never </a:t>
            </a:r>
            <a:r>
              <a:rPr lang="en-US" sz="3200" dirty="0"/>
              <a:t>reverse battery polarity.</a:t>
            </a:r>
            <a:endParaRPr lang="en-GB" sz="3200" dirty="0"/>
          </a:p>
          <a:p>
            <a:pPr marL="0" indent="0">
              <a:buNone/>
            </a:pPr>
            <a:r>
              <a:rPr lang="en-US" dirty="0"/>
              <a:t/>
            </a:r>
            <a:br>
              <a:rPr lang="en-US" dirty="0"/>
            </a:br>
            <a:endParaRPr lang="en-GB" dirty="0"/>
          </a:p>
        </p:txBody>
      </p:sp>
    </p:spTree>
    <p:extLst>
      <p:ext uri="{BB962C8B-B14F-4D97-AF65-F5344CB8AC3E}">
        <p14:creationId xmlns:p14="http://schemas.microsoft.com/office/powerpoint/2010/main" val="22409357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
            <a:ext cx="12192001" cy="897307"/>
          </a:xfrm>
        </p:spPr>
        <p:txBody>
          <a:bodyPr/>
          <a:lstStyle/>
          <a:p>
            <a:pPr algn="ctr"/>
            <a:r>
              <a:rPr lang="en-US" b="1" dirty="0">
                <a:solidFill>
                  <a:srgbClr val="FF0000"/>
                </a:solidFill>
              </a:rPr>
              <a:t>VISUAL INSPECTION</a:t>
            </a:r>
            <a:endParaRPr lang="en-GB" b="1" dirty="0">
              <a:solidFill>
                <a:srgbClr val="FF0000"/>
              </a:solidFill>
            </a:endParaRPr>
          </a:p>
        </p:txBody>
      </p:sp>
      <p:sp>
        <p:nvSpPr>
          <p:cNvPr id="3" name="Content Placeholder 2"/>
          <p:cNvSpPr>
            <a:spLocks noGrp="1"/>
          </p:cNvSpPr>
          <p:nvPr>
            <p:ph idx="1"/>
          </p:nvPr>
        </p:nvSpPr>
        <p:spPr>
          <a:xfrm>
            <a:off x="-1" y="897307"/>
            <a:ext cx="12192001" cy="6024785"/>
          </a:xfrm>
        </p:spPr>
        <p:txBody>
          <a:bodyPr>
            <a:normAutofit lnSpcReduction="10000"/>
          </a:bodyPr>
          <a:lstStyle/>
          <a:p>
            <a:pPr>
              <a:buFont typeface="Wingdings" panose="05000000000000000000" pitchFamily="2" charset="2"/>
              <a:buChar char="Ø"/>
            </a:pPr>
            <a:r>
              <a:rPr lang="en-US" sz="3200" dirty="0" smtClean="0"/>
              <a:t>Battery </a:t>
            </a:r>
            <a:r>
              <a:rPr lang="en-US" sz="3200" dirty="0"/>
              <a:t>service should begin with a thorough visual inspection. </a:t>
            </a:r>
            <a:endParaRPr lang="en-US" sz="3200" dirty="0" smtClean="0"/>
          </a:p>
          <a:p>
            <a:pPr>
              <a:buFont typeface="Wingdings" panose="05000000000000000000" pitchFamily="2" charset="2"/>
              <a:buChar char="Ø"/>
            </a:pPr>
            <a:r>
              <a:rPr lang="en-US" sz="3200" dirty="0" smtClean="0"/>
              <a:t>This </a:t>
            </a:r>
            <a:r>
              <a:rPr lang="en-US" sz="3200" dirty="0"/>
              <a:t>may reveal simple, easily corrected problems, or problems that might require battery replacement.</a:t>
            </a:r>
            <a:endParaRPr lang="en-GB" sz="3200" dirty="0"/>
          </a:p>
          <a:p>
            <a:pPr marL="514350" indent="-514350">
              <a:buAutoNum type="arabicPeriod"/>
            </a:pPr>
            <a:r>
              <a:rPr lang="en-US" sz="3200" dirty="0" smtClean="0"/>
              <a:t>Check </a:t>
            </a:r>
            <a:r>
              <a:rPr lang="en-US" sz="3200" dirty="0"/>
              <a:t>for cracks in the battery case and for broken terminals. Either may allow electrolyte leakage. The battery must be </a:t>
            </a:r>
            <a:r>
              <a:rPr lang="en-US" sz="3200" dirty="0" smtClean="0"/>
              <a:t>replaced.</a:t>
            </a:r>
            <a:endParaRPr lang="en-GB" sz="3200" dirty="0"/>
          </a:p>
          <a:p>
            <a:pPr marL="514350" indent="-514350">
              <a:buAutoNum type="arabicPeriod"/>
            </a:pPr>
            <a:r>
              <a:rPr lang="en-US" sz="3200" dirty="0" smtClean="0"/>
              <a:t>Check </a:t>
            </a:r>
            <a:r>
              <a:rPr lang="en-US" sz="3200" dirty="0"/>
              <a:t>for cracked or broken cables or connections. Replace, as </a:t>
            </a:r>
            <a:r>
              <a:rPr lang="en-US" sz="3200" dirty="0" smtClean="0"/>
              <a:t>needed.</a:t>
            </a:r>
            <a:endParaRPr lang="en-GB" sz="3200" dirty="0"/>
          </a:p>
          <a:p>
            <a:pPr marL="514350" indent="-514350">
              <a:buAutoNum type="arabicPeriod"/>
            </a:pPr>
            <a:r>
              <a:rPr lang="en-US" sz="3200" dirty="0" smtClean="0"/>
              <a:t>Check </a:t>
            </a:r>
            <a:r>
              <a:rPr lang="en-US" sz="3200" dirty="0"/>
              <a:t>for corrosion on terminals and dirt or acid  on the case top. Clean the terminals and case top with a mixture of water and baking soda or ammonia. A wire brush is needed for heavy corrosion on the </a:t>
            </a:r>
            <a:r>
              <a:rPr lang="en-US" sz="3200" dirty="0" smtClean="0"/>
              <a:t>terminals.</a:t>
            </a:r>
            <a:endParaRPr lang="en-GB" sz="3200" dirty="0"/>
          </a:p>
          <a:p>
            <a:pPr marL="514350" indent="-514350">
              <a:buAutoNum type="arabicPeriod"/>
            </a:pPr>
            <a:r>
              <a:rPr lang="en-US" sz="3200" dirty="0" smtClean="0"/>
              <a:t>Check </a:t>
            </a:r>
            <a:r>
              <a:rPr lang="en-US" sz="3200" dirty="0"/>
              <a:t>for a loose battery hold-down and loose cable connections. Tighten, as needed.</a:t>
            </a:r>
            <a:endParaRPr lang="en-GB" sz="3200" dirty="0"/>
          </a:p>
          <a:p>
            <a:endParaRPr lang="en-GB" dirty="0"/>
          </a:p>
        </p:txBody>
      </p:sp>
    </p:spTree>
    <p:extLst>
      <p:ext uri="{BB962C8B-B14F-4D97-AF65-F5344CB8AC3E}">
        <p14:creationId xmlns:p14="http://schemas.microsoft.com/office/powerpoint/2010/main" val="6512020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550" y="1"/>
            <a:ext cx="12089450" cy="1008403"/>
          </a:xfrm>
        </p:spPr>
        <p:txBody>
          <a:bodyPr/>
          <a:lstStyle/>
          <a:p>
            <a:pPr algn="ctr"/>
            <a:r>
              <a:rPr lang="en-US" b="1" dirty="0">
                <a:solidFill>
                  <a:srgbClr val="FF0000"/>
                </a:solidFill>
              </a:rPr>
              <a:t>VISUAL </a:t>
            </a:r>
            <a:r>
              <a:rPr lang="en-US" b="1" dirty="0" smtClean="0">
                <a:solidFill>
                  <a:srgbClr val="FF0000"/>
                </a:solidFill>
              </a:rPr>
              <a:t>INSPECTION……..</a:t>
            </a:r>
            <a:endParaRPr lang="en-GB" dirty="0"/>
          </a:p>
        </p:txBody>
      </p:sp>
      <p:sp>
        <p:nvSpPr>
          <p:cNvPr id="3" name="Content Placeholder 2"/>
          <p:cNvSpPr>
            <a:spLocks noGrp="1"/>
          </p:cNvSpPr>
          <p:nvPr>
            <p:ph idx="1"/>
          </p:nvPr>
        </p:nvSpPr>
        <p:spPr>
          <a:xfrm>
            <a:off x="0" y="1179320"/>
            <a:ext cx="12041024" cy="5435125"/>
          </a:xfrm>
        </p:spPr>
        <p:txBody>
          <a:bodyPr>
            <a:normAutofit/>
          </a:bodyPr>
          <a:lstStyle/>
          <a:p>
            <a:pPr marL="514350" lvl="0" indent="-514350">
              <a:buAutoNum type="arabicPeriod" startAt="5"/>
            </a:pPr>
            <a:r>
              <a:rPr lang="en-US" dirty="0" smtClean="0"/>
              <a:t>Check </a:t>
            </a:r>
            <a:r>
              <a:rPr lang="en-US" dirty="0"/>
              <a:t>the level of electrolyte. The level can be viewed through the translucent plastic case or by removing the vent caps and looking directly into each cell. The proper level is 1/2" above the separators. If necessary, add distilled water to each low cell. Avoid overfilling. When water is added, always charge the battery to make sure the water and acid </a:t>
            </a:r>
            <a:r>
              <a:rPr lang="en-US" dirty="0" smtClean="0"/>
              <a:t>mix.</a:t>
            </a:r>
            <a:endParaRPr lang="en-GB" dirty="0"/>
          </a:p>
          <a:p>
            <a:pPr marL="514350" lvl="0" indent="-514350">
              <a:buAutoNum type="arabicPeriod" startAt="5"/>
            </a:pPr>
            <a:r>
              <a:rPr lang="en-US" dirty="0" smtClean="0"/>
              <a:t>Check </a:t>
            </a:r>
            <a:r>
              <a:rPr lang="en-US" dirty="0"/>
              <a:t>for cloudy or discolored electrolyte caused  by overcharging or vibration. This could cause high self discharge. The problem should be corrected and the battery </a:t>
            </a:r>
            <a:r>
              <a:rPr lang="en-US" dirty="0" smtClean="0"/>
              <a:t>replaced.</a:t>
            </a:r>
            <a:endParaRPr lang="en-GB" dirty="0"/>
          </a:p>
          <a:p>
            <a:pPr marL="514350" lvl="0" indent="-514350">
              <a:buAutoNum type="arabicPeriod" startAt="5"/>
            </a:pPr>
            <a:r>
              <a:rPr lang="en-US" dirty="0" smtClean="0"/>
              <a:t>Check </a:t>
            </a:r>
            <a:r>
              <a:rPr lang="en-US" dirty="0"/>
              <a:t>the condition of plates and separators. Plates should alternate dark (+) and light (-). If all are light, severe undercharging is indicated. Cracked separators may allow shorts. The battery should be replaced. An undercharging problem </a:t>
            </a:r>
            <a:endParaRPr lang="en-GB" dirty="0"/>
          </a:p>
        </p:txBody>
      </p:sp>
    </p:spTree>
    <p:extLst>
      <p:ext uri="{BB962C8B-B14F-4D97-AF65-F5344CB8AC3E}">
        <p14:creationId xmlns:p14="http://schemas.microsoft.com/office/powerpoint/2010/main" val="19028655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004" y="-94003"/>
            <a:ext cx="12097996" cy="982766"/>
          </a:xfrm>
        </p:spPr>
        <p:txBody>
          <a:bodyPr/>
          <a:lstStyle/>
          <a:p>
            <a:pPr algn="ctr"/>
            <a:r>
              <a:rPr lang="en-US" b="1" dirty="0">
                <a:solidFill>
                  <a:srgbClr val="FF0000"/>
                </a:solidFill>
              </a:rPr>
              <a:t>VISUAL INSPECTION……..</a:t>
            </a:r>
            <a:endParaRPr lang="en-GB" dirty="0"/>
          </a:p>
        </p:txBody>
      </p:sp>
      <p:sp>
        <p:nvSpPr>
          <p:cNvPr id="3" name="Content Placeholder 2"/>
          <p:cNvSpPr>
            <a:spLocks noGrp="1"/>
          </p:cNvSpPr>
          <p:nvPr>
            <p:ph idx="1"/>
          </p:nvPr>
        </p:nvSpPr>
        <p:spPr>
          <a:xfrm>
            <a:off x="94004" y="1051133"/>
            <a:ext cx="11861562" cy="5597495"/>
          </a:xfrm>
        </p:spPr>
        <p:txBody>
          <a:bodyPr>
            <a:normAutofit fontScale="92500" lnSpcReduction="10000"/>
          </a:bodyPr>
          <a:lstStyle/>
          <a:p>
            <a:pPr marL="514350" lvl="0" indent="-514350">
              <a:buAutoNum type="arabicPeriod" startAt="8"/>
            </a:pPr>
            <a:r>
              <a:rPr lang="en-US" dirty="0" smtClean="0"/>
              <a:t>check </a:t>
            </a:r>
            <a:r>
              <a:rPr lang="en-US" dirty="0"/>
              <a:t>the tension and condition of the alternator drive belt. A loose belt must be tightened. It will prevent proper charging. A belt too tight will reduce alternator life. It should be loosened to specs. A frayed or glazed belt will fail during operation. Replace it</a:t>
            </a:r>
            <a:r>
              <a:rPr lang="en-US" dirty="0" smtClean="0"/>
              <a:t>.</a:t>
            </a:r>
            <a:r>
              <a:rPr lang="en-US" dirty="0"/>
              <a:t> </a:t>
            </a:r>
            <a:r>
              <a:rPr lang="en-GB" dirty="0"/>
              <a:t> </a:t>
            </a:r>
            <a:r>
              <a:rPr lang="en-GB" dirty="0" smtClean="0"/>
              <a:t> </a:t>
            </a:r>
            <a:r>
              <a:rPr lang="en-US" dirty="0" smtClean="0"/>
              <a:t>NOTE</a:t>
            </a:r>
            <a:r>
              <a:rPr lang="en-US" dirty="0"/>
              <a:t>: Approved Equipment tension gauge: </a:t>
            </a:r>
            <a:r>
              <a:rPr lang="en-US" dirty="0" err="1"/>
              <a:t>Nippondenso</a:t>
            </a:r>
            <a:r>
              <a:rPr lang="en-US" dirty="0"/>
              <a:t>, BTG-20 (SST) </a:t>
            </a:r>
            <a:r>
              <a:rPr lang="en-US" dirty="0" err="1"/>
              <a:t>Borroughs</a:t>
            </a:r>
            <a:r>
              <a:rPr lang="en-US" dirty="0"/>
              <a:t> </a:t>
            </a:r>
            <a:r>
              <a:rPr lang="en-US" dirty="0" smtClean="0"/>
              <a:t>BT-33-73F</a:t>
            </a:r>
            <a:endParaRPr lang="en-GB" dirty="0"/>
          </a:p>
          <a:p>
            <a:pPr marL="514350" lvl="0" indent="-514350">
              <a:buAutoNum type="arabicPeriod" startAt="8"/>
            </a:pPr>
            <a:r>
              <a:rPr lang="en-US" dirty="0" smtClean="0"/>
              <a:t>Check </a:t>
            </a:r>
            <a:r>
              <a:rPr lang="en-US" dirty="0"/>
              <a:t>for </a:t>
            </a:r>
            <a:r>
              <a:rPr lang="en-US" b="1" dirty="0"/>
              <a:t>battery drain </a:t>
            </a:r>
            <a:r>
              <a:rPr lang="en-US" dirty="0"/>
              <a:t>or </a:t>
            </a:r>
            <a:r>
              <a:rPr lang="en-US" b="1" dirty="0"/>
              <a:t>parasitic loads </a:t>
            </a:r>
            <a:r>
              <a:rPr lang="en-US" dirty="0"/>
              <a:t>using an ammeter. Connect the ammeter in series between the battery negative terminal and ground cable connector. Toyota vehicles typically show less than .020 amp of current to maintain electronic memories ... a reading of more </a:t>
            </a:r>
            <a:r>
              <a:rPr lang="en-US" dirty="0" smtClean="0"/>
              <a:t>than</a:t>
            </a:r>
            <a:r>
              <a:rPr lang="en-GB" dirty="0"/>
              <a:t> </a:t>
            </a:r>
            <a:r>
              <a:rPr lang="en-US" dirty="0" smtClean="0"/>
              <a:t>035 </a:t>
            </a:r>
            <a:r>
              <a:rPr lang="en-US" dirty="0"/>
              <a:t>amp is unacceptable. If the ammeter reads more than .035 amp, locate and correct the cause of excessive battery </a:t>
            </a:r>
            <a:r>
              <a:rPr lang="en-US" dirty="0" smtClean="0"/>
              <a:t>drain.</a:t>
            </a:r>
            <a:endParaRPr lang="en-GB" dirty="0"/>
          </a:p>
          <a:p>
            <a:pPr marL="514350" lvl="0" indent="-514350">
              <a:buAutoNum type="arabicPeriod" startAt="8"/>
            </a:pPr>
            <a:r>
              <a:rPr lang="en-US" dirty="0" smtClean="0"/>
              <a:t>Check </a:t>
            </a:r>
            <a:r>
              <a:rPr lang="en-US" dirty="0"/>
              <a:t>for battery discharge across the top of the battery using a voltmeter. Select the low voltage scale on the meter, connect the negative (black) test lead to the battery's negative post, and connect the positive (red) test lead to the top of the battery case. If the meter reading is more  than 0.5 volt, clean the case top using a solution of baking soda and water.</a:t>
            </a:r>
            <a:endParaRPr lang="en-GB" dirty="0"/>
          </a:p>
          <a:p>
            <a:endParaRPr lang="en-GB" dirty="0"/>
          </a:p>
        </p:txBody>
      </p:sp>
    </p:spTree>
    <p:extLst>
      <p:ext uri="{BB962C8B-B14F-4D97-AF65-F5344CB8AC3E}">
        <p14:creationId xmlns:p14="http://schemas.microsoft.com/office/powerpoint/2010/main" val="67900211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821" y="1"/>
            <a:ext cx="12049570" cy="1016949"/>
          </a:xfrm>
        </p:spPr>
        <p:txBody>
          <a:bodyPr/>
          <a:lstStyle/>
          <a:p>
            <a:pPr algn="ctr"/>
            <a:r>
              <a:rPr lang="en-US" b="1" dirty="0">
                <a:solidFill>
                  <a:srgbClr val="FF0000"/>
                </a:solidFill>
              </a:rPr>
              <a:t>VISUAL INSPECTION……..</a:t>
            </a:r>
            <a:endParaRPr lang="en-GB" dirty="0"/>
          </a:p>
        </p:txBody>
      </p:sp>
      <p:pic>
        <p:nvPicPr>
          <p:cNvPr id="4" name="image9.png"/>
          <p:cNvPicPr>
            <a:picLocks noGrp="1"/>
          </p:cNvPicPr>
          <p:nvPr>
            <p:ph idx="1"/>
          </p:nvPr>
        </p:nvPicPr>
        <p:blipFill>
          <a:blip r:embed="rId2" cstate="print"/>
          <a:stretch>
            <a:fillRect/>
          </a:stretch>
        </p:blipFill>
        <p:spPr>
          <a:xfrm>
            <a:off x="59821" y="1093863"/>
            <a:ext cx="7682669" cy="5409488"/>
          </a:xfrm>
          <a:prstGeom prst="rect">
            <a:avLst/>
          </a:prstGeom>
        </p:spPr>
      </p:pic>
      <p:grpSp>
        <p:nvGrpSpPr>
          <p:cNvPr id="3" name="Group 2"/>
          <p:cNvGrpSpPr>
            <a:grpSpLocks/>
          </p:cNvGrpSpPr>
          <p:nvPr/>
        </p:nvGrpSpPr>
        <p:grpSpPr bwMode="auto">
          <a:xfrm>
            <a:off x="7834461" y="3614990"/>
            <a:ext cx="3822700" cy="2755900"/>
            <a:chOff x="3110" y="382"/>
            <a:chExt cx="6020" cy="434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0" y="391"/>
              <a:ext cx="6000"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4"/>
            <p:cNvSpPr>
              <a:spLocks/>
            </p:cNvSpPr>
            <p:nvPr/>
          </p:nvSpPr>
          <p:spPr bwMode="auto">
            <a:xfrm>
              <a:off x="3110" y="382"/>
              <a:ext cx="6020" cy="4340"/>
            </a:xfrm>
            <a:custGeom>
              <a:avLst/>
              <a:gdLst>
                <a:gd name="T0" fmla="+- 0 9130 3110"/>
                <a:gd name="T1" fmla="*/ T0 w 6020"/>
                <a:gd name="T2" fmla="+- 0 392 382"/>
                <a:gd name="T3" fmla="*/ 392 h 4340"/>
                <a:gd name="T4" fmla="+- 0 9120 3110"/>
                <a:gd name="T5" fmla="*/ T4 w 6020"/>
                <a:gd name="T6" fmla="+- 0 392 382"/>
                <a:gd name="T7" fmla="*/ 392 h 4340"/>
                <a:gd name="T8" fmla="+- 0 9120 3110"/>
                <a:gd name="T9" fmla="*/ T8 w 6020"/>
                <a:gd name="T10" fmla="+- 0 4712 382"/>
                <a:gd name="T11" fmla="*/ 4712 h 4340"/>
                <a:gd name="T12" fmla="+- 0 3120 3110"/>
                <a:gd name="T13" fmla="*/ T12 w 6020"/>
                <a:gd name="T14" fmla="+- 0 4712 382"/>
                <a:gd name="T15" fmla="*/ 4712 h 4340"/>
                <a:gd name="T16" fmla="+- 0 3120 3110"/>
                <a:gd name="T17" fmla="*/ T16 w 6020"/>
                <a:gd name="T18" fmla="+- 0 392 382"/>
                <a:gd name="T19" fmla="*/ 392 h 4340"/>
                <a:gd name="T20" fmla="+- 0 3110 3110"/>
                <a:gd name="T21" fmla="*/ T20 w 6020"/>
                <a:gd name="T22" fmla="+- 0 392 382"/>
                <a:gd name="T23" fmla="*/ 392 h 4340"/>
                <a:gd name="T24" fmla="+- 0 3110 3110"/>
                <a:gd name="T25" fmla="*/ T24 w 6020"/>
                <a:gd name="T26" fmla="+- 0 4712 382"/>
                <a:gd name="T27" fmla="*/ 4712 h 4340"/>
                <a:gd name="T28" fmla="+- 0 3110 3110"/>
                <a:gd name="T29" fmla="*/ T28 w 6020"/>
                <a:gd name="T30" fmla="+- 0 4721 382"/>
                <a:gd name="T31" fmla="*/ 4721 h 4340"/>
                <a:gd name="T32" fmla="+- 0 9130 3110"/>
                <a:gd name="T33" fmla="*/ T32 w 6020"/>
                <a:gd name="T34" fmla="+- 0 4721 382"/>
                <a:gd name="T35" fmla="*/ 4721 h 4340"/>
                <a:gd name="T36" fmla="+- 0 9130 3110"/>
                <a:gd name="T37" fmla="*/ T36 w 6020"/>
                <a:gd name="T38" fmla="+- 0 4712 382"/>
                <a:gd name="T39" fmla="*/ 4712 h 4340"/>
                <a:gd name="T40" fmla="+- 0 9130 3110"/>
                <a:gd name="T41" fmla="*/ T40 w 6020"/>
                <a:gd name="T42" fmla="+- 0 392 382"/>
                <a:gd name="T43" fmla="*/ 392 h 4340"/>
                <a:gd name="T44" fmla="+- 0 9130 3110"/>
                <a:gd name="T45" fmla="*/ T44 w 6020"/>
                <a:gd name="T46" fmla="+- 0 382 382"/>
                <a:gd name="T47" fmla="*/ 382 h 4340"/>
                <a:gd name="T48" fmla="+- 0 3110 3110"/>
                <a:gd name="T49" fmla="*/ T48 w 6020"/>
                <a:gd name="T50" fmla="+- 0 382 382"/>
                <a:gd name="T51" fmla="*/ 382 h 4340"/>
                <a:gd name="T52" fmla="+- 0 3110 3110"/>
                <a:gd name="T53" fmla="*/ T52 w 6020"/>
                <a:gd name="T54" fmla="+- 0 392 382"/>
                <a:gd name="T55" fmla="*/ 392 h 4340"/>
                <a:gd name="T56" fmla="+- 0 9130 3110"/>
                <a:gd name="T57" fmla="*/ T56 w 6020"/>
                <a:gd name="T58" fmla="+- 0 392 382"/>
                <a:gd name="T59" fmla="*/ 392 h 4340"/>
                <a:gd name="T60" fmla="+- 0 9130 3110"/>
                <a:gd name="T61" fmla="*/ T60 w 6020"/>
                <a:gd name="T62" fmla="+- 0 382 382"/>
                <a:gd name="T63" fmla="*/ 382 h 434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6020" h="4340">
                  <a:moveTo>
                    <a:pt x="6020" y="10"/>
                  </a:moveTo>
                  <a:lnTo>
                    <a:pt x="6010" y="10"/>
                  </a:lnTo>
                  <a:lnTo>
                    <a:pt x="6010" y="4330"/>
                  </a:lnTo>
                  <a:lnTo>
                    <a:pt x="10" y="4330"/>
                  </a:lnTo>
                  <a:lnTo>
                    <a:pt x="10" y="10"/>
                  </a:lnTo>
                  <a:lnTo>
                    <a:pt x="0" y="10"/>
                  </a:lnTo>
                  <a:lnTo>
                    <a:pt x="0" y="4330"/>
                  </a:lnTo>
                  <a:lnTo>
                    <a:pt x="0" y="4339"/>
                  </a:lnTo>
                  <a:lnTo>
                    <a:pt x="6020" y="4339"/>
                  </a:lnTo>
                  <a:lnTo>
                    <a:pt x="6020" y="4330"/>
                  </a:lnTo>
                  <a:lnTo>
                    <a:pt x="6020" y="10"/>
                  </a:lnTo>
                  <a:close/>
                  <a:moveTo>
                    <a:pt x="6020" y="0"/>
                  </a:moveTo>
                  <a:lnTo>
                    <a:pt x="0" y="0"/>
                  </a:lnTo>
                  <a:lnTo>
                    <a:pt x="0" y="10"/>
                  </a:lnTo>
                  <a:lnTo>
                    <a:pt x="6020" y="10"/>
                  </a:lnTo>
                  <a:lnTo>
                    <a:pt x="602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187582960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
            <a:ext cx="12254669" cy="1230593"/>
          </a:xfrm>
        </p:spPr>
        <p:txBody>
          <a:bodyPr/>
          <a:lstStyle/>
          <a:p>
            <a:pPr algn="ctr"/>
            <a:r>
              <a:rPr lang="en-US" b="1" dirty="0">
                <a:solidFill>
                  <a:srgbClr val="FF0000"/>
                </a:solidFill>
              </a:rPr>
              <a:t>VISUAL INSPECTION……..</a:t>
            </a:r>
            <a:endParaRPr lang="en-GB" dirty="0"/>
          </a:p>
        </p:txBody>
      </p:sp>
      <p:pic>
        <p:nvPicPr>
          <p:cNvPr id="4" name="image10.png"/>
          <p:cNvPicPr>
            <a:picLocks noGrp="1"/>
          </p:cNvPicPr>
          <p:nvPr>
            <p:ph idx="1"/>
          </p:nvPr>
        </p:nvPicPr>
        <p:blipFill>
          <a:blip r:embed="rId2" cstate="print"/>
          <a:stretch>
            <a:fillRect/>
          </a:stretch>
        </p:blipFill>
        <p:spPr>
          <a:xfrm>
            <a:off x="1743341" y="1230594"/>
            <a:ext cx="7785219" cy="5409488"/>
          </a:xfrm>
          <a:prstGeom prst="rect">
            <a:avLst/>
          </a:prstGeom>
        </p:spPr>
      </p:pic>
    </p:spTree>
    <p:extLst>
      <p:ext uri="{BB962C8B-B14F-4D97-AF65-F5344CB8AC3E}">
        <p14:creationId xmlns:p14="http://schemas.microsoft.com/office/powerpoint/2010/main" val="249354736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068223"/>
          </a:xfrm>
        </p:spPr>
        <p:txBody>
          <a:bodyPr/>
          <a:lstStyle/>
          <a:p>
            <a:pPr algn="ctr"/>
            <a:r>
              <a:rPr lang="en-US" b="1" dirty="0" smtClean="0">
                <a:solidFill>
                  <a:srgbClr val="FF0000"/>
                </a:solidFill>
              </a:rPr>
              <a:t>STATE-OF-CHARGE TEST</a:t>
            </a:r>
            <a:endParaRPr lang="en-GB" b="1" dirty="0">
              <a:solidFill>
                <a:srgbClr val="FF0000"/>
              </a:solidFill>
            </a:endParaRPr>
          </a:p>
        </p:txBody>
      </p:sp>
      <p:sp>
        <p:nvSpPr>
          <p:cNvPr id="3" name="Content Placeholder 2"/>
          <p:cNvSpPr>
            <a:spLocks noGrp="1"/>
          </p:cNvSpPr>
          <p:nvPr>
            <p:ph idx="1"/>
          </p:nvPr>
        </p:nvSpPr>
        <p:spPr>
          <a:xfrm>
            <a:off x="0" y="1068224"/>
            <a:ext cx="12192000" cy="5789776"/>
          </a:xfrm>
        </p:spPr>
        <p:txBody>
          <a:bodyPr>
            <a:normAutofit fontScale="92500" lnSpcReduction="10000"/>
          </a:bodyPr>
          <a:lstStyle/>
          <a:p>
            <a:pPr>
              <a:buFont typeface="Wingdings" panose="05000000000000000000" pitchFamily="2" charset="2"/>
              <a:buChar char="Ø"/>
            </a:pPr>
            <a:r>
              <a:rPr lang="en-US" dirty="0" smtClean="0"/>
              <a:t>The </a:t>
            </a:r>
            <a:r>
              <a:rPr lang="en-US" dirty="0"/>
              <a:t>state-of-charge test checks the battery's chemical condition. One method uses a hydrometer to measure the specific gravity of the </a:t>
            </a:r>
            <a:r>
              <a:rPr lang="en-US" dirty="0" smtClean="0"/>
              <a:t>electrolyte.</a:t>
            </a:r>
            <a:endParaRPr lang="en-GB" dirty="0"/>
          </a:p>
          <a:p>
            <a:pPr>
              <a:buFont typeface="Wingdings" panose="05000000000000000000" pitchFamily="2" charset="2"/>
              <a:buChar char="Ø"/>
            </a:pPr>
            <a:r>
              <a:rPr lang="en-US" dirty="0" smtClean="0"/>
              <a:t>Another </a:t>
            </a:r>
            <a:r>
              <a:rPr lang="en-US" dirty="0"/>
              <a:t>method uses a digital voltmeter to check the battery's open circuit voltage and, for a general indication of the battery's condition, check the indicator eye (if the battery has one) or check the headlamp brightness during starting</a:t>
            </a:r>
            <a:r>
              <a:rPr lang="en-US" dirty="0" smtClean="0"/>
              <a:t>.</a:t>
            </a:r>
            <a:endParaRPr lang="en-GB" dirty="0"/>
          </a:p>
          <a:p>
            <a:pPr>
              <a:buFont typeface="Wingdings" panose="05000000000000000000" pitchFamily="2" charset="2"/>
              <a:buChar char="Ø"/>
            </a:pPr>
            <a:r>
              <a:rPr lang="en-US" b="1" dirty="0">
                <a:solidFill>
                  <a:srgbClr val="FF0000"/>
                </a:solidFill>
              </a:rPr>
              <a:t>Specific </a:t>
            </a:r>
            <a:r>
              <a:rPr lang="en-US" b="1" dirty="0" smtClean="0">
                <a:solidFill>
                  <a:srgbClr val="FF0000"/>
                </a:solidFill>
              </a:rPr>
              <a:t>Gravity</a:t>
            </a:r>
            <a:r>
              <a:rPr lang="en-GB" b="1" dirty="0">
                <a:solidFill>
                  <a:srgbClr val="FF0000"/>
                </a:solidFill>
              </a:rPr>
              <a:t> </a:t>
            </a:r>
            <a:r>
              <a:rPr lang="en-US" dirty="0" smtClean="0"/>
              <a:t>Specific </a:t>
            </a:r>
            <a:r>
              <a:rPr lang="en-US" dirty="0"/>
              <a:t>gravity means exact weight. The hydrometer compares the exact weight of electrolyte with that of water. </a:t>
            </a:r>
            <a:r>
              <a:rPr lang="en-US" b="1" dirty="0"/>
              <a:t>Strong electrolyte in a charged battery is heavier than weak electrolyte in a discharged </a:t>
            </a:r>
            <a:r>
              <a:rPr lang="en-US" b="1" dirty="0" smtClean="0"/>
              <a:t>battery.</a:t>
            </a:r>
          </a:p>
          <a:p>
            <a:pPr>
              <a:buFont typeface="Wingdings" panose="05000000000000000000" pitchFamily="2" charset="2"/>
              <a:buChar char="Ø"/>
            </a:pPr>
            <a:r>
              <a:rPr lang="en-US" dirty="0" smtClean="0"/>
              <a:t>By </a:t>
            </a:r>
            <a:r>
              <a:rPr lang="en-US" dirty="0"/>
              <a:t>weight, the electrolyte in a fully charged battery is about 36% acid and 64% water. The specific gravity of water is 1.000. The acid </a:t>
            </a:r>
            <a:r>
              <a:rPr lang="en-US" dirty="0" smtClean="0"/>
              <a:t>specific </a:t>
            </a:r>
            <a:r>
              <a:rPr lang="en-US" dirty="0"/>
              <a:t>gravity is 1.835. The electrolyte mixture of water and acid has a specific gravity of 1.270 is usually stated as "twelve and seventy</a:t>
            </a:r>
            <a:r>
              <a:rPr lang="en-US" dirty="0" smtClean="0"/>
              <a:t>.“</a:t>
            </a:r>
            <a:endParaRPr lang="en-GB" dirty="0"/>
          </a:p>
          <a:p>
            <a:pPr>
              <a:buFont typeface="Wingdings" panose="05000000000000000000" pitchFamily="2" charset="2"/>
              <a:buChar char="Ø"/>
            </a:pPr>
            <a:r>
              <a:rPr lang="en-US" dirty="0" smtClean="0"/>
              <a:t>By </a:t>
            </a:r>
            <a:r>
              <a:rPr lang="en-US" dirty="0"/>
              <a:t>measuring the specific gravity of the electrolyte, you can tell if the </a:t>
            </a:r>
            <a:r>
              <a:rPr lang="en-US" dirty="0">
                <a:solidFill>
                  <a:srgbClr val="FF0000"/>
                </a:solidFill>
              </a:rPr>
              <a:t>battery is fully charged</a:t>
            </a:r>
            <a:r>
              <a:rPr lang="en-US" dirty="0"/>
              <a:t>, </a:t>
            </a:r>
            <a:r>
              <a:rPr lang="en-US" dirty="0">
                <a:solidFill>
                  <a:srgbClr val="FF0000"/>
                </a:solidFill>
              </a:rPr>
              <a:t>requires charging</a:t>
            </a:r>
            <a:r>
              <a:rPr lang="en-US" dirty="0"/>
              <a:t>, or </a:t>
            </a:r>
            <a:r>
              <a:rPr lang="en-US" dirty="0">
                <a:solidFill>
                  <a:srgbClr val="FF0000"/>
                </a:solidFill>
              </a:rPr>
              <a:t>must be replaced</a:t>
            </a:r>
            <a:r>
              <a:rPr lang="en-US" dirty="0"/>
              <a:t>. It can tell you if the battery is charged enough for the capacity, or heavy- load test.</a:t>
            </a:r>
            <a:endParaRPr lang="en-GB" dirty="0"/>
          </a:p>
          <a:p>
            <a:pPr marL="0" indent="0">
              <a:buNone/>
            </a:pPr>
            <a:endParaRPr lang="en-GB" dirty="0"/>
          </a:p>
          <a:p>
            <a:endParaRPr lang="en-GB" dirty="0"/>
          </a:p>
        </p:txBody>
      </p:sp>
    </p:spTree>
    <p:extLst>
      <p:ext uri="{BB962C8B-B14F-4D97-AF65-F5344CB8AC3E}">
        <p14:creationId xmlns:p14="http://schemas.microsoft.com/office/powerpoint/2010/main" val="25704939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645" y="-59821"/>
            <a:ext cx="12041024" cy="974221"/>
          </a:xfrm>
        </p:spPr>
        <p:txBody>
          <a:bodyPr/>
          <a:lstStyle/>
          <a:p>
            <a:pPr algn="ctr"/>
            <a:r>
              <a:rPr lang="en-US" b="1" dirty="0">
                <a:solidFill>
                  <a:srgbClr val="FF0000"/>
                </a:solidFill>
              </a:rPr>
              <a:t>STATE-OF-CHARGE TEST</a:t>
            </a:r>
            <a:endParaRPr lang="en-GB" dirty="0"/>
          </a:p>
        </p:txBody>
      </p:sp>
      <p:sp>
        <p:nvSpPr>
          <p:cNvPr id="3" name="Content Placeholder 2"/>
          <p:cNvSpPr>
            <a:spLocks noGrp="1"/>
          </p:cNvSpPr>
          <p:nvPr>
            <p:ph idx="1"/>
          </p:nvPr>
        </p:nvSpPr>
        <p:spPr>
          <a:xfrm>
            <a:off x="0" y="1085316"/>
            <a:ext cx="12192000" cy="5772684"/>
          </a:xfrm>
        </p:spPr>
        <p:txBody>
          <a:bodyPr/>
          <a:lstStyle/>
          <a:p>
            <a:pPr>
              <a:buFont typeface="Wingdings" panose="05000000000000000000" pitchFamily="2" charset="2"/>
              <a:buChar char="Ø"/>
            </a:pPr>
            <a:r>
              <a:rPr lang="en-US" dirty="0"/>
              <a:t>The battery must be at least 75% charged to perform a heavy load test. (The heavy load test will be discussed later). In other words, each cell must have a specific gravity of 1.230 or higher to </a:t>
            </a:r>
            <a:r>
              <a:rPr lang="en-US" dirty="0" smtClean="0"/>
              <a:t>proceed</a:t>
            </a:r>
          </a:p>
          <a:p>
            <a:pPr>
              <a:buFont typeface="Wingdings" panose="05000000000000000000" pitchFamily="2" charset="2"/>
              <a:buChar char="Ø"/>
            </a:pPr>
            <a:r>
              <a:rPr lang="en-US" dirty="0" smtClean="0"/>
              <a:t>If </a:t>
            </a:r>
            <a:r>
              <a:rPr lang="en-US" dirty="0"/>
              <a:t>the battery is less than 75% charged, it must be fully recharged before proceeding. If the battery is 75% or higher proceed to a heavy load test. A battery not sufficiently charged will fail because it is discharged</a:t>
            </a:r>
            <a:endParaRPr lang="en-GB" dirty="0"/>
          </a:p>
        </p:txBody>
      </p:sp>
      <p:pic>
        <p:nvPicPr>
          <p:cNvPr id="16" name="Picture 15"/>
          <p:cNvPicPr>
            <a:picLocks noChangeAspect="1"/>
          </p:cNvPicPr>
          <p:nvPr/>
        </p:nvPicPr>
        <p:blipFill>
          <a:blip r:embed="rId2"/>
          <a:stretch>
            <a:fillRect/>
          </a:stretch>
        </p:blipFill>
        <p:spPr>
          <a:xfrm>
            <a:off x="1802450" y="3666147"/>
            <a:ext cx="6016952" cy="2768836"/>
          </a:xfrm>
          <a:prstGeom prst="rect">
            <a:avLst/>
          </a:prstGeom>
        </p:spPr>
      </p:pic>
    </p:spTree>
    <p:extLst>
      <p:ext uri="{BB962C8B-B14F-4D97-AF65-F5344CB8AC3E}">
        <p14:creationId xmlns:p14="http://schemas.microsoft.com/office/powerpoint/2010/main" val="42473652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016949"/>
          </a:xfrm>
        </p:spPr>
        <p:txBody>
          <a:bodyPr>
            <a:normAutofit/>
          </a:bodyPr>
          <a:lstStyle/>
          <a:p>
            <a:r>
              <a:rPr lang="en-US" sz="3600" b="1" dirty="0"/>
              <a:t>SPECIFIC GRAVITY - EXCESSIVE CELL VARIATION </a:t>
            </a:r>
            <a:r>
              <a:rPr lang="en-US" sz="3600" b="1" dirty="0" smtClean="0"/>
              <a:t>READINGS</a:t>
            </a:r>
            <a:endParaRPr lang="en-GB" sz="3600" dirty="0"/>
          </a:p>
        </p:txBody>
      </p:sp>
      <p:sp>
        <p:nvSpPr>
          <p:cNvPr id="3" name="Content Placeholder 2"/>
          <p:cNvSpPr>
            <a:spLocks noGrp="1"/>
          </p:cNvSpPr>
          <p:nvPr>
            <p:ph idx="1"/>
          </p:nvPr>
        </p:nvSpPr>
        <p:spPr>
          <a:xfrm>
            <a:off x="0" y="1016950"/>
            <a:ext cx="12192000" cy="5841050"/>
          </a:xfrm>
        </p:spPr>
        <p:txBody>
          <a:bodyPr/>
          <a:lstStyle/>
          <a:p>
            <a:pPr>
              <a:buFont typeface="Wingdings" panose="05000000000000000000" pitchFamily="2" charset="2"/>
              <a:buChar char="Ø"/>
            </a:pPr>
            <a:r>
              <a:rPr lang="en-US" dirty="0" smtClean="0"/>
              <a:t>Variation </a:t>
            </a:r>
            <a:r>
              <a:rPr lang="en-US" dirty="0"/>
              <a:t>in specific gravity among cells cannot vary more than 0.050. The variance is the difference between the lowest cell and the highest cell. </a:t>
            </a:r>
            <a:endParaRPr lang="en-US" dirty="0" smtClean="0"/>
          </a:p>
          <a:p>
            <a:pPr>
              <a:buFont typeface="Wingdings" panose="05000000000000000000" pitchFamily="2" charset="2"/>
              <a:buChar char="Ø"/>
            </a:pPr>
            <a:r>
              <a:rPr lang="en-US" dirty="0" smtClean="0"/>
              <a:t>A battery must be condemned for excessive cell variation if more that 0.050. In the example below, the highest SG reading is cell #1 (shown in green) while the lowest SG reading is cell #5 (shown in blue); the difference is 0.070 which requires battery replacement. Cell #5 if failing.</a:t>
            </a:r>
            <a:endParaRPr lang="en-GB" dirty="0"/>
          </a:p>
          <a:p>
            <a:pPr>
              <a:buFont typeface="Wingdings" panose="05000000000000000000" pitchFamily="2" charset="2"/>
              <a:buChar char="Ø"/>
            </a:pPr>
            <a:r>
              <a:rPr lang="en-US" dirty="0" smtClean="0"/>
              <a:t>Many </a:t>
            </a:r>
            <a:r>
              <a:rPr lang="en-US" dirty="0"/>
              <a:t>factors contribute to cell variation; for example, if water was just added to that cell, the cell is then diluted with water resulting is a lower specific gravity reading. Recharging the battery would correct this false reading. </a:t>
            </a:r>
            <a:endParaRPr lang="en-GB" dirty="0"/>
          </a:p>
        </p:txBody>
      </p:sp>
      <p:pic>
        <p:nvPicPr>
          <p:cNvPr id="6" name="Picture 5"/>
          <p:cNvPicPr>
            <a:picLocks noChangeAspect="1"/>
          </p:cNvPicPr>
          <p:nvPr/>
        </p:nvPicPr>
        <p:blipFill>
          <a:blip r:embed="rId2"/>
          <a:stretch>
            <a:fillRect/>
          </a:stretch>
        </p:blipFill>
        <p:spPr>
          <a:xfrm>
            <a:off x="1236291" y="5161927"/>
            <a:ext cx="7924800" cy="1200150"/>
          </a:xfrm>
          <a:prstGeom prst="rect">
            <a:avLst/>
          </a:prstGeom>
        </p:spPr>
      </p:pic>
    </p:spTree>
    <p:extLst>
      <p:ext uri="{BB962C8B-B14F-4D97-AF65-F5344CB8AC3E}">
        <p14:creationId xmlns:p14="http://schemas.microsoft.com/office/powerpoint/2010/main" val="2343880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66" y="1"/>
            <a:ext cx="12123634" cy="863124"/>
          </a:xfrm>
        </p:spPr>
        <p:txBody>
          <a:bodyPr/>
          <a:lstStyle/>
          <a:p>
            <a:r>
              <a:rPr lang="en-US" b="1" dirty="0">
                <a:solidFill>
                  <a:srgbClr val="FF0000"/>
                </a:solidFill>
              </a:rPr>
              <a:t>SPECIFIC GRAVITY TEST PROCEDURE (HYDROMETER)</a:t>
            </a:r>
            <a:endParaRPr lang="en-GB" b="1" dirty="0">
              <a:solidFill>
                <a:srgbClr val="FF0000"/>
              </a:solidFill>
            </a:endParaRPr>
          </a:p>
        </p:txBody>
      </p:sp>
      <p:sp>
        <p:nvSpPr>
          <p:cNvPr id="3" name="Content Placeholder 2"/>
          <p:cNvSpPr>
            <a:spLocks noGrp="1"/>
          </p:cNvSpPr>
          <p:nvPr>
            <p:ph idx="1"/>
          </p:nvPr>
        </p:nvSpPr>
        <p:spPr>
          <a:xfrm>
            <a:off x="0" y="982766"/>
            <a:ext cx="12192000" cy="5875234"/>
          </a:xfrm>
        </p:spPr>
        <p:txBody>
          <a:bodyPr>
            <a:normAutofit/>
          </a:bodyPr>
          <a:lstStyle/>
          <a:p>
            <a:pPr marL="0" indent="0">
              <a:buNone/>
            </a:pPr>
            <a:r>
              <a:rPr lang="en-US" dirty="0" smtClean="0"/>
              <a:t>The </a:t>
            </a:r>
            <a:r>
              <a:rPr lang="en-US" dirty="0"/>
              <a:t>following steps outline a typical procedure for performing a state-of-charge test:</a:t>
            </a:r>
            <a:endParaRPr lang="en-GB" dirty="0"/>
          </a:p>
          <a:p>
            <a:pPr marL="514350" indent="-514350">
              <a:buAutoNum type="arabicPeriod"/>
            </a:pPr>
            <a:r>
              <a:rPr lang="en-US" dirty="0" smtClean="0"/>
              <a:t>Remove </a:t>
            </a:r>
            <a:r>
              <a:rPr lang="en-US" dirty="0"/>
              <a:t>vent caps or covers from the battery </a:t>
            </a:r>
            <a:r>
              <a:rPr lang="en-US" dirty="0" smtClean="0"/>
              <a:t>cells.</a:t>
            </a:r>
            <a:endParaRPr lang="en-GB" dirty="0"/>
          </a:p>
          <a:p>
            <a:pPr marL="514350" indent="-514350">
              <a:buAutoNum type="arabicPeriod"/>
            </a:pPr>
            <a:r>
              <a:rPr lang="en-US" dirty="0" smtClean="0"/>
              <a:t>Squeeze </a:t>
            </a:r>
            <a:r>
              <a:rPr lang="en-US" dirty="0"/>
              <a:t>the hydrometer bulb and insert the pickup tube into the cell closest to the battery's positive (+) </a:t>
            </a:r>
            <a:r>
              <a:rPr lang="en-US" dirty="0" smtClean="0"/>
              <a:t>terminal.</a:t>
            </a:r>
            <a:endParaRPr lang="en-GB" sz="3200" dirty="0"/>
          </a:p>
          <a:p>
            <a:pPr marL="514350" indent="-514350">
              <a:buAutoNum type="arabicPeriod"/>
            </a:pPr>
            <a:r>
              <a:rPr lang="en-US" dirty="0" smtClean="0"/>
              <a:t>Slowly </a:t>
            </a:r>
            <a:r>
              <a:rPr lang="en-US" dirty="0"/>
              <a:t>release the bulb to draw in only enough electrolyte to cause the float to rise. Do not remove the tube from the </a:t>
            </a:r>
            <a:r>
              <a:rPr lang="en-US" dirty="0" smtClean="0"/>
              <a:t>cell.</a:t>
            </a:r>
            <a:endParaRPr lang="en-GB" sz="3200" dirty="0"/>
          </a:p>
          <a:p>
            <a:pPr marL="514350" indent="-514350">
              <a:buAutoNum type="arabicPeriod"/>
            </a:pPr>
            <a:r>
              <a:rPr lang="en-US" dirty="0" smtClean="0"/>
              <a:t>Read </a:t>
            </a:r>
            <a:r>
              <a:rPr lang="en-US" dirty="0"/>
              <a:t>the specific gravity indicated on the float. Be sure the float is drifting free, not in contact with the sides of top of the barrel. Bend down to read the </a:t>
            </a:r>
            <a:r>
              <a:rPr lang="en-US" dirty="0" smtClean="0"/>
              <a:t>hydrometer a eye level. Disregard the slight curvature of liquid on the float.</a:t>
            </a:r>
            <a:endParaRPr lang="en-GB" sz="3200" dirty="0" smtClean="0"/>
          </a:p>
          <a:p>
            <a:pPr marL="514350" indent="-514350">
              <a:buAutoNum type="arabicPeriod"/>
            </a:pPr>
            <a:r>
              <a:rPr lang="en-US" dirty="0" smtClean="0"/>
              <a:t>Record your readings and repeat the procedure for the remaining cells.</a:t>
            </a:r>
            <a:endParaRPr lang="en-GB" sz="3200" dirty="0" smtClean="0"/>
          </a:p>
          <a:p>
            <a:pPr marL="0" indent="0">
              <a:buNone/>
            </a:pPr>
            <a:endParaRPr lang="en-GB" sz="3200" dirty="0"/>
          </a:p>
        </p:txBody>
      </p:sp>
    </p:spTree>
    <p:extLst>
      <p:ext uri="{BB962C8B-B14F-4D97-AF65-F5344CB8AC3E}">
        <p14:creationId xmlns:p14="http://schemas.microsoft.com/office/powerpoint/2010/main" val="42763628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230593"/>
          </a:xfrm>
        </p:spPr>
        <p:txBody>
          <a:bodyPr>
            <a:normAutofit fontScale="90000"/>
          </a:bodyPr>
          <a:lstStyle/>
          <a:p>
            <a:r>
              <a:rPr lang="en-US" b="1" dirty="0">
                <a:solidFill>
                  <a:srgbClr val="FF0000"/>
                </a:solidFill>
              </a:rPr>
              <a:t>SPECIFIC GRAVITY TEST PROCEDURE (HYDROMETER</a:t>
            </a:r>
            <a:r>
              <a:rPr lang="en-US" b="1" dirty="0" smtClean="0">
                <a:solidFill>
                  <a:srgbClr val="FF0000"/>
                </a:solidFill>
              </a:rPr>
              <a:t>)…..</a:t>
            </a:r>
            <a:endParaRPr lang="en-GB" dirty="0"/>
          </a:p>
        </p:txBody>
      </p:sp>
      <p:pic>
        <p:nvPicPr>
          <p:cNvPr id="4" name="image6.png"/>
          <p:cNvPicPr>
            <a:picLocks noGrp="1"/>
          </p:cNvPicPr>
          <p:nvPr>
            <p:ph idx="1"/>
          </p:nvPr>
        </p:nvPicPr>
        <p:blipFill>
          <a:blip r:embed="rId2" cstate="print"/>
          <a:stretch>
            <a:fillRect/>
          </a:stretch>
        </p:blipFill>
        <p:spPr>
          <a:xfrm>
            <a:off x="222381" y="2050990"/>
            <a:ext cx="5571668" cy="3931066"/>
          </a:xfrm>
          <a:prstGeom prst="rect">
            <a:avLst/>
          </a:prstGeom>
        </p:spPr>
      </p:pic>
      <p:pic>
        <p:nvPicPr>
          <p:cNvPr id="5" name="image5.jpeg"/>
          <p:cNvPicPr/>
          <p:nvPr/>
        </p:nvPicPr>
        <p:blipFill>
          <a:blip r:embed="rId3" cstate="print"/>
          <a:stretch>
            <a:fillRect/>
          </a:stretch>
        </p:blipFill>
        <p:spPr>
          <a:xfrm>
            <a:off x="7990962" y="2848337"/>
            <a:ext cx="3434765" cy="2432964"/>
          </a:xfrm>
          <a:prstGeom prst="rect">
            <a:avLst/>
          </a:prstGeom>
        </p:spPr>
      </p:pic>
    </p:spTree>
    <p:extLst>
      <p:ext uri="{BB962C8B-B14F-4D97-AF65-F5344CB8AC3E}">
        <p14:creationId xmlns:p14="http://schemas.microsoft.com/office/powerpoint/2010/main" val="18820409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095" y="-68365"/>
            <a:ext cx="12080905" cy="974219"/>
          </a:xfrm>
        </p:spPr>
        <p:txBody>
          <a:bodyPr/>
          <a:lstStyle/>
          <a:p>
            <a:pPr algn="ctr"/>
            <a:r>
              <a:rPr lang="en-US" b="1" dirty="0">
                <a:solidFill>
                  <a:srgbClr val="FF0000"/>
                </a:solidFill>
              </a:rPr>
              <a:t>ADJUSTED SPECIFIC GRAVITY </a:t>
            </a:r>
            <a:r>
              <a:rPr lang="en-US" b="1" dirty="0" smtClean="0">
                <a:solidFill>
                  <a:srgbClr val="FF0000"/>
                </a:solidFill>
              </a:rPr>
              <a:t>READINGS</a:t>
            </a:r>
            <a:endParaRPr lang="en-GB" dirty="0">
              <a:solidFill>
                <a:srgbClr val="FF0000"/>
              </a:solidFill>
            </a:endParaRPr>
          </a:p>
        </p:txBody>
      </p:sp>
      <p:sp>
        <p:nvSpPr>
          <p:cNvPr id="3" name="Content Placeholder 2"/>
          <p:cNvSpPr>
            <a:spLocks noGrp="1"/>
          </p:cNvSpPr>
          <p:nvPr>
            <p:ph idx="1"/>
          </p:nvPr>
        </p:nvSpPr>
        <p:spPr>
          <a:xfrm>
            <a:off x="0" y="1093862"/>
            <a:ext cx="12192000" cy="5764138"/>
          </a:xfrm>
        </p:spPr>
        <p:txBody>
          <a:bodyPr/>
          <a:lstStyle/>
          <a:p>
            <a:pPr>
              <a:buFont typeface="Wingdings" panose="05000000000000000000" pitchFamily="2" charset="2"/>
              <a:buChar char="Ø"/>
            </a:pPr>
            <a:r>
              <a:rPr lang="en-US" dirty="0" smtClean="0"/>
              <a:t>Temperature </a:t>
            </a:r>
            <a:r>
              <a:rPr lang="en-US" dirty="0"/>
              <a:t>correction is needed because specific gravity changes with temperature. Cold thickens the electrolyte and raises the specific gravity. Heat thins the electrolyte and lowers the specific gravity. Hydrometers are calibrated at 80'F (26.7'C). Electrolyte temperatures above or below 80'F must be adjusted. For every 10'F increment below 80'F, subtract 0.004 to the hydrometer readings, and for each 10'F increment above 80'F, add 0.004 to the readings. See the examples below.</a:t>
            </a:r>
            <a:endParaRPr lang="en-GB" dirty="0"/>
          </a:p>
          <a:p>
            <a:endParaRPr lang="en-GB" dirty="0"/>
          </a:p>
        </p:txBody>
      </p:sp>
      <p:pic>
        <p:nvPicPr>
          <p:cNvPr id="4" name="image7.png"/>
          <p:cNvPicPr/>
          <p:nvPr/>
        </p:nvPicPr>
        <p:blipFill>
          <a:blip r:embed="rId2" cstate="print"/>
          <a:stretch>
            <a:fillRect/>
          </a:stretch>
        </p:blipFill>
        <p:spPr>
          <a:xfrm>
            <a:off x="3674431" y="3435409"/>
            <a:ext cx="5529390" cy="3422591"/>
          </a:xfrm>
          <a:prstGeom prst="rect">
            <a:avLst/>
          </a:prstGeom>
        </p:spPr>
      </p:pic>
    </p:spTree>
    <p:extLst>
      <p:ext uri="{BB962C8B-B14F-4D97-AF65-F5344CB8AC3E}">
        <p14:creationId xmlns:p14="http://schemas.microsoft.com/office/powerpoint/2010/main" val="357024623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392963"/>
          </a:xfrm>
        </p:spPr>
        <p:txBody>
          <a:bodyPr>
            <a:normAutofit/>
          </a:bodyPr>
          <a:lstStyle/>
          <a:p>
            <a:r>
              <a:rPr lang="en-US" b="1" dirty="0">
                <a:solidFill>
                  <a:srgbClr val="FF0000"/>
                </a:solidFill>
              </a:rPr>
              <a:t>SPECIFIC GRAVITY TEST PROCEDURE</a:t>
            </a:r>
            <a:r>
              <a:rPr lang="en-GB" b="1" dirty="0">
                <a:solidFill>
                  <a:srgbClr val="FF0000"/>
                </a:solidFill>
              </a:rPr>
              <a:t/>
            </a:r>
            <a:br>
              <a:rPr lang="en-GB" b="1" dirty="0">
                <a:solidFill>
                  <a:srgbClr val="FF0000"/>
                </a:solidFill>
              </a:rPr>
            </a:br>
            <a:r>
              <a:rPr lang="en-US" b="1" dirty="0">
                <a:solidFill>
                  <a:srgbClr val="FF0000"/>
                </a:solidFill>
              </a:rPr>
              <a:t>(AC Delco Battery with built- in Hydrometer</a:t>
            </a:r>
            <a:r>
              <a:rPr lang="en-US" b="1" dirty="0" smtClean="0">
                <a:solidFill>
                  <a:srgbClr val="FF0000"/>
                </a:solidFill>
              </a:rPr>
              <a:t>)</a:t>
            </a:r>
            <a:endParaRPr lang="en-GB" dirty="0">
              <a:solidFill>
                <a:srgbClr val="FF0000"/>
              </a:solidFill>
            </a:endParaRPr>
          </a:p>
        </p:txBody>
      </p:sp>
      <p:sp>
        <p:nvSpPr>
          <p:cNvPr id="3" name="Content Placeholder 2"/>
          <p:cNvSpPr>
            <a:spLocks noGrp="1"/>
          </p:cNvSpPr>
          <p:nvPr>
            <p:ph idx="1"/>
          </p:nvPr>
        </p:nvSpPr>
        <p:spPr>
          <a:xfrm>
            <a:off x="0" y="1392964"/>
            <a:ext cx="12192000" cy="5465036"/>
          </a:xfrm>
        </p:spPr>
        <p:txBody>
          <a:bodyPr>
            <a:normAutofit/>
          </a:bodyPr>
          <a:lstStyle/>
          <a:p>
            <a:pPr marL="514350" indent="-514350">
              <a:buFont typeface="+mj-lt"/>
              <a:buAutoNum type="arabicParenR"/>
            </a:pPr>
            <a:r>
              <a:rPr lang="en-US" dirty="0" smtClean="0"/>
              <a:t>Wear </a:t>
            </a:r>
            <a:r>
              <a:rPr lang="en-US" dirty="0"/>
              <a:t>suitable eye </a:t>
            </a:r>
            <a:r>
              <a:rPr lang="en-US" dirty="0" smtClean="0"/>
              <a:t>protection.</a:t>
            </a:r>
            <a:endParaRPr lang="en-GB" dirty="0"/>
          </a:p>
          <a:p>
            <a:pPr marL="514350" indent="-514350">
              <a:buFont typeface="+mj-lt"/>
              <a:buAutoNum type="arabicParenR"/>
            </a:pPr>
            <a:r>
              <a:rPr lang="en-US" dirty="0" smtClean="0"/>
              <a:t>Observe </a:t>
            </a:r>
            <a:r>
              <a:rPr lang="en-US" dirty="0"/>
              <a:t>the built-in hydrometer</a:t>
            </a:r>
            <a:r>
              <a:rPr lang="en-US" dirty="0" smtClean="0"/>
              <a:t>.</a:t>
            </a:r>
            <a:endParaRPr lang="en-GB" dirty="0"/>
          </a:p>
          <a:p>
            <a:pPr marL="0" indent="0">
              <a:buNone/>
            </a:pPr>
            <a:r>
              <a:rPr lang="en-US" b="1" dirty="0" smtClean="0"/>
              <a:t>	</a:t>
            </a:r>
            <a:r>
              <a:rPr lang="en-US" b="1" dirty="0" smtClean="0">
                <a:solidFill>
                  <a:srgbClr val="FF0000"/>
                </a:solidFill>
              </a:rPr>
              <a:t>Green </a:t>
            </a:r>
            <a:r>
              <a:rPr lang="en-US" b="1" dirty="0">
                <a:solidFill>
                  <a:srgbClr val="FF0000"/>
                </a:solidFill>
              </a:rPr>
              <a:t>Dot </a:t>
            </a:r>
            <a:r>
              <a:rPr lang="en-US" dirty="0"/>
              <a:t>is visible: the battery is sufficiently charged for further testing </a:t>
            </a:r>
            <a:r>
              <a:rPr lang="en-US" dirty="0" smtClean="0"/>
              <a:t>	(</a:t>
            </a:r>
            <a:r>
              <a:rPr lang="en-US" dirty="0"/>
              <a:t>Heavy Load Test).</a:t>
            </a:r>
            <a:endParaRPr lang="en-GB" dirty="0"/>
          </a:p>
          <a:p>
            <a:pPr marL="0" indent="0">
              <a:buNone/>
            </a:pPr>
            <a:r>
              <a:rPr lang="en-US" dirty="0"/>
              <a:t>	</a:t>
            </a:r>
            <a:r>
              <a:rPr lang="en-US" b="1" dirty="0" smtClean="0">
                <a:solidFill>
                  <a:srgbClr val="FF0000"/>
                </a:solidFill>
              </a:rPr>
              <a:t>Dark </a:t>
            </a:r>
            <a:r>
              <a:rPr lang="en-US" b="1" dirty="0">
                <a:solidFill>
                  <a:srgbClr val="FF0000"/>
                </a:solidFill>
              </a:rPr>
              <a:t>Green Dot </a:t>
            </a:r>
            <a:r>
              <a:rPr lang="en-US" dirty="0"/>
              <a:t>is visible: the battery needs to be recharged before further </a:t>
            </a:r>
            <a:r>
              <a:rPr lang="en-US" dirty="0" smtClean="0"/>
              <a:t>	testing</a:t>
            </a:r>
            <a:r>
              <a:rPr lang="en-US" dirty="0"/>
              <a:t>.</a:t>
            </a:r>
            <a:endParaRPr lang="en-GB" dirty="0"/>
          </a:p>
          <a:p>
            <a:pPr marL="0" indent="0">
              <a:buNone/>
            </a:pPr>
            <a:r>
              <a:rPr lang="en-US" dirty="0"/>
              <a:t>	</a:t>
            </a:r>
            <a:r>
              <a:rPr lang="en-US" b="1" dirty="0" smtClean="0">
                <a:solidFill>
                  <a:srgbClr val="FF0000"/>
                </a:solidFill>
              </a:rPr>
              <a:t>Light </a:t>
            </a:r>
            <a:r>
              <a:rPr lang="en-US" b="1" dirty="0">
                <a:solidFill>
                  <a:srgbClr val="FF0000"/>
                </a:solidFill>
              </a:rPr>
              <a:t>or Yellow Dot </a:t>
            </a:r>
            <a:r>
              <a:rPr lang="en-US" dirty="0"/>
              <a:t>is visible: replace the battery</a:t>
            </a:r>
            <a:endParaRPr lang="en-GB" dirty="0"/>
          </a:p>
          <a:p>
            <a:endParaRPr lang="en-GB" dirty="0"/>
          </a:p>
        </p:txBody>
      </p:sp>
      <p:pic>
        <p:nvPicPr>
          <p:cNvPr id="4" name="Picture 3"/>
          <p:cNvPicPr>
            <a:picLocks noChangeAspect="1"/>
          </p:cNvPicPr>
          <p:nvPr/>
        </p:nvPicPr>
        <p:blipFill>
          <a:blip r:embed="rId2"/>
          <a:stretch>
            <a:fillRect/>
          </a:stretch>
        </p:blipFill>
        <p:spPr>
          <a:xfrm>
            <a:off x="8058684" y="4238714"/>
            <a:ext cx="4220509" cy="2456916"/>
          </a:xfrm>
          <a:prstGeom prst="rect">
            <a:avLst/>
          </a:prstGeom>
        </p:spPr>
      </p:pic>
    </p:spTree>
    <p:extLst>
      <p:ext uri="{BB962C8B-B14F-4D97-AF65-F5344CB8AC3E}">
        <p14:creationId xmlns:p14="http://schemas.microsoft.com/office/powerpoint/2010/main" val="267498959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85457"/>
            <a:ext cx="12192001" cy="1247685"/>
          </a:xfrm>
        </p:spPr>
        <p:txBody>
          <a:bodyPr/>
          <a:lstStyle/>
          <a:p>
            <a:pPr algn="ctr"/>
            <a:r>
              <a:rPr lang="en-US" b="1" dirty="0">
                <a:solidFill>
                  <a:srgbClr val="FF0000"/>
                </a:solidFill>
              </a:rPr>
              <a:t>OPEN CIRCUIT </a:t>
            </a:r>
            <a:r>
              <a:rPr lang="en-US" b="1" dirty="0" smtClean="0">
                <a:solidFill>
                  <a:srgbClr val="FF0000"/>
                </a:solidFill>
              </a:rPr>
              <a:t>VOLTAGE</a:t>
            </a:r>
            <a:endParaRPr lang="en-GB" dirty="0">
              <a:solidFill>
                <a:srgbClr val="FF0000"/>
              </a:solidFill>
            </a:endParaRPr>
          </a:p>
        </p:txBody>
      </p:sp>
      <p:sp>
        <p:nvSpPr>
          <p:cNvPr id="3" name="Content Placeholder 2"/>
          <p:cNvSpPr>
            <a:spLocks noGrp="1"/>
          </p:cNvSpPr>
          <p:nvPr>
            <p:ph idx="1"/>
          </p:nvPr>
        </p:nvSpPr>
        <p:spPr>
          <a:xfrm>
            <a:off x="-1" y="1162228"/>
            <a:ext cx="12192001" cy="5595849"/>
          </a:xfrm>
        </p:spPr>
        <p:txBody>
          <a:bodyPr>
            <a:normAutofit fontScale="92500" lnSpcReduction="10000"/>
          </a:bodyPr>
          <a:lstStyle/>
          <a:p>
            <a:pPr>
              <a:buFont typeface="Wingdings" panose="05000000000000000000" pitchFamily="2" charset="2"/>
              <a:buChar char="Ø"/>
            </a:pPr>
            <a:r>
              <a:rPr lang="en-US" dirty="0" smtClean="0"/>
              <a:t>A </a:t>
            </a:r>
            <a:r>
              <a:rPr lang="en-US" dirty="0"/>
              <a:t>digital voltmeter must be used to check the battery's open-circuit voltage. Analog meters are not accurate and cannot be used.</a:t>
            </a:r>
            <a:endParaRPr lang="en-GB" dirty="0"/>
          </a:p>
          <a:p>
            <a:pPr marL="514350" indent="-514350">
              <a:buAutoNum type="arabicPeriod"/>
            </a:pPr>
            <a:r>
              <a:rPr lang="en-US" dirty="0" smtClean="0"/>
              <a:t>Turn </a:t>
            </a:r>
            <a:r>
              <a:rPr lang="en-US" dirty="0"/>
              <a:t>on the headlamps' high beam for several minutes to remove any surface </a:t>
            </a:r>
            <a:r>
              <a:rPr lang="en-US" dirty="0" smtClean="0"/>
              <a:t>charge.</a:t>
            </a:r>
            <a:endParaRPr lang="en-GB" dirty="0"/>
          </a:p>
          <a:p>
            <a:pPr marL="514350" indent="-514350">
              <a:buAutoNum type="arabicPeriod"/>
            </a:pPr>
            <a:r>
              <a:rPr lang="en-US" dirty="0" smtClean="0"/>
              <a:t>Turn </a:t>
            </a:r>
            <a:r>
              <a:rPr lang="en-US" dirty="0"/>
              <a:t>headlamps off, and connect the digital voltmeter across the battery </a:t>
            </a:r>
            <a:r>
              <a:rPr lang="en-US" dirty="0" smtClean="0"/>
              <a:t>terminals.</a:t>
            </a:r>
            <a:endParaRPr lang="en-GB" dirty="0"/>
          </a:p>
          <a:p>
            <a:pPr marL="514350" indent="-514350">
              <a:buAutoNum type="arabicPeriod"/>
            </a:pPr>
            <a:r>
              <a:rPr lang="en-US" dirty="0" smtClean="0"/>
              <a:t>Read </a:t>
            </a:r>
            <a:r>
              <a:rPr lang="en-US" dirty="0"/>
              <a:t>the voltmeter. A fully charged battery will have an open-circuit voltage of 12.6 volts. On the other hand, a totally dead battery will have an open-circuit voltage of less than 12.0 volts</a:t>
            </a:r>
            <a:r>
              <a:rPr lang="en-US" dirty="0" smtClean="0"/>
              <a:t>.</a:t>
            </a:r>
            <a:endParaRPr lang="en-GB" dirty="0"/>
          </a:p>
          <a:p>
            <a:r>
              <a:rPr lang="en-US" b="1" dirty="0" smtClean="0">
                <a:solidFill>
                  <a:srgbClr val="FF0000"/>
                </a:solidFill>
              </a:rPr>
              <a:t>Note</a:t>
            </a:r>
            <a:r>
              <a:rPr lang="en-US" b="1" dirty="0" smtClean="0"/>
              <a:t>: </a:t>
            </a:r>
            <a:r>
              <a:rPr lang="en-US" dirty="0" smtClean="0"/>
              <a:t>If the battery is 12.4v or higher, proceed to heavy load test. If the battery is less than 12.4v, the battery must be fully recharged before testing. </a:t>
            </a:r>
            <a:r>
              <a:rPr lang="en-US" b="1" dirty="0" smtClean="0"/>
              <a:t>Be sure to remove the surface charge completely</a:t>
            </a:r>
            <a:r>
              <a:rPr lang="en-US" dirty="0" smtClean="0"/>
              <a:t>; this is the number one mistake technicians make. If need be, place a load tester on the battery and load the battery for 10 seconds at approximately 200 amps. Allow a few minutes for the battery to recover then measure the open circuit voltage. This should remove the surface charge and allow an accurate open circuit voltage measurement. (Remember: a reading of 12.4 </a:t>
            </a:r>
            <a:r>
              <a:rPr lang="en-US" dirty="0"/>
              <a:t>volts or higher load test the battery, 12.3 volts or less, recharge the battery.)</a:t>
            </a:r>
            <a:endParaRPr lang="en-GB" dirty="0"/>
          </a:p>
          <a:p>
            <a:endParaRPr lang="en-GB" dirty="0"/>
          </a:p>
        </p:txBody>
      </p:sp>
    </p:spTree>
    <p:extLst>
      <p:ext uri="{BB962C8B-B14F-4D97-AF65-F5344CB8AC3E}">
        <p14:creationId xmlns:p14="http://schemas.microsoft.com/office/powerpoint/2010/main" val="58425229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1095"/>
            <a:ext cx="12192000" cy="1418601"/>
          </a:xfrm>
        </p:spPr>
        <p:txBody>
          <a:bodyPr/>
          <a:lstStyle/>
          <a:p>
            <a:pPr algn="ctr"/>
            <a:r>
              <a:rPr lang="en-US" b="1" dirty="0">
                <a:solidFill>
                  <a:srgbClr val="FF0000"/>
                </a:solidFill>
              </a:rPr>
              <a:t>OPEN CIRCUIT </a:t>
            </a:r>
            <a:r>
              <a:rPr lang="en-US" b="1" dirty="0" smtClean="0">
                <a:solidFill>
                  <a:srgbClr val="FF0000"/>
                </a:solidFill>
              </a:rPr>
              <a:t>VOLTAGE…….</a:t>
            </a:r>
            <a:endParaRPr lang="en-GB" dirty="0"/>
          </a:p>
        </p:txBody>
      </p:sp>
      <p:pic>
        <p:nvPicPr>
          <p:cNvPr id="6" name="Content Placeholder 5"/>
          <p:cNvPicPr>
            <a:picLocks noGrp="1" noChangeAspect="1"/>
          </p:cNvPicPr>
          <p:nvPr>
            <p:ph idx="1"/>
          </p:nvPr>
        </p:nvPicPr>
        <p:blipFill>
          <a:blip r:embed="rId2"/>
          <a:stretch>
            <a:fillRect/>
          </a:stretch>
        </p:blipFill>
        <p:spPr>
          <a:xfrm>
            <a:off x="2016977" y="1184690"/>
            <a:ext cx="8716541" cy="5233202"/>
          </a:xfrm>
          <a:prstGeom prst="rect">
            <a:avLst/>
          </a:prstGeom>
        </p:spPr>
      </p:pic>
    </p:spTree>
    <p:extLst>
      <p:ext uri="{BB962C8B-B14F-4D97-AF65-F5344CB8AC3E}">
        <p14:creationId xmlns:p14="http://schemas.microsoft.com/office/powerpoint/2010/main" val="161726237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17936" cy="1025494"/>
          </a:xfrm>
        </p:spPr>
        <p:txBody>
          <a:bodyPr/>
          <a:lstStyle/>
          <a:p>
            <a:pPr algn="ctr"/>
            <a:r>
              <a:rPr lang="en-US" b="1" dirty="0">
                <a:solidFill>
                  <a:srgbClr val="FF0000"/>
                </a:solidFill>
              </a:rPr>
              <a:t>HEAVY LOAD </a:t>
            </a:r>
            <a:r>
              <a:rPr lang="en-US" b="1" dirty="0" smtClean="0">
                <a:solidFill>
                  <a:srgbClr val="FF0000"/>
                </a:solidFill>
              </a:rPr>
              <a:t>TEST</a:t>
            </a:r>
            <a:endParaRPr lang="en-GB" dirty="0"/>
          </a:p>
        </p:txBody>
      </p:sp>
      <p:sp>
        <p:nvSpPr>
          <p:cNvPr id="3" name="Content Placeholder 2"/>
          <p:cNvSpPr>
            <a:spLocks noGrp="1"/>
          </p:cNvSpPr>
          <p:nvPr>
            <p:ph idx="1"/>
          </p:nvPr>
        </p:nvSpPr>
        <p:spPr>
          <a:xfrm>
            <a:off x="0" y="871670"/>
            <a:ext cx="12192000" cy="5986329"/>
          </a:xfrm>
        </p:spPr>
        <p:txBody>
          <a:bodyPr/>
          <a:lstStyle/>
          <a:p>
            <a:pPr>
              <a:buFont typeface="Wingdings" panose="05000000000000000000" pitchFamily="2" charset="2"/>
              <a:buChar char="Ø"/>
            </a:pPr>
            <a:r>
              <a:rPr lang="en-US" dirty="0" smtClean="0"/>
              <a:t>While </a:t>
            </a:r>
            <a:r>
              <a:rPr lang="en-US" dirty="0"/>
              <a:t>a State of Charge test determines the battery's state of charge, it does not measure the battery's ability to deliver adequate cranking power. </a:t>
            </a:r>
            <a:endParaRPr lang="en-US" dirty="0" smtClean="0"/>
          </a:p>
          <a:p>
            <a:pPr>
              <a:buFont typeface="Wingdings" panose="05000000000000000000" pitchFamily="2" charset="2"/>
              <a:buChar char="Ø"/>
            </a:pPr>
            <a:r>
              <a:rPr lang="en-US" dirty="0" smtClean="0"/>
              <a:t>A </a:t>
            </a:r>
            <a:r>
              <a:rPr lang="en-US" dirty="0"/>
              <a:t>capacity, or heavy-load test measures the battery's ability to deliver current. A battery load tester such as a Sun VAT-40 is used. (Note: the battery must be at least 75% charged before a heavy test can be performed.)</a:t>
            </a:r>
            <a:endParaRPr lang="en-GB" dirty="0"/>
          </a:p>
          <a:p>
            <a:endParaRPr lang="en-GB" dirty="0"/>
          </a:p>
        </p:txBody>
      </p:sp>
      <p:pic>
        <p:nvPicPr>
          <p:cNvPr id="4" name="image12.png"/>
          <p:cNvPicPr/>
          <p:nvPr/>
        </p:nvPicPr>
        <p:blipFill>
          <a:blip r:embed="rId2" cstate="print"/>
          <a:stretch>
            <a:fillRect/>
          </a:stretch>
        </p:blipFill>
        <p:spPr>
          <a:xfrm>
            <a:off x="2604137" y="3264492"/>
            <a:ext cx="5762195" cy="3315770"/>
          </a:xfrm>
          <a:prstGeom prst="rect">
            <a:avLst/>
          </a:prstGeom>
        </p:spPr>
      </p:pic>
    </p:spTree>
    <p:extLst>
      <p:ext uri="{BB962C8B-B14F-4D97-AF65-F5344CB8AC3E}">
        <p14:creationId xmlns:p14="http://schemas.microsoft.com/office/powerpoint/2010/main" val="256510518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957128"/>
          </a:xfrm>
        </p:spPr>
        <p:txBody>
          <a:bodyPr/>
          <a:lstStyle/>
          <a:p>
            <a:r>
              <a:rPr lang="en-US" b="1" dirty="0">
                <a:solidFill>
                  <a:srgbClr val="FF0000"/>
                </a:solidFill>
              </a:rPr>
              <a:t>DETERMINE CAPACITY RATING</a:t>
            </a:r>
            <a:endParaRPr lang="en-GB" b="1" dirty="0">
              <a:solidFill>
                <a:srgbClr val="FF0000"/>
              </a:solidFill>
            </a:endParaRPr>
          </a:p>
        </p:txBody>
      </p:sp>
      <p:sp>
        <p:nvSpPr>
          <p:cNvPr id="3" name="Content Placeholder 2"/>
          <p:cNvSpPr>
            <a:spLocks noGrp="1"/>
          </p:cNvSpPr>
          <p:nvPr>
            <p:ph idx="1"/>
          </p:nvPr>
        </p:nvSpPr>
        <p:spPr>
          <a:xfrm>
            <a:off x="0" y="957128"/>
            <a:ext cx="12192000" cy="5900871"/>
          </a:xfrm>
        </p:spPr>
        <p:txBody>
          <a:bodyPr/>
          <a:lstStyle/>
          <a:p>
            <a:pPr>
              <a:buFont typeface="Wingdings" panose="05000000000000000000" pitchFamily="2" charset="2"/>
              <a:buChar char="Ø"/>
            </a:pPr>
            <a:r>
              <a:rPr lang="en-US" dirty="0"/>
              <a:t>The capacity rating is located on the battery label. Ratings can be expressed in CCA (Cold Cranking Amps), AH (Amp-Hour), or JIS (Japanese Industrial Standard.) JIS uses a six digit code (not shown). A conversion table is offered below that can be printed. If no rating is found on the battery, then use the OEM battery rating found in most repair manuals.</a:t>
            </a:r>
            <a:endParaRPr lang="en-GB" dirty="0"/>
          </a:p>
          <a:p>
            <a:endParaRPr lang="en-GB" dirty="0"/>
          </a:p>
        </p:txBody>
      </p:sp>
      <p:pic>
        <p:nvPicPr>
          <p:cNvPr id="5" name="Picture 4"/>
          <p:cNvPicPr>
            <a:picLocks noChangeAspect="1"/>
          </p:cNvPicPr>
          <p:nvPr/>
        </p:nvPicPr>
        <p:blipFill>
          <a:blip r:embed="rId2"/>
          <a:stretch>
            <a:fillRect/>
          </a:stretch>
        </p:blipFill>
        <p:spPr>
          <a:xfrm>
            <a:off x="2551229" y="3170491"/>
            <a:ext cx="6199663" cy="2649196"/>
          </a:xfrm>
          <a:prstGeom prst="rect">
            <a:avLst/>
          </a:prstGeom>
        </p:spPr>
      </p:pic>
    </p:spTree>
    <p:extLst>
      <p:ext uri="{BB962C8B-B14F-4D97-AF65-F5344CB8AC3E}">
        <p14:creationId xmlns:p14="http://schemas.microsoft.com/office/powerpoint/2010/main" val="5563726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957128"/>
          </a:xfrm>
        </p:spPr>
        <p:txBody>
          <a:bodyPr/>
          <a:lstStyle/>
          <a:p>
            <a:pPr algn="ctr"/>
            <a:r>
              <a:rPr lang="en-US" b="1" dirty="0">
                <a:solidFill>
                  <a:srgbClr val="FF0000"/>
                </a:solidFill>
              </a:rPr>
              <a:t>HEAVY LOAD TEST </a:t>
            </a:r>
            <a:r>
              <a:rPr lang="en-US" b="1" dirty="0" smtClean="0">
                <a:solidFill>
                  <a:srgbClr val="FF0000"/>
                </a:solidFill>
              </a:rPr>
              <a:t>PROCEDURE</a:t>
            </a:r>
            <a:endParaRPr lang="en-GB" dirty="0"/>
          </a:p>
        </p:txBody>
      </p:sp>
      <p:sp>
        <p:nvSpPr>
          <p:cNvPr id="3" name="Content Placeholder 2"/>
          <p:cNvSpPr>
            <a:spLocks noGrp="1"/>
          </p:cNvSpPr>
          <p:nvPr>
            <p:ph idx="1"/>
          </p:nvPr>
        </p:nvSpPr>
        <p:spPr>
          <a:xfrm>
            <a:off x="0" y="1051132"/>
            <a:ext cx="12192000" cy="5806867"/>
          </a:xfrm>
        </p:spPr>
        <p:txBody>
          <a:bodyPr>
            <a:normAutofit/>
          </a:bodyPr>
          <a:lstStyle/>
          <a:p>
            <a:pPr marL="514350" indent="-514350">
              <a:buFont typeface="+mj-lt"/>
              <a:buAutoNum type="arabicPeriod"/>
            </a:pPr>
            <a:r>
              <a:rPr lang="en-US" dirty="0" smtClean="0"/>
              <a:t>Install </a:t>
            </a:r>
            <a:r>
              <a:rPr lang="en-US" dirty="0"/>
              <a:t>the load tester as shown in an earlier </a:t>
            </a:r>
            <a:r>
              <a:rPr lang="en-US" dirty="0" smtClean="0"/>
              <a:t>slide.</a:t>
            </a:r>
            <a:endParaRPr lang="en-GB" dirty="0"/>
          </a:p>
          <a:p>
            <a:pPr marL="514350" indent="-514350">
              <a:buFont typeface="+mj-lt"/>
              <a:buAutoNum type="arabicPeriod"/>
            </a:pPr>
            <a:r>
              <a:rPr lang="en-US" dirty="0" smtClean="0"/>
              <a:t>Load </a:t>
            </a:r>
            <a:r>
              <a:rPr lang="en-US" dirty="0"/>
              <a:t>the battery by turning the Load Increase control until the ammeter reads 3 times the amp-hour (AH) rating or one-half the cold-cranking ampere (CCA) </a:t>
            </a:r>
            <a:r>
              <a:rPr lang="en-US" dirty="0" smtClean="0"/>
              <a:t>rating.</a:t>
            </a:r>
            <a:endParaRPr lang="en-GB" dirty="0"/>
          </a:p>
          <a:p>
            <a:pPr marL="514350" indent="-514350">
              <a:buFont typeface="+mj-lt"/>
              <a:buAutoNum type="arabicPeriod"/>
            </a:pPr>
            <a:r>
              <a:rPr lang="en-US" dirty="0" smtClean="0"/>
              <a:t>Maintain </a:t>
            </a:r>
            <a:r>
              <a:rPr lang="en-US" dirty="0"/>
              <a:t>the load for no more than 15 seconds, and note the voltmeter </a:t>
            </a:r>
            <a:r>
              <a:rPr lang="en-US" dirty="0" smtClean="0"/>
              <a:t>reading.</a:t>
            </a:r>
            <a:endParaRPr lang="en-GB" dirty="0"/>
          </a:p>
          <a:p>
            <a:pPr marL="514350" indent="-514350">
              <a:buFont typeface="+mj-lt"/>
              <a:buAutoNum type="arabicPeriod"/>
            </a:pPr>
            <a:r>
              <a:rPr lang="en-US" dirty="0" smtClean="0"/>
              <a:t>If </a:t>
            </a:r>
            <a:r>
              <a:rPr lang="en-US" dirty="0"/>
              <a:t>the voltmeter reading during the test </a:t>
            </a:r>
            <a:r>
              <a:rPr lang="en-US" dirty="0" smtClean="0"/>
              <a:t>is </a:t>
            </a:r>
            <a:r>
              <a:rPr lang="en-US" b="1" dirty="0" smtClean="0"/>
              <a:t>9.6 </a:t>
            </a:r>
            <a:r>
              <a:rPr lang="en-US" dirty="0"/>
              <a:t>volts or higher, the battery is good</a:t>
            </a:r>
            <a:r>
              <a:rPr lang="en-US" dirty="0" smtClean="0"/>
              <a:t>.</a:t>
            </a:r>
            <a:r>
              <a:rPr lang="en-US" b="1" dirty="0"/>
              <a:t> </a:t>
            </a:r>
            <a:r>
              <a:rPr lang="en-US" b="1" dirty="0" smtClean="0"/>
              <a:t>And 9.5 </a:t>
            </a:r>
            <a:r>
              <a:rPr lang="en-US" dirty="0"/>
              <a:t>volts or below, the battery is defective and needs replacement.</a:t>
            </a:r>
            <a:endParaRPr lang="en-GB" dirty="0"/>
          </a:p>
          <a:p>
            <a:pPr marL="514350" indent="-514350">
              <a:buFont typeface="+mj-lt"/>
              <a:buAutoNum type="arabicPeriod"/>
            </a:pPr>
            <a:endParaRPr lang="en-GB" dirty="0"/>
          </a:p>
          <a:p>
            <a:pPr marL="514350" indent="-514350">
              <a:buFont typeface="+mj-lt"/>
              <a:buAutoNum type="arabicPeriod"/>
            </a:pPr>
            <a:endParaRPr lang="en-GB" dirty="0"/>
          </a:p>
          <a:p>
            <a:endParaRPr lang="en-GB" dirty="0"/>
          </a:p>
        </p:txBody>
      </p:sp>
    </p:spTree>
    <p:extLst>
      <p:ext uri="{BB962C8B-B14F-4D97-AF65-F5344CB8AC3E}">
        <p14:creationId xmlns:p14="http://schemas.microsoft.com/office/powerpoint/2010/main" val="1349735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222048"/>
          </a:xfrm>
        </p:spPr>
        <p:txBody>
          <a:bodyPr>
            <a:normAutofit/>
          </a:bodyPr>
          <a:lstStyle/>
          <a:p>
            <a:pPr algn="ctr"/>
            <a:r>
              <a:rPr lang="en-US" b="1" dirty="0">
                <a:solidFill>
                  <a:srgbClr val="FF0000"/>
                </a:solidFill>
              </a:rPr>
              <a:t>CURRENT </a:t>
            </a:r>
            <a:r>
              <a:rPr lang="en-US" b="1" dirty="0" smtClean="0">
                <a:solidFill>
                  <a:srgbClr val="FF0000"/>
                </a:solidFill>
              </a:rPr>
              <a:t>DRAINS</a:t>
            </a:r>
            <a:endParaRPr lang="en-GB" dirty="0"/>
          </a:p>
        </p:txBody>
      </p:sp>
      <p:sp>
        <p:nvSpPr>
          <p:cNvPr id="3" name="Content Placeholder 2"/>
          <p:cNvSpPr>
            <a:spLocks noGrp="1"/>
          </p:cNvSpPr>
          <p:nvPr>
            <p:ph idx="1"/>
          </p:nvPr>
        </p:nvSpPr>
        <p:spPr>
          <a:xfrm>
            <a:off x="59821" y="1034040"/>
            <a:ext cx="12132179" cy="5823959"/>
          </a:xfrm>
        </p:spPr>
        <p:txBody>
          <a:bodyPr>
            <a:normAutofit/>
          </a:bodyPr>
          <a:lstStyle/>
          <a:p>
            <a:pPr>
              <a:buFont typeface="Wingdings" panose="05000000000000000000" pitchFamily="2" charset="2"/>
              <a:buChar char="Ø"/>
            </a:pPr>
            <a:r>
              <a:rPr lang="en-US" dirty="0" smtClean="0"/>
              <a:t>Parasitic </a:t>
            </a:r>
            <a:r>
              <a:rPr lang="en-US" dirty="0"/>
              <a:t>drains are the small current drains required to operate various electrical systems, such as the clock, computer memory, or alarms, that continue to work when the car is parked and the ignition is off. All vehicles today have parasitic drains and over time will drain all batteries if not driven or charged periodically. The problem is when the parasitic drain becomes excessive, usually over 35 </a:t>
            </a:r>
            <a:r>
              <a:rPr lang="en-US" dirty="0" smtClean="0"/>
              <a:t>milliamps.</a:t>
            </a:r>
            <a:endParaRPr lang="en-GB" dirty="0"/>
          </a:p>
          <a:p>
            <a:pPr>
              <a:buFont typeface="Wingdings" panose="05000000000000000000" pitchFamily="2" charset="2"/>
              <a:buChar char="Ø"/>
            </a:pPr>
            <a:r>
              <a:rPr lang="en-US" dirty="0" smtClean="0"/>
              <a:t>Unwanted </a:t>
            </a:r>
            <a:r>
              <a:rPr lang="en-US" dirty="0"/>
              <a:t>battery drain can also be the reason why a battery keeps discharging. Unwanted battery drain can be a result of </a:t>
            </a:r>
            <a:r>
              <a:rPr lang="en-US" b="1" dirty="0"/>
              <a:t>excessive parasitic drain</a:t>
            </a:r>
            <a:r>
              <a:rPr lang="en-US" dirty="0"/>
              <a:t>, or if the top of the battery is wet or has excessive corrosion, it could create a path between the two battery posts, causing a current drain; usually 0.5 volt potential or higher will result in a battery discharge. This is called </a:t>
            </a:r>
            <a:r>
              <a:rPr lang="en-US" b="1" dirty="0"/>
              <a:t>Case Drain</a:t>
            </a:r>
            <a:r>
              <a:rPr lang="en-US" b="1" dirty="0" smtClean="0"/>
              <a:t>.</a:t>
            </a:r>
            <a:endParaRPr lang="en-GB" dirty="0"/>
          </a:p>
        </p:txBody>
      </p:sp>
      <p:pic>
        <p:nvPicPr>
          <p:cNvPr id="4" name="image14.png"/>
          <p:cNvPicPr/>
          <p:nvPr/>
        </p:nvPicPr>
        <p:blipFill>
          <a:blip r:embed="rId2" cstate="print"/>
          <a:stretch>
            <a:fillRect/>
          </a:stretch>
        </p:blipFill>
        <p:spPr>
          <a:xfrm>
            <a:off x="9206450" y="5214622"/>
            <a:ext cx="2376170" cy="1391277"/>
          </a:xfrm>
          <a:prstGeom prst="rect">
            <a:avLst/>
          </a:prstGeom>
        </p:spPr>
      </p:pic>
    </p:spTree>
    <p:extLst>
      <p:ext uri="{BB962C8B-B14F-4D97-AF65-F5344CB8AC3E}">
        <p14:creationId xmlns:p14="http://schemas.microsoft.com/office/powerpoint/2010/main" val="11756188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991311"/>
          </a:xfrm>
        </p:spPr>
        <p:txBody>
          <a:bodyPr/>
          <a:lstStyle/>
          <a:p>
            <a:pPr algn="ctr"/>
            <a:r>
              <a:rPr lang="en-US" b="1" dirty="0">
                <a:solidFill>
                  <a:srgbClr val="FF0000"/>
                </a:solidFill>
              </a:rPr>
              <a:t>PARASITIC </a:t>
            </a:r>
            <a:r>
              <a:rPr lang="en-US" b="1" dirty="0" smtClean="0">
                <a:solidFill>
                  <a:srgbClr val="FF0000"/>
                </a:solidFill>
              </a:rPr>
              <a:t>DRAIN</a:t>
            </a:r>
            <a:endParaRPr lang="en-GB" dirty="0">
              <a:solidFill>
                <a:srgbClr val="FF0000"/>
              </a:solidFill>
            </a:endParaRPr>
          </a:p>
        </p:txBody>
      </p:sp>
      <p:sp>
        <p:nvSpPr>
          <p:cNvPr id="3" name="Content Placeholder 2"/>
          <p:cNvSpPr>
            <a:spLocks noGrp="1"/>
          </p:cNvSpPr>
          <p:nvPr>
            <p:ph idx="1"/>
          </p:nvPr>
        </p:nvSpPr>
        <p:spPr>
          <a:xfrm>
            <a:off x="111095" y="991312"/>
            <a:ext cx="12080905" cy="5866688"/>
          </a:xfrm>
        </p:spPr>
        <p:txBody>
          <a:bodyPr>
            <a:normAutofit/>
          </a:bodyPr>
          <a:lstStyle/>
          <a:p>
            <a:pPr>
              <a:buFont typeface="Wingdings" panose="05000000000000000000" pitchFamily="2" charset="2"/>
              <a:buChar char="Ø"/>
            </a:pPr>
            <a:r>
              <a:rPr lang="en-US" dirty="0" smtClean="0"/>
              <a:t>Check </a:t>
            </a:r>
            <a:r>
              <a:rPr lang="en-US" dirty="0"/>
              <a:t>for excessive battery drain or parasitic loads using an ammeter. </a:t>
            </a:r>
            <a:endParaRPr lang="en-US" dirty="0" smtClean="0"/>
          </a:p>
          <a:p>
            <a:pPr>
              <a:buFont typeface="Wingdings" panose="05000000000000000000" pitchFamily="2" charset="2"/>
              <a:buChar char="Ø"/>
            </a:pPr>
            <a:r>
              <a:rPr lang="en-US" dirty="0" smtClean="0"/>
              <a:t>Make </a:t>
            </a:r>
            <a:r>
              <a:rPr lang="en-US" dirty="0"/>
              <a:t>sure all electrical loads are off in the car, doors closed, and the key is out of the ignition switch . </a:t>
            </a:r>
            <a:endParaRPr lang="en-US" dirty="0" smtClean="0"/>
          </a:p>
          <a:p>
            <a:pPr>
              <a:buFont typeface="Wingdings" panose="05000000000000000000" pitchFamily="2" charset="2"/>
              <a:buChar char="Ø"/>
            </a:pPr>
            <a:r>
              <a:rPr lang="en-US" dirty="0" smtClean="0"/>
              <a:t>Disconnect </a:t>
            </a:r>
            <a:r>
              <a:rPr lang="en-US" dirty="0"/>
              <a:t>one of the battery cables from the battery, placing an ammeter in series between the battery post and cable clamp. </a:t>
            </a:r>
            <a:endParaRPr lang="en-US" dirty="0" smtClean="0"/>
          </a:p>
          <a:p>
            <a:pPr>
              <a:buFont typeface="Wingdings" panose="05000000000000000000" pitchFamily="2" charset="2"/>
              <a:buChar char="Ø"/>
            </a:pPr>
            <a:r>
              <a:rPr lang="en-US" dirty="0" smtClean="0"/>
              <a:t>The </a:t>
            </a:r>
            <a:r>
              <a:rPr lang="en-US" dirty="0"/>
              <a:t>current draw reading should be less than 35 milliamps. A reading higher than this (or manufacturer specifications) would indicate excessive battery drain. Something is "on", allowing current to flow running down the battery. </a:t>
            </a:r>
            <a:endParaRPr lang="en-US" dirty="0" smtClean="0"/>
          </a:p>
          <a:p>
            <a:pPr>
              <a:buFont typeface="Wingdings" panose="05000000000000000000" pitchFamily="2" charset="2"/>
              <a:buChar char="Ø"/>
            </a:pPr>
            <a:r>
              <a:rPr lang="en-US" dirty="0" smtClean="0"/>
              <a:t>Vehicles </a:t>
            </a:r>
            <a:r>
              <a:rPr lang="en-US" dirty="0"/>
              <a:t>today typically will draw less than .020 amps (20 milliamps) of current to maintain electronic memories and circuits.</a:t>
            </a:r>
            <a:endParaRPr lang="en-GB" dirty="0"/>
          </a:p>
          <a:p>
            <a:endParaRPr lang="en-GB" dirty="0"/>
          </a:p>
        </p:txBody>
      </p:sp>
      <p:pic>
        <p:nvPicPr>
          <p:cNvPr id="4" name="image15.png"/>
          <p:cNvPicPr/>
          <p:nvPr/>
        </p:nvPicPr>
        <p:blipFill>
          <a:blip r:embed="rId2" cstate="print"/>
          <a:stretch>
            <a:fillRect/>
          </a:stretch>
        </p:blipFill>
        <p:spPr>
          <a:xfrm>
            <a:off x="8830443" y="5067658"/>
            <a:ext cx="1760855" cy="1790342"/>
          </a:xfrm>
          <a:prstGeom prst="rect">
            <a:avLst/>
          </a:prstGeom>
        </p:spPr>
      </p:pic>
    </p:spTree>
    <p:extLst>
      <p:ext uri="{BB962C8B-B14F-4D97-AF65-F5344CB8AC3E}">
        <p14:creationId xmlns:p14="http://schemas.microsoft.com/office/powerpoint/2010/main" val="2674284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2"/>
            <a:ext cx="12254669" cy="888762"/>
          </a:xfrm>
        </p:spPr>
        <p:txBody>
          <a:bodyPr>
            <a:normAutofit/>
          </a:bodyPr>
          <a:lstStyle/>
          <a:p>
            <a:pPr algn="ctr"/>
            <a:r>
              <a:rPr lang="en-US" b="1" dirty="0">
                <a:solidFill>
                  <a:srgbClr val="FF0000"/>
                </a:solidFill>
              </a:rPr>
              <a:t>BATTERY </a:t>
            </a:r>
            <a:r>
              <a:rPr lang="en-US" b="1" dirty="0" smtClean="0">
                <a:solidFill>
                  <a:srgbClr val="FF0000"/>
                </a:solidFill>
              </a:rPr>
              <a:t>SERVICE</a:t>
            </a:r>
            <a:endParaRPr lang="en-GB" b="1" dirty="0">
              <a:solidFill>
                <a:srgbClr val="FF0000"/>
              </a:solidFill>
            </a:endParaRPr>
          </a:p>
        </p:txBody>
      </p:sp>
      <p:sp>
        <p:nvSpPr>
          <p:cNvPr id="3" name="Content Placeholder 2"/>
          <p:cNvSpPr>
            <a:spLocks noGrp="1"/>
          </p:cNvSpPr>
          <p:nvPr>
            <p:ph idx="1"/>
          </p:nvPr>
        </p:nvSpPr>
        <p:spPr>
          <a:xfrm>
            <a:off x="-1" y="999858"/>
            <a:ext cx="12192001" cy="5858142"/>
          </a:xfrm>
        </p:spPr>
        <p:txBody>
          <a:bodyPr>
            <a:normAutofit/>
          </a:bodyPr>
          <a:lstStyle/>
          <a:p>
            <a:pPr>
              <a:buFont typeface="Wingdings" panose="05000000000000000000" pitchFamily="2" charset="2"/>
              <a:buChar char="Ø"/>
            </a:pPr>
            <a:r>
              <a:rPr lang="en-US" b="1" dirty="0" smtClean="0"/>
              <a:t>Battery </a:t>
            </a:r>
            <a:r>
              <a:rPr lang="en-US" b="1" dirty="0"/>
              <a:t>services are routinely performed. These services include:</a:t>
            </a:r>
            <a:endParaRPr lang="en-GB" b="1" dirty="0"/>
          </a:p>
          <a:p>
            <a:pPr marL="514350" indent="-514350">
              <a:buFont typeface="+mj-lt"/>
              <a:buAutoNum type="arabicParenR"/>
            </a:pPr>
            <a:r>
              <a:rPr lang="en-US" b="1" dirty="0" smtClean="0"/>
              <a:t>Testing</a:t>
            </a:r>
            <a:endParaRPr lang="en-GB" b="1" dirty="0"/>
          </a:p>
          <a:p>
            <a:pPr marL="514350" indent="-514350">
              <a:buFont typeface="+mj-lt"/>
              <a:buAutoNum type="arabicParenR"/>
            </a:pPr>
            <a:r>
              <a:rPr lang="en-US" b="1" dirty="0" smtClean="0"/>
              <a:t>Charging</a:t>
            </a:r>
            <a:endParaRPr lang="en-GB" dirty="0"/>
          </a:p>
          <a:p>
            <a:pPr marL="514350" indent="-514350">
              <a:buFont typeface="+mj-lt"/>
              <a:buAutoNum type="arabicParenR"/>
            </a:pPr>
            <a:r>
              <a:rPr lang="en-US" b="1" dirty="0" smtClean="0"/>
              <a:t>Cleaning</a:t>
            </a:r>
            <a:endParaRPr lang="en-GB" dirty="0"/>
          </a:p>
          <a:p>
            <a:pPr marL="514350" indent="-514350">
              <a:buFont typeface="+mj-lt"/>
              <a:buAutoNum type="arabicParenR"/>
            </a:pPr>
            <a:r>
              <a:rPr lang="en-US" b="1" dirty="0" smtClean="0"/>
              <a:t>Jumping </a:t>
            </a:r>
            <a:r>
              <a:rPr lang="en-US" b="1" dirty="0"/>
              <a:t>a dead </a:t>
            </a:r>
            <a:r>
              <a:rPr lang="en-US" b="1" dirty="0" smtClean="0"/>
              <a:t>battery</a:t>
            </a:r>
          </a:p>
          <a:p>
            <a:pPr marL="514350" indent="-514350">
              <a:buFont typeface="+mj-lt"/>
              <a:buAutoNum type="arabicParenR"/>
            </a:pPr>
            <a:r>
              <a:rPr lang="en-US" b="1" dirty="0" smtClean="0"/>
              <a:t>Adding </a:t>
            </a:r>
            <a:r>
              <a:rPr lang="en-US" b="1" dirty="0"/>
              <a:t>water.</a:t>
            </a:r>
            <a:endParaRPr lang="en-GB" dirty="0"/>
          </a:p>
          <a:p>
            <a:endParaRPr lang="en-GB" dirty="0"/>
          </a:p>
        </p:txBody>
      </p:sp>
    </p:spTree>
    <p:extLst>
      <p:ext uri="{BB962C8B-B14F-4D97-AF65-F5344CB8AC3E}">
        <p14:creationId xmlns:p14="http://schemas.microsoft.com/office/powerpoint/2010/main" val="35442903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982765"/>
          </a:xfrm>
        </p:spPr>
        <p:txBody>
          <a:bodyPr>
            <a:normAutofit/>
          </a:bodyPr>
          <a:lstStyle/>
          <a:p>
            <a:pPr algn="ctr"/>
            <a:r>
              <a:rPr lang="en-US" b="1" dirty="0"/>
              <a:t>BATTERY </a:t>
            </a:r>
            <a:r>
              <a:rPr lang="en-US" b="1" dirty="0" smtClean="0"/>
              <a:t>CHARGING</a:t>
            </a:r>
            <a:endParaRPr lang="en-GB" dirty="0"/>
          </a:p>
        </p:txBody>
      </p:sp>
      <p:sp>
        <p:nvSpPr>
          <p:cNvPr id="3" name="Content Placeholder 2"/>
          <p:cNvSpPr>
            <a:spLocks noGrp="1"/>
          </p:cNvSpPr>
          <p:nvPr>
            <p:ph idx="1"/>
          </p:nvPr>
        </p:nvSpPr>
        <p:spPr>
          <a:xfrm>
            <a:off x="0" y="1085316"/>
            <a:ext cx="12192000" cy="5772684"/>
          </a:xfrm>
        </p:spPr>
        <p:txBody>
          <a:bodyPr>
            <a:normAutofit/>
          </a:bodyPr>
          <a:lstStyle/>
          <a:p>
            <a:pPr>
              <a:buFont typeface="Wingdings" panose="05000000000000000000" pitchFamily="2" charset="2"/>
              <a:buChar char="Ø"/>
            </a:pPr>
            <a:r>
              <a:rPr lang="en-US" dirty="0" smtClean="0"/>
              <a:t>All </a:t>
            </a:r>
            <a:r>
              <a:rPr lang="en-US" dirty="0"/>
              <a:t>battery chargers operate on the same principle: an electric current is applied to the battery to reverse the chemical action in the cells. Never connect or disconnect leads with the charger turned ON. </a:t>
            </a:r>
            <a:endParaRPr lang="en-US" dirty="0" smtClean="0"/>
          </a:p>
          <a:p>
            <a:pPr>
              <a:buFont typeface="Wingdings" panose="05000000000000000000" pitchFamily="2" charset="2"/>
              <a:buChar char="Ø"/>
            </a:pPr>
            <a:r>
              <a:rPr lang="en-US" dirty="0" smtClean="0"/>
              <a:t>Follow </a:t>
            </a:r>
            <a:r>
              <a:rPr lang="en-US" dirty="0"/>
              <a:t>the battery charger manufacturer's instructions. DO NOT attempt to charge a battery with frozen electrolyte. </a:t>
            </a:r>
            <a:endParaRPr lang="en-US" dirty="0" smtClean="0"/>
          </a:p>
          <a:p>
            <a:pPr>
              <a:buFont typeface="Wingdings" panose="05000000000000000000" pitchFamily="2" charset="2"/>
              <a:buChar char="Ø"/>
            </a:pPr>
            <a:r>
              <a:rPr lang="en-US" dirty="0" smtClean="0"/>
              <a:t>When </a:t>
            </a:r>
            <a:r>
              <a:rPr lang="en-US" dirty="0"/>
              <a:t>using a battery charger, always disconnect the battery ground cable first. This will minimize the possibility of damage to the alternator or electronic components in the vehicle. </a:t>
            </a:r>
            <a:endParaRPr lang="en-US" dirty="0" smtClean="0"/>
          </a:p>
          <a:p>
            <a:pPr>
              <a:buFont typeface="Wingdings" panose="05000000000000000000" pitchFamily="2" charset="2"/>
              <a:buChar char="Ø"/>
            </a:pPr>
            <a:r>
              <a:rPr lang="en-US" dirty="0" smtClean="0"/>
              <a:t>The </a:t>
            </a:r>
            <a:r>
              <a:rPr lang="en-US" dirty="0"/>
              <a:t>battery can be considered fully charged when all cells are gassing freely and when there is no change in specific gravity readings for more than one </a:t>
            </a:r>
            <a:r>
              <a:rPr lang="en-US" dirty="0" smtClean="0"/>
              <a:t>hour.</a:t>
            </a:r>
            <a:endParaRPr lang="en-GB" dirty="0"/>
          </a:p>
          <a:p>
            <a:pPr>
              <a:buFont typeface="Wingdings" panose="05000000000000000000" pitchFamily="2" charset="2"/>
              <a:buChar char="Ø"/>
            </a:pPr>
            <a:r>
              <a:rPr lang="en-US" b="1" dirty="0" smtClean="0"/>
              <a:t>A </a:t>
            </a:r>
            <a:r>
              <a:rPr lang="en-US" b="1" dirty="0"/>
              <a:t>slow charge is 5 or 10 amps while a fast charge is generally 15 amps or higher. A slow charge is always preferred.</a:t>
            </a:r>
            <a:endParaRPr lang="en-GB" b="1" dirty="0"/>
          </a:p>
          <a:p>
            <a:endParaRPr lang="en-GB" dirty="0"/>
          </a:p>
        </p:txBody>
      </p:sp>
    </p:spTree>
    <p:extLst>
      <p:ext uri="{BB962C8B-B14F-4D97-AF65-F5344CB8AC3E}">
        <p14:creationId xmlns:p14="http://schemas.microsoft.com/office/powerpoint/2010/main" val="20949721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323036" cy="991311"/>
          </a:xfrm>
        </p:spPr>
        <p:txBody>
          <a:bodyPr/>
          <a:lstStyle/>
          <a:p>
            <a:r>
              <a:rPr lang="en-US" b="1" dirty="0">
                <a:solidFill>
                  <a:srgbClr val="FF0000"/>
                </a:solidFill>
              </a:rPr>
              <a:t>BATTERY CHARGER </a:t>
            </a:r>
            <a:r>
              <a:rPr lang="en-US" b="1" dirty="0" smtClean="0">
                <a:solidFill>
                  <a:srgbClr val="FF0000"/>
                </a:solidFill>
              </a:rPr>
              <a:t>TYPES</a:t>
            </a:r>
            <a:endParaRPr lang="en-GB" dirty="0">
              <a:solidFill>
                <a:srgbClr val="FF0000"/>
              </a:solidFill>
            </a:endParaRPr>
          </a:p>
        </p:txBody>
      </p:sp>
      <p:sp>
        <p:nvSpPr>
          <p:cNvPr id="3" name="Content Placeholder 2"/>
          <p:cNvSpPr>
            <a:spLocks noGrp="1"/>
          </p:cNvSpPr>
          <p:nvPr>
            <p:ph idx="1"/>
          </p:nvPr>
        </p:nvSpPr>
        <p:spPr>
          <a:xfrm>
            <a:off x="0" y="1085316"/>
            <a:ext cx="12192000" cy="5772684"/>
          </a:xfrm>
        </p:spPr>
        <p:txBody>
          <a:bodyPr>
            <a:normAutofit/>
          </a:bodyPr>
          <a:lstStyle/>
          <a:p>
            <a:pPr>
              <a:buFont typeface="Wingdings" panose="05000000000000000000" pitchFamily="2" charset="2"/>
              <a:buChar char="Ø"/>
            </a:pPr>
            <a:r>
              <a:rPr lang="en-US" dirty="0" smtClean="0"/>
              <a:t>Battery </a:t>
            </a:r>
            <a:r>
              <a:rPr lang="en-US" dirty="0"/>
              <a:t>chargers are available in two classifications: </a:t>
            </a:r>
            <a:endParaRPr lang="en-US" dirty="0" smtClean="0"/>
          </a:p>
          <a:p>
            <a:pPr marL="514350" indent="-514350">
              <a:buFont typeface="+mj-lt"/>
              <a:buAutoNum type="arabicParenR"/>
            </a:pPr>
            <a:r>
              <a:rPr lang="en-US" b="1" dirty="0" smtClean="0"/>
              <a:t>Automatic </a:t>
            </a:r>
            <a:r>
              <a:rPr lang="en-US" b="1" dirty="0"/>
              <a:t>chargers </a:t>
            </a:r>
            <a:r>
              <a:rPr lang="en-US" dirty="0"/>
              <a:t>(typically the type consumers purchase) pulse and cycle the charge current and voltage rates. This automatic cycling rate protects the battery from damage and allows the charge rate to taper over </a:t>
            </a:r>
            <a:r>
              <a:rPr lang="en-US" dirty="0" smtClean="0"/>
              <a:t>time.</a:t>
            </a:r>
            <a:endParaRPr lang="en-GB" dirty="0"/>
          </a:p>
          <a:p>
            <a:pPr marL="514350" indent="-514350">
              <a:buFont typeface="+mj-lt"/>
              <a:buAutoNum type="arabicParenR"/>
            </a:pPr>
            <a:r>
              <a:rPr lang="en-US" b="1" dirty="0" smtClean="0"/>
              <a:t>Manual </a:t>
            </a:r>
            <a:r>
              <a:rPr lang="en-US" b="1" dirty="0"/>
              <a:t>chargers </a:t>
            </a:r>
            <a:r>
              <a:rPr lang="en-US" dirty="0"/>
              <a:t>(shown below), also known as wheel chargers, are preferred by automotive professionals. These charges do not cycle, but rather provide a constant non tapering charge. The constant charge rate allows the technician to accurately calculate the charge time to prevent overcharging of the battery.</a:t>
            </a:r>
            <a:endParaRPr lang="en-GB" dirty="0"/>
          </a:p>
          <a:p>
            <a:endParaRPr lang="en-GB" dirty="0"/>
          </a:p>
        </p:txBody>
      </p:sp>
      <p:pic>
        <p:nvPicPr>
          <p:cNvPr id="4" name="image19.png"/>
          <p:cNvPicPr/>
          <p:nvPr/>
        </p:nvPicPr>
        <p:blipFill>
          <a:blip r:embed="rId2" cstate="print"/>
          <a:stretch>
            <a:fillRect/>
          </a:stretch>
        </p:blipFill>
        <p:spPr>
          <a:xfrm>
            <a:off x="2131719" y="4905285"/>
            <a:ext cx="1802792" cy="1558535"/>
          </a:xfrm>
          <a:prstGeom prst="rect">
            <a:avLst/>
          </a:prstGeom>
        </p:spPr>
      </p:pic>
      <p:pic>
        <p:nvPicPr>
          <p:cNvPr id="5" name="image20.png"/>
          <p:cNvPicPr/>
          <p:nvPr/>
        </p:nvPicPr>
        <p:blipFill>
          <a:blip r:embed="rId3" cstate="print"/>
          <a:stretch>
            <a:fillRect/>
          </a:stretch>
        </p:blipFill>
        <p:spPr>
          <a:xfrm>
            <a:off x="6499859" y="4597637"/>
            <a:ext cx="2225397" cy="2173833"/>
          </a:xfrm>
          <a:prstGeom prst="rect">
            <a:avLst/>
          </a:prstGeom>
        </p:spPr>
      </p:pic>
    </p:spTree>
    <p:extLst>
      <p:ext uri="{BB962C8B-B14F-4D97-AF65-F5344CB8AC3E}">
        <p14:creationId xmlns:p14="http://schemas.microsoft.com/office/powerpoint/2010/main" val="28690637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204956"/>
          </a:xfrm>
        </p:spPr>
        <p:txBody>
          <a:bodyPr>
            <a:normAutofit/>
          </a:bodyPr>
          <a:lstStyle/>
          <a:p>
            <a:r>
              <a:rPr lang="en-US" b="1" dirty="0">
                <a:solidFill>
                  <a:srgbClr val="FF0000"/>
                </a:solidFill>
              </a:rPr>
              <a:t>GENERAL RULES FOR CHARGING A </a:t>
            </a:r>
            <a:r>
              <a:rPr lang="en-US" b="1" dirty="0" smtClean="0">
                <a:solidFill>
                  <a:srgbClr val="FF0000"/>
                </a:solidFill>
              </a:rPr>
              <a:t>BATTERY</a:t>
            </a:r>
            <a:endParaRPr lang="en-GB" dirty="0">
              <a:solidFill>
                <a:srgbClr val="FF0000"/>
              </a:solidFill>
            </a:endParaRPr>
          </a:p>
        </p:txBody>
      </p:sp>
      <p:sp>
        <p:nvSpPr>
          <p:cNvPr id="3" name="Content Placeholder 2"/>
          <p:cNvSpPr>
            <a:spLocks noGrp="1"/>
          </p:cNvSpPr>
          <p:nvPr>
            <p:ph idx="1"/>
          </p:nvPr>
        </p:nvSpPr>
        <p:spPr>
          <a:xfrm>
            <a:off x="0" y="1119498"/>
            <a:ext cx="12192000" cy="5738501"/>
          </a:xfrm>
        </p:spPr>
        <p:txBody>
          <a:bodyPr>
            <a:normAutofit fontScale="92500" lnSpcReduction="10000"/>
          </a:bodyPr>
          <a:lstStyle/>
          <a:p>
            <a:pPr marL="514350" indent="-514350">
              <a:buFont typeface="+mj-lt"/>
              <a:buAutoNum type="arabicParenR"/>
            </a:pPr>
            <a:r>
              <a:rPr lang="en-US" dirty="0" smtClean="0"/>
              <a:t>Always </a:t>
            </a:r>
            <a:r>
              <a:rPr lang="en-US" dirty="0"/>
              <a:t>leave the vent caps in place during </a:t>
            </a:r>
            <a:r>
              <a:rPr lang="en-US" dirty="0" smtClean="0"/>
              <a:t>charging.</a:t>
            </a:r>
            <a:endParaRPr lang="en-GB" dirty="0"/>
          </a:p>
          <a:p>
            <a:pPr marL="514350" indent="-514350">
              <a:buFont typeface="+mj-lt"/>
              <a:buAutoNum type="arabicParenR"/>
            </a:pPr>
            <a:r>
              <a:rPr lang="en-US" dirty="0" smtClean="0"/>
              <a:t>Always </a:t>
            </a:r>
            <a:r>
              <a:rPr lang="en-US" dirty="0"/>
              <a:t>follow the battery charger manufacturer's </a:t>
            </a:r>
            <a:r>
              <a:rPr lang="en-US" dirty="0" smtClean="0"/>
              <a:t>instructions.</a:t>
            </a:r>
            <a:endParaRPr lang="en-GB" dirty="0"/>
          </a:p>
          <a:p>
            <a:pPr marL="514350" indent="-514350">
              <a:buFont typeface="+mj-lt"/>
              <a:buAutoNum type="arabicParenR"/>
            </a:pPr>
            <a:r>
              <a:rPr lang="en-US" dirty="0" smtClean="0"/>
              <a:t>Always </a:t>
            </a:r>
            <a:r>
              <a:rPr lang="en-US" dirty="0"/>
              <a:t>charge batteries in a well ventilated area, and wear eye protection and protective clothing, such as a rubber apron and rubber </a:t>
            </a:r>
            <a:r>
              <a:rPr lang="en-US" dirty="0" smtClean="0"/>
              <a:t>gloves.</a:t>
            </a:r>
            <a:endParaRPr lang="en-GB" dirty="0"/>
          </a:p>
          <a:p>
            <a:pPr marL="514350" indent="-514350">
              <a:buFont typeface="+mj-lt"/>
              <a:buAutoNum type="arabicParenR"/>
            </a:pPr>
            <a:r>
              <a:rPr lang="en-US" dirty="0" smtClean="0"/>
              <a:t>Always </a:t>
            </a:r>
            <a:r>
              <a:rPr lang="en-US" dirty="0"/>
              <a:t>keep sparks or flames away from the battery. (Do not smoke near a </a:t>
            </a:r>
            <a:r>
              <a:rPr lang="en-US" dirty="0" smtClean="0"/>
              <a:t>battery)</a:t>
            </a:r>
            <a:endParaRPr lang="en-GB" dirty="0"/>
          </a:p>
          <a:p>
            <a:pPr marL="514350" indent="-514350">
              <a:buFont typeface="+mj-lt"/>
              <a:buAutoNum type="arabicParenR"/>
            </a:pPr>
            <a:r>
              <a:rPr lang="en-US" dirty="0" smtClean="0"/>
              <a:t>Recharge </a:t>
            </a:r>
            <a:r>
              <a:rPr lang="en-US" dirty="0"/>
              <a:t>the battery at the same rate at which it was discharged. If the discharge was slow, then charge at a slow rate; if the discharge was rapid, then charge at a higher rate. (When in doubt always use a slow charge</a:t>
            </a:r>
            <a:r>
              <a:rPr lang="en-US" dirty="0" smtClean="0"/>
              <a:t>.)</a:t>
            </a:r>
            <a:endParaRPr lang="en-GB" dirty="0"/>
          </a:p>
          <a:p>
            <a:pPr marL="514350" indent="-514350">
              <a:buFont typeface="+mj-lt"/>
              <a:buAutoNum type="arabicParenR"/>
            </a:pPr>
            <a:r>
              <a:rPr lang="en-US" dirty="0" smtClean="0"/>
              <a:t>Never </a:t>
            </a:r>
            <a:r>
              <a:rPr lang="en-US" dirty="0"/>
              <a:t>charge a battery that is connected to a vehicle. Disconnect the battery and charge. Excessive voltage can damage electrical circuits on the </a:t>
            </a:r>
            <a:r>
              <a:rPr lang="en-US" dirty="0" smtClean="0"/>
              <a:t>vehicle.</a:t>
            </a:r>
          </a:p>
          <a:p>
            <a:pPr marL="514350" indent="-514350">
              <a:buFont typeface="+mj-lt"/>
              <a:buAutoNum type="arabicParenR"/>
            </a:pPr>
            <a:r>
              <a:rPr lang="en-US" dirty="0" smtClean="0"/>
              <a:t>Recheck </a:t>
            </a:r>
            <a:r>
              <a:rPr lang="en-US" dirty="0"/>
              <a:t>specific gravity readings periodically, determine if further charging is still </a:t>
            </a:r>
            <a:r>
              <a:rPr lang="en-US" dirty="0" smtClean="0"/>
              <a:t>required.</a:t>
            </a:r>
            <a:endParaRPr lang="en-GB" dirty="0"/>
          </a:p>
          <a:p>
            <a:pPr marL="514350" indent="-514350">
              <a:buFont typeface="+mj-lt"/>
              <a:buAutoNum type="arabicParenR"/>
            </a:pPr>
            <a:r>
              <a:rPr lang="en-US" dirty="0" smtClean="0"/>
              <a:t>Periodically </a:t>
            </a:r>
            <a:r>
              <a:rPr lang="en-US" dirty="0"/>
              <a:t>check the battery for excessive heat by placing your hand on the side of the battery. If it is hot (125'F) to the touch, interrupt the charging (turn off) until the battery cools and lower charge rate.</a:t>
            </a:r>
            <a:endParaRPr lang="en-GB" dirty="0"/>
          </a:p>
          <a:p>
            <a:pPr marL="514350" indent="-514350">
              <a:buFont typeface="+mj-lt"/>
              <a:buAutoNum type="arabicParenR"/>
            </a:pPr>
            <a:endParaRPr lang="en-GB" dirty="0"/>
          </a:p>
          <a:p>
            <a:endParaRPr lang="en-GB" dirty="0"/>
          </a:p>
        </p:txBody>
      </p:sp>
    </p:spTree>
    <p:extLst>
      <p:ext uri="{BB962C8B-B14F-4D97-AF65-F5344CB8AC3E}">
        <p14:creationId xmlns:p14="http://schemas.microsoft.com/office/powerpoint/2010/main" val="169490785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016949"/>
          </a:xfrm>
        </p:spPr>
        <p:txBody>
          <a:bodyPr>
            <a:normAutofit/>
          </a:bodyPr>
          <a:lstStyle/>
          <a:p>
            <a:r>
              <a:rPr lang="en-US" b="1" dirty="0">
                <a:solidFill>
                  <a:srgbClr val="FF0000"/>
                </a:solidFill>
              </a:rPr>
              <a:t>CHARGING PROCEDURE - AUTOMATIC </a:t>
            </a:r>
            <a:r>
              <a:rPr lang="en-US" b="1" dirty="0" smtClean="0">
                <a:solidFill>
                  <a:srgbClr val="FF0000"/>
                </a:solidFill>
              </a:rPr>
              <a:t>CHARGER</a:t>
            </a:r>
            <a:endParaRPr lang="en-GB" dirty="0">
              <a:solidFill>
                <a:srgbClr val="FF0000"/>
              </a:solidFill>
            </a:endParaRPr>
          </a:p>
        </p:txBody>
      </p:sp>
      <p:sp>
        <p:nvSpPr>
          <p:cNvPr id="3" name="Content Placeholder 2"/>
          <p:cNvSpPr>
            <a:spLocks noGrp="1"/>
          </p:cNvSpPr>
          <p:nvPr>
            <p:ph idx="1"/>
          </p:nvPr>
        </p:nvSpPr>
        <p:spPr>
          <a:xfrm>
            <a:off x="94004" y="871670"/>
            <a:ext cx="12097996" cy="5986329"/>
          </a:xfrm>
        </p:spPr>
        <p:txBody>
          <a:bodyPr>
            <a:normAutofit fontScale="85000" lnSpcReduction="20000"/>
          </a:bodyPr>
          <a:lstStyle/>
          <a:p>
            <a:pPr marL="514350" indent="-514350">
              <a:buFont typeface="+mj-lt"/>
              <a:buAutoNum type="arabicPeriod"/>
            </a:pPr>
            <a:r>
              <a:rPr lang="en-US" dirty="0" smtClean="0"/>
              <a:t>Determine </a:t>
            </a:r>
            <a:r>
              <a:rPr lang="en-US" dirty="0"/>
              <a:t>the type of battery... "sealed" or "accessible". If "sealed," the battery must be charged using a slow rate. (A "sealed" battery does not allow access to the cells or the addition of water or measuring specific gravity.) If "accessible," the battery may be charged at either the slow or fast </a:t>
            </a:r>
            <a:r>
              <a:rPr lang="en-US" dirty="0" smtClean="0"/>
              <a:t>rates.</a:t>
            </a:r>
            <a:endParaRPr lang="en-GB" sz="2000" dirty="0"/>
          </a:p>
          <a:p>
            <a:pPr marL="514350" indent="-514350">
              <a:buFont typeface="+mj-lt"/>
              <a:buAutoNum type="arabicPeriod"/>
            </a:pPr>
            <a:r>
              <a:rPr lang="en-US" dirty="0" smtClean="0"/>
              <a:t>Insure </a:t>
            </a:r>
            <a:r>
              <a:rPr lang="en-US" dirty="0"/>
              <a:t>the charger is disconnected from the power source and/or the charger is turned </a:t>
            </a:r>
            <a:r>
              <a:rPr lang="en-US" dirty="0" smtClean="0"/>
              <a:t>off.</a:t>
            </a:r>
            <a:endParaRPr lang="en-GB" sz="2000" dirty="0"/>
          </a:p>
          <a:p>
            <a:pPr marL="514350" indent="-514350">
              <a:buFont typeface="+mj-lt"/>
              <a:buAutoNum type="arabicPeriod"/>
            </a:pPr>
            <a:r>
              <a:rPr lang="en-US" dirty="0" smtClean="0"/>
              <a:t>Connect </a:t>
            </a:r>
            <a:r>
              <a:rPr lang="en-US" dirty="0"/>
              <a:t>the charger to the battery: positive cable to the positive terminal or negative cable to the negative terminal. (Insure a good connection by rocking back and forth</a:t>
            </a:r>
            <a:r>
              <a:rPr lang="en-US" dirty="0" smtClean="0"/>
              <a:t>.)</a:t>
            </a:r>
            <a:endParaRPr lang="en-GB" sz="2000" dirty="0"/>
          </a:p>
          <a:p>
            <a:pPr marL="514350" indent="-514350">
              <a:buFont typeface="+mj-lt"/>
              <a:buAutoNum type="arabicPeriod"/>
            </a:pPr>
            <a:r>
              <a:rPr lang="en-US" dirty="0" smtClean="0"/>
              <a:t>Plug </a:t>
            </a:r>
            <a:r>
              <a:rPr lang="en-US" dirty="0"/>
              <a:t>in the charger. If there is a setting switch for "regular" or "deep cycle" batteries, use regular setting for regular (accessible) batteries and sealed/gel electrolyte batteries. Use deep cycle setting for standard deep cycle batteries and maintenance free batteries. Always refer to battery charger instruction manual before using battery </a:t>
            </a:r>
            <a:r>
              <a:rPr lang="en-US" dirty="0" smtClean="0"/>
              <a:t>charger.</a:t>
            </a:r>
            <a:endParaRPr lang="en-GB" sz="2000" dirty="0"/>
          </a:p>
          <a:p>
            <a:pPr marL="514350" indent="-514350">
              <a:buFont typeface="+mj-lt"/>
              <a:buAutoNum type="arabicPeriod"/>
            </a:pPr>
            <a:r>
              <a:rPr lang="en-US" dirty="0" smtClean="0"/>
              <a:t>Periodically </a:t>
            </a:r>
            <a:r>
              <a:rPr lang="en-US" dirty="0"/>
              <a:t>check the battery for excessive heat by placing your hand on the side of the battery. If it is hot (125'F) to the touch, interrupt the charging (turn off) until the battery </a:t>
            </a:r>
            <a:r>
              <a:rPr lang="en-US" dirty="0" smtClean="0"/>
              <a:t>cools.</a:t>
            </a:r>
            <a:endParaRPr lang="en-GB" sz="2000" dirty="0"/>
          </a:p>
          <a:p>
            <a:pPr marL="514350" indent="-514350">
              <a:buFont typeface="+mj-lt"/>
              <a:buAutoNum type="arabicPeriod"/>
            </a:pPr>
            <a:r>
              <a:rPr lang="en-US" dirty="0" smtClean="0"/>
              <a:t>During </a:t>
            </a:r>
            <a:r>
              <a:rPr lang="en-US" dirty="0"/>
              <a:t>the charge cycle, the charger senses the battery's state of charge and will input amps at the appropriate rate. As the battery approaches a full state of charge, the input amperage will </a:t>
            </a:r>
            <a:r>
              <a:rPr lang="en-US" dirty="0" smtClean="0"/>
              <a:t>decrease.</a:t>
            </a:r>
            <a:endParaRPr lang="en-GB" sz="2000" dirty="0"/>
          </a:p>
          <a:p>
            <a:pPr marL="514350" indent="-514350">
              <a:buFont typeface="+mj-lt"/>
              <a:buAutoNum type="arabicPeriod"/>
            </a:pPr>
            <a:r>
              <a:rPr lang="en-US" dirty="0" smtClean="0"/>
              <a:t>After </a:t>
            </a:r>
            <a:r>
              <a:rPr lang="en-US" dirty="0"/>
              <a:t>charging is complete, verify the charger is turned off and disconnected from the power source before removing charger cables.</a:t>
            </a:r>
            <a:endParaRPr lang="en-GB" sz="2000" dirty="0"/>
          </a:p>
          <a:p>
            <a:pPr marL="514350" indent="-514350">
              <a:buFont typeface="+mj-lt"/>
              <a:buAutoNum type="arabicPeriod"/>
            </a:pPr>
            <a:endParaRPr lang="en-GB" dirty="0"/>
          </a:p>
        </p:txBody>
      </p:sp>
    </p:spTree>
    <p:extLst>
      <p:ext uri="{BB962C8B-B14F-4D97-AF65-F5344CB8AC3E}">
        <p14:creationId xmlns:p14="http://schemas.microsoft.com/office/powerpoint/2010/main" val="113089344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128044"/>
          </a:xfrm>
        </p:spPr>
        <p:txBody>
          <a:bodyPr/>
          <a:lstStyle/>
          <a:p>
            <a:r>
              <a:rPr lang="en-US" b="1" dirty="0">
                <a:solidFill>
                  <a:srgbClr val="FF0000"/>
                </a:solidFill>
              </a:rPr>
              <a:t>CHARGING PROCEDURE - MANUAL </a:t>
            </a:r>
            <a:r>
              <a:rPr lang="en-US" b="1" dirty="0" smtClean="0">
                <a:solidFill>
                  <a:srgbClr val="FF0000"/>
                </a:solidFill>
              </a:rPr>
              <a:t>CHARGER</a:t>
            </a:r>
            <a:endParaRPr lang="en-GB" dirty="0">
              <a:solidFill>
                <a:srgbClr val="FF0000"/>
              </a:solidFill>
            </a:endParaRPr>
          </a:p>
        </p:txBody>
      </p:sp>
      <p:sp>
        <p:nvSpPr>
          <p:cNvPr id="3" name="Content Placeholder 2"/>
          <p:cNvSpPr>
            <a:spLocks noGrp="1"/>
          </p:cNvSpPr>
          <p:nvPr>
            <p:ph idx="1"/>
          </p:nvPr>
        </p:nvSpPr>
        <p:spPr>
          <a:xfrm>
            <a:off x="0" y="1051132"/>
            <a:ext cx="12192000" cy="5806867"/>
          </a:xfrm>
        </p:spPr>
        <p:txBody>
          <a:bodyPr>
            <a:normAutofit fontScale="92500" lnSpcReduction="10000"/>
          </a:bodyPr>
          <a:lstStyle/>
          <a:p>
            <a:pPr marL="514350" indent="-514350">
              <a:buFont typeface="+mj-lt"/>
              <a:buAutoNum type="arabicPeriod"/>
            </a:pPr>
            <a:r>
              <a:rPr lang="en-US" dirty="0" smtClean="0"/>
              <a:t>Determine </a:t>
            </a:r>
            <a:r>
              <a:rPr lang="en-US" dirty="0"/>
              <a:t>the type of battery... "sealed" or "accessible". If "sealed," the battery must be charged using a slow rate. (A "sealed" battery does not allow access to the cells for the addition of water or measuring specific gravity.) If "accessible," the battery may be charged at either the slow or fast </a:t>
            </a:r>
            <a:r>
              <a:rPr lang="en-US" dirty="0" smtClean="0"/>
              <a:t>rates.</a:t>
            </a:r>
            <a:endParaRPr lang="en-GB" dirty="0"/>
          </a:p>
          <a:p>
            <a:pPr marL="514350" indent="-514350">
              <a:buFont typeface="+mj-lt"/>
              <a:buAutoNum type="arabicPeriod"/>
            </a:pPr>
            <a:r>
              <a:rPr lang="en-US" dirty="0" smtClean="0"/>
              <a:t>Insure </a:t>
            </a:r>
            <a:r>
              <a:rPr lang="en-US" dirty="0"/>
              <a:t>the charger is disconnected from the power source and/or the charger is turned </a:t>
            </a:r>
            <a:r>
              <a:rPr lang="en-US" dirty="0" smtClean="0"/>
              <a:t>off.</a:t>
            </a:r>
            <a:endParaRPr lang="en-GB" dirty="0"/>
          </a:p>
          <a:p>
            <a:pPr marL="514350" indent="-514350">
              <a:buFont typeface="+mj-lt"/>
              <a:buAutoNum type="arabicPeriod"/>
            </a:pPr>
            <a:r>
              <a:rPr lang="en-US" dirty="0" smtClean="0"/>
              <a:t>Connect </a:t>
            </a:r>
            <a:r>
              <a:rPr lang="en-US" dirty="0"/>
              <a:t>the charger to the battery: positive cable to the positive terminal or negative cable to the negative terminal. (Insure a good connection by rocking clamp back and forth</a:t>
            </a:r>
            <a:r>
              <a:rPr lang="en-US" dirty="0" smtClean="0"/>
              <a:t>.)</a:t>
            </a:r>
            <a:endParaRPr lang="en-GB" dirty="0"/>
          </a:p>
          <a:p>
            <a:pPr marL="514350" indent="-514350">
              <a:buFont typeface="+mj-lt"/>
              <a:buAutoNum type="arabicPeriod"/>
            </a:pPr>
            <a:r>
              <a:rPr lang="en-US" dirty="0" smtClean="0"/>
              <a:t>Plug-in </a:t>
            </a:r>
            <a:r>
              <a:rPr lang="en-US" dirty="0"/>
              <a:t>the charger, set -the charge rate, and turn on the </a:t>
            </a:r>
            <a:r>
              <a:rPr lang="en-US" dirty="0" smtClean="0"/>
              <a:t>charger.</a:t>
            </a:r>
            <a:endParaRPr lang="en-GB" dirty="0"/>
          </a:p>
          <a:p>
            <a:pPr marL="514350" indent="-514350">
              <a:buFont typeface="+mj-lt"/>
              <a:buAutoNum type="arabicPeriod"/>
            </a:pPr>
            <a:r>
              <a:rPr lang="en-US" dirty="0" smtClean="0"/>
              <a:t>Periodically </a:t>
            </a:r>
            <a:r>
              <a:rPr lang="en-US" dirty="0"/>
              <a:t>check the battery for excessive heat by placing your hand on the side of the battery. If it is hot 125'F) to the touch, interrupt the charging (turn off) until the battery cools</a:t>
            </a:r>
            <a:r>
              <a:rPr lang="en-US" dirty="0" smtClean="0"/>
              <a:t>.</a:t>
            </a:r>
            <a:r>
              <a:rPr lang="en-US" dirty="0"/>
              <a:t> </a:t>
            </a:r>
            <a:endParaRPr lang="en-US" dirty="0"/>
          </a:p>
          <a:p>
            <a:pPr marL="514350" indent="-514350">
              <a:buFont typeface="+mj-lt"/>
              <a:buAutoNum type="arabicPeriod"/>
            </a:pPr>
            <a:r>
              <a:rPr lang="en-US" dirty="0" smtClean="0"/>
              <a:t>After </a:t>
            </a:r>
            <a:r>
              <a:rPr lang="en-US" dirty="0"/>
              <a:t>charging is complete, insure charger is turned off and disconnected from the power source before removing charger cables</a:t>
            </a:r>
            <a:r>
              <a:rPr lang="en-US" dirty="0" smtClean="0"/>
              <a:t>.</a:t>
            </a:r>
            <a:endParaRPr lang="en-GB" dirty="0"/>
          </a:p>
          <a:p>
            <a:endParaRPr lang="en-GB" dirty="0"/>
          </a:p>
        </p:txBody>
      </p:sp>
    </p:spTree>
    <p:extLst>
      <p:ext uri="{BB962C8B-B14F-4D97-AF65-F5344CB8AC3E}">
        <p14:creationId xmlns:p14="http://schemas.microsoft.com/office/powerpoint/2010/main" val="15779577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230593"/>
          </a:xfrm>
        </p:spPr>
        <p:txBody>
          <a:bodyPr>
            <a:normAutofit/>
          </a:bodyPr>
          <a:lstStyle/>
          <a:p>
            <a:pPr algn="ctr"/>
            <a:r>
              <a:rPr lang="en-US" b="1" dirty="0">
                <a:solidFill>
                  <a:srgbClr val="FF0000"/>
                </a:solidFill>
              </a:rPr>
              <a:t>BATTERY TERMINAL </a:t>
            </a:r>
            <a:r>
              <a:rPr lang="en-US" b="1" dirty="0" smtClean="0">
                <a:solidFill>
                  <a:srgbClr val="FF0000"/>
                </a:solidFill>
              </a:rPr>
              <a:t>CLEANING</a:t>
            </a:r>
            <a:endParaRPr lang="en-GB" dirty="0">
              <a:solidFill>
                <a:srgbClr val="FF0000"/>
              </a:solidFill>
            </a:endParaRPr>
          </a:p>
        </p:txBody>
      </p:sp>
      <p:sp>
        <p:nvSpPr>
          <p:cNvPr id="3" name="Content Placeholder 2"/>
          <p:cNvSpPr>
            <a:spLocks noGrp="1"/>
          </p:cNvSpPr>
          <p:nvPr>
            <p:ph idx="1"/>
          </p:nvPr>
        </p:nvSpPr>
        <p:spPr>
          <a:xfrm>
            <a:off x="0" y="1059678"/>
            <a:ext cx="12192000" cy="5798321"/>
          </a:xfrm>
        </p:spPr>
        <p:txBody>
          <a:bodyPr/>
          <a:lstStyle/>
          <a:p>
            <a:pPr>
              <a:buFont typeface="Wingdings" panose="05000000000000000000" pitchFamily="2" charset="2"/>
              <a:buChar char="Ø"/>
            </a:pPr>
            <a:r>
              <a:rPr lang="en-US" dirty="0" smtClean="0"/>
              <a:t>Over </a:t>
            </a:r>
            <a:r>
              <a:rPr lang="en-US" dirty="0"/>
              <a:t>a period of time, sulfuric acid will corrode battery terminals, clamps, and hold-down. </a:t>
            </a:r>
            <a:endParaRPr lang="en-US" dirty="0" smtClean="0"/>
          </a:p>
          <a:p>
            <a:pPr>
              <a:buFont typeface="Wingdings" panose="05000000000000000000" pitchFamily="2" charset="2"/>
              <a:buChar char="Ø"/>
            </a:pPr>
            <a:r>
              <a:rPr lang="en-US" dirty="0" smtClean="0"/>
              <a:t>This </a:t>
            </a:r>
            <a:r>
              <a:rPr lang="en-US" dirty="0"/>
              <a:t>corrosion adds resistance and lowers current flow to and from the battery. Corrosion can be easily cleaned with a mild solution of baking soda and </a:t>
            </a:r>
            <a:r>
              <a:rPr lang="en-US" dirty="0" smtClean="0"/>
              <a:t>water.</a:t>
            </a:r>
          </a:p>
          <a:p>
            <a:pPr>
              <a:buFont typeface="Wingdings" panose="05000000000000000000" pitchFamily="2" charset="2"/>
              <a:buChar char="Ø"/>
            </a:pPr>
            <a:r>
              <a:rPr lang="en-US" dirty="0" smtClean="0"/>
              <a:t>Battery </a:t>
            </a:r>
            <a:r>
              <a:rPr lang="en-US" dirty="0"/>
              <a:t>terminals and cables are routinely removed, cleaned, and reinstalled. A battery brush, which has both an external and internal brushes, is ideal for cleaning the terminal posts and the inside of clamp.</a:t>
            </a:r>
            <a:endParaRPr lang="en-GB" dirty="0"/>
          </a:p>
          <a:p>
            <a:endParaRPr lang="en-GB" dirty="0"/>
          </a:p>
        </p:txBody>
      </p:sp>
      <p:pic>
        <p:nvPicPr>
          <p:cNvPr id="4" name="image21.png"/>
          <p:cNvPicPr/>
          <p:nvPr/>
        </p:nvPicPr>
        <p:blipFill>
          <a:blip r:embed="rId2" cstate="print"/>
          <a:stretch>
            <a:fillRect/>
          </a:stretch>
        </p:blipFill>
        <p:spPr>
          <a:xfrm>
            <a:off x="3450966" y="4307080"/>
            <a:ext cx="5590484" cy="2093720"/>
          </a:xfrm>
          <a:prstGeom prst="rect">
            <a:avLst/>
          </a:prstGeom>
        </p:spPr>
      </p:pic>
    </p:spTree>
    <p:extLst>
      <p:ext uri="{BB962C8B-B14F-4D97-AF65-F5344CB8AC3E}">
        <p14:creationId xmlns:p14="http://schemas.microsoft.com/office/powerpoint/2010/main" val="200693353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076769"/>
          </a:xfrm>
        </p:spPr>
        <p:txBody>
          <a:bodyPr/>
          <a:lstStyle/>
          <a:p>
            <a:pPr algn="ctr"/>
            <a:r>
              <a:rPr lang="en-US" b="1" dirty="0">
                <a:solidFill>
                  <a:srgbClr val="FF0000"/>
                </a:solidFill>
              </a:rPr>
              <a:t>BATTERY JUMPING with Booster </a:t>
            </a:r>
            <a:r>
              <a:rPr lang="en-US" b="1" dirty="0" smtClean="0">
                <a:solidFill>
                  <a:srgbClr val="FF0000"/>
                </a:solidFill>
              </a:rPr>
              <a:t>Cables</a:t>
            </a:r>
            <a:endParaRPr lang="en-GB" dirty="0">
              <a:solidFill>
                <a:srgbClr val="FF0000"/>
              </a:solidFill>
            </a:endParaRPr>
          </a:p>
        </p:txBody>
      </p:sp>
      <p:sp>
        <p:nvSpPr>
          <p:cNvPr id="3" name="Content Placeholder 2"/>
          <p:cNvSpPr>
            <a:spLocks noGrp="1"/>
          </p:cNvSpPr>
          <p:nvPr>
            <p:ph idx="1"/>
          </p:nvPr>
        </p:nvSpPr>
        <p:spPr>
          <a:xfrm>
            <a:off x="0" y="1076770"/>
            <a:ext cx="12117936" cy="5781230"/>
          </a:xfrm>
        </p:spPr>
        <p:txBody>
          <a:bodyPr>
            <a:normAutofit/>
          </a:bodyPr>
          <a:lstStyle/>
          <a:p>
            <a:pPr>
              <a:buFont typeface="Wingdings" panose="05000000000000000000" pitchFamily="2" charset="2"/>
              <a:buChar char="Ø"/>
            </a:pPr>
            <a:r>
              <a:rPr lang="en-US" dirty="0" smtClean="0"/>
              <a:t>Jump </a:t>
            </a:r>
            <a:r>
              <a:rPr lang="en-US" dirty="0"/>
              <a:t>starting a dead battery with a booster battery or battery in a car can be dangerous, so the proper sequence of connections will prevent sparks.</a:t>
            </a:r>
            <a:endParaRPr lang="en-GB" dirty="0"/>
          </a:p>
          <a:p>
            <a:pPr marL="514350" indent="-514350">
              <a:buFont typeface="+mj-lt"/>
              <a:buAutoNum type="arabicPeriod"/>
            </a:pPr>
            <a:r>
              <a:rPr lang="en-US" dirty="0" smtClean="0"/>
              <a:t>First</a:t>
            </a:r>
            <a:r>
              <a:rPr lang="en-US" dirty="0"/>
              <a:t>, connect the two positive terminals, one from the good battery and the other to the dead battery. </a:t>
            </a:r>
            <a:endParaRPr lang="en-US" dirty="0" smtClean="0"/>
          </a:p>
          <a:p>
            <a:pPr marL="514350" indent="-514350">
              <a:buFont typeface="+mj-lt"/>
              <a:buAutoNum type="arabicPeriod"/>
            </a:pPr>
            <a:r>
              <a:rPr lang="en-US" dirty="0" smtClean="0"/>
              <a:t>Next </a:t>
            </a:r>
            <a:r>
              <a:rPr lang="en-US" dirty="0"/>
              <a:t>connect one end of the jumper cable to the negative terminal of the booster (Good) battery. </a:t>
            </a:r>
            <a:endParaRPr lang="en-US" dirty="0" smtClean="0"/>
          </a:p>
          <a:p>
            <a:pPr marL="514350" indent="-514350">
              <a:buFont typeface="+mj-lt"/>
              <a:buAutoNum type="arabicPeriod"/>
            </a:pPr>
            <a:r>
              <a:rPr lang="en-US" dirty="0" smtClean="0"/>
              <a:t>Finally </a:t>
            </a:r>
            <a:r>
              <a:rPr lang="en-US" dirty="0"/>
              <a:t>connect the other end to a good ground on the engine away from the dead battery. If a spark occurs, it won't be near the battery, thus reducing the chance for explosion. If the jump starting from another vehicle, start the vehicle, running the engine at 1500 RPM for a few minutes. While the engine is running, start the dead vehicle. Never jump start a frozen battery.</a:t>
            </a:r>
            <a:endParaRPr lang="en-GB" dirty="0"/>
          </a:p>
          <a:p>
            <a:endParaRPr lang="en-GB" dirty="0"/>
          </a:p>
        </p:txBody>
      </p:sp>
      <p:pic>
        <p:nvPicPr>
          <p:cNvPr id="4" name="image22.png"/>
          <p:cNvPicPr/>
          <p:nvPr/>
        </p:nvPicPr>
        <p:blipFill>
          <a:blip r:embed="rId2" cstate="print"/>
          <a:stretch>
            <a:fillRect/>
          </a:stretch>
        </p:blipFill>
        <p:spPr>
          <a:xfrm>
            <a:off x="5103165" y="5717136"/>
            <a:ext cx="2912790" cy="1140864"/>
          </a:xfrm>
          <a:prstGeom prst="rect">
            <a:avLst/>
          </a:prstGeom>
        </p:spPr>
      </p:pic>
    </p:spTree>
    <p:extLst>
      <p:ext uri="{BB962C8B-B14F-4D97-AF65-F5344CB8AC3E}">
        <p14:creationId xmlns:p14="http://schemas.microsoft.com/office/powerpoint/2010/main" val="280588752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239139"/>
          </a:xfrm>
        </p:spPr>
        <p:txBody>
          <a:bodyPr/>
          <a:lstStyle/>
          <a:p>
            <a:pPr algn="ctr"/>
            <a:r>
              <a:rPr lang="en-US" b="1" dirty="0">
                <a:solidFill>
                  <a:srgbClr val="FF0000"/>
                </a:solidFill>
              </a:rPr>
              <a:t>ADDING </a:t>
            </a:r>
            <a:r>
              <a:rPr lang="en-US" b="1" dirty="0" smtClean="0">
                <a:solidFill>
                  <a:srgbClr val="FF0000"/>
                </a:solidFill>
              </a:rPr>
              <a:t>WATER</a:t>
            </a:r>
            <a:endParaRPr lang="en-GB" dirty="0">
              <a:solidFill>
                <a:srgbClr val="FF0000"/>
              </a:solidFill>
            </a:endParaRPr>
          </a:p>
        </p:txBody>
      </p:sp>
      <p:sp>
        <p:nvSpPr>
          <p:cNvPr id="3" name="Content Placeholder 2"/>
          <p:cNvSpPr>
            <a:spLocks noGrp="1"/>
          </p:cNvSpPr>
          <p:nvPr>
            <p:ph idx="1"/>
          </p:nvPr>
        </p:nvSpPr>
        <p:spPr>
          <a:xfrm>
            <a:off x="0" y="1145136"/>
            <a:ext cx="12192000" cy="5712864"/>
          </a:xfrm>
        </p:spPr>
        <p:txBody>
          <a:bodyPr>
            <a:normAutofit/>
          </a:bodyPr>
          <a:lstStyle/>
          <a:p>
            <a:pPr>
              <a:buFont typeface="Wingdings" panose="05000000000000000000" pitchFamily="2" charset="2"/>
              <a:buChar char="Ø"/>
            </a:pPr>
            <a:r>
              <a:rPr lang="en-US" dirty="0" smtClean="0"/>
              <a:t>Under </a:t>
            </a:r>
            <a:r>
              <a:rPr lang="en-US" dirty="0"/>
              <a:t>the rare occurrence of adding water to a battery, </a:t>
            </a:r>
            <a:r>
              <a:rPr lang="en-US" b="1" dirty="0"/>
              <a:t>use only Distilled water</a:t>
            </a:r>
            <a:r>
              <a:rPr lang="en-US" dirty="0"/>
              <a:t>. Minerals and chemicals that are commonly found in regular drinking water will react with the plate material and shorten battery life. </a:t>
            </a:r>
            <a:endParaRPr lang="en-US" dirty="0" smtClean="0"/>
          </a:p>
          <a:p>
            <a:pPr>
              <a:buFont typeface="Wingdings" panose="05000000000000000000" pitchFamily="2" charset="2"/>
              <a:buChar char="Ø"/>
            </a:pPr>
            <a:r>
              <a:rPr lang="en-US" dirty="0" smtClean="0"/>
              <a:t>Under </a:t>
            </a:r>
            <a:r>
              <a:rPr lang="en-US" dirty="0"/>
              <a:t>normal conditions the addition of water should not be required. However, the addition of water may be necessary when the battery has been overcharged, for overcharging results in excessive evaporation of water from the </a:t>
            </a:r>
            <a:r>
              <a:rPr lang="en-US" dirty="0" smtClean="0"/>
              <a:t>electrolyte.</a:t>
            </a:r>
            <a:endParaRPr lang="en-GB" dirty="0"/>
          </a:p>
          <a:p>
            <a:pPr>
              <a:buFont typeface="Wingdings" panose="05000000000000000000" pitchFamily="2" charset="2"/>
              <a:buChar char="Ø"/>
            </a:pPr>
            <a:r>
              <a:rPr lang="en-US" dirty="0" smtClean="0"/>
              <a:t>The </a:t>
            </a:r>
            <a:r>
              <a:rPr lang="en-US" dirty="0"/>
              <a:t>water level should be no higher than 1/8 inch below the bottom of the vent well. </a:t>
            </a:r>
            <a:endParaRPr lang="en-US" dirty="0" smtClean="0"/>
          </a:p>
          <a:p>
            <a:pPr>
              <a:buFont typeface="Wingdings" panose="05000000000000000000" pitchFamily="2" charset="2"/>
              <a:buChar char="Ø"/>
            </a:pPr>
            <a:r>
              <a:rPr lang="en-US" dirty="0" smtClean="0"/>
              <a:t>To </a:t>
            </a:r>
            <a:r>
              <a:rPr lang="en-US" dirty="0"/>
              <a:t>avoid permanent damage, make sure the electrolyte level never drops below the top of the plates. </a:t>
            </a:r>
            <a:endParaRPr lang="en-US" dirty="0" smtClean="0"/>
          </a:p>
          <a:p>
            <a:pPr>
              <a:buFont typeface="Wingdings" panose="05000000000000000000" pitchFamily="2" charset="2"/>
              <a:buChar char="Ø"/>
            </a:pPr>
            <a:r>
              <a:rPr lang="en-US" dirty="0" smtClean="0"/>
              <a:t>Also</a:t>
            </a:r>
            <a:r>
              <a:rPr lang="en-US" dirty="0"/>
              <a:t>, avoid over filling, this may result in electrolyte overflow from the battery.</a:t>
            </a:r>
            <a:endParaRPr lang="en-GB" dirty="0"/>
          </a:p>
          <a:p>
            <a:endParaRPr lang="en-GB" dirty="0"/>
          </a:p>
        </p:txBody>
      </p:sp>
    </p:spTree>
    <p:extLst>
      <p:ext uri="{BB962C8B-B14F-4D97-AF65-F5344CB8AC3E}">
        <p14:creationId xmlns:p14="http://schemas.microsoft.com/office/powerpoint/2010/main" val="20316511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3862" y="1"/>
            <a:ext cx="9878938" cy="1478421"/>
          </a:xfrm>
        </p:spPr>
        <p:txBody>
          <a:bodyPr/>
          <a:lstStyle/>
          <a:p>
            <a:endParaRPr lang="en-GB" dirty="0"/>
          </a:p>
        </p:txBody>
      </p:sp>
      <p:sp>
        <p:nvSpPr>
          <p:cNvPr id="3" name="Content Placeholder 2"/>
          <p:cNvSpPr>
            <a:spLocks noGrp="1"/>
          </p:cNvSpPr>
          <p:nvPr>
            <p:ph idx="1"/>
          </p:nvPr>
        </p:nvSpPr>
        <p:spPr>
          <a:xfrm>
            <a:off x="838200" y="1825625"/>
            <a:ext cx="11353800" cy="4942644"/>
          </a:xfrm>
        </p:spPr>
        <p:txBody>
          <a:bodyPr>
            <a:normAutofit/>
          </a:bodyPr>
          <a:lstStyle/>
          <a:p>
            <a:pPr marL="0" indent="0" algn="ctr">
              <a:buNone/>
            </a:pPr>
            <a:endParaRPr lang="en-GB" sz="9600" dirty="0">
              <a:solidFill>
                <a:srgbClr val="FF0000"/>
              </a:solidFill>
            </a:endParaRPr>
          </a:p>
          <a:p>
            <a:pPr marL="0" indent="0" algn="ctr">
              <a:buNone/>
            </a:pPr>
            <a:r>
              <a:rPr lang="en-GB" sz="9600" dirty="0" smtClean="0">
                <a:solidFill>
                  <a:srgbClr val="FF0000"/>
                </a:solidFill>
              </a:rPr>
              <a:t>Thanks</a:t>
            </a:r>
            <a:endParaRPr lang="en-GB" sz="9600" dirty="0">
              <a:solidFill>
                <a:srgbClr val="FF0000"/>
              </a:solidFill>
            </a:endParaRPr>
          </a:p>
        </p:txBody>
      </p:sp>
    </p:spTree>
    <p:extLst>
      <p:ext uri="{BB962C8B-B14F-4D97-AF65-F5344CB8AC3E}">
        <p14:creationId xmlns:p14="http://schemas.microsoft.com/office/powerpoint/2010/main" val="38737137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823</TotalTime>
  <Words>5090</Words>
  <Application>Microsoft Office PowerPoint</Application>
  <PresentationFormat>Widescreen</PresentationFormat>
  <Paragraphs>252</Paragraphs>
  <Slides>57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57</vt:i4>
      </vt:variant>
    </vt:vector>
  </HeadingPairs>
  <TitlesOfParts>
    <vt:vector size="62" baseType="lpstr">
      <vt:lpstr>Arial</vt:lpstr>
      <vt:lpstr>Calibri</vt:lpstr>
      <vt:lpstr>Calibri Light</vt:lpstr>
      <vt:lpstr>Wingdings</vt:lpstr>
      <vt:lpstr>Office Theme</vt:lpstr>
      <vt:lpstr>Battery</vt:lpstr>
      <vt:lpstr>Battery Functions</vt:lpstr>
      <vt:lpstr>Battery Types</vt:lpstr>
      <vt:lpstr>Battery Types</vt:lpstr>
      <vt:lpstr>Battery Construction</vt:lpstr>
      <vt:lpstr>Battery Construction</vt:lpstr>
      <vt:lpstr>Battery Construction………..</vt:lpstr>
      <vt:lpstr>Battery Construction…….</vt:lpstr>
      <vt:lpstr>Battery Construction…….</vt:lpstr>
      <vt:lpstr>CELL THEORY</vt:lpstr>
      <vt:lpstr>CELL THEORY……….</vt:lpstr>
      <vt:lpstr>ELECTROCHEMICAL REACTION</vt:lpstr>
      <vt:lpstr>CHARGED</vt:lpstr>
      <vt:lpstr>DISCHARGING</vt:lpstr>
      <vt:lpstr>DISCHARGED</vt:lpstr>
      <vt:lpstr>CHARGING</vt:lpstr>
      <vt:lpstr>Capacity Ratings</vt:lpstr>
      <vt:lpstr>COLD-CRANKING AMPERES (CCA)</vt:lpstr>
      <vt:lpstr>RESERVE CAPACITY (RC)</vt:lpstr>
      <vt:lpstr>AMP-HOURS (AH)</vt:lpstr>
      <vt:lpstr>POWER (WATTS)</vt:lpstr>
      <vt:lpstr>FACTORS AFFECTING CHARGING</vt:lpstr>
      <vt:lpstr>FACTORS AFFECTING CHARGING………</vt:lpstr>
      <vt:lpstr>PowerPoint Presentation</vt:lpstr>
      <vt:lpstr>Diagnosis and Testing</vt:lpstr>
      <vt:lpstr>SAFETY FIRST!</vt:lpstr>
      <vt:lpstr>Safety precautions include:</vt:lpstr>
      <vt:lpstr>CARE OF ELECTRONICS</vt:lpstr>
      <vt:lpstr>VISUAL INSPECTION</vt:lpstr>
      <vt:lpstr>VISUAL INSPECTION……..</vt:lpstr>
      <vt:lpstr>VISUAL INSPECTION……..</vt:lpstr>
      <vt:lpstr>VISUAL INSPECTION……..</vt:lpstr>
      <vt:lpstr>VISUAL INSPECTION……..</vt:lpstr>
      <vt:lpstr>STATE-OF-CHARGE TEST</vt:lpstr>
      <vt:lpstr>STATE-OF-CHARGE TEST</vt:lpstr>
      <vt:lpstr>SPECIFIC GRAVITY - EXCESSIVE CELL VARIATION READINGS</vt:lpstr>
      <vt:lpstr>SPECIFIC GRAVITY TEST PROCEDURE (HYDROMETER)</vt:lpstr>
      <vt:lpstr>SPECIFIC GRAVITY TEST PROCEDURE (HYDROMETER)…..</vt:lpstr>
      <vt:lpstr>ADJUSTED SPECIFIC GRAVITY READINGS</vt:lpstr>
      <vt:lpstr>SPECIFIC GRAVITY TEST PROCEDURE (AC Delco Battery with built- in Hydrometer)</vt:lpstr>
      <vt:lpstr>OPEN CIRCUIT VOLTAGE</vt:lpstr>
      <vt:lpstr>OPEN CIRCUIT VOLTAGE…….</vt:lpstr>
      <vt:lpstr>HEAVY LOAD TEST</vt:lpstr>
      <vt:lpstr>DETERMINE CAPACITY RATING</vt:lpstr>
      <vt:lpstr>HEAVY LOAD TEST PROCEDURE</vt:lpstr>
      <vt:lpstr>CURRENT DRAINS</vt:lpstr>
      <vt:lpstr>PARASITIC DRAIN</vt:lpstr>
      <vt:lpstr>BATTERY SERVICE</vt:lpstr>
      <vt:lpstr>BATTERY CHARGING</vt:lpstr>
      <vt:lpstr>BATTERY CHARGER TYPES</vt:lpstr>
      <vt:lpstr>GENERAL RULES FOR CHARGING A BATTERY</vt:lpstr>
      <vt:lpstr>CHARGING PROCEDURE - AUTOMATIC CHARGER</vt:lpstr>
      <vt:lpstr>CHARGING PROCEDURE - MANUAL CHARGER</vt:lpstr>
      <vt:lpstr>BATTERY TERMINAL CLEANING</vt:lpstr>
      <vt:lpstr>BATTERY JUMPING with Booster Cables</vt:lpstr>
      <vt:lpstr>ADDING WATER</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Battery</dc:title>
  <dc:creator>John</dc:creator>
  <cp:lastModifiedBy>John</cp:lastModifiedBy>
  <cp:revision>93</cp:revision>
  <dcterms:created xsi:type="dcterms:W3CDTF">2021-05-03T11:33:08Z</dcterms:created>
  <dcterms:modified xsi:type="dcterms:W3CDTF">2021-05-11T13:05:38Z</dcterms:modified>
</cp:coreProperties>
</file>