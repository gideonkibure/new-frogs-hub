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389" r:id="rId2"/>
    <p:sldId id="393" r:id="rId3"/>
    <p:sldId id="256" r:id="rId4"/>
    <p:sldId id="257" r:id="rId5"/>
    <p:sldId id="258" r:id="rId6"/>
    <p:sldId id="423" r:id="rId7"/>
    <p:sldId id="424" r:id="rId8"/>
    <p:sldId id="264" r:id="rId9"/>
    <p:sldId id="259" r:id="rId10"/>
    <p:sldId id="261" r:id="rId11"/>
    <p:sldId id="262" r:id="rId12"/>
    <p:sldId id="263" r:id="rId13"/>
    <p:sldId id="265" r:id="rId14"/>
    <p:sldId id="266" r:id="rId15"/>
    <p:sldId id="267" r:id="rId16"/>
    <p:sldId id="268" r:id="rId17"/>
    <p:sldId id="396" r:id="rId18"/>
    <p:sldId id="397" r:id="rId19"/>
    <p:sldId id="398" r:id="rId20"/>
    <p:sldId id="400" r:id="rId21"/>
    <p:sldId id="399" r:id="rId22"/>
    <p:sldId id="401" r:id="rId23"/>
    <p:sldId id="270" r:id="rId24"/>
    <p:sldId id="271" r:id="rId25"/>
    <p:sldId id="273" r:id="rId26"/>
    <p:sldId id="272" r:id="rId27"/>
    <p:sldId id="422"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r. Masoud Kamoleka" initials="DMK" lastIdx="1" clrIdx="0">
    <p:extLst>
      <p:ext uri="{19B8F6BF-5375-455C-9EA6-DF929625EA0E}">
        <p15:presenceInfo xmlns:p15="http://schemas.microsoft.com/office/powerpoint/2012/main" userId="bee5509bb706ea0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137892-9135-44D2-A7DB-8C751F4AADDB}" type="datetimeFigureOut">
              <a:rPr lang="en-TZ" smtClean="0"/>
              <a:t>17/04/2026</a:t>
            </a:fld>
            <a:endParaRPr lang="en-TZ"/>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T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2BD981-0326-4BAC-A1F0-500AC423DE81}" type="slidenum">
              <a:rPr lang="en-TZ" smtClean="0"/>
              <a:t>‹#›</a:t>
            </a:fld>
            <a:endParaRPr lang="en-TZ"/>
          </a:p>
        </p:txBody>
      </p:sp>
    </p:spTree>
    <p:extLst>
      <p:ext uri="{BB962C8B-B14F-4D97-AF65-F5344CB8AC3E}">
        <p14:creationId xmlns:p14="http://schemas.microsoft.com/office/powerpoint/2010/main" val="838841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 GUI, or Graphical User Interface; </a:t>
            </a:r>
            <a:r>
              <a:rPr lang="en-US" sz="1200" b="0" i="0" kern="1200" dirty="0">
                <a:solidFill>
                  <a:schemeClr val="tx1"/>
                </a:solidFill>
                <a:effectLst/>
                <a:latin typeface="+mn-lt"/>
                <a:ea typeface="+mn-ea"/>
                <a:cs typeface="+mn-cs"/>
              </a:rPr>
              <a:t>HMI stands for </a:t>
            </a:r>
            <a:r>
              <a:rPr lang="en-US" dirty="0"/>
              <a:t>Human-Machine Interface; SCADA, which stands for Supervisory Control and Data Acquisition</a:t>
            </a:r>
          </a:p>
        </p:txBody>
      </p:sp>
      <p:sp>
        <p:nvSpPr>
          <p:cNvPr id="4" name="Slide Number Placeholder 3"/>
          <p:cNvSpPr>
            <a:spLocks noGrp="1"/>
          </p:cNvSpPr>
          <p:nvPr>
            <p:ph type="sldNum" sz="quarter" idx="5"/>
          </p:nvPr>
        </p:nvSpPr>
        <p:spPr/>
        <p:txBody>
          <a:bodyPr/>
          <a:lstStyle/>
          <a:p>
            <a:fld id="{612BD981-0326-4BAC-A1F0-500AC423DE81}" type="slidenum">
              <a:rPr lang="en-TZ" smtClean="0"/>
              <a:t>14</a:t>
            </a:fld>
            <a:endParaRPr lang="en-TZ"/>
          </a:p>
        </p:txBody>
      </p:sp>
    </p:spTree>
    <p:extLst>
      <p:ext uri="{BB962C8B-B14F-4D97-AF65-F5344CB8AC3E}">
        <p14:creationId xmlns:p14="http://schemas.microsoft.com/office/powerpoint/2010/main" val="3496840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6D52EE-4F0E-4FCE-BF97-7FC023CAFA9C}" type="datetimeFigureOut">
              <a:rPr lang="en-TZ" smtClean="0"/>
              <a:t>17/04/2026</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38BBE209-0E0D-4C01-BBFF-B9D9E1E10E45}" type="slidenum">
              <a:rPr lang="en-TZ" smtClean="0"/>
              <a:t>‹#›</a:t>
            </a:fld>
            <a:endParaRPr lang="en-TZ"/>
          </a:p>
        </p:txBody>
      </p:sp>
    </p:spTree>
    <p:extLst>
      <p:ext uri="{BB962C8B-B14F-4D97-AF65-F5344CB8AC3E}">
        <p14:creationId xmlns:p14="http://schemas.microsoft.com/office/powerpoint/2010/main" val="1085277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6D52EE-4F0E-4FCE-BF97-7FC023CAFA9C}" type="datetimeFigureOut">
              <a:rPr lang="en-TZ" smtClean="0"/>
              <a:t>17/04/2026</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38BBE209-0E0D-4C01-BBFF-B9D9E1E10E45}" type="slidenum">
              <a:rPr lang="en-TZ" smtClean="0"/>
              <a:t>‹#›</a:t>
            </a:fld>
            <a:endParaRPr lang="en-TZ"/>
          </a:p>
        </p:txBody>
      </p:sp>
    </p:spTree>
    <p:extLst>
      <p:ext uri="{BB962C8B-B14F-4D97-AF65-F5344CB8AC3E}">
        <p14:creationId xmlns:p14="http://schemas.microsoft.com/office/powerpoint/2010/main" val="2625717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A6D52EE-4F0E-4FCE-BF97-7FC023CAFA9C}" type="datetimeFigureOut">
              <a:rPr lang="en-TZ" smtClean="0"/>
              <a:t>17/04/2026</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38BBE209-0E0D-4C01-BBFF-B9D9E1E10E45}" type="slidenum">
              <a:rPr lang="en-TZ" smtClean="0"/>
              <a:t>‹#›</a:t>
            </a:fld>
            <a:endParaRPr lang="en-TZ"/>
          </a:p>
        </p:txBody>
      </p:sp>
    </p:spTree>
    <p:extLst>
      <p:ext uri="{BB962C8B-B14F-4D97-AF65-F5344CB8AC3E}">
        <p14:creationId xmlns:p14="http://schemas.microsoft.com/office/powerpoint/2010/main" val="1183153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6D52EE-4F0E-4FCE-BF97-7FC023CAFA9C}" type="datetimeFigureOut">
              <a:rPr lang="en-TZ" smtClean="0"/>
              <a:t>17/04/2026</a:t>
            </a:fld>
            <a:endParaRPr lang="en-TZ"/>
          </a:p>
        </p:txBody>
      </p:sp>
      <p:sp>
        <p:nvSpPr>
          <p:cNvPr id="6" name="Footer Placeholder 5"/>
          <p:cNvSpPr>
            <a:spLocks noGrp="1"/>
          </p:cNvSpPr>
          <p:nvPr>
            <p:ph type="ftr" sz="quarter" idx="11"/>
          </p:nvPr>
        </p:nvSpPr>
        <p:spPr/>
        <p:txBody>
          <a:bodyPr/>
          <a:lstStyle/>
          <a:p>
            <a:endParaRPr lang="en-TZ"/>
          </a:p>
        </p:txBody>
      </p:sp>
      <p:sp>
        <p:nvSpPr>
          <p:cNvPr id="7" name="Slide Number Placeholder 6"/>
          <p:cNvSpPr>
            <a:spLocks noGrp="1"/>
          </p:cNvSpPr>
          <p:nvPr>
            <p:ph type="sldNum" sz="quarter" idx="12"/>
          </p:nvPr>
        </p:nvSpPr>
        <p:spPr/>
        <p:txBody>
          <a:bodyPr/>
          <a:lstStyle/>
          <a:p>
            <a:fld id="{38BBE209-0E0D-4C01-BBFF-B9D9E1E10E45}" type="slidenum">
              <a:rPr lang="en-TZ" smtClean="0"/>
              <a:t>‹#›</a:t>
            </a:fld>
            <a:endParaRPr lang="en-TZ"/>
          </a:p>
        </p:txBody>
      </p:sp>
    </p:spTree>
    <p:extLst>
      <p:ext uri="{BB962C8B-B14F-4D97-AF65-F5344CB8AC3E}">
        <p14:creationId xmlns:p14="http://schemas.microsoft.com/office/powerpoint/2010/main" val="3258759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6D52EE-4F0E-4FCE-BF97-7FC023CAFA9C}" type="datetimeFigureOut">
              <a:rPr lang="en-TZ" smtClean="0"/>
              <a:t>17/04/2026</a:t>
            </a:fld>
            <a:endParaRPr lang="en-TZ"/>
          </a:p>
        </p:txBody>
      </p:sp>
      <p:sp>
        <p:nvSpPr>
          <p:cNvPr id="8" name="Footer Placeholder 7"/>
          <p:cNvSpPr>
            <a:spLocks noGrp="1"/>
          </p:cNvSpPr>
          <p:nvPr>
            <p:ph type="ftr" sz="quarter" idx="11"/>
          </p:nvPr>
        </p:nvSpPr>
        <p:spPr/>
        <p:txBody>
          <a:bodyPr/>
          <a:lstStyle/>
          <a:p>
            <a:endParaRPr lang="en-TZ"/>
          </a:p>
        </p:txBody>
      </p:sp>
      <p:sp>
        <p:nvSpPr>
          <p:cNvPr id="9" name="Slide Number Placeholder 8"/>
          <p:cNvSpPr>
            <a:spLocks noGrp="1"/>
          </p:cNvSpPr>
          <p:nvPr>
            <p:ph type="sldNum" sz="quarter" idx="12"/>
          </p:nvPr>
        </p:nvSpPr>
        <p:spPr/>
        <p:txBody>
          <a:bodyPr/>
          <a:lstStyle/>
          <a:p>
            <a:fld id="{38BBE209-0E0D-4C01-BBFF-B9D9E1E10E45}" type="slidenum">
              <a:rPr lang="en-TZ" smtClean="0"/>
              <a:t>‹#›</a:t>
            </a:fld>
            <a:endParaRPr lang="en-TZ"/>
          </a:p>
        </p:txBody>
      </p:sp>
    </p:spTree>
    <p:extLst>
      <p:ext uri="{BB962C8B-B14F-4D97-AF65-F5344CB8AC3E}">
        <p14:creationId xmlns:p14="http://schemas.microsoft.com/office/powerpoint/2010/main" val="3371074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6D52EE-4F0E-4FCE-BF97-7FC023CAFA9C}" type="datetimeFigureOut">
              <a:rPr lang="en-TZ" smtClean="0"/>
              <a:t>17/04/2026</a:t>
            </a:fld>
            <a:endParaRPr lang="en-TZ"/>
          </a:p>
        </p:txBody>
      </p:sp>
      <p:sp>
        <p:nvSpPr>
          <p:cNvPr id="4" name="Footer Placeholder 3"/>
          <p:cNvSpPr>
            <a:spLocks noGrp="1"/>
          </p:cNvSpPr>
          <p:nvPr>
            <p:ph type="ftr" sz="quarter" idx="11"/>
          </p:nvPr>
        </p:nvSpPr>
        <p:spPr/>
        <p:txBody>
          <a:bodyPr/>
          <a:lstStyle/>
          <a:p>
            <a:endParaRPr lang="en-TZ"/>
          </a:p>
        </p:txBody>
      </p:sp>
      <p:sp>
        <p:nvSpPr>
          <p:cNvPr id="5" name="Slide Number Placeholder 4"/>
          <p:cNvSpPr>
            <a:spLocks noGrp="1"/>
          </p:cNvSpPr>
          <p:nvPr>
            <p:ph type="sldNum" sz="quarter" idx="12"/>
          </p:nvPr>
        </p:nvSpPr>
        <p:spPr/>
        <p:txBody>
          <a:bodyPr/>
          <a:lstStyle/>
          <a:p>
            <a:fld id="{38BBE209-0E0D-4C01-BBFF-B9D9E1E10E45}" type="slidenum">
              <a:rPr lang="en-TZ" smtClean="0"/>
              <a:t>‹#›</a:t>
            </a:fld>
            <a:endParaRPr lang="en-TZ"/>
          </a:p>
        </p:txBody>
      </p:sp>
    </p:spTree>
    <p:extLst>
      <p:ext uri="{BB962C8B-B14F-4D97-AF65-F5344CB8AC3E}">
        <p14:creationId xmlns:p14="http://schemas.microsoft.com/office/powerpoint/2010/main" val="3979768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D52EE-4F0E-4FCE-BF97-7FC023CAFA9C}" type="datetimeFigureOut">
              <a:rPr lang="en-TZ" smtClean="0"/>
              <a:t>17/04/2026</a:t>
            </a:fld>
            <a:endParaRPr lang="en-TZ"/>
          </a:p>
        </p:txBody>
      </p:sp>
      <p:sp>
        <p:nvSpPr>
          <p:cNvPr id="3" name="Footer Placeholder 2"/>
          <p:cNvSpPr>
            <a:spLocks noGrp="1"/>
          </p:cNvSpPr>
          <p:nvPr>
            <p:ph type="ftr" sz="quarter" idx="11"/>
          </p:nvPr>
        </p:nvSpPr>
        <p:spPr/>
        <p:txBody>
          <a:bodyPr/>
          <a:lstStyle/>
          <a:p>
            <a:endParaRPr lang="en-TZ"/>
          </a:p>
        </p:txBody>
      </p:sp>
      <p:sp>
        <p:nvSpPr>
          <p:cNvPr id="4" name="Slide Number Placeholder 3"/>
          <p:cNvSpPr>
            <a:spLocks noGrp="1"/>
          </p:cNvSpPr>
          <p:nvPr>
            <p:ph type="sldNum" sz="quarter" idx="12"/>
          </p:nvPr>
        </p:nvSpPr>
        <p:spPr/>
        <p:txBody>
          <a:bodyPr/>
          <a:lstStyle/>
          <a:p>
            <a:fld id="{38BBE209-0E0D-4C01-BBFF-B9D9E1E10E45}" type="slidenum">
              <a:rPr lang="en-TZ" smtClean="0"/>
              <a:t>‹#›</a:t>
            </a:fld>
            <a:endParaRPr lang="en-TZ"/>
          </a:p>
        </p:txBody>
      </p:sp>
    </p:spTree>
    <p:extLst>
      <p:ext uri="{BB962C8B-B14F-4D97-AF65-F5344CB8AC3E}">
        <p14:creationId xmlns:p14="http://schemas.microsoft.com/office/powerpoint/2010/main" val="355558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A6D52EE-4F0E-4FCE-BF97-7FC023CAFA9C}" type="datetimeFigureOut">
              <a:rPr lang="en-TZ" smtClean="0"/>
              <a:t>17/04/2026</a:t>
            </a:fld>
            <a:endParaRPr lang="en-TZ"/>
          </a:p>
        </p:txBody>
      </p:sp>
      <p:sp>
        <p:nvSpPr>
          <p:cNvPr id="6" name="Footer Placeholder 5"/>
          <p:cNvSpPr>
            <a:spLocks noGrp="1"/>
          </p:cNvSpPr>
          <p:nvPr>
            <p:ph type="ftr" sz="quarter" idx="11"/>
          </p:nvPr>
        </p:nvSpPr>
        <p:spPr/>
        <p:txBody>
          <a:bodyPr/>
          <a:lstStyle/>
          <a:p>
            <a:endParaRPr lang="en-TZ"/>
          </a:p>
        </p:txBody>
      </p:sp>
      <p:sp>
        <p:nvSpPr>
          <p:cNvPr id="7" name="Slide Number Placeholder 6"/>
          <p:cNvSpPr>
            <a:spLocks noGrp="1"/>
          </p:cNvSpPr>
          <p:nvPr>
            <p:ph type="sldNum" sz="quarter" idx="12"/>
          </p:nvPr>
        </p:nvSpPr>
        <p:spPr/>
        <p:txBody>
          <a:bodyPr/>
          <a:lstStyle/>
          <a:p>
            <a:fld id="{38BBE209-0E0D-4C01-BBFF-B9D9E1E10E45}" type="slidenum">
              <a:rPr lang="en-TZ" smtClean="0"/>
              <a:t>‹#›</a:t>
            </a:fld>
            <a:endParaRPr lang="en-TZ"/>
          </a:p>
        </p:txBody>
      </p:sp>
    </p:spTree>
    <p:extLst>
      <p:ext uri="{BB962C8B-B14F-4D97-AF65-F5344CB8AC3E}">
        <p14:creationId xmlns:p14="http://schemas.microsoft.com/office/powerpoint/2010/main" val="1022419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A6D52EE-4F0E-4FCE-BF97-7FC023CAFA9C}" type="datetimeFigureOut">
              <a:rPr lang="en-TZ" smtClean="0"/>
              <a:t>17/04/2026</a:t>
            </a:fld>
            <a:endParaRPr lang="en-TZ"/>
          </a:p>
        </p:txBody>
      </p:sp>
      <p:sp>
        <p:nvSpPr>
          <p:cNvPr id="6" name="Footer Placeholder 5"/>
          <p:cNvSpPr>
            <a:spLocks noGrp="1"/>
          </p:cNvSpPr>
          <p:nvPr>
            <p:ph type="ftr" sz="quarter" idx="11"/>
          </p:nvPr>
        </p:nvSpPr>
        <p:spPr/>
        <p:txBody>
          <a:bodyPr/>
          <a:lstStyle/>
          <a:p>
            <a:endParaRPr lang="en-TZ"/>
          </a:p>
        </p:txBody>
      </p:sp>
      <p:sp>
        <p:nvSpPr>
          <p:cNvPr id="7" name="Slide Number Placeholder 6"/>
          <p:cNvSpPr>
            <a:spLocks noGrp="1"/>
          </p:cNvSpPr>
          <p:nvPr>
            <p:ph type="sldNum" sz="quarter" idx="12"/>
          </p:nvPr>
        </p:nvSpPr>
        <p:spPr/>
        <p:txBody>
          <a:bodyPr/>
          <a:lstStyle/>
          <a:p>
            <a:fld id="{38BBE209-0E0D-4C01-BBFF-B9D9E1E10E45}" type="slidenum">
              <a:rPr lang="en-TZ" smtClean="0"/>
              <a:t>‹#›</a:t>
            </a:fld>
            <a:endParaRPr lang="en-TZ"/>
          </a:p>
        </p:txBody>
      </p:sp>
    </p:spTree>
    <p:extLst>
      <p:ext uri="{BB962C8B-B14F-4D97-AF65-F5344CB8AC3E}">
        <p14:creationId xmlns:p14="http://schemas.microsoft.com/office/powerpoint/2010/main" val="160317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6D52EE-4F0E-4FCE-BF97-7FC023CAFA9C}" type="datetimeFigureOut">
              <a:rPr lang="en-TZ" smtClean="0"/>
              <a:t>17/04/2026</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38BBE209-0E0D-4C01-BBFF-B9D9E1E10E45}" type="slidenum">
              <a:rPr lang="en-TZ" smtClean="0"/>
              <a:t>‹#›</a:t>
            </a:fld>
            <a:endParaRPr lang="en-TZ"/>
          </a:p>
        </p:txBody>
      </p:sp>
    </p:spTree>
    <p:extLst>
      <p:ext uri="{BB962C8B-B14F-4D97-AF65-F5344CB8AC3E}">
        <p14:creationId xmlns:p14="http://schemas.microsoft.com/office/powerpoint/2010/main" val="4111899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6D52EE-4F0E-4FCE-BF97-7FC023CAFA9C}" type="datetimeFigureOut">
              <a:rPr lang="en-TZ" smtClean="0"/>
              <a:t>17/04/2026</a:t>
            </a:fld>
            <a:endParaRPr lang="en-TZ"/>
          </a:p>
        </p:txBody>
      </p:sp>
      <p:sp>
        <p:nvSpPr>
          <p:cNvPr id="5" name="Footer Placeholder 4"/>
          <p:cNvSpPr>
            <a:spLocks noGrp="1"/>
          </p:cNvSpPr>
          <p:nvPr>
            <p:ph type="ftr" sz="quarter" idx="11"/>
          </p:nvPr>
        </p:nvSpPr>
        <p:spPr/>
        <p:txBody>
          <a:bodyPr/>
          <a:lstStyle/>
          <a:p>
            <a:endParaRPr lang="en-TZ"/>
          </a:p>
        </p:txBody>
      </p:sp>
      <p:sp>
        <p:nvSpPr>
          <p:cNvPr id="6" name="Slide Number Placeholder 5"/>
          <p:cNvSpPr>
            <a:spLocks noGrp="1"/>
          </p:cNvSpPr>
          <p:nvPr>
            <p:ph type="sldNum" sz="quarter" idx="12"/>
          </p:nvPr>
        </p:nvSpPr>
        <p:spPr/>
        <p:txBody>
          <a:bodyPr/>
          <a:lstStyle/>
          <a:p>
            <a:fld id="{38BBE209-0E0D-4C01-BBFF-B9D9E1E10E45}" type="slidenum">
              <a:rPr lang="en-TZ" smtClean="0"/>
              <a:t>‹#›</a:t>
            </a:fld>
            <a:endParaRPr lang="en-TZ"/>
          </a:p>
        </p:txBody>
      </p:sp>
    </p:spTree>
    <p:extLst>
      <p:ext uri="{BB962C8B-B14F-4D97-AF65-F5344CB8AC3E}">
        <p14:creationId xmlns:p14="http://schemas.microsoft.com/office/powerpoint/2010/main" val="2767500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D52EE-4F0E-4FCE-BF97-7FC023CAFA9C}" type="datetimeFigureOut">
              <a:rPr lang="en-TZ" smtClean="0"/>
              <a:t>17/04/2026</a:t>
            </a:fld>
            <a:endParaRPr lang="en-TZ"/>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TZ"/>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BBE209-0E0D-4C01-BBFF-B9D9E1E10E45}" type="slidenum">
              <a:rPr lang="en-TZ" smtClean="0"/>
              <a:t>‹#›</a:t>
            </a:fld>
            <a:endParaRPr lang="en-TZ"/>
          </a:p>
        </p:txBody>
      </p:sp>
    </p:spTree>
    <p:extLst>
      <p:ext uri="{BB962C8B-B14F-4D97-AF65-F5344CB8AC3E}">
        <p14:creationId xmlns:p14="http://schemas.microsoft.com/office/powerpoint/2010/main" val="23365099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693737" y="117479"/>
            <a:ext cx="7772400" cy="5076940"/>
          </a:xfrm>
          <a:prstGeom prst="rect">
            <a:avLst/>
          </a:prstGeom>
        </p:spPr>
        <p:txBody>
          <a:bodyPr vert="horz" lIns="91440" tIns="45720" rIns="91440" bIns="45720" rtlCol="0" anchor="t">
            <a:normAutofit/>
          </a:bodyPr>
          <a:lstStyle/>
          <a:p>
            <a:pPr algn="ctr" defTabSz="685800">
              <a:lnSpc>
                <a:spcPct val="70000"/>
              </a:lnSpc>
              <a:spcBef>
                <a:spcPct val="0"/>
              </a:spcBef>
              <a:defRPr/>
            </a:pPr>
            <a:r>
              <a:rPr kumimoji="0" lang="en-US" sz="36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t>MBEYA UNIVERSITY OF SCIENCE AND TECHNOLOGY</a:t>
            </a:r>
            <a:br>
              <a:rPr kumimoji="0" lang="en-US" sz="36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br>
              <a:rPr kumimoji="0" lang="en-US" sz="36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br>
              <a:rPr kumimoji="0" lang="en-US" sz="36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br>
              <a:rPr kumimoji="0" lang="en-US" sz="36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br>
              <a:rPr kumimoji="0" lang="en-US" sz="36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r>
              <a:rPr kumimoji="0" lang="en-US" sz="2000" b="1"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t>COLLEGE OF ENGINEERING AND TECHNOLOGY</a:t>
            </a:r>
            <a:br>
              <a:rPr kumimoji="0" lang="en-US" sz="2000" b="1"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br>
              <a:rPr kumimoji="0" lang="en-US" sz="20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r>
              <a:rPr kumimoji="0" lang="en-US" sz="1600" b="1"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t>DEPARTMENT OF MECHANICAL AND INDUSTRIAL ENGINEERING</a:t>
            </a:r>
            <a:br>
              <a:rPr kumimoji="0" lang="en-US" sz="20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br>
              <a:rPr kumimoji="0" lang="en-US" sz="20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br>
              <a:rPr kumimoji="0" lang="en-US" sz="20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br>
            <a:r>
              <a:rPr kumimoji="0" lang="en-US" sz="20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t>MODULE ME </a:t>
            </a:r>
            <a:r>
              <a:rPr lang="en-US" sz="2000" dirty="0">
                <a:latin typeface="Adobe Garamond Pro Bold" panose="02020702060506020403" pitchFamily="18" charset="0"/>
                <a:ea typeface="+mj-ea"/>
                <a:cs typeface="+mj-cs"/>
              </a:rPr>
              <a:t>6215</a:t>
            </a:r>
            <a:r>
              <a:rPr kumimoji="0" lang="en-US" sz="2000" b="0"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t>: </a:t>
            </a:r>
            <a:r>
              <a:rPr lang="en-US" sz="2400" dirty="0">
                <a:latin typeface="Adobe Garamond Pro Bold" panose="02020702060506020403" pitchFamily="18" charset="0"/>
                <a:ea typeface="+mj-ea"/>
                <a:cs typeface="+mj-cs"/>
              </a:rPr>
              <a:t>Programmable Logical Controller I</a:t>
            </a:r>
          </a:p>
          <a:p>
            <a:pPr algn="ctr" defTabSz="685800">
              <a:lnSpc>
                <a:spcPct val="70000"/>
              </a:lnSpc>
              <a:spcBef>
                <a:spcPct val="0"/>
              </a:spcBef>
              <a:defRPr/>
            </a:pPr>
            <a:r>
              <a:rPr lang="en-US" sz="2000" dirty="0">
                <a:latin typeface="Adobe Garamond Pro Bold" panose="02020702060506020403" pitchFamily="18" charset="0"/>
                <a:ea typeface="+mj-ea"/>
                <a:cs typeface="+mj-cs"/>
              </a:rPr>
              <a:t>MODULE ME 6214 </a:t>
            </a:r>
            <a:r>
              <a:rPr lang="en-US" sz="2400" dirty="0">
                <a:latin typeface="Adobe Garamond Pro Bold" panose="02020702060506020403" pitchFamily="18" charset="0"/>
                <a:ea typeface="+mj-ea"/>
                <a:cs typeface="+mj-cs"/>
              </a:rPr>
              <a:t>Fundamentals of PLC</a:t>
            </a:r>
          </a:p>
          <a:p>
            <a:pPr algn="ctr" defTabSz="685800">
              <a:lnSpc>
                <a:spcPct val="70000"/>
              </a:lnSpc>
              <a:spcBef>
                <a:spcPct val="0"/>
              </a:spcBef>
              <a:defRPr/>
            </a:pPr>
            <a:endParaRPr lang="en-US" sz="2400" dirty="0">
              <a:latin typeface="Adobe Garamond Pro Bold" panose="02020702060506020403" pitchFamily="18" charset="0"/>
              <a:ea typeface="+mj-ea"/>
              <a:cs typeface="+mj-cs"/>
            </a:endParaRPr>
          </a:p>
          <a:p>
            <a:pPr marL="0" marR="0" lvl="0" indent="0" algn="ctr" defTabSz="685800" rtl="0" eaLnBrk="1" fontAlgn="auto" latinLnBrk="0" hangingPunct="1">
              <a:lnSpc>
                <a:spcPct val="70000"/>
              </a:lnSpc>
              <a:spcBef>
                <a:spcPct val="0"/>
              </a:spcBef>
              <a:spcAft>
                <a:spcPts val="0"/>
              </a:spcAft>
              <a:buClrTx/>
              <a:buSzTx/>
              <a:buFontTx/>
              <a:buNone/>
              <a:tabLst/>
              <a:defRPr/>
            </a:pPr>
            <a:endParaRPr lang="en-US" sz="2000" dirty="0">
              <a:latin typeface="Adobe Garamond Pro Bold" panose="02020702060506020403" pitchFamily="18" charset="0"/>
              <a:ea typeface="+mj-ea"/>
              <a:cs typeface="+mj-cs"/>
            </a:endParaRPr>
          </a:p>
          <a:p>
            <a:pPr marL="0" marR="0" lvl="0" indent="0" algn="ctr" defTabSz="685800" rtl="0" eaLnBrk="1" fontAlgn="auto" latinLnBrk="0" hangingPunct="1">
              <a:lnSpc>
                <a:spcPct val="70000"/>
              </a:lnSpc>
              <a:spcBef>
                <a:spcPct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rPr>
              <a:t>COURSE CREDIT:</a:t>
            </a:r>
            <a:r>
              <a:rPr kumimoji="0" lang="en-US" sz="2000" b="1" i="0" u="none" strike="noStrike" kern="1200" cap="none" spc="0" normalizeH="0" noProof="0" dirty="0">
                <a:ln>
                  <a:noFill/>
                </a:ln>
                <a:solidFill>
                  <a:schemeClr val="tx1"/>
                </a:solidFill>
                <a:effectLst/>
                <a:uLnTx/>
                <a:uFillTx/>
                <a:latin typeface="Adobe Garamond Pro Bold" panose="02020702060506020403" pitchFamily="18" charset="0"/>
                <a:ea typeface="+mj-ea"/>
                <a:cs typeface="+mj-cs"/>
              </a:rPr>
              <a:t> 07</a:t>
            </a:r>
            <a:endParaRPr kumimoji="0" lang="en-US" sz="1800" b="1" i="0" u="none" strike="noStrike" kern="1200" cap="none" spc="0" normalizeH="0" baseline="0" noProof="0" dirty="0">
              <a:ln>
                <a:noFill/>
              </a:ln>
              <a:solidFill>
                <a:schemeClr val="tx1"/>
              </a:solidFill>
              <a:effectLst/>
              <a:uLnTx/>
              <a:uFillTx/>
              <a:latin typeface="Adobe Garamond Pro Bold" panose="02020702060506020403" pitchFamily="18" charset="0"/>
              <a:ea typeface="+mj-ea"/>
              <a:cs typeface="+mj-cs"/>
            </a:endParaRPr>
          </a:p>
        </p:txBody>
      </p:sp>
      <p:pic>
        <p:nvPicPr>
          <p:cNvPr id="10" name="Picture 9"/>
          <p:cNvPicPr>
            <a:picLocks noChangeAspect="1"/>
          </p:cNvPicPr>
          <p:nvPr/>
        </p:nvPicPr>
        <p:blipFill>
          <a:blip r:embed="rId2" cstate="print"/>
          <a:stretch>
            <a:fillRect/>
          </a:stretch>
        </p:blipFill>
        <p:spPr>
          <a:xfrm>
            <a:off x="3352800" y="914400"/>
            <a:ext cx="1981200" cy="1361896"/>
          </a:xfrm>
          <a:prstGeom prst="rect">
            <a:avLst/>
          </a:prstGeom>
        </p:spPr>
      </p:pic>
      <p:sp>
        <p:nvSpPr>
          <p:cNvPr id="3" name="TextBox 2">
            <a:extLst>
              <a:ext uri="{FF2B5EF4-FFF2-40B4-BE49-F238E27FC236}">
                <a16:creationId xmlns:a16="http://schemas.microsoft.com/office/drawing/2014/main" id="{048F92EF-81CA-FFF8-7CEA-80A5C0B947CC}"/>
              </a:ext>
            </a:extLst>
          </p:cNvPr>
          <p:cNvSpPr txBox="1"/>
          <p:nvPr/>
        </p:nvSpPr>
        <p:spPr>
          <a:xfrm>
            <a:off x="182941" y="6249403"/>
            <a:ext cx="2469770" cy="523220"/>
          </a:xfrm>
          <a:prstGeom prst="rect">
            <a:avLst/>
          </a:prstGeom>
          <a:noFill/>
        </p:spPr>
        <p:txBody>
          <a:bodyPr wrap="square">
            <a:spAutoFit/>
          </a:bodyPr>
          <a:lstStyle/>
          <a:p>
            <a:pPr algn="ctr"/>
            <a:r>
              <a:rPr kumimoji="0" lang="en-US" sz="2800" b="0" i="0" u="none" strike="noStrike" kern="1200" cap="none" spc="0" normalizeH="0" baseline="0" noProof="0" dirty="0">
                <a:ln>
                  <a:noFill/>
                </a:ln>
                <a:solidFill>
                  <a:srgbClr val="C00000"/>
                </a:solidFill>
                <a:effectLst/>
                <a:uLnTx/>
                <a:uFillTx/>
                <a:latin typeface="Source Sans Pro Black" panose="020B0803030403020204" pitchFamily="34" charset="0"/>
                <a:ea typeface="Source Sans Pro Black" panose="020B0803030403020204" pitchFamily="34" charset="0"/>
                <a:cs typeface="+mj-cs"/>
              </a:rPr>
              <a:t>Lecture 1</a:t>
            </a:r>
            <a:endParaRPr lang="en-GB" sz="2800" dirty="0">
              <a:solidFill>
                <a:srgbClr val="C00000"/>
              </a:solidFill>
              <a:latin typeface="Source Sans Pro Black" panose="020B0803030403020204" pitchFamily="34" charset="0"/>
              <a:ea typeface="Source Sans Pro Black" panose="020B0803030403020204" pitchFamily="34" charset="0"/>
            </a:endParaRPr>
          </a:p>
        </p:txBody>
      </p:sp>
      <p:pic>
        <p:nvPicPr>
          <p:cNvPr id="6" name="Picture 5">
            <a:extLst>
              <a:ext uri="{FF2B5EF4-FFF2-40B4-BE49-F238E27FC236}">
                <a16:creationId xmlns:a16="http://schemas.microsoft.com/office/drawing/2014/main" id="{49D1DAFC-66C4-42A5-BBF3-2983D82AF3D2}"/>
              </a:ext>
            </a:extLst>
          </p:cNvPr>
          <p:cNvPicPr>
            <a:picLocks noChangeAspect="1"/>
          </p:cNvPicPr>
          <p:nvPr/>
        </p:nvPicPr>
        <p:blipFill>
          <a:blip r:embed="rId3"/>
          <a:stretch>
            <a:fillRect/>
          </a:stretch>
        </p:blipFill>
        <p:spPr>
          <a:xfrm>
            <a:off x="4974336" y="4370336"/>
            <a:ext cx="3350984" cy="2289457"/>
          </a:xfrm>
          <a:prstGeom prst="rect">
            <a:avLst/>
          </a:prstGeom>
        </p:spPr>
      </p:pic>
      <p:sp>
        <p:nvSpPr>
          <p:cNvPr id="13" name="Subtitle 2">
            <a:extLst>
              <a:ext uri="{FF2B5EF4-FFF2-40B4-BE49-F238E27FC236}">
                <a16:creationId xmlns:a16="http://schemas.microsoft.com/office/drawing/2014/main" id="{BE840FD5-F678-42F1-9689-91B3E0C63F54}"/>
              </a:ext>
            </a:extLst>
          </p:cNvPr>
          <p:cNvSpPr>
            <a:spLocks noGrp="1"/>
          </p:cNvSpPr>
          <p:nvPr/>
        </p:nvSpPr>
        <p:spPr bwMode="auto">
          <a:xfrm>
            <a:off x="182941" y="4707867"/>
            <a:ext cx="3550388" cy="11278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0" indent="0" algn="l" rtl="0" eaLnBrk="1" fontAlgn="base" hangingPunct="1">
              <a:spcBef>
                <a:spcPct val="20000"/>
              </a:spcBef>
              <a:spcAft>
                <a:spcPct val="0"/>
              </a:spcAft>
              <a:buFontTx/>
              <a:buNone/>
              <a:defRPr sz="2100">
                <a:solidFill>
                  <a:schemeClr val="tx1"/>
                </a:solidFill>
                <a:effectLst>
                  <a:outerShdw blurRad="38100" dist="38100" dir="2700000" algn="tl">
                    <a:srgbClr val="C0C0C0"/>
                  </a:outerShdw>
                </a:effectLst>
                <a:latin typeface="+mn-lt"/>
                <a:ea typeface="+mn-ea"/>
                <a:cs typeface="+mn-cs"/>
              </a:defRPr>
            </a:lvl1pPr>
            <a:lvl2pPr marL="557213" indent="-214313" algn="l" rtl="0" eaLnBrk="1" fontAlgn="base" hangingPunct="1">
              <a:spcBef>
                <a:spcPct val="20000"/>
              </a:spcBef>
              <a:spcAft>
                <a:spcPct val="0"/>
              </a:spcAft>
              <a:buChar char="–"/>
              <a:defRPr sz="2100">
                <a:solidFill>
                  <a:schemeClr val="tx1"/>
                </a:solidFill>
                <a:latin typeface="+mn-lt"/>
              </a:defRPr>
            </a:lvl2pPr>
            <a:lvl3pPr marL="857250" indent="-171450" algn="l" rtl="0" eaLnBrk="1" fontAlgn="base" hangingPunct="1">
              <a:spcBef>
                <a:spcPct val="20000"/>
              </a:spcBef>
              <a:spcAft>
                <a:spcPct val="0"/>
              </a:spcAft>
              <a:buChar char="•"/>
              <a:defRPr sz="1800">
                <a:solidFill>
                  <a:schemeClr val="tx1"/>
                </a:solidFill>
                <a:latin typeface="+mn-lt"/>
              </a:defRPr>
            </a:lvl3pPr>
            <a:lvl4pPr marL="1200150" indent="-171450" algn="l" rtl="0" eaLnBrk="1" fontAlgn="base" hangingPunct="1">
              <a:spcBef>
                <a:spcPct val="20000"/>
              </a:spcBef>
              <a:spcAft>
                <a:spcPct val="0"/>
              </a:spcAft>
              <a:buChar char="–"/>
              <a:defRPr sz="1500">
                <a:solidFill>
                  <a:schemeClr val="tx1"/>
                </a:solidFill>
                <a:latin typeface="+mn-lt"/>
              </a:defRPr>
            </a:lvl4pPr>
            <a:lvl5pPr marL="1543050" indent="-171450" algn="l" rtl="0" eaLnBrk="1" fontAlgn="base" hangingPunct="1">
              <a:spcBef>
                <a:spcPct val="20000"/>
              </a:spcBef>
              <a:spcAft>
                <a:spcPct val="0"/>
              </a:spcAft>
              <a:buChar char="»"/>
              <a:defRPr sz="1500">
                <a:solidFill>
                  <a:schemeClr val="tx1"/>
                </a:solidFill>
                <a:latin typeface="+mn-lt"/>
              </a:defRPr>
            </a:lvl5pPr>
            <a:lvl6pPr marL="1885950" indent="-171450" algn="l" rtl="0" eaLnBrk="1" fontAlgn="base" hangingPunct="1">
              <a:spcBef>
                <a:spcPct val="20000"/>
              </a:spcBef>
              <a:spcAft>
                <a:spcPct val="0"/>
              </a:spcAft>
              <a:buChar char="»"/>
              <a:defRPr sz="1500">
                <a:solidFill>
                  <a:schemeClr val="tx1"/>
                </a:solidFill>
                <a:latin typeface="+mn-lt"/>
              </a:defRPr>
            </a:lvl6pPr>
            <a:lvl7pPr marL="2228850" indent="-171450" algn="l" rtl="0" eaLnBrk="1" fontAlgn="base" hangingPunct="1">
              <a:spcBef>
                <a:spcPct val="20000"/>
              </a:spcBef>
              <a:spcAft>
                <a:spcPct val="0"/>
              </a:spcAft>
              <a:buChar char="»"/>
              <a:defRPr sz="1500">
                <a:solidFill>
                  <a:schemeClr val="tx1"/>
                </a:solidFill>
                <a:latin typeface="+mn-lt"/>
              </a:defRPr>
            </a:lvl7pPr>
            <a:lvl8pPr marL="2571750" indent="-171450" algn="l" rtl="0" eaLnBrk="1" fontAlgn="base" hangingPunct="1">
              <a:spcBef>
                <a:spcPct val="20000"/>
              </a:spcBef>
              <a:spcAft>
                <a:spcPct val="0"/>
              </a:spcAft>
              <a:buChar char="»"/>
              <a:defRPr sz="1500">
                <a:solidFill>
                  <a:schemeClr val="tx1"/>
                </a:solidFill>
                <a:latin typeface="+mn-lt"/>
              </a:defRPr>
            </a:lvl8pPr>
            <a:lvl9pPr marL="2914650" indent="-171450" algn="l" rtl="0" eaLnBrk="1" fontAlgn="base" hangingPunct="1">
              <a:spcBef>
                <a:spcPct val="20000"/>
              </a:spcBef>
              <a:spcAft>
                <a:spcPct val="0"/>
              </a:spcAft>
              <a:buChar char="»"/>
              <a:defRPr sz="1500">
                <a:solidFill>
                  <a:schemeClr val="tx1"/>
                </a:solidFill>
                <a:latin typeface="+mn-lt"/>
              </a:defRPr>
            </a:lvl9pPr>
          </a:lstStyle>
          <a:p>
            <a:pPr algn="l"/>
            <a:r>
              <a:rPr lang="en-US" sz="1100" dirty="0">
                <a:solidFill>
                  <a:srgbClr val="FF0000"/>
                </a:solidFill>
                <a:latin typeface="Times New Roman" pitchFamily="18" charset="0"/>
                <a:cs typeface="Times New Roman" pitchFamily="18" charset="0"/>
              </a:rPr>
              <a:t>Prepared by;</a:t>
            </a:r>
          </a:p>
          <a:p>
            <a:pPr algn="l"/>
            <a:r>
              <a:rPr lang="en-US" sz="1100" dirty="0">
                <a:solidFill>
                  <a:srgbClr val="FF0000"/>
                </a:solidFill>
                <a:latin typeface="Times New Roman" pitchFamily="18" charset="0"/>
                <a:cs typeface="Times New Roman" pitchFamily="18" charset="0"/>
              </a:rPr>
              <a:t>Dr. Masoud Kamoleka Mlela</a:t>
            </a:r>
          </a:p>
          <a:p>
            <a:pPr lvl="1"/>
            <a:r>
              <a:rPr lang="en-US" sz="1100" dirty="0">
                <a:solidFill>
                  <a:srgbClr val="FF0000"/>
                </a:solidFill>
                <a:latin typeface="Times New Roman" pitchFamily="18" charset="0"/>
                <a:cs typeface="Times New Roman" pitchFamily="18" charset="0"/>
              </a:rPr>
              <a:t>BSc. Electromechanical Engineering (UDSM)</a:t>
            </a:r>
          </a:p>
          <a:p>
            <a:pPr lvl="1"/>
            <a:r>
              <a:rPr lang="en-US" sz="1100" dirty="0">
                <a:solidFill>
                  <a:srgbClr val="FF0000"/>
                </a:solidFill>
                <a:latin typeface="Times New Roman" pitchFamily="18" charset="0"/>
                <a:cs typeface="Times New Roman" pitchFamily="18" charset="0"/>
              </a:rPr>
              <a:t>MSc, Renewable Energy (UDSM)</a:t>
            </a:r>
          </a:p>
          <a:p>
            <a:pPr lvl="1"/>
            <a:r>
              <a:rPr lang="en-US" sz="1100" dirty="0">
                <a:solidFill>
                  <a:srgbClr val="FF0000"/>
                </a:solidFill>
                <a:latin typeface="Times New Roman" pitchFamily="18" charset="0"/>
                <a:cs typeface="Times New Roman" pitchFamily="18" charset="0"/>
              </a:rPr>
              <a:t>PhD, Mechanical Engineering (HEU-CN).</a:t>
            </a:r>
          </a:p>
          <a:p>
            <a:pPr lvl="1"/>
            <a:endParaRPr lang="en-US" sz="11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821383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3FBF7-C9FF-44EE-8F15-FA60ECBF6A58}"/>
              </a:ext>
            </a:extLst>
          </p:cNvPr>
          <p:cNvSpPr>
            <a:spLocks noGrp="1"/>
          </p:cNvSpPr>
          <p:nvPr>
            <p:ph type="title"/>
          </p:nvPr>
        </p:nvSpPr>
        <p:spPr>
          <a:xfrm>
            <a:off x="628650" y="131861"/>
            <a:ext cx="7886700" cy="1066003"/>
          </a:xfrm>
        </p:spPr>
        <p:txBody>
          <a:bodyPr/>
          <a:lstStyle/>
          <a:p>
            <a:r>
              <a:rPr lang="en-GB" b="1" dirty="0">
                <a:latin typeface="Rockwell" panose="02060603020205020403" pitchFamily="18" charset="0"/>
              </a:rPr>
              <a:t>Reading List: </a:t>
            </a:r>
            <a:endParaRPr lang="en-TZ" b="1" dirty="0">
              <a:latin typeface="Rockwell" panose="02060603020205020403" pitchFamily="18" charset="0"/>
            </a:endParaRPr>
          </a:p>
        </p:txBody>
      </p:sp>
      <p:sp>
        <p:nvSpPr>
          <p:cNvPr id="3" name="Content Placeholder 2">
            <a:extLst>
              <a:ext uri="{FF2B5EF4-FFF2-40B4-BE49-F238E27FC236}">
                <a16:creationId xmlns:a16="http://schemas.microsoft.com/office/drawing/2014/main" id="{ECD81808-F147-4142-AD82-73E9130C4BD1}"/>
              </a:ext>
            </a:extLst>
          </p:cNvPr>
          <p:cNvSpPr>
            <a:spLocks noGrp="1"/>
          </p:cNvSpPr>
          <p:nvPr>
            <p:ph idx="1"/>
          </p:nvPr>
        </p:nvSpPr>
        <p:spPr>
          <a:xfrm>
            <a:off x="628650" y="1368424"/>
            <a:ext cx="8021574" cy="5004943"/>
          </a:xfrm>
        </p:spPr>
        <p:txBody>
          <a:bodyPr>
            <a:noAutofit/>
          </a:bodyPr>
          <a:lstStyle/>
          <a:p>
            <a:pPr marL="514350" indent="-514350">
              <a:lnSpc>
                <a:spcPct val="100000"/>
              </a:lnSpc>
              <a:buFont typeface="+mj-lt"/>
              <a:buAutoNum type="arabicParenR"/>
            </a:pPr>
            <a:r>
              <a:rPr lang="en-GB" sz="2000" dirty="0">
                <a:latin typeface="Rockwell" panose="02060603020205020403" pitchFamily="18" charset="0"/>
              </a:rPr>
              <a:t>John W. Webb &amp; Ronald A.Reis., (2010). Programmable logic controllers- principles and applications, 5th  Edition – PHI Learning Pvt. Ltd., New Delhi -</a:t>
            </a:r>
          </a:p>
          <a:p>
            <a:pPr marL="514350" indent="-514350">
              <a:lnSpc>
                <a:spcPct val="100000"/>
              </a:lnSpc>
              <a:buFont typeface="+mj-lt"/>
              <a:buAutoNum type="arabicParenR"/>
            </a:pPr>
            <a:r>
              <a:rPr lang="en-GB" sz="2000" dirty="0">
                <a:latin typeface="Rockwell" panose="02060603020205020403" pitchFamily="18" charset="0"/>
              </a:rPr>
              <a:t>[Hughes .T, (1989). Programmable Logic Controllers, ISA Press, </a:t>
            </a:r>
          </a:p>
          <a:p>
            <a:pPr marL="514350" indent="-514350">
              <a:lnSpc>
                <a:spcPct val="100000"/>
              </a:lnSpc>
              <a:buFont typeface="+mj-lt"/>
              <a:buAutoNum type="arabicParenR"/>
            </a:pPr>
            <a:r>
              <a:rPr lang="en-GB" sz="2000" dirty="0">
                <a:latin typeface="Rockwell" panose="02060603020205020403" pitchFamily="18" charset="0"/>
              </a:rPr>
              <a:t>John W. Webb &amp; Ronald A. Reis, (2008). Programmable Logic Controllers – Principles and Applications, Fifth Edition, Pearson Education </a:t>
            </a:r>
          </a:p>
          <a:p>
            <a:pPr marL="514350" indent="-514350">
              <a:lnSpc>
                <a:spcPct val="100000"/>
              </a:lnSpc>
              <a:buFont typeface="+mj-lt"/>
              <a:buAutoNum type="arabicParenR"/>
            </a:pPr>
            <a:r>
              <a:rPr lang="en-GB" sz="2000" dirty="0">
                <a:latin typeface="Rockwell" panose="02060603020205020403" pitchFamily="18" charset="0"/>
              </a:rPr>
              <a:t>Ohn R. Hackworth &amp; Frederick D. Hackworth Jr, (2011).Programmable Logic Controllers – Programming Methods and Applications, Pearson</a:t>
            </a:r>
          </a:p>
          <a:p>
            <a:pPr marL="514350" indent="-514350">
              <a:lnSpc>
                <a:spcPct val="100000"/>
              </a:lnSpc>
              <a:buFont typeface="+mj-lt"/>
              <a:buAutoNum type="arabicParenR"/>
            </a:pPr>
            <a:r>
              <a:rPr lang="en-GB" sz="2000" dirty="0">
                <a:latin typeface="Rockwell" panose="02060603020205020403" pitchFamily="18" charset="0"/>
              </a:rPr>
              <a:t>Nakra, B. C., (2014). Theory and Applications of Automatic Controls, Revised 2nd  Edition, New Age International Publishers </a:t>
            </a:r>
          </a:p>
          <a:p>
            <a:pPr>
              <a:lnSpc>
                <a:spcPct val="100000"/>
              </a:lnSpc>
            </a:pPr>
            <a:endParaRPr lang="en-TZ" sz="2000" dirty="0"/>
          </a:p>
        </p:txBody>
      </p:sp>
    </p:spTree>
    <p:extLst>
      <p:ext uri="{BB962C8B-B14F-4D97-AF65-F5344CB8AC3E}">
        <p14:creationId xmlns:p14="http://schemas.microsoft.com/office/powerpoint/2010/main" val="250774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F272BE2-8C35-4D30-8262-7F2FAB52C970}"/>
              </a:ext>
            </a:extLst>
          </p:cNvPr>
          <p:cNvSpPr>
            <a:spLocks noGrp="1"/>
          </p:cNvSpPr>
          <p:nvPr>
            <p:ph type="subTitle" idx="1"/>
          </p:nvPr>
        </p:nvSpPr>
        <p:spPr>
          <a:xfrm>
            <a:off x="1143000" y="1783080"/>
            <a:ext cx="6858000" cy="3474720"/>
          </a:xfrm>
        </p:spPr>
        <p:txBody>
          <a:bodyPr vert="horz" lIns="91440" tIns="45720" rIns="91440" bIns="45720" rtlCol="0" anchor="ctr">
            <a:normAutofit/>
          </a:bodyPr>
          <a:lstStyle/>
          <a:p>
            <a:pPr>
              <a:spcBef>
                <a:spcPct val="0"/>
              </a:spcBef>
            </a:pPr>
            <a:r>
              <a:rPr lang="en-US" sz="4400" b="1" dirty="0">
                <a:latin typeface="Bell MT" panose="02020503060305020303" pitchFamily="18" charset="0"/>
                <a:ea typeface="+mj-ea"/>
                <a:cs typeface="+mj-cs"/>
              </a:rPr>
              <a:t>Introduction; definition &amp; history of the PLC</a:t>
            </a:r>
            <a:endParaRPr lang="en-TZ" sz="4400" b="1" dirty="0">
              <a:latin typeface="Bell MT" panose="02020503060305020303" pitchFamily="18" charset="0"/>
              <a:ea typeface="+mj-ea"/>
              <a:cs typeface="+mj-cs"/>
            </a:endParaRPr>
          </a:p>
        </p:txBody>
      </p:sp>
    </p:spTree>
    <p:extLst>
      <p:ext uri="{BB962C8B-B14F-4D97-AF65-F5344CB8AC3E}">
        <p14:creationId xmlns:p14="http://schemas.microsoft.com/office/powerpoint/2010/main" val="3710104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9D4BC-3B80-4CBA-B149-0BD77D5A37B0}"/>
              </a:ext>
            </a:extLst>
          </p:cNvPr>
          <p:cNvSpPr>
            <a:spLocks noGrp="1"/>
          </p:cNvSpPr>
          <p:nvPr>
            <p:ph type="title"/>
          </p:nvPr>
        </p:nvSpPr>
        <p:spPr/>
        <p:txBody>
          <a:bodyPr vert="horz" lIns="91440" tIns="45720" rIns="91440" bIns="45720" rtlCol="0" anchor="ctr">
            <a:normAutofit/>
          </a:bodyPr>
          <a:lstStyle/>
          <a:p>
            <a:r>
              <a:rPr lang="en-GB" b="1" dirty="0">
                <a:latin typeface="Bell MT" panose="02020503060305020303" pitchFamily="18" charset="0"/>
              </a:rPr>
              <a:t>Introduction to Programmable Logic Controllers (PLCs)</a:t>
            </a:r>
            <a:endParaRPr lang="en-TZ" b="1" dirty="0">
              <a:latin typeface="Bell MT" panose="02020503060305020303" pitchFamily="18" charset="0"/>
            </a:endParaRPr>
          </a:p>
        </p:txBody>
      </p:sp>
      <p:sp>
        <p:nvSpPr>
          <p:cNvPr id="3" name="Content Placeholder 2">
            <a:extLst>
              <a:ext uri="{FF2B5EF4-FFF2-40B4-BE49-F238E27FC236}">
                <a16:creationId xmlns:a16="http://schemas.microsoft.com/office/drawing/2014/main" id="{504C57DE-D544-4127-812A-9422815DB0D4}"/>
              </a:ext>
            </a:extLst>
          </p:cNvPr>
          <p:cNvSpPr>
            <a:spLocks noGrp="1"/>
          </p:cNvSpPr>
          <p:nvPr>
            <p:ph idx="1"/>
          </p:nvPr>
        </p:nvSpPr>
        <p:spPr/>
        <p:txBody>
          <a:bodyPr vert="horz" lIns="91440" tIns="45720" rIns="91440" bIns="45720" rtlCol="0">
            <a:normAutofit/>
          </a:bodyPr>
          <a:lstStyle/>
          <a:p>
            <a:pPr algn="just"/>
            <a:r>
              <a:rPr lang="en-US" dirty="0">
                <a:latin typeface="Bell MT" panose="02020503060305020303" pitchFamily="18" charset="0"/>
                <a:ea typeface="Cambria" panose="02040503050406030204" pitchFamily="18" charset="0"/>
              </a:rPr>
              <a:t>Programmable Logic Controllers (PLCs) are specialized industrial computers designed for automation and control of processes and machinery. They are widely used in manufacturing, energy, transportation, and other industries to enhance efficiency, reliability, and flexibility in operations.</a:t>
            </a:r>
            <a:endParaRPr lang="en-TZ" dirty="0">
              <a:latin typeface="Bell MT" panose="02020503060305020303" pitchFamily="18" charset="0"/>
              <a:ea typeface="Cambria" panose="02040503050406030204" pitchFamily="18" charset="0"/>
            </a:endParaRPr>
          </a:p>
        </p:txBody>
      </p:sp>
    </p:spTree>
    <p:extLst>
      <p:ext uri="{BB962C8B-B14F-4D97-AF65-F5344CB8AC3E}">
        <p14:creationId xmlns:p14="http://schemas.microsoft.com/office/powerpoint/2010/main" val="3393580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7B29E-AD73-4648-94D4-ACC7D3C0A52C}"/>
              </a:ext>
            </a:extLst>
          </p:cNvPr>
          <p:cNvSpPr>
            <a:spLocks noGrp="1"/>
          </p:cNvSpPr>
          <p:nvPr>
            <p:ph type="title"/>
          </p:nvPr>
        </p:nvSpPr>
        <p:spPr>
          <a:xfrm>
            <a:off x="628650" y="136807"/>
            <a:ext cx="7886700" cy="1325563"/>
          </a:xfrm>
        </p:spPr>
        <p:txBody>
          <a:bodyPr/>
          <a:lstStyle/>
          <a:p>
            <a:r>
              <a:rPr lang="en-GB" b="1" dirty="0">
                <a:latin typeface="Bell MT" panose="02020503060305020303" pitchFamily="18" charset="0"/>
              </a:rPr>
              <a:t>What is a PLC?</a:t>
            </a:r>
            <a:endParaRPr lang="en-TZ" b="1" dirty="0">
              <a:latin typeface="Bell MT" panose="02020503060305020303" pitchFamily="18" charset="0"/>
            </a:endParaRPr>
          </a:p>
        </p:txBody>
      </p:sp>
      <p:sp>
        <p:nvSpPr>
          <p:cNvPr id="3" name="Content Placeholder 2">
            <a:extLst>
              <a:ext uri="{FF2B5EF4-FFF2-40B4-BE49-F238E27FC236}">
                <a16:creationId xmlns:a16="http://schemas.microsoft.com/office/drawing/2014/main" id="{725D86D6-5167-4E86-A228-2599CD33B497}"/>
              </a:ext>
            </a:extLst>
          </p:cNvPr>
          <p:cNvSpPr>
            <a:spLocks noGrp="1"/>
          </p:cNvSpPr>
          <p:nvPr>
            <p:ph idx="1"/>
          </p:nvPr>
        </p:nvSpPr>
        <p:spPr>
          <a:xfrm>
            <a:off x="463463" y="1460499"/>
            <a:ext cx="8051887" cy="5032375"/>
          </a:xfrm>
        </p:spPr>
        <p:txBody>
          <a:bodyPr>
            <a:normAutofit/>
          </a:bodyPr>
          <a:lstStyle/>
          <a:p>
            <a:pPr algn="just"/>
            <a:r>
              <a:rPr lang="en-US" dirty="0">
                <a:latin typeface="Bell MT" panose="02020503060305020303" pitchFamily="18" charset="0"/>
                <a:ea typeface="Cambria" panose="02040503050406030204" pitchFamily="18" charset="0"/>
              </a:rPr>
              <a:t>A PLC is a microprocessor-based system that uses programmable memory to store instructions for performing specific tasks such as logic operations, sequencing, timing, counting, and arithmetic. </a:t>
            </a:r>
          </a:p>
          <a:p>
            <a:pPr algn="just"/>
            <a:r>
              <a:rPr lang="en-US" dirty="0">
                <a:latin typeface="Bell MT" panose="02020503060305020303" pitchFamily="18" charset="0"/>
                <a:ea typeface="Cambria" panose="02040503050406030204" pitchFamily="18" charset="0"/>
              </a:rPr>
              <a:t>These instructions allow the PLC to control machines and processes by interacting with input/output (I/O) devices like sensors, switches, motors, actuators, and lights</a:t>
            </a:r>
          </a:p>
          <a:p>
            <a:pPr algn="just"/>
            <a:r>
              <a:rPr lang="en-US" dirty="0">
                <a:latin typeface="Bell MT" panose="02020503060305020303" pitchFamily="18" charset="0"/>
                <a:ea typeface="Cambria" panose="02040503050406030204" pitchFamily="18" charset="0"/>
              </a:rPr>
              <a:t>PLCs are robust and designed to operate in harsh industrial environments. They can withstand extreme temperatures, vibrations, and electrical noise while performing real-time applications</a:t>
            </a:r>
            <a:endParaRPr lang="en-TZ" dirty="0">
              <a:latin typeface="Bell MT" panose="02020503060305020303" pitchFamily="18" charset="0"/>
              <a:ea typeface="Cambria" panose="02040503050406030204" pitchFamily="18" charset="0"/>
            </a:endParaRPr>
          </a:p>
        </p:txBody>
      </p:sp>
    </p:spTree>
    <p:extLst>
      <p:ext uri="{BB962C8B-B14F-4D97-AF65-F5344CB8AC3E}">
        <p14:creationId xmlns:p14="http://schemas.microsoft.com/office/powerpoint/2010/main" val="3960296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92F77-79F4-4B3B-AE90-C900F7BEBB34}"/>
              </a:ext>
            </a:extLst>
          </p:cNvPr>
          <p:cNvSpPr>
            <a:spLocks noGrp="1"/>
          </p:cNvSpPr>
          <p:nvPr>
            <p:ph type="title"/>
          </p:nvPr>
        </p:nvSpPr>
        <p:spPr/>
        <p:txBody>
          <a:bodyPr/>
          <a:lstStyle/>
          <a:p>
            <a:pPr algn="ctr"/>
            <a:r>
              <a:rPr lang="en-US" b="1" dirty="0">
                <a:latin typeface="Rockwell" panose="02060603020205020403" pitchFamily="18" charset="0"/>
              </a:rPr>
              <a:t>PLC Definition</a:t>
            </a:r>
            <a:endParaRPr lang="en-TZ" b="1" dirty="0">
              <a:latin typeface="Rockwell" panose="02060603020205020403" pitchFamily="18" charset="0"/>
            </a:endParaRPr>
          </a:p>
        </p:txBody>
      </p:sp>
      <p:sp>
        <p:nvSpPr>
          <p:cNvPr id="3" name="Content Placeholder 2">
            <a:extLst>
              <a:ext uri="{FF2B5EF4-FFF2-40B4-BE49-F238E27FC236}">
                <a16:creationId xmlns:a16="http://schemas.microsoft.com/office/drawing/2014/main" id="{371AAC01-8FCD-4900-B21C-17BC9F007CA5}"/>
              </a:ext>
            </a:extLst>
          </p:cNvPr>
          <p:cNvSpPr>
            <a:spLocks noGrp="1"/>
          </p:cNvSpPr>
          <p:nvPr>
            <p:ph idx="1"/>
          </p:nvPr>
        </p:nvSpPr>
        <p:spPr>
          <a:xfrm>
            <a:off x="628650" y="1528176"/>
            <a:ext cx="7886700" cy="4964698"/>
          </a:xfrm>
        </p:spPr>
        <p:txBody>
          <a:bodyPr>
            <a:normAutofit/>
          </a:bodyPr>
          <a:lstStyle/>
          <a:p>
            <a:pPr marL="0" indent="0" algn="just">
              <a:buNone/>
            </a:pPr>
            <a:r>
              <a:rPr lang="en-US" sz="2400" dirty="0">
                <a:solidFill>
                  <a:srgbClr val="C00000"/>
                </a:solidFill>
                <a:latin typeface="Rockwell" panose="02060603020205020403" pitchFamily="18" charset="0"/>
              </a:rPr>
              <a:t>A formal definition of a PLC comes from the National Electrical Manufacturers Association (NEMA):</a:t>
            </a:r>
          </a:p>
          <a:p>
            <a:pPr marL="0" indent="0">
              <a:buNone/>
            </a:pPr>
            <a:endParaRPr lang="en-US" dirty="0"/>
          </a:p>
          <a:p>
            <a:pPr marL="0" indent="0" algn="just">
              <a:buNone/>
            </a:pPr>
            <a:r>
              <a:rPr lang="en-US" sz="3200" i="1" dirty="0">
                <a:solidFill>
                  <a:srgbClr val="0000FF"/>
                </a:solidFill>
                <a:latin typeface="Rockwell" panose="02060603020205020403" pitchFamily="18" charset="0"/>
              </a:rPr>
              <a:t>A digitally operating electronic apparatus which uses a programmable memory for the internal storage of instructions for implementing specific functions such as logic, sequencing, timing, counting, and arithmetic to control, through digital or analog input/output modules, various types of machines or processes</a:t>
            </a:r>
            <a:r>
              <a:rPr lang="en-US" i="1" dirty="0">
                <a:solidFill>
                  <a:srgbClr val="0000FF"/>
                </a:solidFill>
                <a:latin typeface="Rockwell" panose="02060603020205020403" pitchFamily="18" charset="0"/>
              </a:rPr>
              <a:t>.</a:t>
            </a:r>
            <a:endParaRPr lang="en-TZ" i="1" dirty="0">
              <a:solidFill>
                <a:srgbClr val="0000FF"/>
              </a:solidFill>
              <a:latin typeface="Rockwell" panose="02060603020205020403" pitchFamily="18" charset="0"/>
            </a:endParaRPr>
          </a:p>
        </p:txBody>
      </p:sp>
    </p:spTree>
    <p:extLst>
      <p:ext uri="{BB962C8B-B14F-4D97-AF65-F5344CB8AC3E}">
        <p14:creationId xmlns:p14="http://schemas.microsoft.com/office/powerpoint/2010/main" val="3545557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29B621-E818-4FB8-BDD6-ABBDF3928AA0}"/>
              </a:ext>
            </a:extLst>
          </p:cNvPr>
          <p:cNvPicPr>
            <a:picLocks noChangeAspect="1"/>
          </p:cNvPicPr>
          <p:nvPr/>
        </p:nvPicPr>
        <p:blipFill>
          <a:blip r:embed="rId2"/>
          <a:stretch>
            <a:fillRect/>
          </a:stretch>
        </p:blipFill>
        <p:spPr>
          <a:xfrm>
            <a:off x="521860" y="834887"/>
            <a:ext cx="8100279" cy="5439205"/>
          </a:xfrm>
          <a:prstGeom prst="rect">
            <a:avLst/>
          </a:prstGeom>
        </p:spPr>
      </p:pic>
    </p:spTree>
    <p:extLst>
      <p:ext uri="{BB962C8B-B14F-4D97-AF65-F5344CB8AC3E}">
        <p14:creationId xmlns:p14="http://schemas.microsoft.com/office/powerpoint/2010/main" val="1811790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74F6AA-CF28-45A5-8D0E-D2B907A3844F}"/>
              </a:ext>
            </a:extLst>
          </p:cNvPr>
          <p:cNvPicPr>
            <a:picLocks noChangeAspect="1"/>
          </p:cNvPicPr>
          <p:nvPr/>
        </p:nvPicPr>
        <p:blipFill>
          <a:blip r:embed="rId2"/>
          <a:stretch>
            <a:fillRect/>
          </a:stretch>
        </p:blipFill>
        <p:spPr>
          <a:xfrm>
            <a:off x="1087571" y="1690689"/>
            <a:ext cx="6697010" cy="4229690"/>
          </a:xfrm>
          <a:prstGeom prst="rect">
            <a:avLst/>
          </a:prstGeom>
        </p:spPr>
      </p:pic>
      <p:pic>
        <p:nvPicPr>
          <p:cNvPr id="5" name="Picture 4">
            <a:extLst>
              <a:ext uri="{FF2B5EF4-FFF2-40B4-BE49-F238E27FC236}">
                <a16:creationId xmlns:a16="http://schemas.microsoft.com/office/drawing/2014/main" id="{C41D722D-6360-43FF-8EA2-F312F8C19F92}"/>
              </a:ext>
            </a:extLst>
          </p:cNvPr>
          <p:cNvPicPr>
            <a:picLocks noChangeAspect="1"/>
          </p:cNvPicPr>
          <p:nvPr/>
        </p:nvPicPr>
        <p:blipFill>
          <a:blip r:embed="rId3"/>
          <a:stretch>
            <a:fillRect/>
          </a:stretch>
        </p:blipFill>
        <p:spPr>
          <a:xfrm>
            <a:off x="6601215" y="-1"/>
            <a:ext cx="2542785" cy="3103999"/>
          </a:xfrm>
          <a:prstGeom prst="rect">
            <a:avLst/>
          </a:prstGeom>
        </p:spPr>
      </p:pic>
    </p:spTree>
    <p:extLst>
      <p:ext uri="{BB962C8B-B14F-4D97-AF65-F5344CB8AC3E}">
        <p14:creationId xmlns:p14="http://schemas.microsoft.com/office/powerpoint/2010/main" val="1355716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083C5-3464-4F04-AF8E-567120C3A30A}"/>
              </a:ext>
            </a:extLst>
          </p:cNvPr>
          <p:cNvSpPr>
            <a:spLocks noGrp="1"/>
          </p:cNvSpPr>
          <p:nvPr>
            <p:ph type="title"/>
          </p:nvPr>
        </p:nvSpPr>
        <p:spPr/>
        <p:txBody>
          <a:bodyPr/>
          <a:lstStyle/>
          <a:p>
            <a:r>
              <a:rPr lang="en-US" b="1" dirty="0">
                <a:latin typeface="Bell MT" panose="02020503060305020303" pitchFamily="18" charset="0"/>
              </a:rPr>
              <a:t>History</a:t>
            </a:r>
            <a:r>
              <a:rPr lang="en-US" dirty="0"/>
              <a:t> </a:t>
            </a:r>
            <a:r>
              <a:rPr lang="en-US" b="1" dirty="0">
                <a:latin typeface="Bell MT" panose="02020503060305020303" pitchFamily="18" charset="0"/>
              </a:rPr>
              <a:t>of</a:t>
            </a:r>
            <a:r>
              <a:rPr lang="en-US" dirty="0"/>
              <a:t> </a:t>
            </a:r>
            <a:r>
              <a:rPr lang="en-US" b="1" dirty="0">
                <a:latin typeface="Bell MT" panose="02020503060305020303" pitchFamily="18" charset="0"/>
              </a:rPr>
              <a:t>PLC</a:t>
            </a:r>
            <a:endParaRPr lang="en-TZ" b="1" dirty="0">
              <a:latin typeface="Bell MT" panose="02020503060305020303" pitchFamily="18" charset="0"/>
            </a:endParaRPr>
          </a:p>
        </p:txBody>
      </p:sp>
      <p:sp>
        <p:nvSpPr>
          <p:cNvPr id="3" name="Content Placeholder 2">
            <a:extLst>
              <a:ext uri="{FF2B5EF4-FFF2-40B4-BE49-F238E27FC236}">
                <a16:creationId xmlns:a16="http://schemas.microsoft.com/office/drawing/2014/main" id="{C2688F94-F873-48B8-B82B-6062090A9594}"/>
              </a:ext>
            </a:extLst>
          </p:cNvPr>
          <p:cNvSpPr>
            <a:spLocks noGrp="1"/>
          </p:cNvSpPr>
          <p:nvPr>
            <p:ph idx="1"/>
          </p:nvPr>
        </p:nvSpPr>
        <p:spPr>
          <a:xfrm>
            <a:off x="628650" y="1349636"/>
            <a:ext cx="7886700" cy="5143238"/>
          </a:xfrm>
        </p:spPr>
        <p:txBody>
          <a:bodyPr>
            <a:normAutofit lnSpcReduction="10000"/>
          </a:bodyPr>
          <a:lstStyle/>
          <a:p>
            <a:pPr algn="just"/>
            <a:r>
              <a:rPr lang="en-US" dirty="0">
                <a:latin typeface="Bell MT" panose="02020503060305020303" pitchFamily="18" charset="0"/>
              </a:rPr>
              <a:t>The development of PLCs revolutionized industrial automation by replacing complex and inflexible relay logic systems. Here is a brief timeline of their evolution</a:t>
            </a:r>
          </a:p>
          <a:p>
            <a:endParaRPr lang="en-US" dirty="0"/>
          </a:p>
          <a:p>
            <a:pPr marL="0" indent="0">
              <a:buNone/>
            </a:pPr>
            <a:r>
              <a:rPr lang="en-GB" b="1" dirty="0">
                <a:latin typeface="Bell MT" panose="02020503060305020303" pitchFamily="18" charset="0"/>
              </a:rPr>
              <a:t>Pre-PLC Era: Relay Logic Systems</a:t>
            </a:r>
            <a:endParaRPr lang="en-US" b="1" dirty="0">
              <a:latin typeface="Bell MT" panose="02020503060305020303" pitchFamily="18" charset="0"/>
            </a:endParaRPr>
          </a:p>
          <a:p>
            <a:pPr algn="just"/>
            <a:r>
              <a:rPr lang="en-US" dirty="0">
                <a:latin typeface="Bell MT" panose="02020503060305020303" pitchFamily="18" charset="0"/>
              </a:rPr>
              <a:t>Before PLCs, industrial automation relied on electromechanical relay systems. These systems were cumbersome due to extensive wiring requirements, limited scalability, and difficulty in troubleshooting. Modifications often required physical rewiring, which was time-consuming and prone to errors</a:t>
            </a:r>
            <a:endParaRPr lang="en-TZ" dirty="0">
              <a:latin typeface="Bell MT" panose="02020503060305020303" pitchFamily="18" charset="0"/>
            </a:endParaRPr>
          </a:p>
        </p:txBody>
      </p:sp>
    </p:spTree>
    <p:extLst>
      <p:ext uri="{BB962C8B-B14F-4D97-AF65-F5344CB8AC3E}">
        <p14:creationId xmlns:p14="http://schemas.microsoft.com/office/powerpoint/2010/main" val="3690264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D7AAC-520F-4098-9C8B-8E1F3F46E642}"/>
              </a:ext>
            </a:extLst>
          </p:cNvPr>
          <p:cNvSpPr>
            <a:spLocks noGrp="1"/>
          </p:cNvSpPr>
          <p:nvPr>
            <p:ph type="title"/>
          </p:nvPr>
        </p:nvSpPr>
        <p:spPr>
          <a:xfrm>
            <a:off x="628650" y="162838"/>
            <a:ext cx="7886700" cy="776615"/>
          </a:xfrm>
        </p:spPr>
        <p:txBody>
          <a:bodyPr>
            <a:normAutofit/>
          </a:bodyPr>
          <a:lstStyle/>
          <a:p>
            <a:r>
              <a:rPr lang="en-US" sz="3200" b="1" dirty="0">
                <a:latin typeface="Bell MT" panose="02020503060305020303" pitchFamily="18" charset="0"/>
              </a:rPr>
              <a:t>Invention of the First PLC</a:t>
            </a:r>
            <a:endParaRPr lang="en-TZ" sz="3200" b="1" dirty="0">
              <a:latin typeface="Bell MT" panose="02020503060305020303" pitchFamily="18" charset="0"/>
            </a:endParaRPr>
          </a:p>
        </p:txBody>
      </p:sp>
      <p:sp>
        <p:nvSpPr>
          <p:cNvPr id="3" name="Content Placeholder 2">
            <a:extLst>
              <a:ext uri="{FF2B5EF4-FFF2-40B4-BE49-F238E27FC236}">
                <a16:creationId xmlns:a16="http://schemas.microsoft.com/office/drawing/2014/main" id="{72DD473E-3282-48E6-9B04-69D1B0AEA201}"/>
              </a:ext>
            </a:extLst>
          </p:cNvPr>
          <p:cNvSpPr>
            <a:spLocks noGrp="1"/>
          </p:cNvSpPr>
          <p:nvPr>
            <p:ph idx="1"/>
          </p:nvPr>
        </p:nvSpPr>
        <p:spPr>
          <a:xfrm>
            <a:off x="356992" y="939452"/>
            <a:ext cx="8430016" cy="5918548"/>
          </a:xfrm>
        </p:spPr>
        <p:txBody>
          <a:bodyPr>
            <a:noAutofit/>
          </a:bodyPr>
          <a:lstStyle/>
          <a:p>
            <a:pPr algn="just"/>
            <a:r>
              <a:rPr lang="en-US" sz="2000" dirty="0">
                <a:latin typeface="Rockwell" panose="02060603020205020403" pitchFamily="18" charset="0"/>
                <a:ea typeface="Cambria" panose="02040503050406030204" pitchFamily="18" charset="0"/>
              </a:rPr>
              <a:t>The </a:t>
            </a:r>
            <a:r>
              <a:rPr lang="en-US" sz="2000" b="1" dirty="0">
                <a:latin typeface="Rockwell" panose="02060603020205020403" pitchFamily="18" charset="0"/>
                <a:ea typeface="Cambria" panose="02040503050406030204" pitchFamily="18" charset="0"/>
              </a:rPr>
              <a:t>concept of the PLC</a:t>
            </a:r>
            <a:r>
              <a:rPr lang="en-US" sz="2000" dirty="0">
                <a:latin typeface="Rockwell" panose="02060603020205020403" pitchFamily="18" charset="0"/>
                <a:ea typeface="Cambria" panose="02040503050406030204" pitchFamily="18" charset="0"/>
              </a:rPr>
              <a:t> emerged in the late 1960s when the automotive industry—most notably General Motors—sought a more flexible and cost-effective alternative to the complex relay-based control systems used at the time. Traditional systems were difficult to modify and maintain, leading to long downtimes during production changes</a:t>
            </a:r>
          </a:p>
          <a:p>
            <a:pPr algn="just"/>
            <a:r>
              <a:rPr lang="en-US" sz="2000" dirty="0">
                <a:latin typeface="Rockwell" panose="02060603020205020403" pitchFamily="18" charset="0"/>
              </a:rPr>
              <a:t>The first PLC was developed by Dick Morley for General Motors in 1968. Known as the Modicon 084</a:t>
            </a:r>
            <a:r>
              <a:rPr lang="en-US" sz="2000" dirty="0">
                <a:latin typeface="Rockwell" panose="02060603020205020403" pitchFamily="18" charset="0"/>
                <a:ea typeface="Cambria" panose="02040503050406030204" pitchFamily="18" charset="0"/>
              </a:rPr>
              <a:t> (Modular Digital Controller)</a:t>
            </a:r>
            <a:r>
              <a:rPr lang="en-US" sz="2000" dirty="0">
                <a:latin typeface="Rockwell" panose="02060603020205020403" pitchFamily="18" charset="0"/>
              </a:rPr>
              <a:t>, it was designed to address the limitations of relay systems by offering a programmable solution that could be reconfigured without hardware changes. This innovation laid the foundation for modern industrial automation</a:t>
            </a:r>
            <a:r>
              <a:rPr lang="en-US" sz="2000" dirty="0">
                <a:latin typeface="Rockwell" panose="02060603020205020403" pitchFamily="18" charset="0"/>
                <a:ea typeface="Cambria" panose="02040503050406030204" pitchFamily="18" charset="0"/>
              </a:rPr>
              <a:t>.</a:t>
            </a:r>
          </a:p>
          <a:p>
            <a:pPr algn="just"/>
            <a:r>
              <a:rPr lang="en-US" sz="2000" dirty="0">
                <a:latin typeface="Rockwell" panose="02060603020205020403" pitchFamily="18" charset="0"/>
                <a:ea typeface="Cambria" panose="02040503050406030204" pitchFamily="18" charset="0"/>
              </a:rPr>
              <a:t>Over the decades, PLCs have evolved from simple relay-replacement devices into powerful control systems capable of advanced functions like motion control, networking, data logging, and integration with modern software platforms. (Modular Digital Controller), </a:t>
            </a:r>
            <a:endParaRPr lang="en-TZ" sz="2000" dirty="0">
              <a:latin typeface="Rockwell" panose="02060603020205020403" pitchFamily="18" charset="0"/>
              <a:ea typeface="Cambria" panose="02040503050406030204" pitchFamily="18" charset="0"/>
            </a:endParaRPr>
          </a:p>
        </p:txBody>
      </p:sp>
    </p:spTree>
    <p:extLst>
      <p:ext uri="{BB962C8B-B14F-4D97-AF65-F5344CB8AC3E}">
        <p14:creationId xmlns:p14="http://schemas.microsoft.com/office/powerpoint/2010/main" val="4002496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2F7B07-3F42-49B5-9E0D-F354271255F7}"/>
              </a:ext>
            </a:extLst>
          </p:cNvPr>
          <p:cNvSpPr>
            <a:spLocks noGrp="1"/>
          </p:cNvSpPr>
          <p:nvPr>
            <p:ph idx="1"/>
          </p:nvPr>
        </p:nvSpPr>
        <p:spPr>
          <a:xfrm>
            <a:off x="503390" y="978574"/>
            <a:ext cx="7886700" cy="5585064"/>
          </a:xfrm>
        </p:spPr>
        <p:txBody>
          <a:bodyPr>
            <a:normAutofit lnSpcReduction="10000"/>
          </a:bodyPr>
          <a:lstStyle/>
          <a:p>
            <a:pPr algn="just"/>
            <a:r>
              <a:rPr lang="en-US" dirty="0">
                <a:latin typeface="Rockwell" panose="02060603020205020403" pitchFamily="18" charset="0"/>
              </a:rPr>
              <a:t>1970s: Commercial Success</a:t>
            </a:r>
          </a:p>
          <a:p>
            <a:pPr marL="457200" lvl="1" indent="0" algn="just">
              <a:buNone/>
            </a:pPr>
            <a:r>
              <a:rPr lang="en-US" dirty="0">
                <a:latin typeface="Rockwell" panose="02060603020205020403" pitchFamily="18" charset="0"/>
              </a:rPr>
              <a:t>By 1973, Michael Greenburg refined the design into a commercially successful product for General Motors and Landis. Around the same time, Allen-Bradley popularized the term "PLC" and became a major manufacturer in the United States</a:t>
            </a:r>
          </a:p>
          <a:p>
            <a:pPr algn="just"/>
            <a:r>
              <a:rPr lang="en-US" sz="2400" dirty="0">
                <a:latin typeface="Rockwell" panose="02060603020205020403" pitchFamily="18" charset="0"/>
              </a:rPr>
              <a:t>1980s Onward: Technological Advancements</a:t>
            </a:r>
          </a:p>
          <a:p>
            <a:pPr marL="457200" lvl="1" indent="0" algn="just">
              <a:buNone/>
            </a:pPr>
            <a:r>
              <a:rPr lang="en-US" sz="2000" dirty="0">
                <a:latin typeface="Rockwell" panose="02060603020205020403" pitchFamily="18" charset="0"/>
              </a:rPr>
              <a:t>The 1980s saw significant improvements in PLC technology:</a:t>
            </a:r>
          </a:p>
          <a:p>
            <a:pPr lvl="1">
              <a:buFont typeface="Calibri" panose="020F0502020204030204" pitchFamily="34" charset="0"/>
              <a:buChar char="»"/>
            </a:pPr>
            <a:r>
              <a:rPr lang="en-US" dirty="0">
                <a:latin typeface="Rockwell" panose="02060603020205020403" pitchFamily="18" charset="0"/>
              </a:rPr>
              <a:t>Introduction of PC-based software for programming.</a:t>
            </a:r>
          </a:p>
          <a:p>
            <a:pPr lvl="1">
              <a:buFont typeface="Calibri" panose="020F0502020204030204" pitchFamily="34" charset="0"/>
              <a:buChar char="»"/>
            </a:pPr>
            <a:r>
              <a:rPr lang="en-US" dirty="0">
                <a:latin typeface="Rockwell" panose="02060603020205020403" pitchFamily="18" charset="0"/>
              </a:rPr>
              <a:t>Enhanced processing speeds.</a:t>
            </a:r>
          </a:p>
          <a:p>
            <a:pPr lvl="1">
              <a:buFont typeface="Calibri" panose="020F0502020204030204" pitchFamily="34" charset="0"/>
              <a:buChar char="»"/>
            </a:pPr>
            <a:r>
              <a:rPr lang="en-US" dirty="0">
                <a:latin typeface="Rockwell" panose="02060603020205020403" pitchFamily="18" charset="0"/>
              </a:rPr>
              <a:t>Expansion of memory capabilities.</a:t>
            </a:r>
          </a:p>
          <a:p>
            <a:pPr marL="914400" lvl="2" indent="0" algn="just">
              <a:buNone/>
            </a:pPr>
            <a:r>
              <a:rPr lang="en-US" sz="2400" dirty="0">
                <a:latin typeface="Rockwell" panose="02060603020205020403" pitchFamily="18" charset="0"/>
              </a:rPr>
              <a:t>Modern PLCs have evolved further to include features like human-machine interfaces (HMI), predictive maintenance capabilities, and integration with Internet of Things (IoT) technologies</a:t>
            </a:r>
          </a:p>
        </p:txBody>
      </p:sp>
    </p:spTree>
    <p:extLst>
      <p:ext uri="{BB962C8B-B14F-4D97-AF65-F5344CB8AC3E}">
        <p14:creationId xmlns:p14="http://schemas.microsoft.com/office/powerpoint/2010/main" val="2630783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F382CF-70EE-497C-B7B0-AAC8FF0B1AE0}"/>
              </a:ext>
            </a:extLst>
          </p:cNvPr>
          <p:cNvSpPr>
            <a:spLocks noGrp="1"/>
          </p:cNvSpPr>
          <p:nvPr>
            <p:ph idx="1"/>
          </p:nvPr>
        </p:nvSpPr>
        <p:spPr>
          <a:xfrm>
            <a:off x="628649" y="852615"/>
            <a:ext cx="7886701" cy="5597612"/>
          </a:xfrm>
        </p:spPr>
        <p:txBody>
          <a:bodyPr>
            <a:noAutofit/>
          </a:bodyPr>
          <a:lstStyle/>
          <a:p>
            <a:pPr algn="just"/>
            <a:r>
              <a:rPr lang="en-US" sz="2400" dirty="0">
                <a:latin typeface="Rockwell" panose="02060603020205020403" pitchFamily="18" charset="0"/>
              </a:rPr>
              <a:t>Programmable Logic Controllers (PLCs) are crucial in automation and control systems. Here are some advantages and disadvantages:</a:t>
            </a:r>
          </a:p>
          <a:p>
            <a:pPr marL="0" indent="0" algn="ctr">
              <a:buNone/>
            </a:pPr>
            <a:r>
              <a:rPr lang="en-US" sz="2400" b="1" dirty="0">
                <a:solidFill>
                  <a:srgbClr val="FF0000"/>
                </a:solidFill>
                <a:latin typeface="Rockwell" panose="02060603020205020403" pitchFamily="18" charset="0"/>
              </a:rPr>
              <a:t>Advantages of PLCs</a:t>
            </a:r>
            <a:r>
              <a:rPr lang="en-US" sz="2400" b="1" dirty="0">
                <a:latin typeface="Rockwell" panose="02060603020205020403" pitchFamily="18" charset="0"/>
              </a:rPr>
              <a:t>:</a:t>
            </a:r>
          </a:p>
          <a:p>
            <a:pPr algn="just"/>
            <a:r>
              <a:rPr lang="en-US" sz="2400" b="1" dirty="0">
                <a:latin typeface="Rockwell" panose="02060603020205020403" pitchFamily="18" charset="0"/>
              </a:rPr>
              <a:t>Flexibility:</a:t>
            </a:r>
            <a:r>
              <a:rPr lang="en-US" sz="2400" dirty="0">
                <a:latin typeface="Rockwell" panose="02060603020205020403" pitchFamily="18" charset="0"/>
              </a:rPr>
              <a:t> PLCs can be easily reprogrammed for various applications, unlike traditional relay-based systems.</a:t>
            </a:r>
          </a:p>
          <a:p>
            <a:pPr algn="just"/>
            <a:r>
              <a:rPr lang="en-US" sz="2400" b="1" dirty="0">
                <a:latin typeface="Rockwell" panose="02060603020205020403" pitchFamily="18" charset="0"/>
              </a:rPr>
              <a:t>Reliability:</a:t>
            </a:r>
            <a:r>
              <a:rPr lang="en-US" sz="2400" dirty="0">
                <a:latin typeface="Rockwell" panose="02060603020205020403" pitchFamily="18" charset="0"/>
              </a:rPr>
              <a:t> Designed for industrial environments, they are robust and minimize downtime.</a:t>
            </a:r>
          </a:p>
          <a:p>
            <a:pPr algn="just"/>
            <a:r>
              <a:rPr lang="en-US" sz="2400" b="1" dirty="0">
                <a:latin typeface="Rockwell" panose="02060603020205020403" pitchFamily="18" charset="0"/>
              </a:rPr>
              <a:t>Ease of Troubleshooting:</a:t>
            </a:r>
            <a:r>
              <a:rPr lang="en-US" sz="2400" dirty="0">
                <a:latin typeface="Rockwell" panose="02060603020205020403" pitchFamily="18" charset="0"/>
              </a:rPr>
              <a:t> Error messages and diagnostic tools simplify maintenance.</a:t>
            </a:r>
          </a:p>
          <a:p>
            <a:pPr algn="just"/>
            <a:r>
              <a:rPr lang="en-US" sz="2400" b="1" dirty="0">
                <a:latin typeface="Rockwell" panose="02060603020205020403" pitchFamily="18" charset="0"/>
              </a:rPr>
              <a:t>Scalability:</a:t>
            </a:r>
            <a:r>
              <a:rPr lang="en-US" sz="2400" dirty="0">
                <a:latin typeface="Rockwell" panose="02060603020205020403" pitchFamily="18" charset="0"/>
              </a:rPr>
              <a:t> PLCs can accommodate expansion with additional I/O modules and connectivity options.</a:t>
            </a:r>
          </a:p>
          <a:p>
            <a:pPr algn="just"/>
            <a:r>
              <a:rPr lang="en-US" sz="2400" b="1" dirty="0">
                <a:latin typeface="Rockwell" panose="02060603020205020403" pitchFamily="18" charset="0"/>
              </a:rPr>
              <a:t>Integration:</a:t>
            </a:r>
            <a:r>
              <a:rPr lang="en-US" sz="2400" dirty="0">
                <a:latin typeface="Rockwell" panose="02060603020205020403" pitchFamily="18" charset="0"/>
              </a:rPr>
              <a:t> Can interface with various devices like sensors, actuators, and other PLCs seamlessly.</a:t>
            </a:r>
          </a:p>
        </p:txBody>
      </p:sp>
      <p:sp>
        <p:nvSpPr>
          <p:cNvPr id="9" name="Rectangle 8">
            <a:extLst>
              <a:ext uri="{FF2B5EF4-FFF2-40B4-BE49-F238E27FC236}">
                <a16:creationId xmlns:a16="http://schemas.microsoft.com/office/drawing/2014/main" id="{40FDAC9F-D877-4212-AB6F-A9593E8B4F88}"/>
              </a:ext>
            </a:extLst>
          </p:cNvPr>
          <p:cNvSpPr/>
          <p:nvPr/>
        </p:nvSpPr>
        <p:spPr>
          <a:xfrm>
            <a:off x="1456467" y="146163"/>
            <a:ext cx="5666038" cy="523220"/>
          </a:xfrm>
          <a:prstGeom prst="rect">
            <a:avLst/>
          </a:prstGeom>
        </p:spPr>
        <p:txBody>
          <a:bodyPr wrap="none">
            <a:spAutoFit/>
          </a:bodyPr>
          <a:lstStyle/>
          <a:p>
            <a:r>
              <a:rPr lang="en-US" sz="2800" b="1" dirty="0">
                <a:latin typeface="Rockwell" panose="02060603020205020403" pitchFamily="18" charset="0"/>
              </a:rPr>
              <a:t>PLC advantage &amp; disadvantage</a:t>
            </a:r>
            <a:endParaRPr lang="en-TZ" sz="2800" b="1" dirty="0">
              <a:latin typeface="Rockwell" panose="02060603020205020403" pitchFamily="18" charset="0"/>
            </a:endParaRPr>
          </a:p>
        </p:txBody>
      </p:sp>
    </p:spTree>
    <p:extLst>
      <p:ext uri="{BB962C8B-B14F-4D97-AF65-F5344CB8AC3E}">
        <p14:creationId xmlns:p14="http://schemas.microsoft.com/office/powerpoint/2010/main" val="606776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28E70D-5CE8-4B92-9438-8814F381030A}"/>
              </a:ext>
            </a:extLst>
          </p:cNvPr>
          <p:cNvSpPr>
            <a:spLocks noGrp="1"/>
          </p:cNvSpPr>
          <p:nvPr>
            <p:ph idx="1"/>
          </p:nvPr>
        </p:nvSpPr>
        <p:spPr>
          <a:xfrm>
            <a:off x="628650" y="782292"/>
            <a:ext cx="7886700" cy="5408443"/>
          </a:xfrm>
        </p:spPr>
        <p:txBody>
          <a:bodyPr>
            <a:normAutofit fontScale="92500" lnSpcReduction="10000"/>
          </a:bodyPr>
          <a:lstStyle/>
          <a:p>
            <a:pPr marL="0" indent="0" algn="ctr">
              <a:buNone/>
            </a:pPr>
            <a:r>
              <a:rPr lang="en-US" b="1" dirty="0">
                <a:solidFill>
                  <a:srgbClr val="FF0000"/>
                </a:solidFill>
                <a:latin typeface="Rockwell" panose="02060603020205020403" pitchFamily="18" charset="0"/>
              </a:rPr>
              <a:t>Disadvantages of PLCs:</a:t>
            </a:r>
          </a:p>
          <a:p>
            <a:r>
              <a:rPr lang="en-US" b="1" dirty="0">
                <a:latin typeface="Rockwell" panose="02060603020205020403" pitchFamily="18" charset="0"/>
              </a:rPr>
              <a:t>Initial Cost:</a:t>
            </a:r>
            <a:r>
              <a:rPr lang="en-US" dirty="0">
                <a:latin typeface="Rockwell" panose="02060603020205020403" pitchFamily="18" charset="0"/>
              </a:rPr>
              <a:t> High initial investment compared to simpler control systems.</a:t>
            </a:r>
          </a:p>
          <a:p>
            <a:r>
              <a:rPr lang="en-US" b="1" dirty="0">
                <a:latin typeface="Rockwell" panose="02060603020205020403" pitchFamily="18" charset="0"/>
              </a:rPr>
              <a:t>Programming Knowledge:</a:t>
            </a:r>
            <a:r>
              <a:rPr lang="en-US" dirty="0">
                <a:latin typeface="Rockwell" panose="02060603020205020403" pitchFamily="18" charset="0"/>
              </a:rPr>
              <a:t> Requires specialized programming skills, which may limit accessibility.</a:t>
            </a:r>
          </a:p>
          <a:p>
            <a:r>
              <a:rPr lang="en-US" b="1" dirty="0">
                <a:latin typeface="Rockwell" panose="02060603020205020403" pitchFamily="18" charset="0"/>
              </a:rPr>
              <a:t>Complexity:</a:t>
            </a:r>
            <a:r>
              <a:rPr lang="en-US" dirty="0">
                <a:latin typeface="Rockwell" panose="02060603020205020403" pitchFamily="18" charset="0"/>
              </a:rPr>
              <a:t> Large systems can become challenging to manage and troubleshoot.</a:t>
            </a:r>
          </a:p>
          <a:p>
            <a:r>
              <a:rPr lang="en-US" b="1" dirty="0">
                <a:latin typeface="Rockwell" panose="02060603020205020403" pitchFamily="18" charset="0"/>
              </a:rPr>
              <a:t>Reliance on Hardware:</a:t>
            </a:r>
            <a:r>
              <a:rPr lang="en-US" dirty="0">
                <a:latin typeface="Rockwell" panose="02060603020205020403" pitchFamily="18" charset="0"/>
              </a:rPr>
              <a:t> System failures may occur if the hardware is compromised or damaged.</a:t>
            </a:r>
          </a:p>
          <a:p>
            <a:r>
              <a:rPr lang="en-US" b="1" dirty="0">
                <a:latin typeface="Rockwell" panose="02060603020205020403" pitchFamily="18" charset="0"/>
              </a:rPr>
              <a:t>Limited High-Speed Performance:</a:t>
            </a:r>
            <a:r>
              <a:rPr lang="en-US" dirty="0">
                <a:latin typeface="Rockwell" panose="02060603020205020403" pitchFamily="18" charset="0"/>
              </a:rPr>
              <a:t> Not suitable for extremely fast operations compared to microcontrollers.</a:t>
            </a:r>
          </a:p>
          <a:p>
            <a:endParaRPr lang="en-TZ" dirty="0">
              <a:latin typeface="Rockwell" panose="02060603020205020403" pitchFamily="18" charset="0"/>
            </a:endParaRPr>
          </a:p>
        </p:txBody>
      </p:sp>
      <p:sp>
        <p:nvSpPr>
          <p:cNvPr id="6" name="Rectangle 5">
            <a:extLst>
              <a:ext uri="{FF2B5EF4-FFF2-40B4-BE49-F238E27FC236}">
                <a16:creationId xmlns:a16="http://schemas.microsoft.com/office/drawing/2014/main" id="{499025C6-DBD9-4463-AAA2-189586C83A68}"/>
              </a:ext>
            </a:extLst>
          </p:cNvPr>
          <p:cNvSpPr/>
          <p:nvPr/>
        </p:nvSpPr>
        <p:spPr>
          <a:xfrm>
            <a:off x="1456467" y="146163"/>
            <a:ext cx="5666038" cy="523220"/>
          </a:xfrm>
          <a:prstGeom prst="rect">
            <a:avLst/>
          </a:prstGeom>
        </p:spPr>
        <p:txBody>
          <a:bodyPr wrap="none">
            <a:spAutoFit/>
          </a:bodyPr>
          <a:lstStyle/>
          <a:p>
            <a:r>
              <a:rPr lang="en-US" sz="2800" b="1" dirty="0">
                <a:latin typeface="Rockwell" panose="02060603020205020403" pitchFamily="18" charset="0"/>
              </a:rPr>
              <a:t>PLC advantage &amp; disadvantage</a:t>
            </a:r>
            <a:endParaRPr lang="en-TZ" sz="2800" b="1" dirty="0">
              <a:latin typeface="Rockwell" panose="02060603020205020403" pitchFamily="18" charset="0"/>
            </a:endParaRPr>
          </a:p>
        </p:txBody>
      </p:sp>
    </p:spTree>
    <p:extLst>
      <p:ext uri="{BB962C8B-B14F-4D97-AF65-F5344CB8AC3E}">
        <p14:creationId xmlns:p14="http://schemas.microsoft.com/office/powerpoint/2010/main" val="2783954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B60D83D-C5B0-4350-BE77-90F2A94C382E}"/>
              </a:ext>
            </a:extLst>
          </p:cNvPr>
          <p:cNvGraphicFramePr>
            <a:graphicFrameLocks noGrp="1"/>
          </p:cNvGraphicFramePr>
          <p:nvPr>
            <p:ph idx="1"/>
            <p:extLst>
              <p:ext uri="{D42A27DB-BD31-4B8C-83A1-F6EECF244321}">
                <p14:modId xmlns:p14="http://schemas.microsoft.com/office/powerpoint/2010/main" val="3943706702"/>
              </p:ext>
            </p:extLst>
          </p:nvPr>
        </p:nvGraphicFramePr>
        <p:xfrm>
          <a:off x="0" y="626736"/>
          <a:ext cx="9144000" cy="6177280"/>
        </p:xfrm>
        <a:graphic>
          <a:graphicData uri="http://schemas.openxmlformats.org/drawingml/2006/table">
            <a:tbl>
              <a:tblPr firstRow="1" bandRow="1">
                <a:tableStyleId>{5C22544A-7EE6-4342-B048-85BDC9FD1C3A}</a:tableStyleId>
              </a:tblPr>
              <a:tblGrid>
                <a:gridCol w="2394234">
                  <a:extLst>
                    <a:ext uri="{9D8B030D-6E8A-4147-A177-3AD203B41FA5}">
                      <a16:colId xmlns:a16="http://schemas.microsoft.com/office/drawing/2014/main" val="1046761544"/>
                    </a:ext>
                  </a:extLst>
                </a:gridCol>
                <a:gridCol w="3603082">
                  <a:extLst>
                    <a:ext uri="{9D8B030D-6E8A-4147-A177-3AD203B41FA5}">
                      <a16:colId xmlns:a16="http://schemas.microsoft.com/office/drawing/2014/main" val="335790056"/>
                    </a:ext>
                  </a:extLst>
                </a:gridCol>
                <a:gridCol w="3146684">
                  <a:extLst>
                    <a:ext uri="{9D8B030D-6E8A-4147-A177-3AD203B41FA5}">
                      <a16:colId xmlns:a16="http://schemas.microsoft.com/office/drawing/2014/main" val="3497988276"/>
                    </a:ext>
                  </a:extLst>
                </a:gridCol>
              </a:tblGrid>
              <a:tr h="370840">
                <a:tc>
                  <a:txBody>
                    <a:bodyPr/>
                    <a:lstStyle/>
                    <a:p>
                      <a:r>
                        <a:rPr lang="en-GB" sz="1600" dirty="0"/>
                        <a:t>Feature	</a:t>
                      </a:r>
                      <a:endParaRPr lang="en-TZ" sz="1600" dirty="0"/>
                    </a:p>
                  </a:txBody>
                  <a:tcPr/>
                </a:tc>
                <a:tc>
                  <a:txBody>
                    <a:bodyPr/>
                    <a:lstStyle/>
                    <a:p>
                      <a:r>
                        <a:rPr lang="en-GB" sz="1600" dirty="0"/>
                        <a:t>PLC</a:t>
                      </a:r>
                      <a:endParaRPr lang="en-TZ" sz="1600" dirty="0"/>
                    </a:p>
                  </a:txBody>
                  <a:tcPr/>
                </a:tc>
                <a:tc>
                  <a:txBody>
                    <a:bodyPr/>
                    <a:lstStyle/>
                    <a:p>
                      <a:r>
                        <a:rPr lang="en-GB" sz="1600" dirty="0"/>
                        <a:t>Computer (PC)</a:t>
                      </a:r>
                      <a:endParaRPr lang="en-TZ" sz="1600" dirty="0"/>
                    </a:p>
                  </a:txBody>
                  <a:tcPr/>
                </a:tc>
                <a:extLst>
                  <a:ext uri="{0D108BD9-81ED-4DB2-BD59-A6C34878D82A}">
                    <a16:rowId xmlns:a16="http://schemas.microsoft.com/office/drawing/2014/main" val="9780882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a:latin typeface="Rockwell" panose="02060603020205020403" pitchFamily="18" charset="0"/>
                        </a:rPr>
                        <a:t>Purpose</a:t>
                      </a:r>
                      <a:endParaRPr lang="en-TZ" sz="1500" dirty="0">
                        <a:latin typeface="Rockwell" panose="02060603020205020403" pitchFamily="18" charset="0"/>
                      </a:endParaRPr>
                    </a:p>
                  </a:txBody>
                  <a:tcPr/>
                </a:tc>
                <a:tc>
                  <a:txBody>
                    <a:bodyPr/>
                    <a:lstStyle/>
                    <a:p>
                      <a:r>
                        <a:rPr lang="en-GB" sz="1500" dirty="0">
                          <a:latin typeface="Rockwell" panose="02060603020205020403" pitchFamily="18" charset="0"/>
                        </a:rPr>
                        <a:t>Industrial automation &amp; control</a:t>
                      </a:r>
                      <a:endParaRPr lang="en-TZ" sz="1500" dirty="0">
                        <a:latin typeface="Rockwell" panose="02060603020205020403" pitchFamily="18" charset="0"/>
                      </a:endParaRPr>
                    </a:p>
                  </a:txBody>
                  <a:tcPr/>
                </a:tc>
                <a:tc>
                  <a:txBody>
                    <a:bodyPr/>
                    <a:lstStyle/>
                    <a:p>
                      <a:r>
                        <a:rPr lang="en-GB" sz="1500" dirty="0">
                          <a:latin typeface="Rockwell" panose="02060603020205020403" pitchFamily="18" charset="0"/>
                        </a:rPr>
                        <a:t>General-purpose computing</a:t>
                      </a:r>
                      <a:endParaRPr lang="en-TZ" sz="1500" dirty="0">
                        <a:latin typeface="Rockwell" panose="02060603020205020403" pitchFamily="18" charset="0"/>
                      </a:endParaRPr>
                    </a:p>
                  </a:txBody>
                  <a:tcPr/>
                </a:tc>
                <a:extLst>
                  <a:ext uri="{0D108BD9-81ED-4DB2-BD59-A6C34878D82A}">
                    <a16:rowId xmlns:a16="http://schemas.microsoft.com/office/drawing/2014/main" val="1391497655"/>
                  </a:ext>
                </a:extLst>
              </a:tr>
              <a:tr h="0">
                <a:tc>
                  <a:txBody>
                    <a:bodyPr/>
                    <a:lstStyle/>
                    <a:p>
                      <a:r>
                        <a:rPr lang="en-GB" sz="1500" dirty="0">
                          <a:latin typeface="Rockwell" panose="02060603020205020403" pitchFamily="18" charset="0"/>
                        </a:rPr>
                        <a:t>Operating Environment</a:t>
                      </a:r>
                      <a:endParaRPr lang="en-TZ" sz="1500" dirty="0">
                        <a:latin typeface="Rockwell" panose="02060603020205020403" pitchFamily="18" charset="0"/>
                      </a:endParaRPr>
                    </a:p>
                  </a:txBody>
                  <a:tcPr/>
                </a:tc>
                <a:tc>
                  <a:txBody>
                    <a:bodyPr/>
                    <a:lstStyle/>
                    <a:p>
                      <a:r>
                        <a:rPr lang="en-GB" sz="1500" dirty="0">
                          <a:latin typeface="Rockwell" panose="02060603020205020403" pitchFamily="18" charset="0"/>
                        </a:rPr>
                        <a:t>Harsh (vibration, dust, temperature, humidity)</a:t>
                      </a:r>
                      <a:endParaRPr lang="en-TZ" sz="1500" dirty="0">
                        <a:latin typeface="Rockwell" panose="02060603020205020403" pitchFamily="18" charset="0"/>
                      </a:endParaRPr>
                    </a:p>
                  </a:txBody>
                  <a:tcPr/>
                </a:tc>
                <a:tc>
                  <a:txBody>
                    <a:bodyPr/>
                    <a:lstStyle/>
                    <a:p>
                      <a:r>
                        <a:rPr lang="en-GB" sz="1500" dirty="0">
                          <a:latin typeface="Rockwell" panose="02060603020205020403" pitchFamily="18" charset="0"/>
                        </a:rPr>
                        <a:t>Controlled environments (offices, homes)</a:t>
                      </a:r>
                      <a:endParaRPr lang="en-TZ" sz="1500" dirty="0">
                        <a:latin typeface="Rockwell" panose="02060603020205020403" pitchFamily="18" charset="0"/>
                      </a:endParaRPr>
                    </a:p>
                  </a:txBody>
                  <a:tcPr/>
                </a:tc>
                <a:extLst>
                  <a:ext uri="{0D108BD9-81ED-4DB2-BD59-A6C34878D82A}">
                    <a16:rowId xmlns:a16="http://schemas.microsoft.com/office/drawing/2014/main" val="372284684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a:latin typeface="Rockwell" panose="02060603020205020403" pitchFamily="18" charset="0"/>
                        </a:rPr>
                        <a:t>Reliability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latin typeface="Rockwell" panose="02060603020205020403" pitchFamily="18" charset="0"/>
                        </a:rPr>
                        <a:t>Very high (designed for 24/7 operation)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latin typeface="Rockwell" panose="02060603020205020403" pitchFamily="18" charset="0"/>
                        </a:rPr>
                        <a:t>Moderate (not designed for constant harsh use)</a:t>
                      </a:r>
                    </a:p>
                  </a:txBody>
                  <a:tcPr/>
                </a:tc>
                <a:extLst>
                  <a:ext uri="{0D108BD9-81ED-4DB2-BD59-A6C34878D82A}">
                    <a16:rowId xmlns:a16="http://schemas.microsoft.com/office/drawing/2014/main" val="163449155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a:latin typeface="Rockwell" panose="02060603020205020403" pitchFamily="18" charset="0"/>
                        </a:rPr>
                        <a:t>Real-Time Control</a:t>
                      </a:r>
                    </a:p>
                  </a:txBody>
                  <a:tcPr/>
                </a:tc>
                <a:tc>
                  <a:txBody>
                    <a:bodyPr/>
                    <a:lstStyle/>
                    <a:p>
                      <a:r>
                        <a:rPr lang="en-US" sz="1500" dirty="0">
                          <a:latin typeface="Rockwell" panose="02060603020205020403" pitchFamily="18" charset="0"/>
                        </a:rPr>
                        <a:t>Yes, deterministic and fast response</a:t>
                      </a:r>
                      <a:endParaRPr lang="en-TZ" sz="1500" dirty="0">
                        <a:latin typeface="Rockwell" panose="02060603020205020403" pitchFamily="18" charset="0"/>
                      </a:endParaRPr>
                    </a:p>
                  </a:txBody>
                  <a:tcPr/>
                </a:tc>
                <a:tc>
                  <a:txBody>
                    <a:bodyPr/>
                    <a:lstStyle/>
                    <a:p>
                      <a:r>
                        <a:rPr lang="en-GB" sz="1500" dirty="0">
                          <a:latin typeface="Rockwell" panose="02060603020205020403" pitchFamily="18" charset="0"/>
                        </a:rPr>
                        <a:t>No, not inherently real-time</a:t>
                      </a:r>
                      <a:endParaRPr lang="en-TZ" sz="1500" dirty="0">
                        <a:latin typeface="Rockwell" panose="02060603020205020403" pitchFamily="18" charset="0"/>
                      </a:endParaRPr>
                    </a:p>
                  </a:txBody>
                  <a:tcPr/>
                </a:tc>
                <a:extLst>
                  <a:ext uri="{0D108BD9-81ED-4DB2-BD59-A6C34878D82A}">
                    <a16:rowId xmlns:a16="http://schemas.microsoft.com/office/drawing/2014/main" val="2854149663"/>
                  </a:ext>
                </a:extLst>
              </a:tr>
              <a:tr h="0">
                <a:tc>
                  <a:txBody>
                    <a:bodyPr/>
                    <a:lstStyle/>
                    <a:p>
                      <a:r>
                        <a:rPr lang="en-GB" sz="1500" dirty="0">
                          <a:latin typeface="Rockwell" panose="02060603020205020403" pitchFamily="18" charset="0"/>
                        </a:rPr>
                        <a:t>Programming Languages</a:t>
                      </a:r>
                      <a:endParaRPr lang="en-TZ" sz="1500" dirty="0">
                        <a:latin typeface="Rockwell" panose="02060603020205020403" pitchFamily="18" charset="0"/>
                      </a:endParaRPr>
                    </a:p>
                  </a:txBody>
                  <a:tcPr/>
                </a:tc>
                <a:tc>
                  <a:txBody>
                    <a:bodyPr/>
                    <a:lstStyle/>
                    <a:p>
                      <a:r>
                        <a:rPr lang="en-US" sz="1500" dirty="0">
                          <a:latin typeface="Rockwell" panose="02060603020205020403" pitchFamily="18" charset="0"/>
                        </a:rPr>
                        <a:t>Ladder Logic, Structured Text, Function Block</a:t>
                      </a:r>
                      <a:endParaRPr lang="en-TZ" sz="1500" dirty="0">
                        <a:latin typeface="Rockwell" panose="02060603020205020403"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a:latin typeface="Rockwell" panose="02060603020205020403" pitchFamily="18" charset="0"/>
                        </a:rPr>
                        <a:t>C++, Java, Python, etc.</a:t>
                      </a:r>
                    </a:p>
                    <a:p>
                      <a:endParaRPr lang="en-TZ" sz="1500" dirty="0">
                        <a:latin typeface="Rockwell" panose="02060603020205020403" pitchFamily="18" charset="0"/>
                      </a:endParaRPr>
                    </a:p>
                  </a:txBody>
                  <a:tcPr/>
                </a:tc>
                <a:extLst>
                  <a:ext uri="{0D108BD9-81ED-4DB2-BD59-A6C34878D82A}">
                    <a16:rowId xmlns:a16="http://schemas.microsoft.com/office/drawing/2014/main" val="180640945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a:latin typeface="Rockwell" panose="02060603020205020403" pitchFamily="18" charset="0"/>
                        </a:rPr>
                        <a:t>User Interface</a:t>
                      </a:r>
                    </a:p>
                  </a:txBody>
                  <a:tcPr/>
                </a:tc>
                <a:tc>
                  <a:txBody>
                    <a:bodyPr/>
                    <a:lstStyle/>
                    <a:p>
                      <a:r>
                        <a:rPr lang="en-US" sz="1500" dirty="0">
                          <a:latin typeface="Rockwell" panose="02060603020205020403" pitchFamily="18" charset="0"/>
                        </a:rPr>
                        <a:t>Basic or none (uses HMI/SCADA for UI)</a:t>
                      </a:r>
                      <a:endParaRPr lang="en-TZ" sz="1500" dirty="0">
                        <a:latin typeface="Rockwell" panose="02060603020205020403" pitchFamily="18" charset="0"/>
                      </a:endParaRPr>
                    </a:p>
                  </a:txBody>
                  <a:tcPr/>
                </a:tc>
                <a:tc>
                  <a:txBody>
                    <a:bodyPr/>
                    <a:lstStyle/>
                    <a:p>
                      <a:r>
                        <a:rPr lang="en-US" sz="1500" dirty="0">
                          <a:latin typeface="Rockwell" panose="02060603020205020403" pitchFamily="18" charset="0"/>
                        </a:rPr>
                        <a:t>Full GUI with OS like Windows/macOS/Linux</a:t>
                      </a:r>
                      <a:endParaRPr lang="en-TZ" sz="1500" dirty="0">
                        <a:latin typeface="Rockwell" panose="02060603020205020403" pitchFamily="18" charset="0"/>
                      </a:endParaRPr>
                    </a:p>
                  </a:txBody>
                  <a:tcPr/>
                </a:tc>
                <a:extLst>
                  <a:ext uri="{0D108BD9-81ED-4DB2-BD59-A6C34878D82A}">
                    <a16:rowId xmlns:a16="http://schemas.microsoft.com/office/drawing/2014/main" val="374181765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a:latin typeface="Rockwell" panose="02060603020205020403" pitchFamily="18" charset="0"/>
                        </a:rPr>
                        <a:t>Input/Output (I/O)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latin typeface="Rockwell" panose="02060603020205020403" pitchFamily="18" charset="0"/>
                        </a:rPr>
                        <a:t>Directly connects to sensors and actuators</a:t>
                      </a:r>
                    </a:p>
                  </a:txBody>
                  <a:tcPr/>
                </a:tc>
                <a:tc>
                  <a:txBody>
                    <a:bodyPr/>
                    <a:lstStyle/>
                    <a:p>
                      <a:r>
                        <a:rPr lang="en-GB" sz="1500" dirty="0">
                          <a:latin typeface="Rockwell" panose="02060603020205020403" pitchFamily="18" charset="0"/>
                        </a:rPr>
                        <a:t>Needs extra hardware for industrial I/O</a:t>
                      </a:r>
                      <a:endParaRPr lang="en-TZ" sz="1500" dirty="0">
                        <a:latin typeface="Rockwell" panose="02060603020205020403" pitchFamily="18" charset="0"/>
                      </a:endParaRPr>
                    </a:p>
                  </a:txBody>
                  <a:tcPr/>
                </a:tc>
                <a:extLst>
                  <a:ext uri="{0D108BD9-81ED-4DB2-BD59-A6C34878D82A}">
                    <a16:rowId xmlns:a16="http://schemas.microsoft.com/office/drawing/2014/main" val="216654366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a:latin typeface="Rockwell" panose="02060603020205020403" pitchFamily="18" charset="0"/>
                        </a:rPr>
                        <a:t>Expandability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a:latin typeface="Rockwell" panose="02060603020205020403" pitchFamily="18" charset="0"/>
                        </a:rPr>
                        <a:t>Modular (I/O modules, comm modules, etc.)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a:latin typeface="Rockwell" panose="02060603020205020403" pitchFamily="18" charset="0"/>
                        </a:rPr>
                        <a:t>Limited to peripheral devices</a:t>
                      </a:r>
                    </a:p>
                    <a:p>
                      <a:endParaRPr lang="en-TZ" sz="1500" dirty="0">
                        <a:latin typeface="Rockwell" panose="02060603020205020403" pitchFamily="18" charset="0"/>
                      </a:endParaRPr>
                    </a:p>
                  </a:txBody>
                  <a:tcPr/>
                </a:tc>
                <a:extLst>
                  <a:ext uri="{0D108BD9-81ED-4DB2-BD59-A6C34878D82A}">
                    <a16:rowId xmlns:a16="http://schemas.microsoft.com/office/drawing/2014/main" val="348082508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a:latin typeface="Rockwell" panose="02060603020205020403" pitchFamily="18" charset="0"/>
                        </a:rPr>
                        <a:t>Maintenance</a:t>
                      </a:r>
                    </a:p>
                  </a:txBody>
                  <a:tcPr/>
                </a:tc>
                <a:tc>
                  <a:txBody>
                    <a:bodyPr/>
                    <a:lstStyle/>
                    <a:p>
                      <a:r>
                        <a:rPr lang="en-US" sz="1500" dirty="0">
                          <a:latin typeface="Rockwell" panose="02060603020205020403" pitchFamily="18" charset="0"/>
                        </a:rPr>
                        <a:t>Easier in field; hot-swappable modules possible</a:t>
                      </a:r>
                      <a:endParaRPr lang="en-TZ" sz="1500" dirty="0">
                        <a:latin typeface="Rockwell" panose="02060603020205020403" pitchFamily="18" charset="0"/>
                      </a:endParaRPr>
                    </a:p>
                  </a:txBody>
                  <a:tcPr/>
                </a:tc>
                <a:tc>
                  <a:txBody>
                    <a:bodyPr/>
                    <a:lstStyle/>
                    <a:p>
                      <a:r>
                        <a:rPr lang="en-US" sz="1500" dirty="0">
                          <a:latin typeface="Rockwell" panose="02060603020205020403" pitchFamily="18" charset="0"/>
                        </a:rPr>
                        <a:t>More complex; not modular for quick changes</a:t>
                      </a:r>
                      <a:endParaRPr lang="en-TZ" sz="1500" dirty="0">
                        <a:latin typeface="Rockwell" panose="02060603020205020403" pitchFamily="18" charset="0"/>
                      </a:endParaRPr>
                    </a:p>
                  </a:txBody>
                  <a:tcPr/>
                </a:tc>
                <a:extLst>
                  <a:ext uri="{0D108BD9-81ED-4DB2-BD59-A6C34878D82A}">
                    <a16:rowId xmlns:a16="http://schemas.microsoft.com/office/drawing/2014/main" val="204005363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kern="1200" dirty="0">
                          <a:solidFill>
                            <a:schemeClr val="dk1"/>
                          </a:solidFill>
                          <a:latin typeface="Rockwell" panose="02060603020205020403" pitchFamily="18" charset="0"/>
                          <a:ea typeface="+mn-ea"/>
                          <a:cs typeface="+mn-cs"/>
                        </a:rPr>
                        <a:t>Cybersecurity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kern="1200" dirty="0">
                          <a:solidFill>
                            <a:schemeClr val="dk1"/>
                          </a:solidFill>
                          <a:latin typeface="Rockwell" panose="02060603020205020403" pitchFamily="18" charset="0"/>
                          <a:ea typeface="+mn-ea"/>
                          <a:cs typeface="+mn-cs"/>
                        </a:rPr>
                        <a:t>Proprietary systems are less prone to cyberattacks</a:t>
                      </a:r>
                      <a:endParaRPr lang="en-TZ" sz="1500" kern="1200" dirty="0">
                        <a:solidFill>
                          <a:schemeClr val="dk1"/>
                        </a:solidFill>
                        <a:latin typeface="Rockwell" panose="02060603020205020403" pitchFamily="18"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latin typeface="Rockwell" panose="02060603020205020403" pitchFamily="18" charset="0"/>
                        </a:rPr>
                        <a:t>More vulnerable to malware and hacking due to widespread usage</a:t>
                      </a:r>
                    </a:p>
                  </a:txBody>
                  <a:tcPr/>
                </a:tc>
                <a:extLst>
                  <a:ext uri="{0D108BD9-81ED-4DB2-BD59-A6C34878D82A}">
                    <a16:rowId xmlns:a16="http://schemas.microsoft.com/office/drawing/2014/main" val="352638161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500" dirty="0">
                          <a:latin typeface="Rockwell" panose="02060603020205020403" pitchFamily="18" charset="0"/>
                        </a:rPr>
                        <a:t>Cost</a:t>
                      </a:r>
                    </a:p>
                  </a:txBody>
                  <a:tcPr/>
                </a:tc>
                <a:tc>
                  <a:txBody>
                    <a:bodyPr/>
                    <a:lstStyle/>
                    <a:p>
                      <a:r>
                        <a:rPr lang="en-US" sz="1500" b="0" i="0" kern="1200" dirty="0">
                          <a:solidFill>
                            <a:schemeClr val="dk1"/>
                          </a:solidFill>
                          <a:effectLst/>
                          <a:latin typeface="Rockwell" panose="02060603020205020403" pitchFamily="18" charset="0"/>
                          <a:ea typeface="+mn-ea"/>
                          <a:cs typeface="+mn-cs"/>
                        </a:rPr>
                        <a:t>Cheaper for small systems; large PLCs can be expensive</a:t>
                      </a:r>
                      <a:endParaRPr lang="en-TZ" sz="1500" dirty="0">
                        <a:latin typeface="Rockwell" panose="02060603020205020403"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latin typeface="Rockwell" panose="02060603020205020403" pitchFamily="18" charset="0"/>
                        </a:rPr>
                        <a:t>Generally, more affordable for complex tasks but lacks ruggedness</a:t>
                      </a:r>
                    </a:p>
                  </a:txBody>
                  <a:tcPr/>
                </a:tc>
                <a:extLst>
                  <a:ext uri="{0D108BD9-81ED-4DB2-BD59-A6C34878D82A}">
                    <a16:rowId xmlns:a16="http://schemas.microsoft.com/office/drawing/2014/main" val="4038543446"/>
                  </a:ext>
                </a:extLst>
              </a:tr>
            </a:tbl>
          </a:graphicData>
        </a:graphic>
      </p:graphicFrame>
      <p:sp>
        <p:nvSpPr>
          <p:cNvPr id="7" name="Rectangle 6">
            <a:extLst>
              <a:ext uri="{FF2B5EF4-FFF2-40B4-BE49-F238E27FC236}">
                <a16:creationId xmlns:a16="http://schemas.microsoft.com/office/drawing/2014/main" id="{0254B505-C95D-4C39-81C3-E58681BAF13E}"/>
              </a:ext>
            </a:extLst>
          </p:cNvPr>
          <p:cNvSpPr/>
          <p:nvPr/>
        </p:nvSpPr>
        <p:spPr>
          <a:xfrm>
            <a:off x="2373321" y="103516"/>
            <a:ext cx="4397358" cy="523220"/>
          </a:xfrm>
          <a:prstGeom prst="rect">
            <a:avLst/>
          </a:prstGeom>
        </p:spPr>
        <p:txBody>
          <a:bodyPr wrap="none">
            <a:spAutoFit/>
          </a:bodyPr>
          <a:lstStyle/>
          <a:p>
            <a:r>
              <a:rPr lang="en-US" sz="2800" b="1" kern="0" dirty="0">
                <a:latin typeface="Bookman Old Style" panose="02050604050505020204" pitchFamily="18" charset="0"/>
                <a:ea typeface="Times New Roman" panose="02020603050405020304" pitchFamily="18" charset="0"/>
                <a:cs typeface="Times New Roman" panose="02020603050405020304" pitchFamily="18" charset="0"/>
              </a:rPr>
              <a:t>PLC versus Computers</a:t>
            </a:r>
            <a:endParaRPr lang="en-TZ" sz="2800" b="1" dirty="0"/>
          </a:p>
        </p:txBody>
      </p:sp>
    </p:spTree>
    <p:extLst>
      <p:ext uri="{BB962C8B-B14F-4D97-AF65-F5344CB8AC3E}">
        <p14:creationId xmlns:p14="http://schemas.microsoft.com/office/powerpoint/2010/main" val="2099375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0CCF8-E5F9-4D5A-B355-638B24DDB249}"/>
              </a:ext>
            </a:extLst>
          </p:cNvPr>
          <p:cNvSpPr>
            <a:spLocks noGrp="1"/>
          </p:cNvSpPr>
          <p:nvPr>
            <p:ph type="title"/>
          </p:nvPr>
        </p:nvSpPr>
        <p:spPr>
          <a:xfrm>
            <a:off x="628650" y="218995"/>
            <a:ext cx="7886700" cy="681037"/>
          </a:xfrm>
        </p:spPr>
        <p:txBody>
          <a:bodyPr>
            <a:normAutofit fontScale="90000"/>
          </a:bodyPr>
          <a:lstStyle/>
          <a:p>
            <a:r>
              <a:rPr lang="en-US" b="1" kern="0" dirty="0">
                <a:latin typeface="Bookman Old Style" panose="02050604050505020204" pitchFamily="18" charset="0"/>
                <a:ea typeface="Times New Roman" panose="02020603050405020304" pitchFamily="18" charset="0"/>
                <a:cs typeface="Times New Roman" panose="02020603050405020304" pitchFamily="18" charset="0"/>
              </a:rPr>
              <a:t>PLC Application</a:t>
            </a:r>
            <a:endParaRPr lang="en-TZ" b="1" dirty="0"/>
          </a:p>
        </p:txBody>
      </p:sp>
      <p:sp>
        <p:nvSpPr>
          <p:cNvPr id="3" name="Content Placeholder 2">
            <a:extLst>
              <a:ext uri="{FF2B5EF4-FFF2-40B4-BE49-F238E27FC236}">
                <a16:creationId xmlns:a16="http://schemas.microsoft.com/office/drawing/2014/main" id="{BDE06865-587D-4E8D-BBCE-E34B3FC785E6}"/>
              </a:ext>
            </a:extLst>
          </p:cNvPr>
          <p:cNvSpPr>
            <a:spLocks noGrp="1"/>
          </p:cNvSpPr>
          <p:nvPr>
            <p:ph idx="1"/>
          </p:nvPr>
        </p:nvSpPr>
        <p:spPr>
          <a:xfrm>
            <a:off x="628650" y="1986263"/>
            <a:ext cx="7886700" cy="4652742"/>
          </a:xfrm>
        </p:spPr>
        <p:txBody>
          <a:bodyPr>
            <a:normAutofit lnSpcReduction="10000"/>
          </a:bodyPr>
          <a:lstStyle/>
          <a:p>
            <a:pPr marL="514350" indent="-514350" algn="just">
              <a:buFont typeface="+mj-lt"/>
              <a:buAutoNum type="alphaLcParenR"/>
            </a:pPr>
            <a:r>
              <a:rPr lang="en-GB" dirty="0">
                <a:latin typeface="Rockwell" panose="02060603020205020403" pitchFamily="18" charset="0"/>
              </a:rPr>
              <a:t>Industrial Applications:</a:t>
            </a:r>
          </a:p>
          <a:p>
            <a:pPr lvl="1" algn="just"/>
            <a:r>
              <a:rPr lang="en-US" sz="2000" b="1" dirty="0">
                <a:latin typeface="Rockwell" panose="02060603020205020403" pitchFamily="18" charset="0"/>
              </a:rPr>
              <a:t>Manufacturing Automation: </a:t>
            </a:r>
            <a:r>
              <a:rPr lang="en-US" sz="2000" dirty="0">
                <a:latin typeface="Rockwell" panose="02060603020205020403" pitchFamily="18" charset="0"/>
              </a:rPr>
              <a:t>Control of assembly lines, robotic arms, and packaging systems.</a:t>
            </a:r>
          </a:p>
          <a:p>
            <a:pPr lvl="1" algn="just"/>
            <a:r>
              <a:rPr lang="en-US" sz="2000" b="1" dirty="0">
                <a:latin typeface="Rockwell" panose="02060603020205020403" pitchFamily="18" charset="0"/>
              </a:rPr>
              <a:t>Process Control: </a:t>
            </a:r>
            <a:r>
              <a:rPr lang="en-US" sz="2000" dirty="0">
                <a:latin typeface="Rockwell" panose="02060603020205020403" pitchFamily="18" charset="0"/>
              </a:rPr>
              <a:t>Regulation of temperature, pressure, and flow in industries like oil and gas, chemical production, and food processing.</a:t>
            </a:r>
          </a:p>
          <a:p>
            <a:pPr lvl="1" algn="just"/>
            <a:r>
              <a:rPr lang="en-US" sz="2000" b="1" dirty="0">
                <a:latin typeface="Rockwell" panose="02060603020205020403" pitchFamily="18" charset="0"/>
              </a:rPr>
              <a:t>Material Handling: </a:t>
            </a:r>
            <a:r>
              <a:rPr lang="en-US" sz="2000" dirty="0">
                <a:latin typeface="Rockwell" panose="02060603020205020403" pitchFamily="18" charset="0"/>
              </a:rPr>
              <a:t>Management of conveyor belts, elevators, and sorting systems in warehouses.</a:t>
            </a:r>
          </a:p>
          <a:p>
            <a:pPr lvl="1" algn="just"/>
            <a:r>
              <a:rPr lang="en-US" sz="2000" b="1" dirty="0">
                <a:latin typeface="Rockwell" panose="02060603020205020403" pitchFamily="18" charset="0"/>
              </a:rPr>
              <a:t>Glass Production: </a:t>
            </a:r>
            <a:r>
              <a:rPr lang="en-US" sz="2000" dirty="0">
                <a:latin typeface="Rockwell" panose="02060603020205020403" pitchFamily="18" charset="0"/>
              </a:rPr>
              <a:t>PLCs ensure quality by controlling temperature, pressure, and timing during glass manufacturing</a:t>
            </a:r>
          </a:p>
          <a:p>
            <a:pPr lvl="1" algn="just"/>
            <a:r>
              <a:rPr lang="en-US" sz="2000" b="1" dirty="0">
                <a:latin typeface="Rockwell" panose="02060603020205020403" pitchFamily="18" charset="0"/>
              </a:rPr>
              <a:t>Paper Industry: </a:t>
            </a:r>
            <a:r>
              <a:rPr lang="en-US" sz="2000" dirty="0">
                <a:latin typeface="Rockwell" panose="02060603020205020403" pitchFamily="18" charset="0"/>
              </a:rPr>
              <a:t>Automates machinery like cutters and presses for precise operations in paper production</a:t>
            </a:r>
          </a:p>
          <a:p>
            <a:pPr lvl="1" algn="just"/>
            <a:r>
              <a:rPr lang="en-US" sz="2000" b="1" dirty="0">
                <a:latin typeface="Rockwell" panose="02060603020205020403" pitchFamily="18" charset="0"/>
              </a:rPr>
              <a:t>Cement Manufacturing: </a:t>
            </a:r>
            <a:r>
              <a:rPr lang="en-US" sz="2000" dirty="0">
                <a:latin typeface="Rockwell" panose="02060603020205020403" pitchFamily="18" charset="0"/>
              </a:rPr>
              <a:t>Regulates raw material mixing, kiln operations, and ball mills for efficient cement production</a:t>
            </a:r>
          </a:p>
          <a:p>
            <a:pPr lvl="1" algn="just"/>
            <a:endParaRPr lang="en-TZ" sz="2000" dirty="0">
              <a:latin typeface="Rockwell" panose="02060603020205020403" pitchFamily="18" charset="0"/>
            </a:endParaRPr>
          </a:p>
        </p:txBody>
      </p:sp>
      <p:sp>
        <p:nvSpPr>
          <p:cNvPr id="8" name="Rectangle 7">
            <a:extLst>
              <a:ext uri="{FF2B5EF4-FFF2-40B4-BE49-F238E27FC236}">
                <a16:creationId xmlns:a16="http://schemas.microsoft.com/office/drawing/2014/main" id="{058D75C1-24B3-4523-9F7B-41FE6953A3C3}"/>
              </a:ext>
            </a:extLst>
          </p:cNvPr>
          <p:cNvSpPr/>
          <p:nvPr/>
        </p:nvSpPr>
        <p:spPr>
          <a:xfrm>
            <a:off x="628650" y="902295"/>
            <a:ext cx="7886700" cy="1015663"/>
          </a:xfrm>
          <a:prstGeom prst="rect">
            <a:avLst/>
          </a:prstGeom>
        </p:spPr>
        <p:txBody>
          <a:bodyPr wrap="square">
            <a:spAutoFit/>
          </a:bodyPr>
          <a:lstStyle/>
          <a:p>
            <a:pPr algn="just"/>
            <a:r>
              <a:rPr lang="en-US" sz="2000" dirty="0">
                <a:latin typeface="Rockwell" panose="02060603020205020403" pitchFamily="18" charset="0"/>
              </a:rPr>
              <a:t>PLCs are widely used across various industries for automation and control applications. Here are some common areas where PLCs are applied:</a:t>
            </a:r>
            <a:endParaRPr lang="en-TZ" sz="2000" dirty="0">
              <a:latin typeface="Rockwell" panose="02060603020205020403" pitchFamily="18" charset="0"/>
            </a:endParaRPr>
          </a:p>
        </p:txBody>
      </p:sp>
    </p:spTree>
    <p:extLst>
      <p:ext uri="{BB962C8B-B14F-4D97-AF65-F5344CB8AC3E}">
        <p14:creationId xmlns:p14="http://schemas.microsoft.com/office/powerpoint/2010/main" val="2950564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0CCF8-E5F9-4D5A-B355-638B24DDB249}"/>
              </a:ext>
            </a:extLst>
          </p:cNvPr>
          <p:cNvSpPr>
            <a:spLocks noGrp="1"/>
          </p:cNvSpPr>
          <p:nvPr>
            <p:ph type="title"/>
          </p:nvPr>
        </p:nvSpPr>
        <p:spPr>
          <a:xfrm>
            <a:off x="628650" y="218995"/>
            <a:ext cx="7886700" cy="681037"/>
          </a:xfrm>
        </p:spPr>
        <p:txBody>
          <a:bodyPr>
            <a:normAutofit fontScale="90000"/>
          </a:bodyPr>
          <a:lstStyle/>
          <a:p>
            <a:r>
              <a:rPr lang="en-US" b="1" kern="0" dirty="0">
                <a:latin typeface="Bookman Old Style" panose="02050604050505020204" pitchFamily="18" charset="0"/>
                <a:ea typeface="Times New Roman" panose="02020603050405020304" pitchFamily="18" charset="0"/>
                <a:cs typeface="Times New Roman" panose="02020603050405020304" pitchFamily="18" charset="0"/>
              </a:rPr>
              <a:t>PLC Application</a:t>
            </a:r>
            <a:endParaRPr lang="en-TZ" b="1" dirty="0"/>
          </a:p>
        </p:txBody>
      </p:sp>
      <p:sp>
        <p:nvSpPr>
          <p:cNvPr id="3" name="Content Placeholder 2">
            <a:extLst>
              <a:ext uri="{FF2B5EF4-FFF2-40B4-BE49-F238E27FC236}">
                <a16:creationId xmlns:a16="http://schemas.microsoft.com/office/drawing/2014/main" id="{BDE06865-587D-4E8D-BBCE-E34B3FC785E6}"/>
              </a:ext>
            </a:extLst>
          </p:cNvPr>
          <p:cNvSpPr>
            <a:spLocks noGrp="1"/>
          </p:cNvSpPr>
          <p:nvPr>
            <p:ph idx="1"/>
          </p:nvPr>
        </p:nvSpPr>
        <p:spPr>
          <a:xfrm>
            <a:off x="628650" y="900031"/>
            <a:ext cx="7886700" cy="5846757"/>
          </a:xfrm>
        </p:spPr>
        <p:txBody>
          <a:bodyPr>
            <a:normAutofit/>
          </a:bodyPr>
          <a:lstStyle/>
          <a:p>
            <a:pPr marL="514350" indent="-514350" algn="just">
              <a:buFont typeface="+mj-lt"/>
              <a:buAutoNum type="alphaLcParenR" startAt="2"/>
            </a:pPr>
            <a:r>
              <a:rPr lang="en-GB" sz="2600" b="1" dirty="0">
                <a:latin typeface="Rockwell" panose="02060603020205020403" pitchFamily="18" charset="0"/>
              </a:rPr>
              <a:t>Power Stations</a:t>
            </a:r>
          </a:p>
          <a:p>
            <a:pPr marL="0" indent="0" algn="just">
              <a:buNone/>
            </a:pPr>
            <a:r>
              <a:rPr lang="en-US" sz="2000" dirty="0">
                <a:latin typeface="Rockwell" panose="02060603020205020403" pitchFamily="18" charset="0"/>
              </a:rPr>
              <a:t>PLCs play a vital role in power generation, transmission, and distribution systems:</a:t>
            </a:r>
          </a:p>
          <a:p>
            <a:pPr lvl="1" algn="just"/>
            <a:r>
              <a:rPr lang="en-US" sz="2100" dirty="0">
                <a:latin typeface="Rockwell" panose="02060603020205020403" pitchFamily="18" charset="0"/>
              </a:rPr>
              <a:t>Smart Grid Systems: Monitor electrical parameters in real-time to detect faults and optimize power flow.</a:t>
            </a:r>
          </a:p>
          <a:p>
            <a:pPr lvl="1" algn="just"/>
            <a:r>
              <a:rPr lang="en-US" sz="2100" dirty="0">
                <a:latin typeface="Rockwell" panose="02060603020205020403" pitchFamily="18" charset="0"/>
              </a:rPr>
              <a:t>Power Substation Automation: Automate equipment like transformers and circuit breakers for efficient load management</a:t>
            </a:r>
          </a:p>
          <a:p>
            <a:pPr marL="514350" lvl="1" indent="-514350" algn="just">
              <a:spcBef>
                <a:spcPts val="1000"/>
              </a:spcBef>
              <a:buFont typeface="+mj-lt"/>
              <a:buAutoNum type="alphaLcParenR" startAt="3"/>
            </a:pPr>
            <a:r>
              <a:rPr lang="en-US" sz="2600" b="1" dirty="0">
                <a:latin typeface="Rockwell" panose="02060603020205020403" pitchFamily="18" charset="0"/>
              </a:rPr>
              <a:t>Transportation Systems</a:t>
            </a:r>
          </a:p>
          <a:p>
            <a:pPr marL="457200" lvl="1" indent="0" algn="just">
              <a:buNone/>
            </a:pPr>
            <a:r>
              <a:rPr lang="en-US" sz="2000" dirty="0">
                <a:latin typeface="Rockwell" panose="02060603020205020403" pitchFamily="18" charset="0"/>
              </a:rPr>
              <a:t>PLCs are essential for controlling transportation systems such as:</a:t>
            </a:r>
          </a:p>
          <a:p>
            <a:pPr lvl="1" algn="just"/>
            <a:r>
              <a:rPr lang="en-US" sz="2100" dirty="0">
                <a:latin typeface="Rockwell" panose="02060603020205020403" pitchFamily="18" charset="0"/>
              </a:rPr>
              <a:t>Escalators and Elevators: Manage motor speed, door functions, and safety features like emergency stops.</a:t>
            </a:r>
          </a:p>
          <a:p>
            <a:pPr lvl="1" algn="just"/>
            <a:r>
              <a:rPr lang="en-US" sz="2100" dirty="0">
                <a:latin typeface="Rockwell" panose="02060603020205020403" pitchFamily="18" charset="0"/>
              </a:rPr>
              <a:t>Smart Traffic Control: Adjust traffic signals dynamically based on real-time data from sensors</a:t>
            </a:r>
          </a:p>
        </p:txBody>
      </p:sp>
    </p:spTree>
    <p:extLst>
      <p:ext uri="{BB962C8B-B14F-4D97-AF65-F5344CB8AC3E}">
        <p14:creationId xmlns:p14="http://schemas.microsoft.com/office/powerpoint/2010/main" val="1976824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70EDA-E625-4086-BB61-8C46D6011542}"/>
              </a:ext>
            </a:extLst>
          </p:cNvPr>
          <p:cNvSpPr>
            <a:spLocks noGrp="1"/>
          </p:cNvSpPr>
          <p:nvPr>
            <p:ph type="title"/>
          </p:nvPr>
        </p:nvSpPr>
        <p:spPr>
          <a:xfrm>
            <a:off x="628650" y="365127"/>
            <a:ext cx="7886700" cy="642580"/>
          </a:xfrm>
        </p:spPr>
        <p:txBody>
          <a:bodyPr>
            <a:normAutofit fontScale="90000"/>
          </a:bodyPr>
          <a:lstStyle/>
          <a:p>
            <a:r>
              <a:rPr lang="en-US" b="1" dirty="0">
                <a:latin typeface="Rockwell" panose="02060603020205020403" pitchFamily="18" charset="0"/>
                <a:cs typeface="MV Boli" panose="02000500030200090000" pitchFamily="2" charset="0"/>
              </a:rPr>
              <a:t>Types of PLCs by Size</a:t>
            </a:r>
            <a:endParaRPr lang="en-TZ" b="1" dirty="0">
              <a:latin typeface="Rockwell" panose="02060603020205020403" pitchFamily="18" charset="0"/>
              <a:cs typeface="MV Boli" panose="02000500030200090000" pitchFamily="2" charset="0"/>
            </a:endParaRPr>
          </a:p>
        </p:txBody>
      </p:sp>
      <p:sp>
        <p:nvSpPr>
          <p:cNvPr id="3" name="Content Placeholder 2">
            <a:extLst>
              <a:ext uri="{FF2B5EF4-FFF2-40B4-BE49-F238E27FC236}">
                <a16:creationId xmlns:a16="http://schemas.microsoft.com/office/drawing/2014/main" id="{F31F6998-6FA7-4D83-B934-A5C8977AD27A}"/>
              </a:ext>
            </a:extLst>
          </p:cNvPr>
          <p:cNvSpPr>
            <a:spLocks noGrp="1"/>
          </p:cNvSpPr>
          <p:nvPr>
            <p:ph idx="1"/>
          </p:nvPr>
        </p:nvSpPr>
        <p:spPr>
          <a:xfrm>
            <a:off x="628649" y="1007707"/>
            <a:ext cx="8011497" cy="5485166"/>
          </a:xfrm>
        </p:spPr>
        <p:txBody>
          <a:bodyPr>
            <a:normAutofit fontScale="92500" lnSpcReduction="20000"/>
          </a:bodyPr>
          <a:lstStyle/>
          <a:p>
            <a:pPr algn="just"/>
            <a:r>
              <a:rPr lang="en-US" dirty="0">
                <a:latin typeface="Rockwell" panose="02060603020205020403" pitchFamily="18" charset="0"/>
              </a:rPr>
              <a:t>Programmable Logic Controllers (PLCs) are categorized by size based on their input/output (I/O) capacity, memory, and processing power. Below is an overview of the different PLC sizes:</a:t>
            </a:r>
          </a:p>
          <a:p>
            <a:pPr marL="457200" lvl="1" indent="0" algn="just">
              <a:buNone/>
            </a:pPr>
            <a:endParaRPr lang="en-US" dirty="0">
              <a:latin typeface="Rockwell" panose="02060603020205020403" pitchFamily="18" charset="0"/>
            </a:endParaRPr>
          </a:p>
          <a:p>
            <a:pPr marL="914400" lvl="1" indent="-457200" algn="just">
              <a:buFont typeface="+mj-lt"/>
              <a:buAutoNum type="arabicPeriod"/>
            </a:pPr>
            <a:r>
              <a:rPr lang="en-US" sz="3000" b="1" dirty="0">
                <a:latin typeface="Rockwell" panose="02060603020205020403" pitchFamily="18" charset="0"/>
              </a:rPr>
              <a:t> Nano PLC</a:t>
            </a:r>
          </a:p>
          <a:p>
            <a:pPr lvl="2" algn="just">
              <a:buFont typeface="Calibri" panose="020F0502020204030204" pitchFamily="34" charset="0"/>
              <a:buChar char="»"/>
            </a:pPr>
            <a:r>
              <a:rPr lang="en-US" sz="2800" dirty="0">
                <a:latin typeface="Rockwell" panose="02060603020205020403" pitchFamily="18" charset="0"/>
              </a:rPr>
              <a:t>Description: The smallest type of PLC, often used for basic automation tasks.</a:t>
            </a:r>
            <a:endParaRPr lang="en-US" dirty="0">
              <a:latin typeface="Rockwell" panose="02060603020205020403" pitchFamily="18" charset="0"/>
            </a:endParaRPr>
          </a:p>
          <a:p>
            <a:pPr lvl="2" algn="just">
              <a:buFont typeface="Calibri" panose="020F0502020204030204" pitchFamily="34" charset="0"/>
              <a:buChar char="»"/>
            </a:pPr>
            <a:r>
              <a:rPr lang="en-US" sz="2800" dirty="0">
                <a:latin typeface="Rockwell" panose="02060603020205020403" pitchFamily="18" charset="0"/>
              </a:rPr>
              <a:t>Features:</a:t>
            </a:r>
          </a:p>
          <a:p>
            <a:pPr lvl="3" algn="just"/>
            <a:r>
              <a:rPr lang="en-US" sz="3000" dirty="0">
                <a:latin typeface="Rockwell" panose="02060603020205020403" pitchFamily="18" charset="0"/>
              </a:rPr>
              <a:t>Extremely compact design.</a:t>
            </a:r>
          </a:p>
          <a:p>
            <a:pPr lvl="3" algn="just"/>
            <a:r>
              <a:rPr lang="en-US" sz="3000" dirty="0">
                <a:latin typeface="Rockwell" panose="02060603020205020403" pitchFamily="18" charset="0"/>
              </a:rPr>
              <a:t>Limited number of I/O points (e.g., fewer than 32).</a:t>
            </a:r>
          </a:p>
          <a:p>
            <a:pPr lvl="3" algn="just"/>
            <a:r>
              <a:rPr lang="en-US" sz="3000" dirty="0">
                <a:latin typeface="Rockwell" panose="02060603020205020403" pitchFamily="18" charset="0"/>
              </a:rPr>
              <a:t>Minimal memory and processing power.</a:t>
            </a:r>
          </a:p>
          <a:p>
            <a:pPr lvl="2" algn="just">
              <a:buFont typeface="Calibri" panose="020F0502020204030204" pitchFamily="34" charset="0"/>
              <a:buChar char="»"/>
            </a:pPr>
            <a:r>
              <a:rPr lang="en-US" sz="2800" dirty="0">
                <a:latin typeface="Rockwell" panose="02060603020205020403" pitchFamily="18" charset="0"/>
              </a:rPr>
              <a:t>Applications: Suitable for small-scale projects like college experiments or simple machinery control</a:t>
            </a:r>
            <a:endParaRPr lang="en-TZ" sz="2800" dirty="0">
              <a:latin typeface="Rockwell" panose="02060603020205020403" pitchFamily="18" charset="0"/>
            </a:endParaRPr>
          </a:p>
        </p:txBody>
      </p:sp>
    </p:spTree>
    <p:extLst>
      <p:ext uri="{BB962C8B-B14F-4D97-AF65-F5344CB8AC3E}">
        <p14:creationId xmlns:p14="http://schemas.microsoft.com/office/powerpoint/2010/main" val="3425047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70EDA-E625-4086-BB61-8C46D6011542}"/>
              </a:ext>
            </a:extLst>
          </p:cNvPr>
          <p:cNvSpPr>
            <a:spLocks noGrp="1"/>
          </p:cNvSpPr>
          <p:nvPr>
            <p:ph type="title"/>
          </p:nvPr>
        </p:nvSpPr>
        <p:spPr>
          <a:xfrm>
            <a:off x="628650" y="365127"/>
            <a:ext cx="7886700" cy="642580"/>
          </a:xfrm>
        </p:spPr>
        <p:txBody>
          <a:bodyPr>
            <a:normAutofit fontScale="90000"/>
          </a:bodyPr>
          <a:lstStyle/>
          <a:p>
            <a:r>
              <a:rPr lang="en-US" dirty="0">
                <a:latin typeface="Rockwell" panose="02060603020205020403" pitchFamily="18" charset="0"/>
                <a:cs typeface="MV Boli" panose="02000500030200090000" pitchFamily="2" charset="0"/>
              </a:rPr>
              <a:t>Types of PLCs by Size</a:t>
            </a:r>
            <a:endParaRPr lang="en-TZ" dirty="0">
              <a:latin typeface="Rockwell" panose="02060603020205020403" pitchFamily="18" charset="0"/>
              <a:cs typeface="MV Boli" panose="02000500030200090000" pitchFamily="2" charset="0"/>
            </a:endParaRPr>
          </a:p>
        </p:txBody>
      </p:sp>
      <p:sp>
        <p:nvSpPr>
          <p:cNvPr id="3" name="Content Placeholder 2">
            <a:extLst>
              <a:ext uri="{FF2B5EF4-FFF2-40B4-BE49-F238E27FC236}">
                <a16:creationId xmlns:a16="http://schemas.microsoft.com/office/drawing/2014/main" id="{F31F6998-6FA7-4D83-B934-A5C8977AD27A}"/>
              </a:ext>
            </a:extLst>
          </p:cNvPr>
          <p:cNvSpPr>
            <a:spLocks noGrp="1"/>
          </p:cNvSpPr>
          <p:nvPr>
            <p:ph idx="1"/>
          </p:nvPr>
        </p:nvSpPr>
        <p:spPr>
          <a:xfrm>
            <a:off x="628650" y="1240976"/>
            <a:ext cx="8095472" cy="5485166"/>
          </a:xfrm>
        </p:spPr>
        <p:txBody>
          <a:bodyPr>
            <a:normAutofit fontScale="85000" lnSpcReduction="20000"/>
          </a:bodyPr>
          <a:lstStyle/>
          <a:p>
            <a:pPr marL="971550" lvl="1" indent="-514350" algn="just">
              <a:buFont typeface="+mj-lt"/>
              <a:buAutoNum type="arabicPeriod" startAt="2"/>
            </a:pPr>
            <a:r>
              <a:rPr lang="en-US" sz="3300" b="1" dirty="0">
                <a:latin typeface="Rockwell" panose="02060603020205020403" pitchFamily="18" charset="0"/>
              </a:rPr>
              <a:t>Micro PLC (Small PLC)</a:t>
            </a:r>
          </a:p>
          <a:p>
            <a:pPr lvl="2" algn="just">
              <a:buFont typeface="Calibri" panose="020F0502020204030204" pitchFamily="34" charset="0"/>
              <a:buChar char="»"/>
            </a:pPr>
            <a:r>
              <a:rPr lang="en-US" sz="2800" dirty="0">
                <a:latin typeface="Rockwell" panose="02060603020205020403" pitchFamily="18" charset="0"/>
              </a:rPr>
              <a:t>Description: Slightly larger than </a:t>
            </a:r>
            <a:r>
              <a:rPr lang="en-US" sz="2800" dirty="0" err="1">
                <a:latin typeface="Rockwell" panose="02060603020205020403" pitchFamily="18" charset="0"/>
              </a:rPr>
              <a:t>nano</a:t>
            </a:r>
            <a:r>
              <a:rPr lang="en-US" sz="2800" dirty="0">
                <a:latin typeface="Rockwell" panose="02060603020205020403" pitchFamily="18" charset="0"/>
              </a:rPr>
              <a:t> PLCs, designed for controlling smaller machines.</a:t>
            </a:r>
            <a:endParaRPr lang="en-US" dirty="0">
              <a:latin typeface="Rockwell" panose="02060603020205020403" pitchFamily="18" charset="0"/>
            </a:endParaRPr>
          </a:p>
          <a:p>
            <a:pPr lvl="2" algn="just">
              <a:buFont typeface="Calibri" panose="020F0502020204030204" pitchFamily="34" charset="0"/>
              <a:buChar char="»"/>
            </a:pPr>
            <a:r>
              <a:rPr lang="en-US" sz="2800" dirty="0">
                <a:latin typeface="Rockwell" panose="02060603020205020403" pitchFamily="18" charset="0"/>
              </a:rPr>
              <a:t>Features:</a:t>
            </a:r>
          </a:p>
          <a:p>
            <a:pPr lvl="3" algn="just">
              <a:lnSpc>
                <a:spcPct val="100000"/>
              </a:lnSpc>
            </a:pPr>
            <a:r>
              <a:rPr lang="en-US" sz="2800" dirty="0">
                <a:latin typeface="Rockwell" panose="02060603020205020403" pitchFamily="18" charset="0"/>
              </a:rPr>
              <a:t>I/O points range from 32 to 128.</a:t>
            </a:r>
          </a:p>
          <a:p>
            <a:pPr lvl="3" algn="just">
              <a:lnSpc>
                <a:spcPct val="100000"/>
              </a:lnSpc>
            </a:pPr>
            <a:r>
              <a:rPr lang="en-US" sz="2800" dirty="0">
                <a:latin typeface="Rockwell" panose="02060603020205020403" pitchFamily="18" charset="0"/>
              </a:rPr>
              <a:t>Compact and cost-effective.</a:t>
            </a:r>
          </a:p>
          <a:p>
            <a:pPr lvl="3" algn="just">
              <a:lnSpc>
                <a:spcPct val="100000"/>
              </a:lnSpc>
            </a:pPr>
            <a:r>
              <a:rPr lang="en-US" sz="2800" dirty="0">
                <a:latin typeface="Rockwell" panose="02060603020205020403" pitchFamily="18" charset="0"/>
              </a:rPr>
              <a:t>Simple programming languages like ladder logic.</a:t>
            </a:r>
          </a:p>
          <a:p>
            <a:pPr lvl="3" algn="just">
              <a:lnSpc>
                <a:spcPct val="100000"/>
              </a:lnSpc>
            </a:pPr>
            <a:r>
              <a:rPr lang="en-US" sz="2800" dirty="0">
                <a:latin typeface="Rockwell" panose="02060603020205020403" pitchFamily="18" charset="0"/>
              </a:rPr>
              <a:t>Built-in communication ports for external network connections.</a:t>
            </a:r>
          </a:p>
          <a:p>
            <a:pPr lvl="3" algn="just">
              <a:lnSpc>
                <a:spcPct val="100000"/>
              </a:lnSpc>
            </a:pPr>
            <a:r>
              <a:rPr lang="en-US" sz="2800" dirty="0">
                <a:latin typeface="Rockwell" panose="02060603020205020403" pitchFamily="18" charset="0"/>
              </a:rPr>
              <a:t>Extremely compact design.</a:t>
            </a:r>
          </a:p>
          <a:p>
            <a:pPr lvl="3" algn="just">
              <a:lnSpc>
                <a:spcPct val="100000"/>
              </a:lnSpc>
            </a:pPr>
            <a:r>
              <a:rPr lang="en-US" sz="2800" dirty="0">
                <a:latin typeface="Rockwell" panose="02060603020205020403" pitchFamily="18" charset="0"/>
              </a:rPr>
              <a:t>Limited number of I/O points (e.g., fewer than 32).</a:t>
            </a:r>
          </a:p>
          <a:p>
            <a:pPr lvl="3" algn="just">
              <a:lnSpc>
                <a:spcPct val="100000"/>
              </a:lnSpc>
            </a:pPr>
            <a:r>
              <a:rPr lang="en-US" sz="2800" dirty="0">
                <a:latin typeface="Rockwell" panose="02060603020205020403" pitchFamily="18" charset="0"/>
              </a:rPr>
              <a:t>Minimal memory and processing power.</a:t>
            </a:r>
          </a:p>
          <a:p>
            <a:pPr lvl="2" algn="just">
              <a:buFont typeface="Calibri" panose="020F0502020204030204" pitchFamily="34" charset="0"/>
              <a:buChar char="»"/>
            </a:pPr>
            <a:r>
              <a:rPr lang="en-US" sz="2800" dirty="0">
                <a:latin typeface="Rockwell" panose="02060603020205020403" pitchFamily="18" charset="0"/>
              </a:rPr>
              <a:t>Applications: Ideal for conveyors, motors, and small industrial setups</a:t>
            </a:r>
            <a:endParaRPr lang="en-TZ" sz="2800" dirty="0">
              <a:latin typeface="Rockwell" panose="02060603020205020403" pitchFamily="18" charset="0"/>
            </a:endParaRPr>
          </a:p>
        </p:txBody>
      </p:sp>
    </p:spTree>
    <p:extLst>
      <p:ext uri="{BB962C8B-B14F-4D97-AF65-F5344CB8AC3E}">
        <p14:creationId xmlns:p14="http://schemas.microsoft.com/office/powerpoint/2010/main" val="1711809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70EDA-E625-4086-BB61-8C46D6011542}"/>
              </a:ext>
            </a:extLst>
          </p:cNvPr>
          <p:cNvSpPr>
            <a:spLocks noGrp="1"/>
          </p:cNvSpPr>
          <p:nvPr>
            <p:ph type="title"/>
          </p:nvPr>
        </p:nvSpPr>
        <p:spPr>
          <a:xfrm>
            <a:off x="628650" y="365127"/>
            <a:ext cx="7886700" cy="642580"/>
          </a:xfrm>
        </p:spPr>
        <p:txBody>
          <a:bodyPr>
            <a:normAutofit fontScale="90000"/>
          </a:bodyPr>
          <a:lstStyle/>
          <a:p>
            <a:r>
              <a:rPr lang="en-US" dirty="0">
                <a:latin typeface="Rockwell" panose="02060603020205020403" pitchFamily="18" charset="0"/>
                <a:cs typeface="MV Boli" panose="02000500030200090000" pitchFamily="2" charset="0"/>
              </a:rPr>
              <a:t>Types of PLCs by Size</a:t>
            </a:r>
            <a:endParaRPr lang="en-TZ" dirty="0">
              <a:latin typeface="Rockwell" panose="02060603020205020403" pitchFamily="18" charset="0"/>
              <a:cs typeface="MV Boli" panose="02000500030200090000" pitchFamily="2" charset="0"/>
            </a:endParaRPr>
          </a:p>
        </p:txBody>
      </p:sp>
      <p:sp>
        <p:nvSpPr>
          <p:cNvPr id="3" name="Content Placeholder 2">
            <a:extLst>
              <a:ext uri="{FF2B5EF4-FFF2-40B4-BE49-F238E27FC236}">
                <a16:creationId xmlns:a16="http://schemas.microsoft.com/office/drawing/2014/main" id="{F31F6998-6FA7-4D83-B934-A5C8977AD27A}"/>
              </a:ext>
            </a:extLst>
          </p:cNvPr>
          <p:cNvSpPr>
            <a:spLocks noGrp="1"/>
          </p:cNvSpPr>
          <p:nvPr>
            <p:ph idx="1"/>
          </p:nvPr>
        </p:nvSpPr>
        <p:spPr>
          <a:xfrm>
            <a:off x="628650" y="1240976"/>
            <a:ext cx="8095472" cy="4954551"/>
          </a:xfrm>
        </p:spPr>
        <p:txBody>
          <a:bodyPr>
            <a:normAutofit fontScale="92500" lnSpcReduction="10000"/>
          </a:bodyPr>
          <a:lstStyle/>
          <a:p>
            <a:pPr marL="971550" lvl="1" indent="-514350" algn="just">
              <a:buFont typeface="+mj-lt"/>
              <a:buAutoNum type="arabicPeriod" startAt="3"/>
            </a:pPr>
            <a:r>
              <a:rPr lang="en-US" sz="2800" b="1" dirty="0">
                <a:latin typeface="Rockwell" panose="02060603020205020403" pitchFamily="18" charset="0"/>
              </a:rPr>
              <a:t>Medium PLC</a:t>
            </a:r>
          </a:p>
          <a:p>
            <a:pPr lvl="2" algn="just">
              <a:lnSpc>
                <a:spcPct val="100000"/>
              </a:lnSpc>
              <a:buFont typeface="Calibri" panose="020F0502020204030204" pitchFamily="34" charset="0"/>
              <a:buChar char="»"/>
            </a:pPr>
            <a:r>
              <a:rPr lang="en-US" sz="2800" dirty="0">
                <a:latin typeface="Rockwell" panose="02060603020205020403" pitchFamily="18" charset="0"/>
              </a:rPr>
              <a:t>Description: Larger than micro PLCs and offers more capabilities but less scalability compared to modular PLCs.</a:t>
            </a:r>
          </a:p>
          <a:p>
            <a:pPr lvl="2" algn="just">
              <a:buFont typeface="Calibri" panose="020F0502020204030204" pitchFamily="34" charset="0"/>
              <a:buChar char="»"/>
            </a:pPr>
            <a:r>
              <a:rPr lang="en-US" sz="2800" dirty="0">
                <a:latin typeface="Rockwell" panose="02060603020205020403" pitchFamily="18" charset="0"/>
              </a:rPr>
              <a:t>Features:</a:t>
            </a:r>
          </a:p>
          <a:p>
            <a:pPr lvl="3" algn="just"/>
            <a:r>
              <a:rPr lang="en-US" sz="2800" dirty="0">
                <a:latin typeface="Rockwell" panose="02060603020205020403" pitchFamily="18" charset="0"/>
              </a:rPr>
              <a:t>Supports multiple programming languages.</a:t>
            </a:r>
          </a:p>
          <a:p>
            <a:pPr lvl="3" algn="just"/>
            <a:r>
              <a:rPr lang="en-US" sz="2800" dirty="0">
                <a:latin typeface="Rockwell" panose="02060603020205020403" pitchFamily="18" charset="0"/>
              </a:rPr>
              <a:t>Expandable with additional I/O modules.</a:t>
            </a:r>
          </a:p>
          <a:p>
            <a:pPr lvl="3" algn="just"/>
            <a:r>
              <a:rPr lang="en-US" sz="2800" dirty="0">
                <a:latin typeface="Rockwell" panose="02060603020205020403" pitchFamily="18" charset="0"/>
              </a:rPr>
              <a:t>Moderate processing power and memory capacity.</a:t>
            </a:r>
          </a:p>
          <a:p>
            <a:pPr lvl="2" algn="just">
              <a:buFont typeface="Calibri" panose="020F0502020204030204" pitchFamily="34" charset="0"/>
              <a:buChar char="»"/>
            </a:pPr>
            <a:r>
              <a:rPr lang="en-US" sz="2800" dirty="0">
                <a:latin typeface="Rockwell" panose="02060603020205020403" pitchFamily="18" charset="0"/>
              </a:rPr>
              <a:t>Applications: Used in industries like food processing, amusement parks, and medium-scale automation projects</a:t>
            </a:r>
            <a:endParaRPr lang="en-TZ" sz="2800" dirty="0">
              <a:latin typeface="Rockwell" panose="02060603020205020403" pitchFamily="18" charset="0"/>
            </a:endParaRPr>
          </a:p>
        </p:txBody>
      </p:sp>
    </p:spTree>
    <p:extLst>
      <p:ext uri="{BB962C8B-B14F-4D97-AF65-F5344CB8AC3E}">
        <p14:creationId xmlns:p14="http://schemas.microsoft.com/office/powerpoint/2010/main" val="4286619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70EDA-E625-4086-BB61-8C46D6011542}"/>
              </a:ext>
            </a:extLst>
          </p:cNvPr>
          <p:cNvSpPr>
            <a:spLocks noGrp="1"/>
          </p:cNvSpPr>
          <p:nvPr>
            <p:ph type="title"/>
          </p:nvPr>
        </p:nvSpPr>
        <p:spPr>
          <a:xfrm>
            <a:off x="628650" y="365127"/>
            <a:ext cx="7886700" cy="642580"/>
          </a:xfrm>
        </p:spPr>
        <p:txBody>
          <a:bodyPr>
            <a:normAutofit fontScale="90000"/>
          </a:bodyPr>
          <a:lstStyle/>
          <a:p>
            <a:r>
              <a:rPr lang="en-US" dirty="0">
                <a:latin typeface="Rockwell" panose="02060603020205020403" pitchFamily="18" charset="0"/>
                <a:cs typeface="MV Boli" panose="02000500030200090000" pitchFamily="2" charset="0"/>
              </a:rPr>
              <a:t>Types of PLCs by Size</a:t>
            </a:r>
            <a:endParaRPr lang="en-TZ" dirty="0">
              <a:latin typeface="Rockwell" panose="02060603020205020403" pitchFamily="18" charset="0"/>
              <a:cs typeface="MV Boli" panose="02000500030200090000" pitchFamily="2" charset="0"/>
            </a:endParaRPr>
          </a:p>
        </p:txBody>
      </p:sp>
      <p:sp>
        <p:nvSpPr>
          <p:cNvPr id="3" name="Content Placeholder 2">
            <a:extLst>
              <a:ext uri="{FF2B5EF4-FFF2-40B4-BE49-F238E27FC236}">
                <a16:creationId xmlns:a16="http://schemas.microsoft.com/office/drawing/2014/main" id="{F31F6998-6FA7-4D83-B934-A5C8977AD27A}"/>
              </a:ext>
            </a:extLst>
          </p:cNvPr>
          <p:cNvSpPr>
            <a:spLocks noGrp="1"/>
          </p:cNvSpPr>
          <p:nvPr>
            <p:ph idx="1"/>
          </p:nvPr>
        </p:nvSpPr>
        <p:spPr>
          <a:xfrm>
            <a:off x="628650" y="1240976"/>
            <a:ext cx="8095472" cy="5251898"/>
          </a:xfrm>
        </p:spPr>
        <p:txBody>
          <a:bodyPr>
            <a:normAutofit fontScale="92500"/>
          </a:bodyPr>
          <a:lstStyle/>
          <a:p>
            <a:pPr marL="971550" lvl="1" indent="-514350" algn="just">
              <a:lnSpc>
                <a:spcPct val="80000"/>
              </a:lnSpc>
              <a:buFont typeface="+mj-lt"/>
              <a:buAutoNum type="arabicPeriod" startAt="4"/>
            </a:pPr>
            <a:r>
              <a:rPr lang="en-GB" sz="2800" b="1" dirty="0">
                <a:latin typeface="Rockwell" panose="02060603020205020403" pitchFamily="18" charset="0"/>
              </a:rPr>
              <a:t>Large PLC</a:t>
            </a:r>
          </a:p>
          <a:p>
            <a:pPr lvl="2" algn="just">
              <a:lnSpc>
                <a:spcPct val="100000"/>
              </a:lnSpc>
              <a:buFont typeface="Calibri" panose="020F0502020204030204" pitchFamily="34" charset="0"/>
              <a:buChar char="»"/>
            </a:pPr>
            <a:r>
              <a:rPr lang="en-US" sz="2800" dirty="0">
                <a:latin typeface="Rockwell" panose="02060603020205020403" pitchFamily="18" charset="0"/>
              </a:rPr>
              <a:t>Description: Designed for complex industrial applications requiring high scalability and performance.</a:t>
            </a:r>
          </a:p>
          <a:p>
            <a:pPr lvl="2" algn="just">
              <a:buFont typeface="Calibri" panose="020F0502020204030204" pitchFamily="34" charset="0"/>
              <a:buChar char="»"/>
            </a:pPr>
            <a:r>
              <a:rPr lang="en-US" sz="2800" dirty="0">
                <a:latin typeface="Rockwell" panose="02060603020205020403" pitchFamily="18" charset="0"/>
              </a:rPr>
              <a:t>Features:</a:t>
            </a:r>
          </a:p>
          <a:p>
            <a:pPr lvl="3" algn="just"/>
            <a:r>
              <a:rPr lang="en-US" sz="2800" dirty="0">
                <a:latin typeface="Rockwell" panose="02060603020205020403" pitchFamily="18" charset="0"/>
              </a:rPr>
              <a:t>Thousands of I/O points (e.g., up to 10,000 or more).</a:t>
            </a:r>
          </a:p>
          <a:p>
            <a:pPr lvl="3" algn="just"/>
            <a:r>
              <a:rPr lang="en-US" sz="2800" dirty="0">
                <a:latin typeface="Rockwell" panose="02060603020205020403" pitchFamily="18" charset="0"/>
              </a:rPr>
              <a:t>Higher memory and processing power.</a:t>
            </a:r>
          </a:p>
          <a:p>
            <a:pPr lvl="3" algn="just"/>
            <a:r>
              <a:rPr lang="en-US" sz="2800" dirty="0">
                <a:latin typeface="Rockwell" panose="02060603020205020403" pitchFamily="18" charset="0"/>
              </a:rPr>
              <a:t>Modular design allowing extensive customization..</a:t>
            </a:r>
          </a:p>
          <a:p>
            <a:pPr lvl="2" algn="just">
              <a:buFont typeface="Calibri" panose="020F0502020204030204" pitchFamily="34" charset="0"/>
              <a:buChar char="»"/>
            </a:pPr>
            <a:r>
              <a:rPr lang="en-US" sz="2800" dirty="0">
                <a:latin typeface="Rockwell" panose="02060603020205020403" pitchFamily="18" charset="0"/>
              </a:rPr>
              <a:t>Applications: Widely used in oil and gas industries, large manufacturing plants, and utilities</a:t>
            </a:r>
            <a:endParaRPr lang="en-TZ" sz="2800" dirty="0">
              <a:latin typeface="Rockwell" panose="02060603020205020403" pitchFamily="18" charset="0"/>
            </a:endParaRPr>
          </a:p>
        </p:txBody>
      </p:sp>
    </p:spTree>
    <p:extLst>
      <p:ext uri="{BB962C8B-B14F-4D97-AF65-F5344CB8AC3E}">
        <p14:creationId xmlns:p14="http://schemas.microsoft.com/office/powerpoint/2010/main" val="1339385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70EDA-E625-4086-BB61-8C46D6011542}"/>
              </a:ext>
            </a:extLst>
          </p:cNvPr>
          <p:cNvSpPr>
            <a:spLocks noGrp="1"/>
          </p:cNvSpPr>
          <p:nvPr>
            <p:ph type="title"/>
          </p:nvPr>
        </p:nvSpPr>
        <p:spPr>
          <a:xfrm>
            <a:off x="628650" y="365127"/>
            <a:ext cx="7886700" cy="642580"/>
          </a:xfrm>
        </p:spPr>
        <p:txBody>
          <a:bodyPr>
            <a:normAutofit fontScale="90000"/>
          </a:bodyPr>
          <a:lstStyle/>
          <a:p>
            <a:r>
              <a:rPr lang="en-US" dirty="0">
                <a:latin typeface="Rockwell" panose="02060603020205020403" pitchFamily="18" charset="0"/>
                <a:cs typeface="MV Boli" panose="02000500030200090000" pitchFamily="2" charset="0"/>
              </a:rPr>
              <a:t>Types of PLCs by Size</a:t>
            </a:r>
            <a:endParaRPr lang="en-TZ" dirty="0">
              <a:latin typeface="Rockwell" panose="02060603020205020403" pitchFamily="18" charset="0"/>
              <a:cs typeface="MV Boli" panose="02000500030200090000" pitchFamily="2" charset="0"/>
            </a:endParaRPr>
          </a:p>
        </p:txBody>
      </p:sp>
      <p:sp>
        <p:nvSpPr>
          <p:cNvPr id="3" name="Content Placeholder 2">
            <a:extLst>
              <a:ext uri="{FF2B5EF4-FFF2-40B4-BE49-F238E27FC236}">
                <a16:creationId xmlns:a16="http://schemas.microsoft.com/office/drawing/2014/main" id="{F31F6998-6FA7-4D83-B934-A5C8977AD27A}"/>
              </a:ext>
            </a:extLst>
          </p:cNvPr>
          <p:cNvSpPr>
            <a:spLocks noGrp="1"/>
          </p:cNvSpPr>
          <p:nvPr>
            <p:ph idx="1"/>
          </p:nvPr>
        </p:nvSpPr>
        <p:spPr>
          <a:xfrm>
            <a:off x="628650" y="1240976"/>
            <a:ext cx="8095472" cy="4954551"/>
          </a:xfrm>
        </p:spPr>
        <p:txBody>
          <a:bodyPr>
            <a:normAutofit fontScale="92500"/>
          </a:bodyPr>
          <a:lstStyle/>
          <a:p>
            <a:pPr marL="971550" lvl="1" indent="-514350" algn="just">
              <a:lnSpc>
                <a:spcPct val="80000"/>
              </a:lnSpc>
              <a:buFont typeface="+mj-lt"/>
              <a:buAutoNum type="arabicPeriod" startAt="5"/>
            </a:pPr>
            <a:r>
              <a:rPr lang="en-GB" sz="2800" b="1" dirty="0">
                <a:latin typeface="Rockwell" panose="02060603020205020403" pitchFamily="18" charset="0"/>
              </a:rPr>
              <a:t>Very Large PLC</a:t>
            </a:r>
          </a:p>
          <a:p>
            <a:pPr lvl="2" algn="just">
              <a:lnSpc>
                <a:spcPct val="100000"/>
              </a:lnSpc>
              <a:buFont typeface="Calibri" panose="020F0502020204030204" pitchFamily="34" charset="0"/>
              <a:buChar char="»"/>
            </a:pPr>
            <a:r>
              <a:rPr lang="en-US" sz="2800" dirty="0">
                <a:latin typeface="Rockwell" panose="02060603020205020403" pitchFamily="18" charset="0"/>
              </a:rPr>
              <a:t>Description: The largest category of PLCs, capable of handling highly complex systems with extensive automation needs.</a:t>
            </a:r>
          </a:p>
          <a:p>
            <a:pPr lvl="2" algn="just">
              <a:buFont typeface="Calibri" panose="020F0502020204030204" pitchFamily="34" charset="0"/>
              <a:buChar char="»"/>
            </a:pPr>
            <a:r>
              <a:rPr lang="en-US" sz="2800" dirty="0">
                <a:latin typeface="Rockwell" panose="02060603020205020403" pitchFamily="18" charset="0"/>
              </a:rPr>
              <a:t>Features:</a:t>
            </a:r>
          </a:p>
          <a:p>
            <a:pPr lvl="3" algn="just"/>
            <a:r>
              <a:rPr lang="en-US" sz="2800" dirty="0">
                <a:latin typeface="Rockwell" panose="02060603020205020403" pitchFamily="18" charset="0"/>
              </a:rPr>
              <a:t>More than 20,000 I/O points combined (digital and analog).</a:t>
            </a:r>
          </a:p>
          <a:p>
            <a:pPr lvl="3" algn="just"/>
            <a:r>
              <a:rPr lang="en-US" sz="2800" dirty="0">
                <a:latin typeface="Rockwell" panose="02060603020205020403" pitchFamily="18" charset="0"/>
              </a:rPr>
              <a:t>Advanced memory and processing capabilities.</a:t>
            </a:r>
          </a:p>
          <a:p>
            <a:pPr lvl="2" algn="just">
              <a:buFont typeface="Calibri" panose="020F0502020204030204" pitchFamily="34" charset="0"/>
              <a:buChar char="»"/>
            </a:pPr>
            <a:r>
              <a:rPr lang="en-US" sz="2800" dirty="0">
                <a:latin typeface="Rockwell" panose="02060603020205020403" pitchFamily="18" charset="0"/>
              </a:rPr>
              <a:t>Applications: Suitable for large-scale industries such as petrochemicals or utility grids</a:t>
            </a:r>
            <a:endParaRPr lang="en-TZ" sz="2800" dirty="0">
              <a:latin typeface="Rockwell" panose="02060603020205020403" pitchFamily="18" charset="0"/>
            </a:endParaRPr>
          </a:p>
        </p:txBody>
      </p:sp>
    </p:spTree>
    <p:extLst>
      <p:ext uri="{BB962C8B-B14F-4D97-AF65-F5344CB8AC3E}">
        <p14:creationId xmlns:p14="http://schemas.microsoft.com/office/powerpoint/2010/main" val="29088723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FA977-3959-4F2C-BCBB-C2AFCB916A49}"/>
              </a:ext>
            </a:extLst>
          </p:cNvPr>
          <p:cNvSpPr>
            <a:spLocks noGrp="1"/>
          </p:cNvSpPr>
          <p:nvPr>
            <p:ph type="title"/>
          </p:nvPr>
        </p:nvSpPr>
        <p:spPr>
          <a:xfrm>
            <a:off x="628650" y="365127"/>
            <a:ext cx="7886700" cy="829192"/>
          </a:xfrm>
        </p:spPr>
        <p:txBody>
          <a:bodyPr>
            <a:normAutofit fontScale="90000"/>
          </a:bodyPr>
          <a:lstStyle/>
          <a:p>
            <a:r>
              <a:rPr lang="en-US" b="1" dirty="0">
                <a:latin typeface="Rockwell" panose="02060603020205020403" pitchFamily="18" charset="0"/>
              </a:rPr>
              <a:t>Key Factors for Classification</a:t>
            </a:r>
            <a:endParaRPr lang="en-TZ" b="1" dirty="0">
              <a:latin typeface="Rockwell" panose="02060603020205020403" pitchFamily="18" charset="0"/>
            </a:endParaRPr>
          </a:p>
        </p:txBody>
      </p:sp>
      <p:sp>
        <p:nvSpPr>
          <p:cNvPr id="3" name="Content Placeholder 2">
            <a:extLst>
              <a:ext uri="{FF2B5EF4-FFF2-40B4-BE49-F238E27FC236}">
                <a16:creationId xmlns:a16="http://schemas.microsoft.com/office/drawing/2014/main" id="{84EC930C-4308-4BE4-9410-1E07CBA3F0AE}"/>
              </a:ext>
            </a:extLst>
          </p:cNvPr>
          <p:cNvSpPr>
            <a:spLocks noGrp="1"/>
          </p:cNvSpPr>
          <p:nvPr>
            <p:ph idx="1"/>
          </p:nvPr>
        </p:nvSpPr>
        <p:spPr>
          <a:xfrm>
            <a:off x="740616" y="1194318"/>
            <a:ext cx="7886700" cy="4935893"/>
          </a:xfrm>
        </p:spPr>
        <p:txBody>
          <a:bodyPr>
            <a:normAutofit/>
          </a:bodyPr>
          <a:lstStyle/>
          <a:p>
            <a:pPr marL="0" indent="0" algn="just">
              <a:buNone/>
            </a:pPr>
            <a:r>
              <a:rPr lang="en-US" dirty="0">
                <a:latin typeface="Rockwell" panose="02060603020205020403" pitchFamily="18" charset="0"/>
              </a:rPr>
              <a:t>PLC size is determined by:</a:t>
            </a:r>
          </a:p>
          <a:p>
            <a:pPr marL="514350" indent="-514350" algn="just">
              <a:buFont typeface="+mj-lt"/>
              <a:buAutoNum type="arabicPeriod"/>
            </a:pPr>
            <a:r>
              <a:rPr lang="en-US" dirty="0">
                <a:latin typeface="Rockwell" panose="02060603020205020403" pitchFamily="18" charset="0"/>
              </a:rPr>
              <a:t>Number of I/O Points: Larger systems require more inputs/outputs to manage complex operations.</a:t>
            </a:r>
          </a:p>
          <a:p>
            <a:pPr marL="514350" indent="-514350" algn="just">
              <a:buFont typeface="+mj-lt"/>
              <a:buAutoNum type="arabicPeriod"/>
            </a:pPr>
            <a:r>
              <a:rPr lang="en-US" dirty="0">
                <a:latin typeface="Rockwell" panose="02060603020205020403" pitchFamily="18" charset="0"/>
              </a:rPr>
              <a:t>Memory Capacity: Bigger systems need more memory to store complex programs and data.</a:t>
            </a:r>
          </a:p>
          <a:p>
            <a:pPr marL="514350" indent="-514350" algn="just">
              <a:buFont typeface="+mj-lt"/>
              <a:buAutoNum type="arabicPeriod"/>
            </a:pPr>
            <a:r>
              <a:rPr lang="en-US" dirty="0">
                <a:latin typeface="Rockwell" panose="02060603020205020403" pitchFamily="18" charset="0"/>
              </a:rPr>
              <a:t>Application Requirements: The choice of PLC size depends on the specific needs of the project or industry</a:t>
            </a:r>
            <a:endParaRPr lang="en-TZ" dirty="0">
              <a:latin typeface="Rockwell" panose="02060603020205020403" pitchFamily="18" charset="0"/>
            </a:endParaRPr>
          </a:p>
        </p:txBody>
      </p:sp>
    </p:spTree>
    <p:extLst>
      <p:ext uri="{BB962C8B-B14F-4D97-AF65-F5344CB8AC3E}">
        <p14:creationId xmlns:p14="http://schemas.microsoft.com/office/powerpoint/2010/main" val="2323392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FCF8A-DD3A-4CF0-9971-83D044330029}"/>
              </a:ext>
            </a:extLst>
          </p:cNvPr>
          <p:cNvSpPr>
            <a:spLocks noGrp="1"/>
          </p:cNvSpPr>
          <p:nvPr>
            <p:ph type="title"/>
          </p:nvPr>
        </p:nvSpPr>
        <p:spPr>
          <a:xfrm>
            <a:off x="628650" y="277747"/>
            <a:ext cx="7886700" cy="662782"/>
          </a:xfrm>
        </p:spPr>
        <p:txBody>
          <a:bodyPr>
            <a:normAutofit fontScale="90000"/>
          </a:bodyPr>
          <a:lstStyle/>
          <a:p>
            <a:r>
              <a:rPr lang="en-US" kern="0" dirty="0">
                <a:latin typeface="Bookman Old Style" panose="02050604050505020204" pitchFamily="18" charset="0"/>
                <a:ea typeface="Times New Roman" panose="02020603050405020304" pitchFamily="18" charset="0"/>
                <a:cs typeface="Times New Roman" panose="02020603050405020304" pitchFamily="18" charset="0"/>
              </a:rPr>
              <a:t>PLC programming equipment</a:t>
            </a:r>
            <a:endParaRPr lang="en-TZ" dirty="0"/>
          </a:p>
        </p:txBody>
      </p:sp>
      <p:pic>
        <p:nvPicPr>
          <p:cNvPr id="6" name="Content Placeholder 5">
            <a:extLst>
              <a:ext uri="{FF2B5EF4-FFF2-40B4-BE49-F238E27FC236}">
                <a16:creationId xmlns:a16="http://schemas.microsoft.com/office/drawing/2014/main" id="{8DEAAD03-E0AB-4EE1-A0C7-DE0910FA41FA}"/>
              </a:ext>
            </a:extLst>
          </p:cNvPr>
          <p:cNvPicPr>
            <a:picLocks noGrp="1" noChangeAspect="1"/>
          </p:cNvPicPr>
          <p:nvPr>
            <p:ph idx="1"/>
          </p:nvPr>
        </p:nvPicPr>
        <p:blipFill>
          <a:blip r:embed="rId2"/>
          <a:stretch>
            <a:fillRect/>
          </a:stretch>
        </p:blipFill>
        <p:spPr>
          <a:xfrm>
            <a:off x="317940" y="1547321"/>
            <a:ext cx="3796859" cy="3876914"/>
          </a:xfrm>
          <a:prstGeom prst="rect">
            <a:avLst/>
          </a:prstGeom>
        </p:spPr>
      </p:pic>
      <p:pic>
        <p:nvPicPr>
          <p:cNvPr id="7" name="Picture 6">
            <a:extLst>
              <a:ext uri="{FF2B5EF4-FFF2-40B4-BE49-F238E27FC236}">
                <a16:creationId xmlns:a16="http://schemas.microsoft.com/office/drawing/2014/main" id="{2CDF0DBC-92CE-4AF8-B5E3-21F1022B1C8A}"/>
              </a:ext>
            </a:extLst>
          </p:cNvPr>
          <p:cNvPicPr>
            <a:picLocks noChangeAspect="1"/>
          </p:cNvPicPr>
          <p:nvPr/>
        </p:nvPicPr>
        <p:blipFill>
          <a:blip r:embed="rId3"/>
          <a:stretch>
            <a:fillRect/>
          </a:stretch>
        </p:blipFill>
        <p:spPr>
          <a:xfrm>
            <a:off x="4271503" y="1680519"/>
            <a:ext cx="4404372" cy="3743716"/>
          </a:xfrm>
          <a:prstGeom prst="rect">
            <a:avLst/>
          </a:prstGeom>
        </p:spPr>
      </p:pic>
    </p:spTree>
    <p:extLst>
      <p:ext uri="{BB962C8B-B14F-4D97-AF65-F5344CB8AC3E}">
        <p14:creationId xmlns:p14="http://schemas.microsoft.com/office/powerpoint/2010/main" val="7775468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85FA6-F82F-4E2C-A50B-35B163180D2B}"/>
              </a:ext>
            </a:extLst>
          </p:cNvPr>
          <p:cNvSpPr>
            <a:spLocks noGrp="1"/>
          </p:cNvSpPr>
          <p:nvPr>
            <p:ph type="title"/>
          </p:nvPr>
        </p:nvSpPr>
        <p:spPr>
          <a:xfrm>
            <a:off x="628650" y="167418"/>
            <a:ext cx="7886700" cy="660485"/>
          </a:xfrm>
        </p:spPr>
        <p:txBody>
          <a:bodyPr>
            <a:normAutofit fontScale="90000"/>
          </a:bodyPr>
          <a:lstStyle/>
          <a:p>
            <a:r>
              <a:rPr lang="en-GB" dirty="0">
                <a:latin typeface="Rockwell" panose="02060603020205020403" pitchFamily="18" charset="0"/>
              </a:rPr>
              <a:t>Essential Equipment and Tools</a:t>
            </a:r>
            <a:endParaRPr lang="en-TZ" dirty="0">
              <a:latin typeface="Rockwell" panose="02060603020205020403" pitchFamily="18" charset="0"/>
            </a:endParaRPr>
          </a:p>
        </p:txBody>
      </p:sp>
      <p:sp>
        <p:nvSpPr>
          <p:cNvPr id="3" name="Content Placeholder 2">
            <a:extLst>
              <a:ext uri="{FF2B5EF4-FFF2-40B4-BE49-F238E27FC236}">
                <a16:creationId xmlns:a16="http://schemas.microsoft.com/office/drawing/2014/main" id="{E4F67109-DD4F-428E-9261-AB30AAF6C74D}"/>
              </a:ext>
            </a:extLst>
          </p:cNvPr>
          <p:cNvSpPr>
            <a:spLocks noGrp="1"/>
          </p:cNvSpPr>
          <p:nvPr>
            <p:ph idx="1"/>
          </p:nvPr>
        </p:nvSpPr>
        <p:spPr>
          <a:xfrm>
            <a:off x="628650" y="827903"/>
            <a:ext cx="7886700" cy="5349060"/>
          </a:xfrm>
        </p:spPr>
        <p:txBody>
          <a:bodyPr>
            <a:normAutofit/>
          </a:bodyPr>
          <a:lstStyle/>
          <a:p>
            <a:pPr marL="514350" indent="-514350">
              <a:buFont typeface="+mj-lt"/>
              <a:buAutoNum type="alphaLcParenR"/>
            </a:pPr>
            <a:r>
              <a:rPr lang="en-US" sz="2000" b="1" dirty="0">
                <a:latin typeface="Rockwell" panose="02060603020205020403" pitchFamily="18" charset="0"/>
              </a:rPr>
              <a:t>Programming Devices</a:t>
            </a:r>
          </a:p>
          <a:p>
            <a:pPr lvl="1"/>
            <a:r>
              <a:rPr lang="en-US" dirty="0">
                <a:latin typeface="Rockwell" panose="02060603020205020403" pitchFamily="18" charset="0"/>
              </a:rPr>
              <a:t>Laptop or Desktop Computer: The primary tool for PLC programming, often used with specific software like Rockwell Automation's Studio 5000 or Siemens' SIMATIC Step 7.</a:t>
            </a:r>
          </a:p>
          <a:p>
            <a:pPr lvl="1"/>
            <a:r>
              <a:rPr lang="en-US" dirty="0">
                <a:latin typeface="Rockwell" panose="02060603020205020403" pitchFamily="18" charset="0"/>
              </a:rPr>
              <a:t>Hand-held Programming Devices: Used for smaller PLCs, these are portable and easy to use</a:t>
            </a:r>
          </a:p>
        </p:txBody>
      </p:sp>
      <p:pic>
        <p:nvPicPr>
          <p:cNvPr id="5" name="Picture 4">
            <a:extLst>
              <a:ext uri="{FF2B5EF4-FFF2-40B4-BE49-F238E27FC236}">
                <a16:creationId xmlns:a16="http://schemas.microsoft.com/office/drawing/2014/main" id="{08E50016-94AD-4691-9591-D8920E653CD1}"/>
              </a:ext>
            </a:extLst>
          </p:cNvPr>
          <p:cNvPicPr>
            <a:picLocks noChangeAspect="1"/>
          </p:cNvPicPr>
          <p:nvPr/>
        </p:nvPicPr>
        <p:blipFill>
          <a:blip r:embed="rId2"/>
          <a:stretch>
            <a:fillRect/>
          </a:stretch>
        </p:blipFill>
        <p:spPr>
          <a:xfrm>
            <a:off x="6269869" y="3787346"/>
            <a:ext cx="2625076" cy="2551303"/>
          </a:xfrm>
          <a:prstGeom prst="rect">
            <a:avLst/>
          </a:prstGeom>
        </p:spPr>
      </p:pic>
      <p:pic>
        <p:nvPicPr>
          <p:cNvPr id="6" name="Picture 5">
            <a:extLst>
              <a:ext uri="{FF2B5EF4-FFF2-40B4-BE49-F238E27FC236}">
                <a16:creationId xmlns:a16="http://schemas.microsoft.com/office/drawing/2014/main" id="{B89C7FE2-436C-4B91-AD40-417B01BE8F59}"/>
              </a:ext>
            </a:extLst>
          </p:cNvPr>
          <p:cNvPicPr>
            <a:picLocks noChangeAspect="1"/>
          </p:cNvPicPr>
          <p:nvPr/>
        </p:nvPicPr>
        <p:blipFill>
          <a:blip r:embed="rId3"/>
          <a:stretch>
            <a:fillRect/>
          </a:stretch>
        </p:blipFill>
        <p:spPr>
          <a:xfrm>
            <a:off x="1159209" y="3787346"/>
            <a:ext cx="3810532" cy="2819794"/>
          </a:xfrm>
          <a:prstGeom prst="rect">
            <a:avLst/>
          </a:prstGeom>
        </p:spPr>
      </p:pic>
    </p:spTree>
    <p:extLst>
      <p:ext uri="{BB962C8B-B14F-4D97-AF65-F5344CB8AC3E}">
        <p14:creationId xmlns:p14="http://schemas.microsoft.com/office/powerpoint/2010/main" val="1186647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DEC86B-C349-4CBA-BD3F-97BC20C6D1AF}"/>
              </a:ext>
            </a:extLst>
          </p:cNvPr>
          <p:cNvSpPr>
            <a:spLocks noGrp="1"/>
          </p:cNvSpPr>
          <p:nvPr>
            <p:ph idx="1"/>
          </p:nvPr>
        </p:nvSpPr>
        <p:spPr>
          <a:xfrm>
            <a:off x="628650" y="416955"/>
            <a:ext cx="7886700" cy="4351338"/>
          </a:xfrm>
        </p:spPr>
        <p:txBody>
          <a:bodyPr/>
          <a:lstStyle/>
          <a:p>
            <a:pPr marL="514350" lvl="1" indent="-514350">
              <a:lnSpc>
                <a:spcPct val="100000"/>
              </a:lnSpc>
              <a:spcBef>
                <a:spcPts val="1000"/>
              </a:spcBef>
              <a:buFont typeface="+mj-lt"/>
              <a:buAutoNum type="alphaLcParenR" startAt="2"/>
            </a:pPr>
            <a:r>
              <a:rPr lang="en-US" sz="2000" b="1" dirty="0">
                <a:latin typeface="Rockwell" panose="02060603020205020403" pitchFamily="18" charset="0"/>
              </a:rPr>
              <a:t>Software and Programming Languages</a:t>
            </a:r>
          </a:p>
          <a:p>
            <a:pPr lvl="1">
              <a:lnSpc>
                <a:spcPct val="100000"/>
              </a:lnSpc>
            </a:pPr>
            <a:r>
              <a:rPr lang="en-US" dirty="0">
                <a:latin typeface="Rockwell" panose="02060603020205020403" pitchFamily="18" charset="0"/>
              </a:rPr>
              <a:t>PLC Programming Software: Specific to each PLC brand, such as RS Logix for Allen-Bradley or STEP 7 for Siemens.</a:t>
            </a:r>
          </a:p>
          <a:p>
            <a:pPr lvl="1">
              <a:lnSpc>
                <a:spcPct val="100000"/>
              </a:lnSpc>
            </a:pPr>
            <a:r>
              <a:rPr lang="en-US" dirty="0">
                <a:latin typeface="Rockwell" panose="02060603020205020403" pitchFamily="18" charset="0"/>
              </a:rPr>
              <a:t>Programming Languages: Commonly includes relay ladder logic, function block diagrams, and sequential flow charts</a:t>
            </a:r>
          </a:p>
          <a:p>
            <a:endParaRPr lang="en-TZ" dirty="0"/>
          </a:p>
        </p:txBody>
      </p:sp>
      <p:pic>
        <p:nvPicPr>
          <p:cNvPr id="4" name="Picture 3">
            <a:extLst>
              <a:ext uri="{FF2B5EF4-FFF2-40B4-BE49-F238E27FC236}">
                <a16:creationId xmlns:a16="http://schemas.microsoft.com/office/drawing/2014/main" id="{A455A362-A378-4538-8937-960B08869285}"/>
              </a:ext>
            </a:extLst>
          </p:cNvPr>
          <p:cNvPicPr>
            <a:picLocks noChangeAspect="1"/>
          </p:cNvPicPr>
          <p:nvPr/>
        </p:nvPicPr>
        <p:blipFill>
          <a:blip r:embed="rId2"/>
          <a:stretch>
            <a:fillRect/>
          </a:stretch>
        </p:blipFill>
        <p:spPr>
          <a:xfrm>
            <a:off x="4658532" y="3499138"/>
            <a:ext cx="3856818" cy="2171928"/>
          </a:xfrm>
          <a:prstGeom prst="rect">
            <a:avLst/>
          </a:prstGeom>
        </p:spPr>
      </p:pic>
      <p:sp>
        <p:nvSpPr>
          <p:cNvPr id="5" name="Rectangle 4">
            <a:extLst>
              <a:ext uri="{FF2B5EF4-FFF2-40B4-BE49-F238E27FC236}">
                <a16:creationId xmlns:a16="http://schemas.microsoft.com/office/drawing/2014/main" id="{D1F5EC97-80C6-4233-B250-6C8D0A5F88AB}"/>
              </a:ext>
            </a:extLst>
          </p:cNvPr>
          <p:cNvSpPr/>
          <p:nvPr/>
        </p:nvSpPr>
        <p:spPr>
          <a:xfrm>
            <a:off x="5064729" y="5671066"/>
            <a:ext cx="3044423" cy="369332"/>
          </a:xfrm>
          <a:prstGeom prst="rect">
            <a:avLst/>
          </a:prstGeom>
        </p:spPr>
        <p:txBody>
          <a:bodyPr wrap="none">
            <a:spAutoFit/>
          </a:bodyPr>
          <a:lstStyle/>
          <a:p>
            <a:r>
              <a:rPr lang="en-GB" b="1" dirty="0">
                <a:solidFill>
                  <a:srgbClr val="1B1D1D"/>
                </a:solidFill>
                <a:latin typeface="Roboto"/>
              </a:rPr>
              <a:t>Siemens PLC Programming</a:t>
            </a:r>
            <a:endParaRPr lang="en-GB" b="1" i="0" dirty="0">
              <a:solidFill>
                <a:srgbClr val="1B1D1D"/>
              </a:solidFill>
              <a:effectLst/>
              <a:latin typeface="Roboto"/>
            </a:endParaRPr>
          </a:p>
        </p:txBody>
      </p:sp>
      <p:pic>
        <p:nvPicPr>
          <p:cNvPr id="6" name="Picture 5">
            <a:extLst>
              <a:ext uri="{FF2B5EF4-FFF2-40B4-BE49-F238E27FC236}">
                <a16:creationId xmlns:a16="http://schemas.microsoft.com/office/drawing/2014/main" id="{730FEAFF-8526-4C1D-A3B9-3AFC643B5010}"/>
              </a:ext>
            </a:extLst>
          </p:cNvPr>
          <p:cNvPicPr>
            <a:picLocks noChangeAspect="1"/>
          </p:cNvPicPr>
          <p:nvPr/>
        </p:nvPicPr>
        <p:blipFill>
          <a:blip r:embed="rId3"/>
          <a:stretch>
            <a:fillRect/>
          </a:stretch>
        </p:blipFill>
        <p:spPr>
          <a:xfrm>
            <a:off x="536304" y="3429000"/>
            <a:ext cx="3587974" cy="1849017"/>
          </a:xfrm>
          <a:prstGeom prst="rect">
            <a:avLst/>
          </a:prstGeom>
        </p:spPr>
      </p:pic>
      <p:sp>
        <p:nvSpPr>
          <p:cNvPr id="9" name="Rectangle 8">
            <a:extLst>
              <a:ext uri="{FF2B5EF4-FFF2-40B4-BE49-F238E27FC236}">
                <a16:creationId xmlns:a16="http://schemas.microsoft.com/office/drawing/2014/main" id="{F2828430-CE60-4623-ADB3-38B46FABD916}"/>
              </a:ext>
            </a:extLst>
          </p:cNvPr>
          <p:cNvSpPr/>
          <p:nvPr/>
        </p:nvSpPr>
        <p:spPr>
          <a:xfrm>
            <a:off x="628650" y="5301734"/>
            <a:ext cx="3185231" cy="369332"/>
          </a:xfrm>
          <a:prstGeom prst="rect">
            <a:avLst/>
          </a:prstGeom>
        </p:spPr>
        <p:txBody>
          <a:bodyPr wrap="none">
            <a:spAutoFit/>
          </a:bodyPr>
          <a:lstStyle/>
          <a:p>
            <a:r>
              <a:rPr lang="en-GB" b="1" dirty="0"/>
              <a:t>Allen Bradley PLC Programming</a:t>
            </a:r>
            <a:endParaRPr lang="en-TZ" b="1" dirty="0"/>
          </a:p>
        </p:txBody>
      </p:sp>
    </p:spTree>
    <p:extLst>
      <p:ext uri="{BB962C8B-B14F-4D97-AF65-F5344CB8AC3E}">
        <p14:creationId xmlns:p14="http://schemas.microsoft.com/office/powerpoint/2010/main" val="3242188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20E925-D05B-43C1-9AAD-6FF753EAFA9B}"/>
              </a:ext>
            </a:extLst>
          </p:cNvPr>
          <p:cNvSpPr>
            <a:spLocks noGrp="1"/>
          </p:cNvSpPr>
          <p:nvPr>
            <p:ph idx="1"/>
          </p:nvPr>
        </p:nvSpPr>
        <p:spPr>
          <a:xfrm>
            <a:off x="628650" y="546101"/>
            <a:ext cx="7886700" cy="4351338"/>
          </a:xfrm>
        </p:spPr>
        <p:txBody>
          <a:bodyPr/>
          <a:lstStyle/>
          <a:p>
            <a:pPr marL="514350" lvl="1" indent="-514350">
              <a:lnSpc>
                <a:spcPct val="100000"/>
              </a:lnSpc>
              <a:spcBef>
                <a:spcPts val="1000"/>
              </a:spcBef>
              <a:buFont typeface="+mj-lt"/>
              <a:buAutoNum type="alphaLcParenR" startAt="3"/>
            </a:pPr>
            <a:r>
              <a:rPr lang="en-US" sz="2000" b="1" dirty="0">
                <a:latin typeface="Rockwell" panose="02060603020205020403" pitchFamily="18" charset="0"/>
              </a:rPr>
              <a:t>Programming Cables and Connectors</a:t>
            </a:r>
          </a:p>
          <a:p>
            <a:pPr lvl="1"/>
            <a:r>
              <a:rPr lang="en-US" dirty="0">
                <a:latin typeface="Rockwell" panose="02060603020205020403" pitchFamily="18" charset="0"/>
              </a:rPr>
              <a:t>USB to PLC Interface Cables: For connecting the laptop to the PLC.</a:t>
            </a:r>
          </a:p>
          <a:p>
            <a:pPr lvl="1"/>
            <a:r>
              <a:rPr lang="en-US" dirty="0">
                <a:latin typeface="Rockwell" panose="02060603020205020403" pitchFamily="18" charset="0"/>
              </a:rPr>
              <a:t>Ethernet Cables: Commonly used for networked PLC systems.</a:t>
            </a:r>
          </a:p>
          <a:p>
            <a:pPr lvl="1"/>
            <a:r>
              <a:rPr lang="en-US" dirty="0">
                <a:latin typeface="Rockwell" panose="02060603020205020403" pitchFamily="18" charset="0"/>
              </a:rPr>
              <a:t>Serial Cables (RS-232 or RS-485): Used for older systems or specific applications</a:t>
            </a:r>
          </a:p>
          <a:p>
            <a:endParaRPr lang="en-TZ" dirty="0"/>
          </a:p>
        </p:txBody>
      </p:sp>
      <p:pic>
        <p:nvPicPr>
          <p:cNvPr id="4" name="Picture 3">
            <a:extLst>
              <a:ext uri="{FF2B5EF4-FFF2-40B4-BE49-F238E27FC236}">
                <a16:creationId xmlns:a16="http://schemas.microsoft.com/office/drawing/2014/main" id="{1088F53A-1114-4411-97C2-E5D4A5C30C5A}"/>
              </a:ext>
            </a:extLst>
          </p:cNvPr>
          <p:cNvPicPr>
            <a:picLocks noChangeAspect="1"/>
          </p:cNvPicPr>
          <p:nvPr/>
        </p:nvPicPr>
        <p:blipFill>
          <a:blip r:embed="rId2"/>
          <a:stretch>
            <a:fillRect/>
          </a:stretch>
        </p:blipFill>
        <p:spPr>
          <a:xfrm>
            <a:off x="598894" y="3104797"/>
            <a:ext cx="3781953" cy="1790950"/>
          </a:xfrm>
          <a:prstGeom prst="rect">
            <a:avLst/>
          </a:prstGeom>
        </p:spPr>
      </p:pic>
      <p:sp>
        <p:nvSpPr>
          <p:cNvPr id="5" name="Rectangle 4">
            <a:extLst>
              <a:ext uri="{FF2B5EF4-FFF2-40B4-BE49-F238E27FC236}">
                <a16:creationId xmlns:a16="http://schemas.microsoft.com/office/drawing/2014/main" id="{4FD57960-5F9E-47C6-A9C0-6EDC8314DCE6}"/>
              </a:ext>
            </a:extLst>
          </p:cNvPr>
          <p:cNvSpPr/>
          <p:nvPr/>
        </p:nvSpPr>
        <p:spPr>
          <a:xfrm>
            <a:off x="1893862" y="3630940"/>
            <a:ext cx="1632178" cy="369332"/>
          </a:xfrm>
          <a:prstGeom prst="rect">
            <a:avLst/>
          </a:prstGeom>
        </p:spPr>
        <p:txBody>
          <a:bodyPr wrap="none">
            <a:spAutoFit/>
          </a:bodyPr>
          <a:lstStyle/>
          <a:p>
            <a:r>
              <a:rPr lang="en-US" dirty="0">
                <a:latin typeface="Rockwell" panose="02060603020205020403" pitchFamily="18" charset="0"/>
              </a:rPr>
              <a:t>USB to RS-232</a:t>
            </a:r>
            <a:endParaRPr lang="en-TZ" dirty="0"/>
          </a:p>
        </p:txBody>
      </p:sp>
      <p:pic>
        <p:nvPicPr>
          <p:cNvPr id="6" name="Picture 5">
            <a:extLst>
              <a:ext uri="{FF2B5EF4-FFF2-40B4-BE49-F238E27FC236}">
                <a16:creationId xmlns:a16="http://schemas.microsoft.com/office/drawing/2014/main" id="{DBAB1A02-587B-4969-8190-BAFCC2A2AD37}"/>
              </a:ext>
            </a:extLst>
          </p:cNvPr>
          <p:cNvPicPr>
            <a:picLocks noChangeAspect="1"/>
          </p:cNvPicPr>
          <p:nvPr/>
        </p:nvPicPr>
        <p:blipFill>
          <a:blip r:embed="rId3"/>
          <a:stretch>
            <a:fillRect/>
          </a:stretch>
        </p:blipFill>
        <p:spPr>
          <a:xfrm>
            <a:off x="30631" y="4378788"/>
            <a:ext cx="2679320" cy="2291673"/>
          </a:xfrm>
          <a:prstGeom prst="rect">
            <a:avLst/>
          </a:prstGeom>
        </p:spPr>
      </p:pic>
      <p:pic>
        <p:nvPicPr>
          <p:cNvPr id="7" name="Picture 6">
            <a:extLst>
              <a:ext uri="{FF2B5EF4-FFF2-40B4-BE49-F238E27FC236}">
                <a16:creationId xmlns:a16="http://schemas.microsoft.com/office/drawing/2014/main" id="{920F5051-BC3A-414C-8860-FDB38C0EEDD6}"/>
              </a:ext>
            </a:extLst>
          </p:cNvPr>
          <p:cNvPicPr>
            <a:picLocks noChangeAspect="1"/>
          </p:cNvPicPr>
          <p:nvPr/>
        </p:nvPicPr>
        <p:blipFill>
          <a:blip r:embed="rId4"/>
          <a:stretch>
            <a:fillRect/>
          </a:stretch>
        </p:blipFill>
        <p:spPr>
          <a:xfrm>
            <a:off x="4575886" y="3201333"/>
            <a:ext cx="1309791" cy="3388827"/>
          </a:xfrm>
          <a:prstGeom prst="rect">
            <a:avLst/>
          </a:prstGeom>
        </p:spPr>
      </p:pic>
      <p:pic>
        <p:nvPicPr>
          <p:cNvPr id="8" name="Picture 7">
            <a:extLst>
              <a:ext uri="{FF2B5EF4-FFF2-40B4-BE49-F238E27FC236}">
                <a16:creationId xmlns:a16="http://schemas.microsoft.com/office/drawing/2014/main" id="{6D3FC8C1-F31A-4DFF-95DB-4E023E00B209}"/>
              </a:ext>
            </a:extLst>
          </p:cNvPr>
          <p:cNvPicPr>
            <a:picLocks noChangeAspect="1"/>
          </p:cNvPicPr>
          <p:nvPr/>
        </p:nvPicPr>
        <p:blipFill>
          <a:blip r:embed="rId5"/>
          <a:stretch>
            <a:fillRect/>
          </a:stretch>
        </p:blipFill>
        <p:spPr>
          <a:xfrm>
            <a:off x="6577785" y="2916194"/>
            <a:ext cx="1344706" cy="3572415"/>
          </a:xfrm>
          <a:prstGeom prst="rect">
            <a:avLst/>
          </a:prstGeom>
        </p:spPr>
      </p:pic>
    </p:spTree>
    <p:extLst>
      <p:ext uri="{BB962C8B-B14F-4D97-AF65-F5344CB8AC3E}">
        <p14:creationId xmlns:p14="http://schemas.microsoft.com/office/powerpoint/2010/main" val="7454169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35B682A-EB9B-437B-8E21-0627A9DB2A6B}" type="slidenum">
              <a:rPr lang="en-US" smtClean="0"/>
              <a:pPr/>
              <a:t>27</a:t>
            </a:fld>
            <a:endParaRPr lang="en-US"/>
          </a:p>
        </p:txBody>
      </p:sp>
      <p:pic>
        <p:nvPicPr>
          <p:cNvPr id="7" name="Picture 6"/>
          <p:cNvPicPr>
            <a:picLocks noChangeAspect="1"/>
          </p:cNvPicPr>
          <p:nvPr/>
        </p:nvPicPr>
        <p:blipFill>
          <a:blip r:embed="rId2"/>
          <a:stretch>
            <a:fillRect/>
          </a:stretch>
        </p:blipFill>
        <p:spPr>
          <a:xfrm>
            <a:off x="6610185" y="3102329"/>
            <a:ext cx="1905165" cy="3254022"/>
          </a:xfrm>
          <a:prstGeom prst="rect">
            <a:avLst/>
          </a:prstGeom>
        </p:spPr>
      </p:pic>
      <p:pic>
        <p:nvPicPr>
          <p:cNvPr id="2" name="Picture 1">
            <a:extLst>
              <a:ext uri="{FF2B5EF4-FFF2-40B4-BE49-F238E27FC236}">
                <a16:creationId xmlns:a16="http://schemas.microsoft.com/office/drawing/2014/main" id="{52FF94A5-080E-7585-9057-C60AB8A35DD9}"/>
              </a:ext>
            </a:extLst>
          </p:cNvPr>
          <p:cNvPicPr>
            <a:picLocks noChangeAspect="1"/>
          </p:cNvPicPr>
          <p:nvPr/>
        </p:nvPicPr>
        <p:blipFill>
          <a:blip r:embed="rId3"/>
          <a:stretch>
            <a:fillRect/>
          </a:stretch>
        </p:blipFill>
        <p:spPr>
          <a:xfrm>
            <a:off x="495181" y="990600"/>
            <a:ext cx="4077269" cy="461074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3250</TotalTime>
  <Words>1993</Words>
  <Application>Microsoft Office PowerPoint</Application>
  <PresentationFormat>On-screen Show (4:3)</PresentationFormat>
  <Paragraphs>183</Paragraphs>
  <Slides>27</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Adobe Garamond Pro Bold</vt:lpstr>
      <vt:lpstr>Arial</vt:lpstr>
      <vt:lpstr>Bell MT</vt:lpstr>
      <vt:lpstr>Bookman Old Style</vt:lpstr>
      <vt:lpstr>Calibri</vt:lpstr>
      <vt:lpstr>Calibri Light</vt:lpstr>
      <vt:lpstr>Roboto</vt:lpstr>
      <vt:lpstr>Rockwell</vt:lpstr>
      <vt:lpstr>Source Sans Pro Black</vt:lpstr>
      <vt:lpstr>Times New Roman</vt:lpstr>
      <vt:lpstr>Office Theme</vt:lpstr>
      <vt:lpstr>PowerPoint Presentation</vt:lpstr>
      <vt:lpstr>Reading List: </vt:lpstr>
      <vt:lpstr>PowerPoint Presentation</vt:lpstr>
      <vt:lpstr>Introduction to Programmable Logic Controllers (PLCs)</vt:lpstr>
      <vt:lpstr>What is a PLC?</vt:lpstr>
      <vt:lpstr>PLC Definition</vt:lpstr>
      <vt:lpstr>PowerPoint Presentation</vt:lpstr>
      <vt:lpstr>PowerPoint Presentation</vt:lpstr>
      <vt:lpstr>History of PLC</vt:lpstr>
      <vt:lpstr>Invention of the First PLC</vt:lpstr>
      <vt:lpstr>PowerPoint Presentation</vt:lpstr>
      <vt:lpstr>PowerPoint Presentation</vt:lpstr>
      <vt:lpstr>PowerPoint Presentation</vt:lpstr>
      <vt:lpstr>PowerPoint Presentation</vt:lpstr>
      <vt:lpstr>PLC Application</vt:lpstr>
      <vt:lpstr>PLC Application</vt:lpstr>
      <vt:lpstr>Types of PLCs by Size</vt:lpstr>
      <vt:lpstr>Types of PLCs by Size</vt:lpstr>
      <vt:lpstr>Types of PLCs by Size</vt:lpstr>
      <vt:lpstr>Types of PLCs by Size</vt:lpstr>
      <vt:lpstr>Types of PLCs by Size</vt:lpstr>
      <vt:lpstr>Key Factors for Classification</vt:lpstr>
      <vt:lpstr>PLC programming equipment</vt:lpstr>
      <vt:lpstr>Essential Equipment and Tools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Masoud Kamoleka</dc:creator>
  <cp:lastModifiedBy>Lord SIMASIA</cp:lastModifiedBy>
  <cp:revision>48</cp:revision>
  <dcterms:created xsi:type="dcterms:W3CDTF">2025-04-06T07:00:52Z</dcterms:created>
  <dcterms:modified xsi:type="dcterms:W3CDTF">2026-04-17T09:50:35Z</dcterms:modified>
</cp:coreProperties>
</file>