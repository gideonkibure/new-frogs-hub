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389" r:id="rId2"/>
    <p:sldId id="256" r:id="rId3"/>
    <p:sldId id="257" r:id="rId4"/>
    <p:sldId id="390" r:id="rId5"/>
    <p:sldId id="396" r:id="rId6"/>
    <p:sldId id="397" r:id="rId7"/>
    <p:sldId id="398" r:id="rId8"/>
    <p:sldId id="399" r:id="rId9"/>
    <p:sldId id="392" r:id="rId10"/>
    <p:sldId id="391" r:id="rId11"/>
    <p:sldId id="394" r:id="rId12"/>
    <p:sldId id="393" r:id="rId13"/>
    <p:sldId id="395" r:id="rId14"/>
    <p:sldId id="388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16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F4C9-1674-4485-8B16-0552F6CCD692}" type="datetimeFigureOut">
              <a:rPr lang="en-TZ" smtClean="0"/>
              <a:t>20/04/2026</a:t>
            </a:fld>
            <a:endParaRPr lang="en-T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4A0B-6DD3-492D-9C7D-5FE5A4F8FEDB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1754556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F4C9-1674-4485-8B16-0552F6CCD692}" type="datetimeFigureOut">
              <a:rPr lang="en-TZ" smtClean="0"/>
              <a:t>20/04/2026</a:t>
            </a:fld>
            <a:endParaRPr lang="en-T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4A0B-6DD3-492D-9C7D-5FE5A4F8FEDB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679596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F4C9-1674-4485-8B16-0552F6CCD692}" type="datetimeFigureOut">
              <a:rPr lang="en-TZ" smtClean="0"/>
              <a:t>20/04/2026</a:t>
            </a:fld>
            <a:endParaRPr lang="en-T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4A0B-6DD3-492D-9C7D-5FE5A4F8FEDB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8119956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F4C9-1674-4485-8B16-0552F6CCD692}" type="datetimeFigureOut">
              <a:rPr lang="en-TZ" smtClean="0"/>
              <a:t>20/04/2026</a:t>
            </a:fld>
            <a:endParaRPr lang="en-T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4A0B-6DD3-492D-9C7D-5FE5A4F8FEDB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694077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F4C9-1674-4485-8B16-0552F6CCD692}" type="datetimeFigureOut">
              <a:rPr lang="en-TZ" smtClean="0"/>
              <a:t>20/04/2026</a:t>
            </a:fld>
            <a:endParaRPr lang="en-TZ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4A0B-6DD3-492D-9C7D-5FE5A4F8FEDB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915960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F4C9-1674-4485-8B16-0552F6CCD692}" type="datetimeFigureOut">
              <a:rPr lang="en-TZ" smtClean="0"/>
              <a:t>20/04/2026</a:t>
            </a:fld>
            <a:endParaRPr lang="en-TZ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4A0B-6DD3-492D-9C7D-5FE5A4F8FEDB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2791759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F4C9-1674-4485-8B16-0552F6CCD692}" type="datetimeFigureOut">
              <a:rPr lang="en-TZ" smtClean="0"/>
              <a:t>20/04/2026</a:t>
            </a:fld>
            <a:endParaRPr lang="en-TZ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4A0B-6DD3-492D-9C7D-5FE5A4F8FEDB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4062111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F4C9-1674-4485-8B16-0552F6CCD692}" type="datetimeFigureOut">
              <a:rPr lang="en-TZ" smtClean="0"/>
              <a:t>20/04/2026</a:t>
            </a:fld>
            <a:endParaRPr lang="en-T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4A0B-6DD3-492D-9C7D-5FE5A4F8FEDB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1491666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F4C9-1674-4485-8B16-0552F6CCD692}" type="datetimeFigureOut">
              <a:rPr lang="en-TZ" smtClean="0"/>
              <a:t>20/04/2026</a:t>
            </a:fld>
            <a:endParaRPr lang="en-T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4A0B-6DD3-492D-9C7D-5FE5A4F8FEDB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434541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F4C9-1674-4485-8B16-0552F6CCD692}" type="datetimeFigureOut">
              <a:rPr lang="en-TZ" smtClean="0"/>
              <a:t>20/04/2026</a:t>
            </a:fld>
            <a:endParaRPr lang="en-T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4A0B-6DD3-492D-9C7D-5FE5A4F8FEDB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204539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1F4C9-1674-4485-8B16-0552F6CCD692}" type="datetimeFigureOut">
              <a:rPr lang="en-TZ" smtClean="0"/>
              <a:t>20/04/2026</a:t>
            </a:fld>
            <a:endParaRPr lang="en-T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T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84A0B-6DD3-492D-9C7D-5FE5A4F8FEDB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3440235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1F4C9-1674-4485-8B16-0552F6CCD692}" type="datetimeFigureOut">
              <a:rPr lang="en-TZ" smtClean="0"/>
              <a:t>20/04/2026</a:t>
            </a:fld>
            <a:endParaRPr lang="en-TZ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TZ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284A0B-6DD3-492D-9C7D-5FE5A4F8FEDB}" type="slidenum">
              <a:rPr lang="en-TZ" smtClean="0"/>
              <a:t>‹#›</a:t>
            </a:fld>
            <a:endParaRPr lang="en-TZ"/>
          </a:p>
        </p:txBody>
      </p:sp>
    </p:spTree>
    <p:extLst>
      <p:ext uri="{BB962C8B-B14F-4D97-AF65-F5344CB8AC3E}">
        <p14:creationId xmlns:p14="http://schemas.microsoft.com/office/powerpoint/2010/main" val="280045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 txBox="1">
            <a:spLocks/>
          </p:cNvSpPr>
          <p:nvPr/>
        </p:nvSpPr>
        <p:spPr>
          <a:xfrm>
            <a:off x="693737" y="117479"/>
            <a:ext cx="7772400" cy="507694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 defTabSz="685800">
              <a:lnSpc>
                <a:spcPct val="70000"/>
              </a:lnSpc>
              <a:spcBef>
                <a:spcPct val="0"/>
              </a:spcBef>
              <a:defRPr/>
            </a:pP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obe Garamond Pro Bold" panose="02020702060506020403" pitchFamily="18" charset="0"/>
                <a:ea typeface="+mj-ea"/>
                <a:cs typeface="+mj-cs"/>
              </a:rPr>
              <a:t>MBEYA UNIVERSITY OF SCIENCE AND TECHNOLOGY</a:t>
            </a: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obe Garamond Pro Bold" panose="02020702060506020403" pitchFamily="18" charset="0"/>
                <a:ea typeface="+mj-ea"/>
                <a:cs typeface="+mj-cs"/>
              </a:rPr>
            </a:b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obe Garamond Pro Bold" panose="02020702060506020403" pitchFamily="18" charset="0"/>
                <a:ea typeface="+mj-ea"/>
                <a:cs typeface="+mj-cs"/>
              </a:rPr>
            </a:b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obe Garamond Pro Bold" panose="02020702060506020403" pitchFamily="18" charset="0"/>
                <a:ea typeface="+mj-ea"/>
                <a:cs typeface="+mj-cs"/>
              </a:rPr>
            </a:b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obe Garamond Pro Bold" panose="02020702060506020403" pitchFamily="18" charset="0"/>
                <a:ea typeface="+mj-ea"/>
                <a:cs typeface="+mj-cs"/>
              </a:rPr>
            </a:br>
            <a:b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obe Garamond Pro Bold" panose="02020702060506020403" pitchFamily="18" charset="0"/>
                <a:ea typeface="+mj-ea"/>
                <a:cs typeface="+mj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obe Garamond Pro Bold" panose="02020702060506020403" pitchFamily="18" charset="0"/>
                <a:ea typeface="+mj-ea"/>
                <a:cs typeface="+mj-cs"/>
              </a:rPr>
              <a:t>COLLEGE OF ENGINEERING AND TECHNOLOGY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obe Garamond Pro Bold" panose="02020702060506020403" pitchFamily="18" charset="0"/>
                <a:ea typeface="+mj-ea"/>
                <a:cs typeface="+mj-cs"/>
              </a:rPr>
            </a:b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obe Garamond Pro Bold" panose="02020702060506020403" pitchFamily="18" charset="0"/>
                <a:ea typeface="+mj-ea"/>
                <a:cs typeface="+mj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obe Garamond Pro Bold" panose="02020702060506020403" pitchFamily="18" charset="0"/>
                <a:ea typeface="+mj-ea"/>
                <a:cs typeface="+mj-cs"/>
              </a:rPr>
              <a:t>DEPARTMENT OF MECHANICAL AND INDUSTRIAL ENGINEERING</a:t>
            </a: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obe Garamond Pro Bold" panose="02020702060506020403" pitchFamily="18" charset="0"/>
                <a:ea typeface="+mj-ea"/>
                <a:cs typeface="+mj-cs"/>
              </a:rPr>
            </a:b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obe Garamond Pro Bold" panose="02020702060506020403" pitchFamily="18" charset="0"/>
                <a:ea typeface="+mj-ea"/>
                <a:cs typeface="+mj-cs"/>
              </a:rPr>
            </a:br>
            <a:b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obe Garamond Pro Bold" panose="02020702060506020403" pitchFamily="18" charset="0"/>
                <a:ea typeface="+mj-ea"/>
                <a:cs typeface="+mj-cs"/>
              </a:rPr>
            </a:b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obe Garamond Pro Bold" panose="02020702060506020403" pitchFamily="18" charset="0"/>
                <a:ea typeface="+mj-ea"/>
                <a:cs typeface="+mj-cs"/>
              </a:rPr>
              <a:t>MODULE_ME </a:t>
            </a:r>
            <a:r>
              <a:rPr lang="en-US" sz="2000" dirty="0">
                <a:latin typeface="Adobe Garamond Pro Bold" panose="02020702060506020403" pitchFamily="18" charset="0"/>
                <a:ea typeface="+mj-ea"/>
                <a:cs typeface="+mj-cs"/>
              </a:rPr>
              <a:t>6215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obe Garamond Pro Bold" panose="02020702060506020403" pitchFamily="18" charset="0"/>
                <a:ea typeface="+mj-ea"/>
                <a:cs typeface="+mj-cs"/>
              </a:rPr>
              <a:t>: </a:t>
            </a:r>
            <a:r>
              <a:rPr lang="en-US" sz="2400" dirty="0">
                <a:latin typeface="Adobe Garamond Pro Bold" panose="02020702060506020403" pitchFamily="18" charset="0"/>
                <a:ea typeface="+mj-ea"/>
                <a:cs typeface="+mj-cs"/>
              </a:rPr>
              <a:t>Programmable Logical Controller I</a:t>
            </a:r>
            <a:endParaRPr lang="en-TZ" sz="2400" dirty="0">
              <a:latin typeface="Adobe Garamond Pro Bold" panose="02020702060506020403" pitchFamily="18" charset="0"/>
              <a:ea typeface="+mj-ea"/>
              <a:cs typeface="+mj-cs"/>
            </a:endParaRPr>
          </a:p>
          <a:p>
            <a:pPr marL="0" marR="0" lvl="0" indent="0" algn="ctr" defTabSz="685800" rtl="0" eaLnBrk="1" fontAlgn="auto" latinLnBrk="0" hangingPunct="1">
              <a:lnSpc>
                <a:spcPct val="7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2000" dirty="0">
              <a:latin typeface="Adobe Garamond Pro Bold" panose="02020702060506020403" pitchFamily="18" charset="0"/>
              <a:ea typeface="+mj-ea"/>
              <a:cs typeface="+mj-cs"/>
            </a:endParaRPr>
          </a:p>
          <a:p>
            <a:pPr marL="0" marR="0" lvl="0" indent="0" algn="ctr" defTabSz="685800" rtl="0" eaLnBrk="1" fontAlgn="auto" latinLnBrk="0" hangingPunct="1">
              <a:lnSpc>
                <a:spcPct val="7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obe Garamond Pro Bold" panose="02020702060506020403" pitchFamily="18" charset="0"/>
                <a:ea typeface="+mj-ea"/>
                <a:cs typeface="+mj-cs"/>
              </a:rPr>
              <a:t>COURSE CREDIT:</a:t>
            </a:r>
            <a:r>
              <a:rPr kumimoji="0" lang="en-US" sz="2000" b="1" i="0" u="none" strike="noStrike" kern="1200" cap="none" spc="0" normalizeH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dobe Garamond Pro Bold" panose="02020702060506020403" pitchFamily="18" charset="0"/>
                <a:ea typeface="+mj-ea"/>
                <a:cs typeface="+mj-cs"/>
              </a:rPr>
              <a:t> 07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dobe Garamond Pro Bold" panose="02020702060506020403" pitchFamily="18" charset="0"/>
              <a:ea typeface="+mj-ea"/>
              <a:cs typeface="+mj-cs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352800" y="914400"/>
            <a:ext cx="1981200" cy="136189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048F92EF-81CA-FFF8-7CEA-80A5C0B947CC}"/>
              </a:ext>
            </a:extLst>
          </p:cNvPr>
          <p:cNvSpPr txBox="1"/>
          <p:nvPr/>
        </p:nvSpPr>
        <p:spPr>
          <a:xfrm>
            <a:off x="-433389" y="6249403"/>
            <a:ext cx="30861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Source Sans Pro Black" panose="020B0803030403020204" pitchFamily="34" charset="0"/>
                <a:ea typeface="Source Sans Pro Black" panose="020B0803030403020204" pitchFamily="34" charset="0"/>
                <a:cs typeface="+mj-cs"/>
              </a:rPr>
              <a:t>Lecture 2</a:t>
            </a:r>
            <a:endParaRPr lang="en-GB" sz="2800" dirty="0">
              <a:solidFill>
                <a:srgbClr val="C00000"/>
              </a:solidFill>
              <a:latin typeface="Source Sans Pro Black" panose="020B0803030403020204" pitchFamily="34" charset="0"/>
              <a:ea typeface="Source Sans Pro Black" panose="020B0803030403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D1DAFC-66C4-42A5-BBF3-2983D82AF3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4370336"/>
            <a:ext cx="3350984" cy="2289457"/>
          </a:xfrm>
          <a:prstGeom prst="rect">
            <a:avLst/>
          </a:prstGeom>
        </p:spPr>
      </p:pic>
      <p:sp>
        <p:nvSpPr>
          <p:cNvPr id="13" name="Subtitle 2">
            <a:extLst>
              <a:ext uri="{FF2B5EF4-FFF2-40B4-BE49-F238E27FC236}">
                <a16:creationId xmlns:a16="http://schemas.microsoft.com/office/drawing/2014/main" id="{BE840FD5-F678-42F1-9689-91B3E0C63F54}"/>
              </a:ext>
            </a:extLst>
          </p:cNvPr>
          <p:cNvSpPr>
            <a:spLocks noGrp="1"/>
          </p:cNvSpPr>
          <p:nvPr/>
        </p:nvSpPr>
        <p:spPr bwMode="auto">
          <a:xfrm>
            <a:off x="182941" y="4707867"/>
            <a:ext cx="3550388" cy="11278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FontTx/>
              <a:buNone/>
              <a:defRPr sz="210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n-lt"/>
                <a:ea typeface="+mn-ea"/>
                <a:cs typeface="+mn-cs"/>
              </a:defRPr>
            </a:lvl1pPr>
            <a:lvl2pPr marL="557213" indent="-214313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100">
                <a:solidFill>
                  <a:schemeClr val="tx1"/>
                </a:solidFill>
                <a:latin typeface="+mn-lt"/>
              </a:defRPr>
            </a:lvl2pPr>
            <a:lvl3pPr marL="8572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•"/>
              <a:defRPr sz="1800">
                <a:solidFill>
                  <a:schemeClr val="tx1"/>
                </a:solidFill>
                <a:latin typeface="+mn-lt"/>
              </a:defRPr>
            </a:lvl3pPr>
            <a:lvl4pPr marL="12001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1500">
                <a:solidFill>
                  <a:schemeClr val="tx1"/>
                </a:solidFill>
                <a:latin typeface="+mn-lt"/>
              </a:defRPr>
            </a:lvl4pPr>
            <a:lvl5pPr marL="15430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5pPr>
            <a:lvl6pPr marL="18859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6pPr>
            <a:lvl7pPr marL="22288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7pPr>
            <a:lvl8pPr marL="25717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8pPr>
            <a:lvl9pPr marL="2914650" indent="-17145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1500">
                <a:solidFill>
                  <a:schemeClr val="tx1"/>
                </a:solidFill>
                <a:latin typeface="+mn-lt"/>
              </a:defRPr>
            </a:lvl9pPr>
          </a:lstStyle>
          <a:p>
            <a:pPr algn="l"/>
            <a:r>
              <a:rPr lang="en-US" sz="11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Prepared by;</a:t>
            </a:r>
          </a:p>
          <a:p>
            <a:pPr algn="l"/>
            <a:r>
              <a:rPr lang="en-US" sz="11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Dr. Masoud Kamoleka Mlela</a:t>
            </a:r>
          </a:p>
          <a:p>
            <a:pPr lvl="1"/>
            <a:r>
              <a:rPr lang="en-US" sz="11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BSc. Electromechanical Engineering (UDSM)</a:t>
            </a:r>
          </a:p>
          <a:p>
            <a:pPr lvl="1"/>
            <a:r>
              <a:rPr lang="en-US" sz="11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MSc, Renewable Energy (UDSM)</a:t>
            </a:r>
          </a:p>
          <a:p>
            <a:pPr lvl="1"/>
            <a:r>
              <a:rPr lang="en-US" sz="11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PhD, Mechanical Engineering (HEU-CN).</a:t>
            </a:r>
          </a:p>
          <a:p>
            <a:pPr lvl="1"/>
            <a:endParaRPr lang="en-US" sz="1100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1383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88B5A-D7FB-4AC9-BF0E-34ABA48FB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2"/>
            <a:ext cx="7772400" cy="312183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Rockwell" panose="02060603020205020403" pitchFamily="18" charset="0"/>
              </a:rPr>
              <a:t>Various INPUT /OUTPUT Devices and its interfacing with PLC</a:t>
            </a:r>
            <a:endParaRPr lang="en-TZ" sz="4000" b="1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71277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622D17-5E85-4D07-8EEE-B144AA7A7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741872"/>
            <a:ext cx="7886700" cy="5435091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dirty="0">
                <a:latin typeface="Rockwell" panose="02060603020205020403" pitchFamily="18" charset="0"/>
              </a:rPr>
              <a:t>Programmable Logic Controllers (PLCs) interact with industrial processes through input/output (I/O) devices, which monitor conditions and execute control actions. Below is a detailed breakdown of common I/O devices, their specifications, and interfacing methods with PLCs.</a:t>
            </a:r>
            <a:endParaRPr lang="en-TZ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9387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D698A-3EB8-44F6-A402-098A839FF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3065"/>
            <a:ext cx="7886700" cy="541538"/>
          </a:xfrm>
        </p:spPr>
        <p:txBody>
          <a:bodyPr>
            <a:normAutofit fontScale="90000"/>
          </a:bodyPr>
          <a:lstStyle/>
          <a:p>
            <a:r>
              <a:rPr lang="en-GB" b="1" dirty="0">
                <a:latin typeface="Rockwell" panose="02060603020205020403" pitchFamily="18" charset="0"/>
              </a:rPr>
              <a:t>Input Devices</a:t>
            </a:r>
            <a:endParaRPr lang="en-TZ" b="1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21F17-5CBD-4B70-AA72-EB3213CC9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61134"/>
            <a:ext cx="8089222" cy="5783801"/>
          </a:xfrm>
        </p:spPr>
        <p:txBody>
          <a:bodyPr>
            <a:no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3200" b="1" dirty="0">
                <a:solidFill>
                  <a:srgbClr val="FF0000"/>
                </a:solidFill>
                <a:latin typeface="Rockwell" panose="02060603020205020403" pitchFamily="18" charset="0"/>
              </a:rPr>
              <a:t>Switches</a:t>
            </a:r>
          </a:p>
          <a:p>
            <a:pPr algn="just"/>
            <a:r>
              <a:rPr lang="en-US" sz="2400" dirty="0">
                <a:latin typeface="Rockwell" panose="02060603020205020403" pitchFamily="18" charset="0"/>
              </a:rPr>
              <a:t>Push Button Switches: Momentary contacts for manual control (e.g., start/stop). Typically, 24VDC digital inputs (DIs) wired to PLC DI modules.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D2D1BA7-5497-43D8-9082-4C32C17286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5597" y="2881126"/>
            <a:ext cx="2619741" cy="33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51869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D698A-3EB8-44F6-A402-098A839FF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3065"/>
            <a:ext cx="7886700" cy="541538"/>
          </a:xfrm>
        </p:spPr>
        <p:txBody>
          <a:bodyPr>
            <a:normAutofit fontScale="90000"/>
          </a:bodyPr>
          <a:lstStyle/>
          <a:p>
            <a:r>
              <a:rPr lang="en-GB" b="1" dirty="0">
                <a:latin typeface="Rockwell" panose="02060603020205020403" pitchFamily="18" charset="0"/>
              </a:rPr>
              <a:t>Input Devices</a:t>
            </a:r>
            <a:endParaRPr lang="en-TZ" b="1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21F17-5CBD-4B70-AA72-EB3213CC9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61134"/>
            <a:ext cx="8089222" cy="57838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200" b="1" dirty="0">
                <a:solidFill>
                  <a:srgbClr val="FF0000"/>
                </a:solidFill>
                <a:latin typeface="Rockwell" panose="02060603020205020403" pitchFamily="18" charset="0"/>
              </a:rPr>
              <a:t>Switches</a:t>
            </a:r>
          </a:p>
          <a:p>
            <a:pPr algn="just"/>
            <a:r>
              <a:rPr lang="en-US" sz="2400" dirty="0">
                <a:latin typeface="Rockwell" panose="02060603020205020403" pitchFamily="18" charset="0"/>
              </a:rPr>
              <a:t>Toggle Switches: Maintained contacts for manual state selection. Often passive DIs requiring external power.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6C1092-2868-4DB5-BF64-55C6312D8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586069"/>
            <a:ext cx="3866537" cy="31045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C490FF-C14F-4764-8B89-9418C9DCA1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9647" y="2761807"/>
            <a:ext cx="2143424" cy="3038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5679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D698A-3EB8-44F6-A402-098A839FF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3065"/>
            <a:ext cx="7886700" cy="541538"/>
          </a:xfrm>
        </p:spPr>
        <p:txBody>
          <a:bodyPr>
            <a:normAutofit fontScale="90000"/>
          </a:bodyPr>
          <a:lstStyle/>
          <a:p>
            <a:r>
              <a:rPr lang="en-GB" b="1" dirty="0">
                <a:latin typeface="Rockwell" panose="02060603020205020403" pitchFamily="18" charset="0"/>
              </a:rPr>
              <a:t>Input Devices</a:t>
            </a:r>
            <a:endParaRPr lang="en-TZ" b="1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21F17-5CBD-4B70-AA72-EB3213CC9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61134"/>
            <a:ext cx="8089222" cy="57838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200" b="1" dirty="0">
                <a:solidFill>
                  <a:srgbClr val="FF0000"/>
                </a:solidFill>
                <a:latin typeface="Rockwell" panose="02060603020205020403" pitchFamily="18" charset="0"/>
              </a:rPr>
              <a:t>Switches</a:t>
            </a:r>
          </a:p>
          <a:p>
            <a:pPr algn="just"/>
            <a:r>
              <a:rPr lang="en-US" sz="2400" dirty="0">
                <a:latin typeface="Rockwell" panose="02060603020205020403" pitchFamily="18" charset="0"/>
              </a:rPr>
              <a:t>Proximity Switches: Detect object presence without contact. Active DIs (24VDC) with PNP/NPN output configurations.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B9DB849-BA4E-4D85-AEA5-F569713057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9829" y="3080551"/>
            <a:ext cx="5681624" cy="1793290"/>
          </a:xfrm>
          <a:prstGeom prst="rect">
            <a:avLst/>
          </a:prstGeom>
        </p:spPr>
      </p:pic>
      <p:pic>
        <p:nvPicPr>
          <p:cNvPr id="1026" name="Picture 2" descr="https://www.electroniclinic.com/wp-content/uploads/2020/10/Inductive-proximity-sensor-working.jpg">
            <a:extLst>
              <a:ext uri="{FF2B5EF4-FFF2-40B4-BE49-F238E27FC236}">
                <a16:creationId xmlns:a16="http://schemas.microsoft.com/office/drawing/2014/main" id="{6AE64753-834C-4134-97B3-EDFD0C87FD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127" y="2602312"/>
            <a:ext cx="3142695" cy="26434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97799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D698A-3EB8-44F6-A402-098A839FF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3065"/>
            <a:ext cx="7886700" cy="541538"/>
          </a:xfrm>
        </p:spPr>
        <p:txBody>
          <a:bodyPr>
            <a:normAutofit fontScale="90000"/>
          </a:bodyPr>
          <a:lstStyle/>
          <a:p>
            <a:r>
              <a:rPr lang="en-GB" b="1" dirty="0">
                <a:latin typeface="Rockwell" panose="02060603020205020403" pitchFamily="18" charset="0"/>
              </a:rPr>
              <a:t>Input Devices</a:t>
            </a:r>
            <a:endParaRPr lang="en-TZ" b="1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21F17-5CBD-4B70-AA72-EB3213CC9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61134"/>
            <a:ext cx="8089222" cy="57838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200" b="1" dirty="0">
                <a:solidFill>
                  <a:srgbClr val="FF0000"/>
                </a:solidFill>
                <a:latin typeface="Rockwell" panose="02060603020205020403" pitchFamily="18" charset="0"/>
              </a:rPr>
              <a:t>Switches</a:t>
            </a:r>
          </a:p>
          <a:p>
            <a:pPr algn="just"/>
            <a:r>
              <a:rPr lang="en-US" sz="2400" dirty="0">
                <a:latin typeface="Rockwell" panose="02060603020205020403" pitchFamily="18" charset="0"/>
              </a:rPr>
              <a:t>Photo Switches: Use light beams for object detection. High-speed digital inputs (up to 10kHz) for counting applications.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1601F4F-613D-4A46-A4F5-079F468E0D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790" y="2544665"/>
            <a:ext cx="5015878" cy="4188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84745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D698A-3EB8-44F6-A402-098A839FF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3065"/>
            <a:ext cx="7886700" cy="541538"/>
          </a:xfrm>
        </p:spPr>
        <p:txBody>
          <a:bodyPr>
            <a:normAutofit fontScale="90000"/>
          </a:bodyPr>
          <a:lstStyle/>
          <a:p>
            <a:r>
              <a:rPr lang="en-GB" b="1" dirty="0">
                <a:latin typeface="Rockwell" panose="02060603020205020403" pitchFamily="18" charset="0"/>
              </a:rPr>
              <a:t>Input Devices</a:t>
            </a:r>
            <a:endParaRPr lang="en-TZ" b="1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21F17-5CBD-4B70-AA72-EB3213CC9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61134"/>
            <a:ext cx="8089222" cy="5783801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en-US" sz="3200" b="1" dirty="0">
                <a:solidFill>
                  <a:srgbClr val="FF0000"/>
                </a:solidFill>
                <a:latin typeface="Rockwell" panose="02060603020205020403" pitchFamily="18" charset="0"/>
              </a:rPr>
              <a:t>Switches</a:t>
            </a:r>
          </a:p>
          <a:p>
            <a:pPr algn="just"/>
            <a:r>
              <a:rPr lang="en-US" sz="2400" dirty="0">
                <a:latin typeface="Rockwell" panose="02060603020205020403" pitchFamily="18" charset="0"/>
              </a:rPr>
              <a:t>Temperature/Pressure/Level/Flow Switches: Provide binary signals (ON/OFF) based on threshold conditions. Active DIs with built-in signal conditioning</a:t>
            </a:r>
            <a:endParaRPr lang="en-TZ" sz="24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769192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D698A-3EB8-44F6-A402-098A839FF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3065"/>
            <a:ext cx="7886700" cy="541538"/>
          </a:xfrm>
        </p:spPr>
        <p:txBody>
          <a:bodyPr>
            <a:normAutofit fontScale="90000"/>
          </a:bodyPr>
          <a:lstStyle/>
          <a:p>
            <a:r>
              <a:rPr lang="en-GB" b="1" dirty="0">
                <a:latin typeface="Rockwell" panose="02060603020205020403" pitchFamily="18" charset="0"/>
              </a:rPr>
              <a:t>Input Devices</a:t>
            </a:r>
            <a:endParaRPr lang="en-TZ" b="1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21F17-5CBD-4B70-AA72-EB3213CC9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61134"/>
            <a:ext cx="8089222" cy="5783801"/>
          </a:xfrm>
        </p:spPr>
        <p:txBody>
          <a:bodyPr>
            <a:noAutofit/>
          </a:bodyPr>
          <a:lstStyle/>
          <a:p>
            <a:pPr marL="514350" indent="-514350" algn="just">
              <a:buFont typeface="+mj-lt"/>
              <a:buAutoNum type="arabicPeriod" startAt="2"/>
            </a:pPr>
            <a:r>
              <a:rPr lang="en-US" sz="3200" b="1" dirty="0">
                <a:solidFill>
                  <a:srgbClr val="FF0000"/>
                </a:solidFill>
                <a:latin typeface="Rockwell" panose="02060603020205020403" pitchFamily="18" charset="0"/>
              </a:rPr>
              <a:t>Sensors and Transmitters</a:t>
            </a:r>
          </a:p>
          <a:p>
            <a:pPr algn="just"/>
            <a:r>
              <a:rPr lang="en-US" sz="2400" dirty="0">
                <a:latin typeface="Rockwell" panose="02060603020205020403" pitchFamily="18" charset="0"/>
              </a:rPr>
              <a:t>Temperature Sensors (RTDs, Thermocouples): Generate analog signals (e.g., 4–20mA) for precise monitoring. Require analog input (AI) modules with signal isolation.</a:t>
            </a:r>
          </a:p>
          <a:p>
            <a:pPr algn="just"/>
            <a:r>
              <a:rPr lang="en-US" sz="2400" dirty="0">
                <a:latin typeface="Rockwell" panose="02060603020205020403" pitchFamily="18" charset="0"/>
              </a:rPr>
              <a:t>Pressure/Level Transmitters: Convert physical parameters to analog signals (0–10V or 4–20mA). Connected to PLC AI modules for continuous monitoring</a:t>
            </a:r>
          </a:p>
          <a:p>
            <a:pPr marL="514350" indent="-514350" algn="just">
              <a:buFont typeface="+mj-lt"/>
              <a:buAutoNum type="arabicPeriod" startAt="3"/>
            </a:pPr>
            <a:r>
              <a:rPr lang="en-US" sz="3200" b="1" dirty="0">
                <a:solidFill>
                  <a:srgbClr val="FF0000"/>
                </a:solidFill>
                <a:latin typeface="Rockwell" panose="02060603020205020403" pitchFamily="18" charset="0"/>
              </a:rPr>
              <a:t>Motor Starters</a:t>
            </a:r>
          </a:p>
          <a:p>
            <a:pPr algn="just"/>
            <a:r>
              <a:rPr lang="en-US" sz="2400" dirty="0">
                <a:latin typeface="Rockwell" panose="02060603020205020403" pitchFamily="18" charset="0"/>
              </a:rPr>
              <a:t>Provide status feedback (e.g., overload) via auxiliary contacts. These contacts are wired as DIs to monitor motor state</a:t>
            </a:r>
            <a:endParaRPr lang="en-TZ" sz="24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95587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D698A-3EB8-44F6-A402-098A839FF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3065"/>
            <a:ext cx="7886700" cy="541538"/>
          </a:xfrm>
        </p:spPr>
        <p:txBody>
          <a:bodyPr>
            <a:normAutofit fontScale="90000"/>
          </a:bodyPr>
          <a:lstStyle/>
          <a:p>
            <a:r>
              <a:rPr lang="en-GB" b="1" dirty="0">
                <a:latin typeface="Rockwell" panose="02060603020205020403" pitchFamily="18" charset="0"/>
              </a:rPr>
              <a:t>Output Devices</a:t>
            </a:r>
            <a:endParaRPr lang="en-TZ" b="1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21F17-5CBD-4B70-AA72-EB3213CC9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61134"/>
            <a:ext cx="8089222" cy="5783801"/>
          </a:xfrm>
        </p:spPr>
        <p:txBody>
          <a:bodyPr>
            <a:no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3200" b="1" dirty="0">
                <a:solidFill>
                  <a:srgbClr val="FF0000"/>
                </a:solidFill>
                <a:latin typeface="Rockwell" panose="02060603020205020403" pitchFamily="18" charset="0"/>
              </a:rPr>
              <a:t>Relays</a:t>
            </a:r>
          </a:p>
          <a:p>
            <a:pPr algn="just"/>
            <a:r>
              <a:rPr lang="en-US" sz="2400" dirty="0">
                <a:latin typeface="Rockwell" panose="02060603020205020403" pitchFamily="18" charset="0"/>
              </a:rPr>
              <a:t>Electromagnetic Control Relays: Switch AC/DC loads using PLC digital outputs (DOs). Common ratings: 10A at 250VAC. Relay outputs (dry contacts) allow mixed voltages but have slower response (~10ms).</a:t>
            </a:r>
          </a:p>
          <a:p>
            <a:pPr algn="just"/>
            <a:r>
              <a:rPr lang="en-US" sz="2400" dirty="0">
                <a:latin typeface="Rockwell" panose="02060603020205020403" pitchFamily="18" charset="0"/>
              </a:rPr>
              <a:t>Latching Relays: Maintain state without continuous power. Programmed using OTL (Latch) and OTU (Unlatch) PLC instructions.</a:t>
            </a:r>
          </a:p>
          <a:p>
            <a:pPr marL="514350" indent="-514350" algn="just">
              <a:buFont typeface="+mj-lt"/>
              <a:buAutoNum type="arabicPeriod" startAt="2"/>
            </a:pPr>
            <a:r>
              <a:rPr lang="en-US" sz="3200" b="1" dirty="0">
                <a:solidFill>
                  <a:srgbClr val="FF0000"/>
                </a:solidFill>
                <a:latin typeface="Rockwell" panose="02060603020205020403" pitchFamily="18" charset="0"/>
              </a:rPr>
              <a:t>Contactors</a:t>
            </a:r>
          </a:p>
          <a:p>
            <a:pPr algn="just"/>
            <a:r>
              <a:rPr lang="en-US" sz="2400" dirty="0">
                <a:latin typeface="Rockwell" panose="02060603020205020403" pitchFamily="18" charset="0"/>
              </a:rPr>
              <a:t>High-current switches for motors/pumps. Controlled by PLC DOs (24VDC) energizing the contactor coil. Auxiliary contacts provide feedback to PLC inputs.</a:t>
            </a:r>
          </a:p>
          <a:p>
            <a:pPr lvl="1" algn="just">
              <a:buFont typeface="Wingdings" panose="05000000000000000000" pitchFamily="2" charset="2"/>
              <a:buChar char="ü"/>
            </a:pPr>
            <a:r>
              <a:rPr lang="en-US" sz="2000" dirty="0">
                <a:latin typeface="Rockwell" panose="02060603020205020403" pitchFamily="18" charset="0"/>
              </a:rPr>
              <a:t>Specifications: Typically, 20–100A at 480VAC. Require overload protection for safe operation</a:t>
            </a:r>
            <a:endParaRPr lang="en-TZ" sz="20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512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D698A-3EB8-44F6-A402-098A839FFB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3065"/>
            <a:ext cx="7886700" cy="541538"/>
          </a:xfrm>
        </p:spPr>
        <p:txBody>
          <a:bodyPr>
            <a:normAutofit fontScale="90000"/>
          </a:bodyPr>
          <a:lstStyle/>
          <a:p>
            <a:r>
              <a:rPr lang="en-GB" b="1" dirty="0">
                <a:latin typeface="Rockwell" panose="02060603020205020403" pitchFamily="18" charset="0"/>
              </a:rPr>
              <a:t>Output Devices</a:t>
            </a:r>
            <a:endParaRPr lang="en-TZ" b="1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421F17-5CBD-4B70-AA72-EB3213CC9B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861134"/>
            <a:ext cx="8089222" cy="5783801"/>
          </a:xfrm>
        </p:spPr>
        <p:txBody>
          <a:bodyPr>
            <a:noAutofit/>
          </a:bodyPr>
          <a:lstStyle/>
          <a:p>
            <a:pPr marL="514350" indent="-514350" algn="just">
              <a:buFont typeface="+mj-lt"/>
              <a:buAutoNum type="arabicPeriod" startAt="3"/>
            </a:pPr>
            <a:r>
              <a:rPr lang="en-US" sz="3200" b="1" dirty="0">
                <a:solidFill>
                  <a:srgbClr val="FF0000"/>
                </a:solidFill>
                <a:latin typeface="Rockwell" panose="02060603020205020403" pitchFamily="18" charset="0"/>
              </a:rPr>
              <a:t>Solenoid Valves</a:t>
            </a:r>
          </a:p>
          <a:p>
            <a:pPr algn="just"/>
            <a:r>
              <a:rPr lang="en-US" sz="2400" dirty="0">
                <a:latin typeface="Rockwell" panose="02060603020205020403" pitchFamily="18" charset="0"/>
              </a:rPr>
              <a:t>Actuated by PLC DOs (transistor outputs for fast switching). Rated for 24VDC/120VAC, with currents under 1A. Often interfaced via relays for isolation.</a:t>
            </a:r>
          </a:p>
          <a:p>
            <a:pPr marL="514350" indent="-514350" algn="just">
              <a:buFont typeface="+mj-lt"/>
              <a:buAutoNum type="arabicPeriod" startAt="4"/>
            </a:pPr>
            <a:r>
              <a:rPr lang="en-US" sz="3200" b="1" dirty="0">
                <a:solidFill>
                  <a:srgbClr val="FF0000"/>
                </a:solidFill>
                <a:latin typeface="Rockwell" panose="02060603020205020403" pitchFamily="18" charset="0"/>
              </a:rPr>
              <a:t>Motors and Pumps</a:t>
            </a:r>
          </a:p>
          <a:p>
            <a:pPr algn="just"/>
            <a:r>
              <a:rPr lang="en-US" sz="2400" dirty="0">
                <a:latin typeface="Rockwell" panose="02060603020205020403" pitchFamily="18" charset="0"/>
              </a:rPr>
              <a:t>Controlled through contactors/VFDs. VFDs use analog outputs (0–10V or 4–20mA) from PLCs for speed control.</a:t>
            </a:r>
          </a:p>
        </p:txBody>
      </p:sp>
    </p:spTree>
    <p:extLst>
      <p:ext uri="{BB962C8B-B14F-4D97-AF65-F5344CB8AC3E}">
        <p14:creationId xmlns:p14="http://schemas.microsoft.com/office/powerpoint/2010/main" val="1729217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7DF3C-C915-4183-8AB8-C74F94683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568171"/>
            <a:ext cx="7886700" cy="5859262"/>
          </a:xfrm>
        </p:spPr>
        <p:txBody>
          <a:bodyPr/>
          <a:lstStyle/>
          <a:p>
            <a:pPr marL="0" indent="0">
              <a:buNone/>
            </a:pPr>
            <a:r>
              <a:rPr lang="en-GB" b="1" dirty="0">
                <a:latin typeface="Rockwell" panose="02060603020205020403" pitchFamily="18" charset="0"/>
              </a:rPr>
              <a:t>Interfacing Guidelines</a:t>
            </a:r>
          </a:p>
          <a:p>
            <a:pPr marL="0" indent="0">
              <a:buNone/>
            </a:pPr>
            <a:endParaRPr lang="en-GB" sz="800" b="1" dirty="0">
              <a:latin typeface="Rockwell" panose="02060603020205020403" pitchFamily="18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  <a:latin typeface="Rockwell" panose="02060603020205020403" pitchFamily="18" charset="0"/>
              </a:rPr>
              <a:t>Input Wiring</a:t>
            </a:r>
          </a:p>
          <a:p>
            <a:pPr marL="514350" indent="-514350">
              <a:buFont typeface="+mj-lt"/>
              <a:buAutoNum type="arabicParenR"/>
            </a:pPr>
            <a:r>
              <a:rPr lang="en-GB" dirty="0">
                <a:latin typeface="Rockwell" panose="02060603020205020403" pitchFamily="18" charset="0"/>
              </a:rPr>
              <a:t>Digital Inputs:</a:t>
            </a:r>
          </a:p>
          <a:p>
            <a:pPr lvl="1" algn="just"/>
            <a:r>
              <a:rPr lang="en-GB" sz="2800" dirty="0">
                <a:latin typeface="Rockwell" panose="02060603020205020403" pitchFamily="18" charset="0"/>
              </a:rPr>
              <a:t>Passive devices (e.g., toggle switches) require external 24VDC power.</a:t>
            </a:r>
          </a:p>
          <a:p>
            <a:pPr lvl="1" algn="just"/>
            <a:r>
              <a:rPr lang="en-GB" sz="2800" dirty="0">
                <a:latin typeface="Rockwell" panose="02060603020205020403" pitchFamily="18" charset="0"/>
              </a:rPr>
              <a:t>Active devices (e.g., proximity switches) self-power and connect directly to DI modules</a:t>
            </a:r>
          </a:p>
          <a:p>
            <a:pPr marL="514350" indent="-514350">
              <a:buFont typeface="+mj-lt"/>
              <a:buAutoNum type="arabicParenR"/>
            </a:pPr>
            <a:r>
              <a:rPr lang="en-US" dirty="0">
                <a:latin typeface="Rockwell" panose="02060603020205020403" pitchFamily="18" charset="0"/>
              </a:rPr>
              <a:t>Analog Inputs:</a:t>
            </a:r>
          </a:p>
          <a:p>
            <a:pPr lvl="1" algn="just"/>
            <a:r>
              <a:rPr lang="en-US" sz="2800" dirty="0">
                <a:latin typeface="Rockwell" panose="02060603020205020403" pitchFamily="18" charset="0"/>
              </a:rPr>
              <a:t>4–20mA signals use shielded cables to reduce noise. Configure PLC AI modules for current/voltage input</a:t>
            </a:r>
            <a:endParaRPr lang="en-TZ" sz="28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4528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97DF3C-C915-4183-8AB8-C74F94683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568171"/>
            <a:ext cx="7886700" cy="5859262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GB" b="1" dirty="0">
                <a:latin typeface="Rockwell" panose="02060603020205020403" pitchFamily="18" charset="0"/>
              </a:rPr>
              <a:t>Interfacing Guidelines</a:t>
            </a:r>
          </a:p>
          <a:p>
            <a:pPr marL="0" indent="0">
              <a:buNone/>
            </a:pPr>
            <a:endParaRPr lang="en-GB" sz="800" b="1" dirty="0">
              <a:latin typeface="Rockwell" panose="02060603020205020403" pitchFamily="18" charset="0"/>
            </a:endParaRPr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  <a:latin typeface="Rockwell" panose="02060603020205020403" pitchFamily="18" charset="0"/>
              </a:rPr>
              <a:t>Output Wiring</a:t>
            </a:r>
          </a:p>
          <a:p>
            <a:pPr lvl="1" algn="just"/>
            <a:r>
              <a:rPr lang="en-GB" dirty="0">
                <a:latin typeface="Rockwell" panose="02060603020205020403" pitchFamily="18" charset="0"/>
              </a:rPr>
              <a:t>Relay Outputs: Suitable for mixed AC/DC loads but limited to 10A. Use separate relays for high-power devices.</a:t>
            </a:r>
          </a:p>
          <a:p>
            <a:pPr lvl="1" algn="just"/>
            <a:r>
              <a:rPr lang="en-GB" dirty="0">
                <a:latin typeface="Rockwell" panose="02060603020205020403" pitchFamily="18" charset="0"/>
              </a:rPr>
              <a:t>Transistor Outputs: Fast switching (&lt;1ms) for DC loads (e.g., solenoids). Current-limited (≤1A), often requiring external drivers.</a:t>
            </a:r>
          </a:p>
          <a:p>
            <a:pPr marL="0" indent="0">
              <a:buNone/>
            </a:pPr>
            <a:r>
              <a:rPr lang="en-GB" b="1" dirty="0">
                <a:solidFill>
                  <a:srgbClr val="FF0000"/>
                </a:solidFill>
                <a:latin typeface="Rockwell" panose="02060603020205020403" pitchFamily="18" charset="0"/>
              </a:rPr>
              <a:t>Safety Considerations</a:t>
            </a:r>
          </a:p>
          <a:p>
            <a:pPr lvl="1" algn="just"/>
            <a:r>
              <a:rPr lang="en-GB" dirty="0">
                <a:latin typeface="Rockwell" panose="02060603020205020403" pitchFamily="18" charset="0"/>
              </a:rPr>
              <a:t>Isolate high-voltage circuits using relays/contactors.</a:t>
            </a:r>
          </a:p>
          <a:p>
            <a:pPr lvl="1" algn="just"/>
            <a:r>
              <a:rPr lang="en-GB" dirty="0">
                <a:latin typeface="Rockwell" panose="02060603020205020403" pitchFamily="18" charset="0"/>
              </a:rPr>
              <a:t>Match PLC output ratings (voltage/current) with device requirements to prevent damage.</a:t>
            </a:r>
          </a:p>
          <a:p>
            <a:pPr marL="0" indent="0">
              <a:buNone/>
            </a:pPr>
            <a:r>
              <a:rPr lang="en-GB" dirty="0">
                <a:latin typeface="Rockwell" panose="02060603020205020403" pitchFamily="18" charset="0"/>
              </a:rPr>
              <a:t>This integration of I/O devices with PLCs enables precise automation, leveraging digital and </a:t>
            </a:r>
            <a:r>
              <a:rPr lang="en-GB" dirty="0" err="1">
                <a:latin typeface="Rockwell" panose="02060603020205020403" pitchFamily="18" charset="0"/>
              </a:rPr>
              <a:t>analog</a:t>
            </a:r>
            <a:r>
              <a:rPr lang="en-GB" dirty="0">
                <a:latin typeface="Rockwell" panose="02060603020205020403" pitchFamily="18" charset="0"/>
              </a:rPr>
              <a:t> signals for robust industrial control.</a:t>
            </a:r>
            <a:endParaRPr lang="en-TZ" sz="2800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28320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5B682A-EB9B-437B-8E21-0627A9DB2A6B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837" y="378607"/>
            <a:ext cx="4667281" cy="472679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185" y="3102329"/>
            <a:ext cx="1905165" cy="325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8374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417</TotalTime>
  <Words>681</Words>
  <Application>Microsoft Office PowerPoint</Application>
  <PresentationFormat>On-screen Show (4:3)</PresentationFormat>
  <Paragraphs>62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Adobe Garamond Pro Bold</vt:lpstr>
      <vt:lpstr>Arial</vt:lpstr>
      <vt:lpstr>Calibri</vt:lpstr>
      <vt:lpstr>Calibri Light</vt:lpstr>
      <vt:lpstr>Rockwell</vt:lpstr>
      <vt:lpstr>Source Sans Pro Black</vt:lpstr>
      <vt:lpstr>Times New Roman</vt:lpstr>
      <vt:lpstr>Wingdings</vt:lpstr>
      <vt:lpstr>Office Theme</vt:lpstr>
      <vt:lpstr>PowerPoint Presentation</vt:lpstr>
      <vt:lpstr>Various INPUT /OUTPUT Devices and its interfacing with PLC</vt:lpstr>
      <vt:lpstr>PowerPoint Presentation</vt:lpstr>
      <vt:lpstr>Input Devices</vt:lpstr>
      <vt:lpstr>Input Devices</vt:lpstr>
      <vt:lpstr>Input Devices</vt:lpstr>
      <vt:lpstr>Input Devices</vt:lpstr>
      <vt:lpstr>Input Devices</vt:lpstr>
      <vt:lpstr>Input Devices</vt:lpstr>
      <vt:lpstr>Output Devices</vt:lpstr>
      <vt:lpstr>Output Devices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Masoud Kamoleka</dc:creator>
  <cp:lastModifiedBy>Lord SIMASIA</cp:lastModifiedBy>
  <cp:revision>30</cp:revision>
  <dcterms:created xsi:type="dcterms:W3CDTF">2025-04-23T23:15:45Z</dcterms:created>
  <dcterms:modified xsi:type="dcterms:W3CDTF">2026-04-20T06:34:34Z</dcterms:modified>
</cp:coreProperties>
</file>