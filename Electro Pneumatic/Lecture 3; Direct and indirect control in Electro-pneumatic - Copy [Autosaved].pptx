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8" r:id="rId5"/>
    <p:sldId id="308" r:id="rId6"/>
    <p:sldId id="309" r:id="rId7"/>
    <p:sldId id="310" r:id="rId8"/>
    <p:sldId id="316" r:id="rId9"/>
    <p:sldId id="317" r:id="rId10"/>
    <p:sldId id="278" r:id="rId11"/>
    <p:sldId id="289" r:id="rId12"/>
    <p:sldId id="290" r:id="rId13"/>
    <p:sldId id="315" r:id="rId14"/>
    <p:sldId id="279" r:id="rId15"/>
    <p:sldId id="280" r:id="rId16"/>
    <p:sldId id="281" r:id="rId17"/>
    <p:sldId id="282" r:id="rId18"/>
    <p:sldId id="288" r:id="rId19"/>
    <p:sldId id="291" r:id="rId20"/>
    <p:sldId id="283" r:id="rId21"/>
    <p:sldId id="284" r:id="rId22"/>
    <p:sldId id="285" r:id="rId23"/>
    <p:sldId id="286" r:id="rId24"/>
    <p:sldId id="287" r:id="rId25"/>
    <p:sldId id="272" r:id="rId26"/>
    <p:sldId id="322" r:id="rId27"/>
    <p:sldId id="318" r:id="rId28"/>
    <p:sldId id="319" r:id="rId29"/>
    <p:sldId id="323" r:id="rId30"/>
    <p:sldId id="320" r:id="rId31"/>
    <p:sldId id="321" r:id="rId32"/>
    <p:sldId id="267" r:id="rId33"/>
    <p:sldId id="265" r:id="rId34"/>
    <p:sldId id="266" r:id="rId35"/>
    <p:sldId id="259" r:id="rId36"/>
    <p:sldId id="261" r:id="rId37"/>
    <p:sldId id="292" r:id="rId38"/>
    <p:sldId id="293" r:id="rId39"/>
    <p:sldId id="294" r:id="rId40"/>
    <p:sldId id="295" r:id="rId41"/>
    <p:sldId id="262" r:id="rId42"/>
    <p:sldId id="296" r:id="rId43"/>
    <p:sldId id="297" r:id="rId44"/>
    <p:sldId id="298" r:id="rId45"/>
    <p:sldId id="299" r:id="rId46"/>
    <p:sldId id="300" r:id="rId47"/>
    <p:sldId id="301" r:id="rId48"/>
    <p:sldId id="324" r:id="rId49"/>
  </p:sldIdLst>
  <p:sldSz cx="12192000" cy="6858000"/>
  <p:notesSz cx="6858000" cy="9144000"/>
  <p:defaultTextStyle>
    <a:defPPr>
      <a:defRPr lang="en-T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FDAB4-4362-4DFD-A491-805F3DD454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3C00C4-AF47-489F-BCB3-763216ED12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T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ABAA96-CFA2-4730-95E7-AD5691EE2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E4D86-D607-4621-9748-E83615FCEF31}" type="datetimeFigureOut">
              <a:rPr lang="en-TZ" smtClean="0"/>
              <a:t>04/01/2025</a:t>
            </a:fld>
            <a:endParaRPr lang="en-T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E27E4B-6AFF-4268-B285-D3D6AB258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D287B3-0976-40EB-B6E3-43E0BBDCB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5B4C4-3960-43E4-BE63-F918E92600CD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22220215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1B465-F441-4B68-A4A7-C89E32DF9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E184D-7581-4D54-B29D-159C51CADF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39CF71-65C4-4E28-A5FC-1DCA8A5FC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E4D86-D607-4621-9748-E83615FCEF31}" type="datetimeFigureOut">
              <a:rPr lang="en-TZ" smtClean="0"/>
              <a:t>04/01/2025</a:t>
            </a:fld>
            <a:endParaRPr lang="en-T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C06AD9-A052-48C4-A6DF-76A6D08A1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0A8051-255D-4713-A5ED-51E64B156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5B4C4-3960-43E4-BE63-F918E92600CD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548488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B198C-0375-44B3-A113-21E8CA047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1BF4EE-E605-4A91-86B8-EF464C319A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BFEFD6-8D10-4390-A292-54B5A0BA8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E4D86-D607-4621-9748-E83615FCEF31}" type="datetimeFigureOut">
              <a:rPr lang="en-TZ" smtClean="0"/>
              <a:t>04/01/2025</a:t>
            </a:fld>
            <a:endParaRPr lang="en-T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59698-16A3-435A-B0B0-7B0FCAD4F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FF6128-0837-4A99-AD6A-E2E103F3A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5B4C4-3960-43E4-BE63-F918E92600CD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1979939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0C334-73DD-485E-ACB2-5A1249EA8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9F6A86-35E7-4CF5-A64C-50A6F74E3C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47B15A-6EAF-4ED5-B3F0-5FEF1AA14C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7BB280-25D1-4E7C-B0B1-49989D8C8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E4D86-D607-4621-9748-E83615FCEF31}" type="datetimeFigureOut">
              <a:rPr lang="en-TZ" smtClean="0"/>
              <a:t>04/01/2025</a:t>
            </a:fld>
            <a:endParaRPr lang="en-T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79F07C-12D2-4CBE-911C-44D421DF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4F8CFB-D5E8-4885-BF84-F681FE99C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5B4C4-3960-43E4-BE63-F918E92600CD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3806615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49F3B-25A6-4259-8FE0-5CF74D305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A346EE-18C9-4A59-8522-E25F725BC4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57992E-EE41-4755-9DF6-1D86F892C3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FCDB60-B1A5-498C-887F-725E7BA8F4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2B7356-5304-46EE-A31C-1F34B03634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55A7D1-C047-4099-A8F9-ECF9F0C88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E4D86-D607-4621-9748-E83615FCEF31}" type="datetimeFigureOut">
              <a:rPr lang="en-TZ" smtClean="0"/>
              <a:t>04/01/2025</a:t>
            </a:fld>
            <a:endParaRPr lang="en-T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E2D09D-1C89-468A-A183-71F2281C4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848772-D02E-4D86-A9CB-F52A077EA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5B4C4-3960-43E4-BE63-F918E92600CD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5235788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A36DD-95BA-4CC8-BE66-3740960B1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C57595-9C5D-4492-881D-8BDE8ACD0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E4D86-D607-4621-9748-E83615FCEF31}" type="datetimeFigureOut">
              <a:rPr lang="en-TZ" smtClean="0"/>
              <a:t>04/01/2025</a:t>
            </a:fld>
            <a:endParaRPr lang="en-T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0EDE87-8210-4E03-A2C5-5279BA618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52AC84-AB5F-4C11-A9E7-A4E9950C9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5B4C4-3960-43E4-BE63-F918E92600CD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33934138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3A3998-EF5A-4E9C-91E3-01D446417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E4D86-D607-4621-9748-E83615FCEF31}" type="datetimeFigureOut">
              <a:rPr lang="en-TZ" smtClean="0"/>
              <a:t>04/01/2025</a:t>
            </a:fld>
            <a:endParaRPr lang="en-T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D8A36C-B68D-436B-B9AB-34C0E13E2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C74EE2-09C7-45E2-B6EE-D7EC2234D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5B4C4-3960-43E4-BE63-F918E92600CD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29763966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B136D-86FD-4576-8DB0-BC3D7A5C7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787D09-0AC5-4698-A412-58A17C1371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78A8DB-E930-4043-A5AF-4D94937589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3F7D24-23DA-40E5-9E64-A45AE3970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E4D86-D607-4621-9748-E83615FCEF31}" type="datetimeFigureOut">
              <a:rPr lang="en-TZ" smtClean="0"/>
              <a:t>04/01/2025</a:t>
            </a:fld>
            <a:endParaRPr lang="en-T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44BF7B-5C13-4140-BB65-FC82338E1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B7D531-206F-4A15-B6C3-3C9B15E31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5B4C4-3960-43E4-BE63-F918E92600CD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634620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A0EEC-7547-4CD3-AE70-2B2360703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D54D1B-D54B-44AB-8F5B-4676A7A724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T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1225A3-5C07-408D-9707-AD66273508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F95E18-A378-47EF-A12D-FDB11CB9D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E4D86-D607-4621-9748-E83615FCEF31}" type="datetimeFigureOut">
              <a:rPr lang="en-TZ" smtClean="0"/>
              <a:t>04/01/2025</a:t>
            </a:fld>
            <a:endParaRPr lang="en-T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9C2362-9465-47DF-BABE-8B5A21D4D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90FF77-0E3C-4AC0-ACD1-ED13A887E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5B4C4-3960-43E4-BE63-F918E92600CD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141043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96A8A-C1F3-498C-8F64-0EC0B5A19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D71D45-A80B-4D60-8CDA-0151FC4ED8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F88F78-CC07-4A5C-8889-B0E1977A6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E4D86-D607-4621-9748-E83615FCEF31}" type="datetimeFigureOut">
              <a:rPr lang="en-TZ" smtClean="0"/>
              <a:t>04/01/2025</a:t>
            </a:fld>
            <a:endParaRPr lang="en-T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53EB99-9BC5-4D8F-A064-67C421B64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65D85F-DCA6-4C71-8D8B-829A95E83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5B4C4-3960-43E4-BE63-F918E92600CD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39043093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174DE4-7688-4AEB-801F-69A79EF0E7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F52AA0-3749-44DE-8F42-8E4E6BBF41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F4F2B4-B930-421C-8DB4-3D7B7388D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E4D86-D607-4621-9748-E83615FCEF31}" type="datetimeFigureOut">
              <a:rPr lang="en-TZ" smtClean="0"/>
              <a:t>04/01/2025</a:t>
            </a:fld>
            <a:endParaRPr lang="en-T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E0C8F-67FA-4CD7-8CDB-B9D93731C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0B4CB5-E6E1-4A53-9DF8-132755A09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5B4C4-3960-43E4-BE63-F918E92600CD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2566349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BB4E0E-227F-4A07-AFB1-BDB2C6D97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565F14-5602-429A-8511-DAF490803D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338206-4783-4BF6-A478-0D7302A56C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EE4D86-D607-4621-9748-E83615FCEF31}" type="datetimeFigureOut">
              <a:rPr lang="en-TZ" smtClean="0"/>
              <a:t>04/01/2025</a:t>
            </a:fld>
            <a:endParaRPr lang="en-T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8211EC-D6F9-418C-85E4-4ABB323659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T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DEA100-5E25-4CA4-9CED-B33D82682A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55B4C4-3960-43E4-BE63-F918E92600CD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389877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T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FE722-9D33-4777-9CEB-4B670642B2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71965"/>
          </a:xfrm>
        </p:spPr>
        <p:txBody>
          <a:bodyPr>
            <a:normAutofit/>
          </a:bodyPr>
          <a:lstStyle/>
          <a:p>
            <a:r>
              <a:rPr lang="en-US" sz="4400" b="1" dirty="0">
                <a:latin typeface="Verdana" panose="020B0604030504040204" pitchFamily="34" charset="0"/>
                <a:ea typeface="Verdana" panose="020B0604030504040204" pitchFamily="34" charset="0"/>
                <a:cs typeface="Tahoma" panose="020B0604030504040204" pitchFamily="34" charset="0"/>
              </a:rPr>
              <a:t>Lecture 3; </a:t>
            </a:r>
            <a:br>
              <a:rPr lang="en-US" sz="4400" b="1" dirty="0">
                <a:latin typeface="Verdana" panose="020B0604030504040204" pitchFamily="34" charset="0"/>
                <a:ea typeface="Verdana" panose="020B0604030504040204" pitchFamily="34" charset="0"/>
                <a:cs typeface="Tahoma" panose="020B0604030504040204" pitchFamily="34" charset="0"/>
              </a:rPr>
            </a:br>
            <a:r>
              <a:rPr lang="en-US" sz="4400" b="1" dirty="0">
                <a:latin typeface="Verdana" panose="020B0604030504040204" pitchFamily="34" charset="0"/>
                <a:ea typeface="Verdana" panose="020B0604030504040204" pitchFamily="34" charset="0"/>
                <a:cs typeface="Tahoma" panose="020B0604030504040204" pitchFamily="34" charset="0"/>
              </a:rPr>
              <a:t>Direct and indirect control in Electro-pneumatic</a:t>
            </a:r>
            <a:endParaRPr lang="en-TZ" sz="4400" b="1" dirty="0">
              <a:latin typeface="Verdana" panose="020B0604030504040204" pitchFamily="34" charset="0"/>
              <a:ea typeface="Verdan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2295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AB97-D875-467E-9F6D-DB1E46464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Verdana" panose="020B0604030504040204" pitchFamily="34" charset="0"/>
                <a:ea typeface="Verdana" panose="020B0604030504040204" pitchFamily="34" charset="0"/>
                <a:cs typeface="Tahoma" panose="020B0604030504040204" pitchFamily="34" charset="0"/>
              </a:rPr>
              <a:t>Presentation outline</a:t>
            </a:r>
            <a:endParaRPr lang="en-TZ" sz="3200" b="1" dirty="0">
              <a:latin typeface="Verdana" panose="020B0604030504040204" pitchFamily="34" charset="0"/>
              <a:ea typeface="Verdan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285CB-FF06-4C5E-AABE-27A570D4F8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Electro-pneumatic basic control components</a:t>
            </a:r>
          </a:p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Electro-pneumatics Signal control system </a:t>
            </a:r>
          </a:p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Solenoid valves</a:t>
            </a:r>
          </a:p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Direct control in Electro-pneumatics</a:t>
            </a:r>
          </a:p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Indirect control in Electro-pneumatics</a:t>
            </a:r>
          </a:p>
          <a:p>
            <a:pPr marL="0" indent="0">
              <a:buNone/>
            </a:pPr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35930129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75F5C-BEE8-4AB7-9C47-E9FCE289F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latin typeface="Verdana" panose="020B0604030504040204" pitchFamily="34" charset="0"/>
                <a:ea typeface="Verdana" panose="020B0604030504040204" pitchFamily="34" charset="0"/>
                <a:cs typeface="Tahoma" panose="020B0604030504040204" pitchFamily="34" charset="0"/>
              </a:rPr>
              <a:t>Electro-pneumatic Basic Control Components</a:t>
            </a:r>
            <a:endParaRPr lang="en-TZ" sz="2800" b="1" dirty="0">
              <a:latin typeface="Verdana" panose="020B0604030504040204" pitchFamily="34" charset="0"/>
              <a:ea typeface="Verdan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245E8F-116C-4004-85DA-BC34C7B122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ahoma" panose="020B0604030504040204" pitchFamily="34" charset="0"/>
              </a:rPr>
              <a:t>The electro pneumatic system is normally consists of the</a:t>
            </a:r>
          </a:p>
          <a:p>
            <a:pPr marL="0" indent="0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ahoma" panose="020B0604030504040204" pitchFamily="34" charset="0"/>
              </a:rPr>
              <a:t>following items:</a:t>
            </a:r>
            <a:b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ahoma" panose="020B0604030504040204" pitchFamily="34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ahoma" panose="020B0604030504040204" pitchFamily="34" charset="0"/>
              </a:rPr>
              <a:t>1. DC power supply</a:t>
            </a:r>
          </a:p>
          <a:p>
            <a:pPr marL="0" indent="0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ahoma" panose="020B0604030504040204" pitchFamily="34" charset="0"/>
              </a:rPr>
              <a:t>2. Switches</a:t>
            </a:r>
          </a:p>
          <a:p>
            <a:pPr marL="0" indent="0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ahoma" panose="020B0604030504040204" pitchFamily="34" charset="0"/>
              </a:rPr>
              <a:t>3. Relays/PLC</a:t>
            </a:r>
          </a:p>
          <a:p>
            <a:pPr marL="0" indent="0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ahoma" panose="020B0604030504040204" pitchFamily="34" charset="0"/>
              </a:rPr>
              <a:t>4. Solenoid valves</a:t>
            </a:r>
            <a:b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ahoma" panose="020B0604030504040204" pitchFamily="34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ahoma" panose="020B0604030504040204" pitchFamily="34" charset="0"/>
              </a:rPr>
              <a:t>5. Sensor</a:t>
            </a:r>
            <a:r>
              <a:rPr lang="en-US" sz="4000" dirty="0">
                <a:latin typeface="Verdana" panose="020B0604030504040204" pitchFamily="34" charset="0"/>
                <a:ea typeface="Verdana" panose="020B0604030504040204" pitchFamily="34" charset="0"/>
                <a:cs typeface="Tahoma" panose="020B0604030504040204" pitchFamily="34" charset="0"/>
              </a:rPr>
              <a:t> </a:t>
            </a:r>
            <a:b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</a:br>
            <a:endParaRPr lang="en-TZ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46536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F0EFA-3E54-4506-8A23-F525187CF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latin typeface="Verdana" panose="020B0604030504040204" pitchFamily="34" charset="0"/>
                <a:ea typeface="Verdana" panose="020B0604030504040204" pitchFamily="34" charset="0"/>
                <a:cs typeface="Tahoma" panose="020B0604030504040204" pitchFamily="34" charset="0"/>
              </a:rPr>
              <a:t>Electro-pneumatics Basic Control Components</a:t>
            </a:r>
            <a:endParaRPr lang="en-TZ" sz="2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E6B4A-051F-43E8-95AE-BE6B800A83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ahoma" panose="020B0604030504040204" pitchFamily="34" charset="0"/>
              </a:rPr>
              <a:t>1. DC power supply</a:t>
            </a:r>
          </a:p>
          <a:p>
            <a:pPr marL="0" indent="0"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The power supply is used to reduce and convert the 230 V AC to a 24 V DC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</a:p>
          <a:p>
            <a:pPr marL="0" indent="0"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The power supply components have the following functions:</a:t>
            </a:r>
          </a:p>
          <a:p>
            <a:r>
              <a:rPr lang="en-US" sz="1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en-US" sz="18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transformer 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reduces the main voltage (230 to 24 volt).</a:t>
            </a:r>
          </a:p>
          <a:p>
            <a:r>
              <a:rPr lang="en-US" sz="1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en-US" sz="18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rectifier 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converts the AC voltage to DC voltage.</a:t>
            </a:r>
          </a:p>
          <a:p>
            <a:r>
              <a:rPr lang="en-US" sz="1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en-US" sz="18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stabilizer 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is used to smooth and maintain constant voltage at the output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br>
              <a:rPr lang="en-US" dirty="0"/>
            </a:br>
            <a:br>
              <a:rPr lang="en-US" dirty="0"/>
            </a:br>
            <a:endParaRPr lang="en-TZ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E0D155-8495-44D3-BB02-9AA77F50D4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7013" y="4468968"/>
            <a:ext cx="4559122" cy="1842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3398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0EF73-0131-4B09-8A0B-68B507269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64430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Verdana" panose="020B0604030504040204" pitchFamily="34" charset="0"/>
                <a:ea typeface="Verdana" panose="020B0604030504040204" pitchFamily="34" charset="0"/>
                <a:cs typeface="Tahoma" panose="020B0604030504040204" pitchFamily="34" charset="0"/>
              </a:rPr>
              <a:t>Electro-pneumatic Basic Control Components</a:t>
            </a:r>
            <a:endParaRPr lang="en-TZ" sz="3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6C2227-7E75-4AF0-95A8-9ADECF9C99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4100"/>
            <a:ext cx="10515600" cy="5079935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sz="24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ahoma" panose="020B0604030504040204" pitchFamily="34" charset="0"/>
              </a:rPr>
              <a:t>2. Switches</a:t>
            </a:r>
          </a:p>
          <a:p>
            <a:pPr marL="0" indent="0">
              <a:buNone/>
            </a:pPr>
            <a:br>
              <a:rPr lang="en-US" sz="24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Switches are installed in an electric circuit to connect or interrupt the</a:t>
            </a:r>
          </a:p>
          <a:p>
            <a:pPr marL="0" indent="0">
              <a:buNone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electric current. </a:t>
            </a:r>
          </a:p>
          <a:p>
            <a:pPr marL="0" indent="0">
              <a:buNone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A push button is a switch used to close or open an electric control circuit. </a:t>
            </a:r>
          </a:p>
          <a:p>
            <a:pPr marL="0" indent="0">
              <a:buNone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They are primarily used for starting and stopping of operation of machinery. </a:t>
            </a:r>
          </a:p>
          <a:p>
            <a:pPr marL="0" indent="0">
              <a:buNone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Push button switches are actuated by pushing the actuator into the housing, this</a:t>
            </a:r>
          </a:p>
          <a:p>
            <a:pPr marL="0" indent="0">
              <a:buNone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causes set of contacts to open or close.</a:t>
            </a:r>
          </a:p>
          <a:p>
            <a:pPr marL="0" indent="0">
              <a:buNone/>
            </a:pPr>
            <a:br>
              <a:rPr lang="en-U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Push buttons are of two types</a:t>
            </a:r>
          </a:p>
          <a:p>
            <a:pPr marL="0" indent="0">
              <a:buNone/>
            </a:pPr>
            <a:br>
              <a:rPr lang="en-U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i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) Momentary push button</a:t>
            </a:r>
          </a:p>
          <a:p>
            <a:pPr marL="0" indent="0">
              <a:buNone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ii) Maintained contact or detent push button</a:t>
            </a:r>
            <a:r>
              <a:rPr lang="en-US" sz="36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b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</a:br>
            <a:endParaRPr lang="en-TZ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63405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81453-762C-47D7-A7F5-A8C958C87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Verdana" panose="020B0604030504040204" pitchFamily="34" charset="0"/>
                <a:ea typeface="Verdana" panose="020B0604030504040204" pitchFamily="34" charset="0"/>
                <a:cs typeface="Tahoma" panose="020B0604030504040204" pitchFamily="34" charset="0"/>
              </a:rPr>
              <a:t>Electro-pneumatic Basic Control Components</a:t>
            </a:r>
            <a:endParaRPr lang="en-TZ" sz="3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50853E-AF99-4C82-B0F8-BEBD8CC627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8299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4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ahoma" panose="020B0604030504040204" pitchFamily="34" charset="0"/>
              </a:rPr>
              <a:t>2. Switches</a:t>
            </a:r>
          </a:p>
          <a:p>
            <a:pPr marL="0" indent="0">
              <a:buNone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Momentary push buttons return to their unactuated position when they</a:t>
            </a:r>
          </a:p>
          <a:p>
            <a:pPr marL="0" indent="0">
              <a:buNone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are released. </a:t>
            </a:r>
          </a:p>
          <a:p>
            <a:pPr marL="0" indent="0">
              <a:buNone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Maintained (or mechanically latched) push buttons has a latching</a:t>
            </a:r>
          </a:p>
          <a:p>
            <a:pPr marL="0" indent="0">
              <a:buNone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mechanism to hold it in the selected position. </a:t>
            </a:r>
          </a:p>
          <a:p>
            <a:pPr marL="0" indent="0">
              <a:buNone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It is also called 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detent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switch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or</a:t>
            </a:r>
            <a:r>
              <a:rPr lang="en-US" sz="2400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 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latching switch</a:t>
            </a:r>
            <a:r>
              <a:rPr lang="en-US" sz="2400" b="1" dirty="0"/>
              <a:t> </a:t>
            </a:r>
          </a:p>
          <a:p>
            <a:pPr marL="0" indent="0">
              <a:buNone/>
            </a:pPr>
            <a:br>
              <a:rPr lang="en-US" sz="24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The contact of the push buttons, distinguished according to their</a:t>
            </a:r>
          </a:p>
          <a:p>
            <a:pPr marL="0" indent="0">
              <a:buNone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functions,</a:t>
            </a:r>
          </a:p>
          <a:p>
            <a:pPr marL="0" indent="0">
              <a:buNone/>
            </a:pPr>
            <a:br>
              <a:rPr lang="en-U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i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) Normally open (NO) type</a:t>
            </a:r>
          </a:p>
          <a:p>
            <a:pPr marL="0" indent="0">
              <a:buNone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ii) Normally closed (NC) type</a:t>
            </a:r>
          </a:p>
          <a:p>
            <a:pPr marL="0" indent="0">
              <a:buNone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iii) Change over (CO) type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b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endParaRPr lang="en-TZ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83459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993E7E3-2F99-4A43-8322-E100CFFC9A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4400" y="408904"/>
            <a:ext cx="5589431" cy="6040191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137DAB9-92E1-4F0E-9365-5732E31896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2626" y="408904"/>
            <a:ext cx="4353060" cy="3210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8259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00B03-B7CD-42A7-A3D7-28778A68C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Verdana" panose="020B0604030504040204" pitchFamily="34" charset="0"/>
                <a:ea typeface="Verdana" panose="020B0604030504040204" pitchFamily="34" charset="0"/>
                <a:cs typeface="Tahoma" panose="020B0604030504040204" pitchFamily="34" charset="0"/>
              </a:rPr>
              <a:t>Electro-pneumatic Basic Control Components</a:t>
            </a:r>
            <a:endParaRPr lang="en-TZ" sz="3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246447-F47A-45B6-9AD4-4CC0D20DB7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ahoma" panose="020B0604030504040204" pitchFamily="34" charset="0"/>
              </a:rPr>
              <a:t>3. Relays</a:t>
            </a:r>
          </a:p>
          <a:p>
            <a:pPr marL="0" indent="0">
              <a:buNone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A relay is an electro-magnetically actuated switch. </a:t>
            </a:r>
          </a:p>
          <a:p>
            <a:pPr marL="0" indent="0">
              <a:buNone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It is a simple electrical device used for signal processing. </a:t>
            </a:r>
            <a:br>
              <a:rPr lang="en-U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When a voltage is applied to the solenoid coil, an electromagnet field results. </a:t>
            </a:r>
          </a:p>
          <a:p>
            <a:pPr marL="0" indent="0">
              <a:buNone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This causes the armature to be attracted to the coil core.</a:t>
            </a:r>
          </a:p>
          <a:p>
            <a:pPr marL="0" indent="0">
              <a:buNone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The armature actuates the relay contacts, either closing or opening them, depending on the design. </a:t>
            </a:r>
          </a:p>
          <a:p>
            <a:pPr marL="0" indent="0">
              <a:buNone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A return spring returns the armature to its initial position when the current to the coil is interrupted</a:t>
            </a:r>
            <a:r>
              <a:rPr lang="en-US" sz="36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endParaRPr lang="en-TZ" sz="3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78501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5EC461A-436E-4B98-AC0B-5092C3A6F7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34863" y="682580"/>
            <a:ext cx="6504300" cy="5743978"/>
          </a:xfrm>
        </p:spPr>
      </p:pic>
    </p:spTree>
    <p:extLst>
      <p:ext uri="{BB962C8B-B14F-4D97-AF65-F5344CB8AC3E}">
        <p14:creationId xmlns:p14="http://schemas.microsoft.com/office/powerpoint/2010/main" val="33555833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15445-B3DA-49C2-885E-673B2E38B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Verdana" panose="020B0604030504040204" pitchFamily="34" charset="0"/>
                <a:ea typeface="Verdana" panose="020B0604030504040204" pitchFamily="34" charset="0"/>
                <a:cs typeface="Tahoma" panose="020B0604030504040204" pitchFamily="34" charset="0"/>
              </a:rPr>
              <a:t>Electro-pneumatic Basic Control Components</a:t>
            </a:r>
            <a:endParaRPr lang="en-TZ" sz="3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1D0945-11BE-42E8-A3F0-20F9983728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i="0" dirty="0"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4. Solenoid valves</a:t>
            </a:r>
          </a:p>
          <a:p>
            <a:endParaRPr lang="en-TZ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9D9E05-5B8E-4876-BF30-19C3FE9157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730" y="2319091"/>
            <a:ext cx="5524500" cy="19907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03C362F-76D3-4F78-B759-0B17F83D90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473575"/>
            <a:ext cx="6200775" cy="18383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B4D81E9-DA0B-4CC2-AA91-2EB4048A7F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6725" y="2375202"/>
            <a:ext cx="3267075" cy="386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3268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5E8CD-7E18-46E8-8A64-D0889CB06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Verdana" panose="020B0604030504040204" pitchFamily="34" charset="0"/>
                <a:ea typeface="Verdana" panose="020B0604030504040204" pitchFamily="34" charset="0"/>
                <a:cs typeface="Tahoma" panose="020B0604030504040204" pitchFamily="34" charset="0"/>
              </a:rPr>
              <a:t>Electro-pneumatic Basic Control Components</a:t>
            </a:r>
            <a:endParaRPr lang="en-TZ" sz="3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D37004-E5A4-423F-BA69-4051B9DF1D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ahoma" panose="020B0604030504040204" pitchFamily="34" charset="0"/>
              </a:rPr>
              <a:t>4. Solenoid valves</a:t>
            </a:r>
          </a:p>
          <a:p>
            <a:pPr marL="0" indent="0">
              <a:buNone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ahoma" panose="020B0604030504040204" pitchFamily="34" charset="0"/>
              </a:rPr>
              <a:t>Electrically actuated directional control valves form the interface between the two parts of an electro-pneumatic control. </a:t>
            </a:r>
          </a:p>
          <a:p>
            <a:pPr marL="0" indent="0">
              <a:buNone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ahoma" panose="020B0604030504040204" pitchFamily="34" charset="0"/>
              </a:rPr>
              <a:t>The most important tasks of electrically actuated DCVs include.</a:t>
            </a:r>
            <a:br>
              <a:rPr lang="en-US" sz="2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ahoma" panose="020B0604030504040204" pitchFamily="34" charset="0"/>
              </a:rPr>
            </a:br>
            <a:r>
              <a:rPr lang="en-US" sz="28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ahoma" panose="020B0604030504040204" pitchFamily="34" charset="0"/>
              </a:rPr>
              <a:t>i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ahoma" panose="020B0604030504040204" pitchFamily="34" charset="0"/>
              </a:rPr>
              <a:t>) Switching supply air on or off</a:t>
            </a:r>
            <a:br>
              <a:rPr lang="en-US" sz="2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ahoma" panose="020B0604030504040204" pitchFamily="34" charset="0"/>
              </a:rPr>
            </a:br>
            <a:r>
              <a:rPr lang="en-US" sz="2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ahoma" panose="020B0604030504040204" pitchFamily="34" charset="0"/>
              </a:rPr>
              <a:t>ii) Extension and retraction of cylinder drives</a:t>
            </a:r>
            <a:b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ahoma" panose="020B0604030504040204" pitchFamily="34" charset="0"/>
              </a:rPr>
            </a:br>
            <a:endParaRPr lang="en-TZ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9552709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C0435-5E04-4947-9A0E-A3A916DD9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Verdana" panose="020B0604030504040204" pitchFamily="34" charset="0"/>
                <a:ea typeface="Verdana" panose="020B0604030504040204" pitchFamily="34" charset="0"/>
                <a:cs typeface="Tahoma" panose="020B0604030504040204" pitchFamily="34" charset="0"/>
              </a:rPr>
              <a:t>Electro-pneumatic Basic Control Components</a:t>
            </a:r>
            <a:endParaRPr lang="en-TZ" sz="3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62890A-89A8-4CCA-83FF-FEABD77AA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ahoma" panose="020B0604030504040204" pitchFamily="34" charset="0"/>
              </a:rPr>
              <a:t>4. Solenoid valves </a:t>
            </a:r>
            <a:r>
              <a:rPr lang="en-US" b="1" i="0" dirty="0">
                <a:solidFill>
                  <a:schemeClr val="accent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ahoma" panose="020B0604030504040204" pitchFamily="34" charset="0"/>
              </a:rPr>
              <a:t>Cont..</a:t>
            </a:r>
          </a:p>
          <a:p>
            <a:pPr marL="0" indent="0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ahoma" panose="020B0604030504040204" pitchFamily="34" charset="0"/>
              </a:rPr>
              <a:t>Electrically actuated directional control valves are switched with the aid of solenoids. </a:t>
            </a:r>
          </a:p>
          <a:p>
            <a:pPr marL="0" indent="0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ahoma" panose="020B0604030504040204" pitchFamily="34" charset="0"/>
              </a:rPr>
              <a:t>They can be divided into two groups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Tahoma" panose="020B0604030504040204" pitchFamily="34" charset="0"/>
              </a:rPr>
              <a:t> </a:t>
            </a:r>
            <a:b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Tahoma" panose="020B0604030504040204" pitchFamily="34" charset="0"/>
              </a:rPr>
            </a:br>
            <a:r>
              <a:rPr lang="en-US" b="1" dirty="0" err="1">
                <a:latin typeface="Verdana" panose="020B0604030504040204" pitchFamily="34" charset="0"/>
                <a:ea typeface="Verdana" panose="020B0604030504040204" pitchFamily="34" charset="0"/>
                <a:cs typeface="Tahoma" panose="020B0604030504040204" pitchFamily="34" charset="0"/>
              </a:rPr>
              <a:t>i</a:t>
            </a:r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  <a:cs typeface="Tahoma" panose="020B0604030504040204" pitchFamily="34" charset="0"/>
              </a:rPr>
              <a:t>) Spring return valves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Tahoma" panose="020B0604030504040204" pitchFamily="34" charset="0"/>
              </a:rPr>
              <a:t>only remain in the actuated position as long as current flows through the solenoid</a:t>
            </a:r>
          </a:p>
          <a:p>
            <a:pPr marL="0" indent="0">
              <a:buNone/>
            </a:pPr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  <a:cs typeface="Tahoma" panose="020B0604030504040204" pitchFamily="34" charset="0"/>
              </a:rPr>
              <a:t>ii) Double solenoid valves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Tahoma" panose="020B0604030504040204" pitchFamily="34" charset="0"/>
              </a:rPr>
              <a:t>retain the last switched position even when no current flows through the solenoid.</a:t>
            </a:r>
            <a:endParaRPr lang="en-TZ" dirty="0">
              <a:latin typeface="Verdana" panose="020B0604030504040204" pitchFamily="34" charset="0"/>
              <a:ea typeface="Verdana" panose="020B0604030504040204" pitchFamily="34" charset="0"/>
              <a:cs typeface="Tahoma" panose="020B0604030504040204" pitchFamily="34" charset="0"/>
            </a:endParaRPr>
          </a:p>
          <a:p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37150799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256103A-8D35-435A-BEBC-744C74CFA5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16676" y="260797"/>
            <a:ext cx="8693239" cy="6336406"/>
          </a:xfrm>
        </p:spPr>
      </p:pic>
    </p:spTree>
    <p:extLst>
      <p:ext uri="{BB962C8B-B14F-4D97-AF65-F5344CB8AC3E}">
        <p14:creationId xmlns:p14="http://schemas.microsoft.com/office/powerpoint/2010/main" val="18920771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16DE470-628A-4A40-8659-F4E433A41F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17938" y="206061"/>
            <a:ext cx="9556124" cy="6220496"/>
          </a:xfrm>
        </p:spPr>
      </p:pic>
    </p:spTree>
    <p:extLst>
      <p:ext uri="{BB962C8B-B14F-4D97-AF65-F5344CB8AC3E}">
        <p14:creationId xmlns:p14="http://schemas.microsoft.com/office/powerpoint/2010/main" val="12953649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344B586-BE3A-48EA-8519-D547BF9522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913" y="425003"/>
            <a:ext cx="5748270" cy="584700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BBF5BA2-76A6-4A19-9473-FAD40BB53E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9183" y="425003"/>
            <a:ext cx="5229494" cy="5847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5167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5241B8D-1382-48AF-B54A-4C55515ECA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392" y="283335"/>
            <a:ext cx="5416103" cy="62913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28EDB0C-5BC8-4479-B9EA-12CAF1ABBA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83335"/>
            <a:ext cx="5145645" cy="6291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8478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34240D3-68A8-44E8-A7BC-15447C54EB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4248" y="582769"/>
            <a:ext cx="10082209" cy="5692462"/>
          </a:xfrm>
        </p:spPr>
      </p:pic>
    </p:spTree>
    <p:extLst>
      <p:ext uri="{BB962C8B-B14F-4D97-AF65-F5344CB8AC3E}">
        <p14:creationId xmlns:p14="http://schemas.microsoft.com/office/powerpoint/2010/main" val="16232670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25232-EA0F-4FEC-A745-8A6C1CE0E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Verdana" panose="020B0604030504040204" pitchFamily="34" charset="0"/>
                <a:ea typeface="Verdana" panose="020B0604030504040204" pitchFamily="34" charset="0"/>
                <a:cs typeface="Tahoma" panose="020B0604030504040204" pitchFamily="34" charset="0"/>
              </a:rPr>
              <a:t>Electro-pneumatic Basic Control Components</a:t>
            </a:r>
            <a:endParaRPr lang="en-TZ" sz="3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A1AEDB-ADF9-4491-84C9-C21A64E2E2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ahoma" panose="020B0604030504040204" pitchFamily="34" charset="0"/>
              </a:rPr>
              <a:t>4. Solenoid valves </a:t>
            </a:r>
            <a:r>
              <a:rPr lang="en-US" sz="2800" b="1" i="0" dirty="0">
                <a:solidFill>
                  <a:schemeClr val="accent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ahoma" panose="020B0604030504040204" pitchFamily="34" charset="0"/>
              </a:rPr>
              <a:t>Cont..</a:t>
            </a:r>
          </a:p>
          <a:p>
            <a:pPr marL="0" indent="0">
              <a:buNone/>
            </a:pPr>
            <a:r>
              <a:rPr lang="en-US" sz="2800" b="1" dirty="0">
                <a:latin typeface="Verdana" panose="020B0604030504040204" pitchFamily="34" charset="0"/>
                <a:ea typeface="Verdana" panose="020B0604030504040204" pitchFamily="34" charset="0"/>
                <a:cs typeface="Tahoma" panose="020B0604030504040204" pitchFamily="34" charset="0"/>
              </a:rPr>
              <a:t>Types of Solenoid valves</a:t>
            </a:r>
          </a:p>
          <a:p>
            <a:pPr marL="0" indent="0" algn="l">
              <a:buNone/>
            </a:pPr>
            <a:r>
              <a:rPr lang="en-US" sz="28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Tahoma" panose="020B0604030504040204" pitchFamily="34" charset="0"/>
              </a:rPr>
              <a:t>Based on working principles</a:t>
            </a:r>
          </a:p>
          <a:p>
            <a:pPr algn="l"/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Tahoma" panose="020B0604030504040204" pitchFamily="34" charset="0"/>
              </a:rPr>
              <a:t>Direct-acting Solenoid Valve</a:t>
            </a:r>
          </a:p>
          <a:p>
            <a:pPr algn="l"/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Tahoma" panose="020B0604030504040204" pitchFamily="34" charset="0"/>
              </a:rPr>
              <a:t>Pilot-operated Solenoid Valve (indirect acting/servo solenoid valve)</a:t>
            </a:r>
            <a:endParaRPr lang="en-US" sz="2800" b="0" i="0" dirty="0">
              <a:effectLst/>
              <a:latin typeface="Verdana" panose="020B0604030504040204" pitchFamily="34" charset="0"/>
              <a:ea typeface="Verdana" panose="020B0604030504040204" pitchFamily="34" charset="0"/>
              <a:cs typeface="Tahoma" panose="020B0604030504040204" pitchFamily="34" charset="0"/>
            </a:endParaRPr>
          </a:p>
          <a:p>
            <a:pPr marL="0" indent="0" algn="just">
              <a:buNone/>
            </a:pP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635941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CEF90-1F23-473B-8C9B-34AA99B91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Verdana" panose="020B0604030504040204" pitchFamily="34" charset="0"/>
                <a:ea typeface="Verdana" panose="020B0604030504040204" pitchFamily="34" charset="0"/>
                <a:cs typeface="Tahoma" panose="020B0604030504040204" pitchFamily="34" charset="0"/>
              </a:rPr>
              <a:t>Electro-pneumatic Basic Control Components</a:t>
            </a:r>
            <a:endParaRPr lang="en-TZ" sz="3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50B9B-6642-4D1E-A14D-372650A99A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ahoma" panose="020B0604030504040204" pitchFamily="34" charset="0"/>
              </a:rPr>
              <a:t>4. Solenoid valves </a:t>
            </a:r>
            <a:r>
              <a:rPr lang="en-US" sz="2800" b="1" i="0" dirty="0">
                <a:solidFill>
                  <a:schemeClr val="accent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ahoma" panose="020B0604030504040204" pitchFamily="34" charset="0"/>
              </a:rPr>
              <a:t>Cont..</a:t>
            </a:r>
          </a:p>
          <a:p>
            <a:pPr marL="0" indent="0">
              <a:buNone/>
            </a:pPr>
            <a:r>
              <a:rPr lang="en-US" sz="2800" b="1" dirty="0">
                <a:latin typeface="Verdana" panose="020B0604030504040204" pitchFamily="34" charset="0"/>
                <a:ea typeface="Verdana" panose="020B0604030504040204" pitchFamily="34" charset="0"/>
                <a:cs typeface="Tahoma" panose="020B0604030504040204" pitchFamily="34" charset="0"/>
              </a:rPr>
              <a:t>Types of Solenoid valves</a:t>
            </a:r>
          </a:p>
          <a:p>
            <a:pPr marL="0" indent="0" algn="l">
              <a:buNone/>
            </a:pPr>
            <a:r>
              <a:rPr lang="en-US" sz="28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Tahoma" panose="020B0604030504040204" pitchFamily="34" charset="0"/>
              </a:rPr>
              <a:t>Based on the number of pipe connections</a:t>
            </a:r>
          </a:p>
          <a:p>
            <a:pPr marL="0" indent="0" algn="l">
              <a:buNone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Tahoma" panose="020B0604030504040204" pitchFamily="34" charset="0"/>
              </a:rPr>
              <a:t>Two-way Solenoid Valve</a:t>
            </a:r>
          </a:p>
          <a:p>
            <a:pPr marL="0" indent="0" algn="l">
              <a:buNone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Tahoma" panose="020B0604030504040204" pitchFamily="34" charset="0"/>
              </a:rPr>
              <a:t>Three-way Solenoid Valve</a:t>
            </a:r>
          </a:p>
          <a:p>
            <a:pPr marL="0" indent="0" algn="l">
              <a:buNone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Tahoma" panose="020B0604030504040204" pitchFamily="34" charset="0"/>
              </a:rPr>
              <a:t>Four-way Solenoid Valve</a:t>
            </a:r>
            <a:endParaRPr lang="en-US" sz="2800" b="0" i="0" dirty="0">
              <a:effectLst/>
              <a:latin typeface="Verdana" panose="020B0604030504040204" pitchFamily="34" charset="0"/>
              <a:ea typeface="Verdana" panose="020B0604030504040204" pitchFamily="34" charset="0"/>
              <a:cs typeface="Tahoma" panose="020B0604030504040204" pitchFamily="34" charset="0"/>
            </a:endParaRPr>
          </a:p>
          <a:p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22589856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88A58CE-D3A1-4DBF-BD5A-9197336F01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7859" y="468469"/>
            <a:ext cx="10496282" cy="5921062"/>
          </a:xfrm>
        </p:spPr>
      </p:pic>
    </p:spTree>
    <p:extLst>
      <p:ext uri="{BB962C8B-B14F-4D97-AF65-F5344CB8AC3E}">
        <p14:creationId xmlns:p14="http://schemas.microsoft.com/office/powerpoint/2010/main" val="6353288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39DF495-5BF9-43ED-BCDB-69B946C53E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4828" y="312312"/>
            <a:ext cx="10702344" cy="6233375"/>
          </a:xfrm>
        </p:spPr>
      </p:pic>
    </p:spTree>
    <p:extLst>
      <p:ext uri="{BB962C8B-B14F-4D97-AF65-F5344CB8AC3E}">
        <p14:creationId xmlns:p14="http://schemas.microsoft.com/office/powerpoint/2010/main" val="18752811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AC56B58-9707-41B1-81CE-883F68BDDA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918" y="360608"/>
            <a:ext cx="10934163" cy="5950040"/>
          </a:xfrm>
        </p:spPr>
      </p:pic>
    </p:spTree>
    <p:extLst>
      <p:ext uri="{BB962C8B-B14F-4D97-AF65-F5344CB8AC3E}">
        <p14:creationId xmlns:p14="http://schemas.microsoft.com/office/powerpoint/2010/main" val="36076876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0BC31FA-AAE4-4290-B6CF-2B2E904C62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0738" y="260797"/>
            <a:ext cx="10470524" cy="6336406"/>
          </a:xfrm>
        </p:spPr>
      </p:pic>
    </p:spTree>
    <p:extLst>
      <p:ext uri="{BB962C8B-B14F-4D97-AF65-F5344CB8AC3E}">
        <p14:creationId xmlns:p14="http://schemas.microsoft.com/office/powerpoint/2010/main" val="1547915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FBC7748-4CF7-4705-9838-46B20AC1D2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7127" y="437882"/>
            <a:ext cx="9955369" cy="6104586"/>
          </a:xfrm>
        </p:spPr>
      </p:pic>
    </p:spTree>
    <p:extLst>
      <p:ext uri="{BB962C8B-B14F-4D97-AF65-F5344CB8AC3E}">
        <p14:creationId xmlns:p14="http://schemas.microsoft.com/office/powerpoint/2010/main" val="7232368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3C5B4-3EE6-4B8B-B49A-CA44868CE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latin typeface="Verdana" panose="020B0604030504040204" pitchFamily="34" charset="0"/>
                <a:ea typeface="Verdana" panose="020B0604030504040204" pitchFamily="34" charset="0"/>
                <a:cs typeface="Tahoma" panose="020B0604030504040204" pitchFamily="34" charset="0"/>
              </a:rPr>
              <a:t>Electro-pneumatic Basic Control Components</a:t>
            </a:r>
            <a:endParaRPr lang="en-TZ" sz="2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9A4A05-15C7-45DB-98F6-B357355734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ahoma" panose="020B0604030504040204" pitchFamily="34" charset="0"/>
              </a:rPr>
              <a:t>5. Sensor</a:t>
            </a:r>
            <a:endParaRPr lang="en-TZ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Sensors have the task of measuring information and passing this on to the signal processing unit of the control system in a form that can easily be processed. </a:t>
            </a:r>
          </a:p>
          <a:p>
            <a:pPr marL="0" indent="0">
              <a:buNone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In electro-pneumatics controlling systems, sensors are primarily used for the following purposes: </a:t>
            </a:r>
          </a:p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To detect the advanced and retracted end position of the piston rod in cylinder drives. </a:t>
            </a:r>
          </a:p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To detect the presence and position of work piece. </a:t>
            </a:r>
          </a:p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To measure and monitor pressure. </a:t>
            </a:r>
            <a:endParaRPr lang="en-TZ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23380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8CE00-C3D1-4B2B-9095-53CC16505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Verdana" panose="020B0604030504040204" pitchFamily="34" charset="0"/>
                <a:ea typeface="Verdana" panose="020B0604030504040204" pitchFamily="34" charset="0"/>
                <a:cs typeface="Tahoma" panose="020B0604030504040204" pitchFamily="34" charset="0"/>
              </a:rPr>
              <a:t>Electro-pneumatic Basic Control Components</a:t>
            </a:r>
            <a:endParaRPr lang="en-TZ" sz="3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DE6FB1-FD0F-4E4A-BA8E-308B5DC85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ahoma" panose="020B0604030504040204" pitchFamily="34" charset="0"/>
              </a:rPr>
              <a:t>5. Sensor </a:t>
            </a:r>
            <a:r>
              <a:rPr lang="en-US" b="1" i="0" dirty="0">
                <a:solidFill>
                  <a:schemeClr val="accent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ahoma" panose="020B0604030504040204" pitchFamily="34" charset="0"/>
              </a:rPr>
              <a:t>cont..</a:t>
            </a:r>
            <a:endParaRPr lang="en-TZ" b="1" dirty="0">
              <a:solidFill>
                <a:schemeClr val="accent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The following sensors are widely used in the industry: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1. Limit switch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2. Proximity switches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3. Pressure switches</a:t>
            </a:r>
            <a:endParaRPr lang="en-TZ" dirty="0">
              <a:solidFill>
                <a:schemeClr val="accent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41047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801FC-38DC-4053-83D0-AB0C035AA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Verdana" panose="020B0604030504040204" pitchFamily="34" charset="0"/>
                <a:ea typeface="Verdana" panose="020B0604030504040204" pitchFamily="34" charset="0"/>
                <a:cs typeface="Tahoma" panose="020B0604030504040204" pitchFamily="34" charset="0"/>
              </a:rPr>
              <a:t>Electro-pneumatic Basic Control Components</a:t>
            </a:r>
            <a:endParaRPr lang="en-TZ" sz="3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83391-A75E-4E9D-BE55-012FBA53C1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514350" indent="-514350">
              <a:buAutoNum type="arabicPeriod"/>
            </a:pPr>
            <a:r>
              <a:rPr lang="en-US" sz="2800" b="1" i="0" dirty="0">
                <a:solidFill>
                  <a:schemeClr val="accent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Limit switches</a:t>
            </a:r>
            <a:endParaRPr lang="en-US" b="1" i="0" dirty="0">
              <a:solidFill>
                <a:schemeClr val="accent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indent="0">
              <a:buNone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limit switch </a:t>
            </a:r>
            <a:r>
              <a:rPr lang="en-US" sz="28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is a 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switch that is actuated due to the position of a fluid power</a:t>
            </a:r>
          </a:p>
          <a:p>
            <a:pPr marL="0" indent="0">
              <a:buNone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component (usually a piston rod or hydraulic motor shaft or the position of load)  </a:t>
            </a:r>
          </a:p>
          <a:p>
            <a:pPr marL="0" indent="0">
              <a:buNone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The actuation of a limit switch provides an electrical signal that causes an </a:t>
            </a:r>
          </a:p>
          <a:p>
            <a:pPr marL="0" indent="0">
              <a:buNone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appropriate system response.</a:t>
            </a:r>
          </a:p>
          <a:p>
            <a:pPr marL="0" indent="0">
              <a:buNone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Limit switches perform the same function as push button switches. </a:t>
            </a:r>
          </a:p>
          <a:p>
            <a:pPr marL="0" indent="0">
              <a:buNone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Push buttons are manually actuated whereas limit switches are mechanically</a:t>
            </a:r>
          </a:p>
          <a:p>
            <a:pPr marL="0" indent="0">
              <a:buNone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actuated</a:t>
            </a: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</a:p>
          <a:p>
            <a:pPr marL="0" indent="0">
              <a:buNone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 limit switch can be used in circuit according to one of the following:</a:t>
            </a:r>
          </a:p>
          <a:p>
            <a:pPr marL="0" indent="0">
              <a:buNone/>
            </a:pPr>
            <a:r>
              <a:rPr lang="en-US" sz="2800" b="0" i="0" dirty="0">
                <a:solidFill>
                  <a:srgbClr val="33339A"/>
                </a:solidFill>
                <a:effectLst/>
                <a:latin typeface="Wingdings-Regular"/>
              </a:rPr>
              <a:t> 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Normally open switch</a:t>
            </a:r>
          </a:p>
          <a:p>
            <a:pPr marL="0" indent="0">
              <a:buNone/>
            </a:pPr>
            <a:r>
              <a:rPr lang="en-US" sz="2800" b="0" i="0">
                <a:solidFill>
                  <a:srgbClr val="33339A"/>
                </a:solidFill>
                <a:effectLst/>
                <a:latin typeface="Wingdings-Regular"/>
              </a:rPr>
              <a:t> 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Normally </a:t>
            </a:r>
            <a:r>
              <a:rPr lang="en-US" sz="2800" b="0" i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closed switch</a:t>
            </a:r>
          </a:p>
          <a:p>
            <a:pPr marL="0" indent="0">
              <a:buNone/>
            </a:pPr>
            <a:r>
              <a:rPr lang="en-US" sz="2800" b="0" i="0">
                <a:solidFill>
                  <a:srgbClr val="33339A"/>
                </a:solidFill>
                <a:effectLst/>
                <a:latin typeface="Wingdings-Regular"/>
              </a:rPr>
              <a:t> 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Changeover switch</a:t>
            </a:r>
            <a:r>
              <a:rPr lang="en-US" sz="2800" dirty="0"/>
              <a:t> </a:t>
            </a:r>
            <a:br>
              <a:rPr lang="en-US" sz="2800" dirty="0"/>
            </a:br>
            <a:endParaRPr lang="en-TZ" sz="2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24481699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6CB593E-6AE0-4F25-8D1B-4B0826AE1F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30267" y="1690688"/>
            <a:ext cx="3781425" cy="41052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BD4A926-8712-441E-BFB8-30D2605DF3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5346" y="350950"/>
            <a:ext cx="4437845" cy="5779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936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564A0-546F-4D23-B08B-41BB72529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Verdana" panose="020B0604030504040204" pitchFamily="34" charset="0"/>
                <a:ea typeface="Verdana" panose="020B0604030504040204" pitchFamily="34" charset="0"/>
                <a:cs typeface="Tahoma" panose="020B0604030504040204" pitchFamily="34" charset="0"/>
              </a:rPr>
              <a:t>Electro-pneumatic Basic Control Components</a:t>
            </a:r>
            <a:endParaRPr lang="en-TZ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7AEEA-2CFF-46AE-965F-34BB7D0041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2. Proximity switches </a:t>
            </a:r>
          </a:p>
          <a:p>
            <a:pPr marL="0" indent="0">
              <a:buNone/>
            </a:pPr>
            <a:r>
              <a:rPr lang="en-US" b="0" i="0" dirty="0">
                <a:solidFill>
                  <a:srgbClr val="202124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A proximity sensor is a device that </a:t>
            </a:r>
            <a:r>
              <a:rPr lang="en-US" i="0" dirty="0">
                <a:solidFill>
                  <a:srgbClr val="202124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can detect or sense the approach or presence of nearby objects and </a:t>
            </a:r>
            <a:r>
              <a:rPr lang="en-US" b="0" i="0" dirty="0">
                <a:solidFill>
                  <a:srgbClr val="202124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for this it does not need physical contact. </a:t>
            </a:r>
          </a:p>
          <a:p>
            <a:pPr marL="0" indent="0">
              <a:buNone/>
            </a:pPr>
            <a:r>
              <a:rPr lang="en-US" b="0" i="0" dirty="0">
                <a:solidFill>
                  <a:srgbClr val="202124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There are different kinds of proximity sensors. Some of them are.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</a:p>
          <a:p>
            <a:pPr marL="0" indent="0">
              <a:buNone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a. Reed switch </a:t>
            </a:r>
          </a:p>
          <a:p>
            <a:pPr marL="0" indent="0">
              <a:buNone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b. Inductive proximity switch </a:t>
            </a:r>
          </a:p>
          <a:p>
            <a:pPr marL="0" indent="0">
              <a:buNone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c. Capacitive proximity switch </a:t>
            </a:r>
          </a:p>
          <a:p>
            <a:pPr marL="0" indent="0">
              <a:buNone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d. Optical proximity switch witches </a:t>
            </a:r>
          </a:p>
          <a:p>
            <a:pPr marL="0" indent="0">
              <a:buNone/>
            </a:pPr>
            <a:endParaRPr lang="en-TZ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85494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89244-0FF5-4416-B06B-DFD0EC206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Verdana" panose="020B0604030504040204" pitchFamily="34" charset="0"/>
                <a:ea typeface="Verdana" panose="020B0604030504040204" pitchFamily="34" charset="0"/>
                <a:cs typeface="Tahoma" panose="020B0604030504040204" pitchFamily="34" charset="0"/>
              </a:rPr>
              <a:t>Electro-pneumatic Basic Control Components</a:t>
            </a:r>
            <a:endParaRPr lang="en-TZ" sz="3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F31210-A429-4229-963C-6C6D534E4D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5003" y="1825625"/>
            <a:ext cx="1152659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800" b="1" i="0" dirty="0">
                <a:solidFill>
                  <a:schemeClr val="accent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3. Pressure switches</a:t>
            </a:r>
            <a:br>
              <a:rPr lang="en-US" sz="28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A pressure switch is a pneumatic-electric signal converter.</a:t>
            </a:r>
          </a:p>
          <a:p>
            <a:pPr marL="0" indent="0">
              <a:buNone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Pressure switches are used to sense a change in pressure, and opens or closes an electrical switch when a predetermined pressure is  reached.</a:t>
            </a: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br>
              <a:rPr lang="en-US" sz="28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Bellow or diaphragm is used to sense the change of pressure and expand or contract in response to increase or decrease of pressure. </a:t>
            </a:r>
          </a:p>
          <a:p>
            <a:pPr marL="0" indent="0">
              <a:buNone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When the pressure is applied at the inlet and when the pre-set pressure is reached, the diaphragm expands and pushes the spring loaded plunger to make/break contact.</a:t>
            </a:r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18507879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CF534FDE-A790-414D-A320-0C24261F9B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06828" y="373487"/>
            <a:ext cx="8340141" cy="6761409"/>
          </a:xfrm>
        </p:spPr>
      </p:pic>
    </p:spTree>
    <p:extLst>
      <p:ext uri="{BB962C8B-B14F-4D97-AF65-F5344CB8AC3E}">
        <p14:creationId xmlns:p14="http://schemas.microsoft.com/office/powerpoint/2010/main" val="17712803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36B13-AE0B-4895-9F4F-93647EA44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Verdana" panose="020B0604030504040204" pitchFamily="34" charset="0"/>
                <a:ea typeface="Verdana" panose="020B0604030504040204" pitchFamily="34" charset="0"/>
                <a:cs typeface="Tahoma" panose="020B0604030504040204" pitchFamily="34" charset="0"/>
              </a:rPr>
              <a:t>Electro-pneumatic Signal Control System </a:t>
            </a:r>
            <a:endParaRPr lang="en-TZ" sz="3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F1063238-A5F4-47E5-BABB-B44875A7C2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53378" y="1825625"/>
            <a:ext cx="4885244" cy="4351338"/>
          </a:xfrm>
        </p:spPr>
      </p:pic>
    </p:spTree>
    <p:extLst>
      <p:ext uri="{BB962C8B-B14F-4D97-AF65-F5344CB8AC3E}">
        <p14:creationId xmlns:p14="http://schemas.microsoft.com/office/powerpoint/2010/main" val="24732030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D9AB2-87E9-4F86-AF40-4BA609886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Verdana" panose="020B0604030504040204" pitchFamily="34" charset="0"/>
                <a:ea typeface="Verdana" panose="020B0604030504040204" pitchFamily="34" charset="0"/>
                <a:cs typeface="Tahoma" panose="020B0604030504040204" pitchFamily="34" charset="0"/>
              </a:rPr>
              <a:t>Electro-pneumatic Signal Control System </a:t>
            </a:r>
            <a:endParaRPr lang="en-TZ" sz="3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84CD4C-5F2A-4AAD-A63D-17ADB19CED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Tahoma" panose="020B0604030504040204" pitchFamily="34" charset="0"/>
              </a:rPr>
              <a:t>S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ahoma" panose="020B0604030504040204" pitchFamily="34" charset="0"/>
              </a:rPr>
              <a:t>ignal flow within an electro-pneumatic system is as follows.</a:t>
            </a:r>
            <a:br>
              <a:rPr lang="en-US" sz="20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ahoma" panose="020B0604030504040204" pitchFamily="34" charset="0"/>
              </a:rPr>
            </a:br>
            <a:r>
              <a:rPr lang="en-US" sz="20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ahoma" panose="020B0604030504040204" pitchFamily="34" charset="0"/>
              </a:rPr>
              <a:t>1. Signal input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ahoma" panose="020B0604030504040204" pitchFamily="34" charset="0"/>
              </a:rPr>
              <a:t>: This signal is usually generated from sensor or switch.</a:t>
            </a:r>
            <a:br>
              <a:rPr lang="en-US" sz="20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ahoma" panose="020B0604030504040204" pitchFamily="34" charset="0"/>
              </a:rPr>
            </a:br>
            <a:r>
              <a:rPr lang="en-US" sz="20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ahoma" panose="020B0604030504040204" pitchFamily="34" charset="0"/>
              </a:rPr>
              <a:t>2. Signal processing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ahoma" panose="020B0604030504040204" pitchFamily="34" charset="0"/>
              </a:rPr>
              <a:t>: The signal is processed in the processing station such as relay, contactors, PLC</a:t>
            </a:r>
            <a:br>
              <a:rPr lang="en-US" sz="20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ahoma" panose="020B0604030504040204" pitchFamily="34" charset="0"/>
              </a:rPr>
            </a:br>
            <a:r>
              <a:rPr lang="en-US" sz="20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ahoma" panose="020B0604030504040204" pitchFamily="34" charset="0"/>
              </a:rPr>
              <a:t>3. Signal output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ahoma" panose="020B0604030504040204" pitchFamily="34" charset="0"/>
              </a:rPr>
              <a:t>: The signal forms as a link between the signal control section and the power section. Solenoid-DCV</a:t>
            </a:r>
            <a:br>
              <a:rPr lang="en-US" sz="20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ahoma" panose="020B0604030504040204" pitchFamily="34" charset="0"/>
              </a:rPr>
            </a:br>
            <a:r>
              <a:rPr lang="en-US" sz="20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ahoma" panose="020B0604030504040204" pitchFamily="34" charset="0"/>
              </a:rPr>
              <a:t>4. Command execution: </a:t>
            </a:r>
            <a:r>
              <a:rPr lang="en-US" sz="20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Tahoma" panose="020B0604030504040204" pitchFamily="34" charset="0"/>
              </a:rPr>
              <a:t>I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ahoma" panose="020B0604030504040204" pitchFamily="34" charset="0"/>
              </a:rPr>
              <a:t>t takes place at high power level either </a:t>
            </a:r>
            <a:r>
              <a:rPr lang="en-US" sz="20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ahoma" panose="020B0604030504040204" pitchFamily="34" charset="0"/>
              </a:rPr>
              <a:t>for:Pneumatic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ahoma" panose="020B0604030504040204" pitchFamily="34" charset="0"/>
              </a:rPr>
              <a:t> Cylinders, motors</a:t>
            </a:r>
            <a:br>
              <a: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TZ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90322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B00ED-0269-489D-AF89-7EFB81F4C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Electro-pneumatic Signal Control System </a:t>
            </a:r>
            <a:endParaRPr lang="en-TZ" sz="28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0C48D79-2C15-4901-AE2D-182F3DCE49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83893" y="1214651"/>
            <a:ext cx="6595849" cy="5472752"/>
          </a:xfrm>
        </p:spPr>
      </p:pic>
    </p:spTree>
    <p:extLst>
      <p:ext uri="{BB962C8B-B14F-4D97-AF65-F5344CB8AC3E}">
        <p14:creationId xmlns:p14="http://schemas.microsoft.com/office/powerpoint/2010/main" val="9239013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513EF-F13F-4A5B-9475-38E67BD3B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87103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Verdana" panose="020B0604030504040204" pitchFamily="34" charset="0"/>
                <a:ea typeface="Verdana" panose="020B0604030504040204" pitchFamily="34" charset="0"/>
                <a:cs typeface="Tahoma" panose="020B0604030504040204" pitchFamily="34" charset="0"/>
              </a:rPr>
              <a:t>Electro-pneumatic Signal Control System </a:t>
            </a:r>
            <a:endParaRPr lang="en-TZ" sz="3200" b="1" dirty="0">
              <a:latin typeface="Verdana" panose="020B0604030504040204" pitchFamily="34" charset="0"/>
              <a:ea typeface="Verdan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26BDADD-BACC-4BC2-A537-2F553028C0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02007" y="887104"/>
            <a:ext cx="6359856" cy="5868538"/>
          </a:xfrm>
        </p:spPr>
      </p:pic>
    </p:spTree>
    <p:extLst>
      <p:ext uri="{BB962C8B-B14F-4D97-AF65-F5344CB8AC3E}">
        <p14:creationId xmlns:p14="http://schemas.microsoft.com/office/powerpoint/2010/main" val="308411206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C204-A65C-49D6-B344-3D66583FA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Verdana" panose="020B0604030504040204" pitchFamily="34" charset="0"/>
                <a:ea typeface="Verdana" panose="020B0604030504040204" pitchFamily="34" charset="0"/>
                <a:cs typeface="Tahoma" panose="020B0604030504040204" pitchFamily="34" charset="0"/>
              </a:rPr>
              <a:t>Direct Control in Electro-pneumatic</a:t>
            </a:r>
            <a:endParaRPr lang="en-TZ" sz="3200" b="1" dirty="0">
              <a:latin typeface="Verdana" panose="020B0604030504040204" pitchFamily="34" charset="0"/>
              <a:ea typeface="Verdan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A4384C-44A1-4BE8-B9D8-D545F5160F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Direct control 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is the control of an electro-pneumatics valve without using intermediate components such as a relay, a contactor or an industrial computer(PLC).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b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1800" b="1" i="0" dirty="0">
                <a:solidFill>
                  <a:srgbClr val="333399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Advantages of direct control</a:t>
            </a:r>
          </a:p>
          <a:p>
            <a:r>
              <a:rPr lang="en-US" sz="1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Simple and easy</a:t>
            </a:r>
          </a:p>
          <a:p>
            <a:r>
              <a:rPr lang="en-US" sz="1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Cheap</a:t>
            </a:r>
          </a:p>
          <a:p>
            <a:pPr marL="0" indent="0">
              <a:buNone/>
            </a:pPr>
            <a:r>
              <a:rPr lang="en-US" sz="1800" b="1" i="0" dirty="0">
                <a:solidFill>
                  <a:srgbClr val="333399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Disadvantages of direct control</a:t>
            </a:r>
            <a:endParaRPr lang="en-US" sz="1800" b="1" dirty="0">
              <a:solidFill>
                <a:srgbClr val="333399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1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Remote control is not possible</a:t>
            </a:r>
          </a:p>
          <a:p>
            <a:r>
              <a:rPr lang="en-US" sz="1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Switching more than one valve at a time is not possible</a:t>
            </a:r>
            <a:endParaRPr lang="en-US" sz="1800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1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Latching is not possible</a:t>
            </a:r>
          </a:p>
          <a:p>
            <a:r>
              <a:rPr lang="en-US" sz="1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Design improvement is not flexible</a:t>
            </a:r>
            <a:br>
              <a:rPr lang="en-US" dirty="0"/>
            </a:br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300315916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202E0-7F1C-49D4-8EAE-519DB58D3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Verdana" panose="020B0604030504040204" pitchFamily="34" charset="0"/>
                <a:ea typeface="Verdana" panose="020B0604030504040204" pitchFamily="34" charset="0"/>
                <a:cs typeface="Tahoma" panose="020B0604030504040204" pitchFamily="34" charset="0"/>
              </a:rPr>
              <a:t>Direct Control in Electro-pneumatic</a:t>
            </a:r>
            <a:endParaRPr lang="en-TZ" sz="3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F6AC80-BE2F-491E-8BD0-BFA45101DD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3275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2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Direct Control of single acting cylinder</a:t>
            </a:r>
            <a:r>
              <a:rPr lang="en-US" sz="15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br>
              <a:rPr lang="en-US" sz="15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br>
              <a:rPr lang="en-US" sz="22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200" b="1" i="0" dirty="0">
                <a:solidFill>
                  <a:srgbClr val="FF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Forward stroke</a:t>
            </a:r>
          </a:p>
          <a:p>
            <a:pPr marL="0" indent="0">
              <a:buNone/>
            </a:pPr>
            <a:r>
              <a:rPr lang="en-US" sz="2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The circuit is closed when push button PB closes. </a:t>
            </a:r>
          </a:p>
          <a:p>
            <a:pPr marL="0" indent="0">
              <a:buNone/>
            </a:pPr>
            <a:r>
              <a:rPr lang="en-US" sz="2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A magnetic field is produced in the coil Y. </a:t>
            </a:r>
          </a:p>
          <a:p>
            <a:pPr marL="0" indent="0">
              <a:buNone/>
            </a:pPr>
            <a:r>
              <a:rPr lang="en-US" sz="2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The armature in the coil opens the passage for the compressed air. </a:t>
            </a:r>
          </a:p>
          <a:p>
            <a:pPr marL="0" indent="0">
              <a:buNone/>
            </a:pPr>
            <a:r>
              <a:rPr lang="en-US" sz="2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The compressed airflows from 1 to 2 of the 3/2 DCV to cylinder, which travels 3/2</a:t>
            </a:r>
          </a:p>
          <a:p>
            <a:pPr marL="0" indent="0">
              <a:buNone/>
            </a:pPr>
            <a:r>
              <a:rPr lang="en-US" sz="2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way the</a:t>
            </a:r>
            <a:r>
              <a:rPr lang="en-US" sz="22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final forward position.</a:t>
            </a:r>
          </a:p>
          <a:p>
            <a:pPr marL="0" indent="0">
              <a:buNone/>
            </a:pPr>
            <a:r>
              <a:rPr lang="en-US" sz="2200" b="1" i="0" dirty="0">
                <a:solidFill>
                  <a:srgbClr val="FF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Return stroke </a:t>
            </a:r>
          </a:p>
          <a:p>
            <a:pPr marL="0" indent="0">
              <a:buNone/>
            </a:pPr>
            <a:r>
              <a:rPr lang="en-US" sz="2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When the push button PB is released, the circuit is interrupted. </a:t>
            </a:r>
          </a:p>
          <a:p>
            <a:pPr marL="0" indent="0">
              <a:buNone/>
            </a:pPr>
            <a:r>
              <a:rPr lang="en-US" sz="2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The magnetic field at coil Y collapses, the 3/2-way valve switches back to its original</a:t>
            </a:r>
          </a:p>
          <a:p>
            <a:pPr marL="0" indent="0">
              <a:buNone/>
            </a:pPr>
            <a:r>
              <a:rPr lang="en-US" sz="2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position as shown in </a:t>
            </a:r>
            <a:r>
              <a:rPr lang="en-US" sz="2200" i="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Figure below</a:t>
            </a:r>
            <a:endParaRPr lang="en-US" sz="2200" b="1" dirty="0">
              <a:solidFill>
                <a:srgbClr val="FF000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indent="0">
              <a:buNone/>
            </a:pPr>
            <a:r>
              <a:rPr lang="en-US" sz="2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The compressed air in the cylinder then exhausts through port 3 of the DCV and the cylinder travel to the final rear position.</a:t>
            </a: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br>
              <a:rPr lang="en-US" dirty="0"/>
            </a:br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429319080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D6EA4F1-2925-43AD-AC1D-B87A83E585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57589" y="173865"/>
            <a:ext cx="7675808" cy="6510269"/>
          </a:xfrm>
        </p:spPr>
      </p:pic>
    </p:spTree>
    <p:extLst>
      <p:ext uri="{BB962C8B-B14F-4D97-AF65-F5344CB8AC3E}">
        <p14:creationId xmlns:p14="http://schemas.microsoft.com/office/powerpoint/2010/main" val="421590519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3750C-C037-4F60-B08B-1E6B2402A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Verdana" panose="020B0604030504040204" pitchFamily="34" charset="0"/>
                <a:ea typeface="Verdana" panose="020B0604030504040204" pitchFamily="34" charset="0"/>
                <a:cs typeface="Tahoma" panose="020B0604030504040204" pitchFamily="34" charset="0"/>
              </a:rPr>
              <a:t>Direct Control in Electro-pneumatic</a:t>
            </a:r>
            <a:endParaRPr lang="en-TZ" sz="3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E444A0-32FE-4BDA-88F6-FF79DAEC1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Direct Control of double acting cylinder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b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1800" b="1" i="0" dirty="0">
                <a:solidFill>
                  <a:srgbClr val="FF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Forward stroke</a:t>
            </a:r>
          </a:p>
          <a:p>
            <a:pPr marL="0" indent="0"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The double acting cylinder is controlled by 5/2-way valve. </a:t>
            </a:r>
          </a:p>
          <a:p>
            <a:pPr marL="0" indent="0"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When the pushbutton PB is pressed, coil Y is energized and the directional control valve is activated by compressed air via pilot control. </a:t>
            </a:r>
          </a:p>
          <a:p>
            <a:pPr marL="0" indent="0"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The piston travels to the final forward position.</a:t>
            </a:r>
          </a:p>
          <a:p>
            <a:pPr marL="0" indent="0">
              <a:buNone/>
            </a:pPr>
            <a:r>
              <a:rPr lang="en-US" sz="1800" b="1" i="0" dirty="0">
                <a:solidFill>
                  <a:srgbClr val="FF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Return stroke</a:t>
            </a:r>
          </a:p>
          <a:p>
            <a:pPr marL="0" indent="0"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When the push button PB is released, the circuit is interrupted. </a:t>
            </a:r>
          </a:p>
          <a:p>
            <a:pPr marL="0" indent="0"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The magnetic field at coil Y collapses, the return spring of 5/2 becomes active and the 5/2-way valve switches back to its original position as shown in </a:t>
            </a:r>
            <a:r>
              <a:rPr lang="en-US" sz="1800" i="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Figure below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. </a:t>
            </a:r>
          </a:p>
          <a:p>
            <a:pPr marL="0" indent="0"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The compressed air in the cylinder then exhausts through port 5 of the 5/2 DCV and the cylinder travel to the final rear position.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b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</a:br>
            <a:endParaRPr lang="en-TZ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743992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09FB3FF-A2FC-4DBB-B1AA-74557A87B6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74254" y="120739"/>
            <a:ext cx="7856112" cy="6616521"/>
          </a:xfrm>
        </p:spPr>
      </p:pic>
    </p:spTree>
    <p:extLst>
      <p:ext uri="{BB962C8B-B14F-4D97-AF65-F5344CB8AC3E}">
        <p14:creationId xmlns:p14="http://schemas.microsoft.com/office/powerpoint/2010/main" val="234291938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DC4F2-5560-4859-BFEF-4A81F9852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Verdana" panose="020B0604030504040204" pitchFamily="34" charset="0"/>
                <a:ea typeface="Verdana" panose="020B0604030504040204" pitchFamily="34" charset="0"/>
                <a:cs typeface="Tahoma" panose="020B0604030504040204" pitchFamily="34" charset="0"/>
              </a:rPr>
              <a:t>Indirect control in Electro-pneumatic</a:t>
            </a:r>
            <a:endParaRPr lang="en-TZ" sz="3200" b="1" dirty="0">
              <a:latin typeface="Verdana" panose="020B0604030504040204" pitchFamily="34" charset="0"/>
              <a:ea typeface="Verdan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9C0FF1-9E33-47F0-8C5B-1CE83A4530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Indirect control is the control of an electro-pneumatic valve using intermediate components such as a relay, a contactor or any industrial computer (PLC).</a:t>
            </a:r>
            <a:br>
              <a:rPr lang="en-US" sz="20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</a:br>
            <a:r>
              <a:rPr lang="en-US" sz="2000" b="1" i="0" dirty="0">
                <a:solidFill>
                  <a:srgbClr val="333399"/>
                </a:solidFill>
                <a:effectLst/>
                <a:latin typeface="Verdana" panose="020B0604030504040204" pitchFamily="34" charset="0"/>
              </a:rPr>
              <a:t>Advantages of indirect control systems</a:t>
            </a:r>
            <a:endParaRPr lang="en-US" sz="2000" b="1" dirty="0">
              <a:solidFill>
                <a:srgbClr val="333399"/>
              </a:solidFill>
              <a:latin typeface="Verdana" panose="020B0604030504040204" pitchFamily="34" charset="0"/>
            </a:endParaRPr>
          </a:p>
          <a:p>
            <a:r>
              <a:rPr lang="en-US" sz="20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Remote control is possible</a:t>
            </a:r>
            <a:endParaRPr lang="en-US" sz="20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r>
              <a:rPr lang="en-US" sz="20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Switching more than one valve at a time is possible</a:t>
            </a:r>
            <a:endParaRPr lang="en-US" sz="20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r>
              <a:rPr lang="en-US" sz="20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Latching is possible</a:t>
            </a:r>
          </a:p>
          <a:p>
            <a:r>
              <a:rPr lang="en-US" sz="20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Flexible design improvement and development</a:t>
            </a:r>
          </a:p>
          <a:p>
            <a:pPr marL="0" indent="0">
              <a:buNone/>
            </a:pPr>
            <a:r>
              <a:rPr lang="en-US" sz="2000" b="1" i="0" dirty="0">
                <a:solidFill>
                  <a:srgbClr val="333399"/>
                </a:solidFill>
                <a:effectLst/>
                <a:latin typeface="Verdana" panose="020B0604030504040204" pitchFamily="34" charset="0"/>
              </a:rPr>
              <a:t>Disadvantages of indirect control</a:t>
            </a:r>
            <a:endParaRPr lang="en-US" sz="2000" b="1" dirty="0">
              <a:solidFill>
                <a:srgbClr val="333399"/>
              </a:solidFill>
              <a:latin typeface="Verdana" panose="020B0604030504040204" pitchFamily="34" charset="0"/>
            </a:endParaRPr>
          </a:p>
          <a:p>
            <a:r>
              <a:rPr lang="en-US" sz="20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Complicated, more wiring</a:t>
            </a:r>
          </a:p>
          <a:p>
            <a:r>
              <a:rPr lang="en-US" sz="20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More cost involved</a:t>
            </a:r>
            <a:r>
              <a:rPr lang="en-US" sz="3200" dirty="0"/>
              <a:t> </a:t>
            </a:r>
            <a:br>
              <a:rPr lang="en-US" dirty="0"/>
            </a:br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327973176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C6C71-9170-413C-8416-18B2529DB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Verdana" panose="020B0604030504040204" pitchFamily="34" charset="0"/>
                <a:ea typeface="Verdana" panose="020B0604030504040204" pitchFamily="34" charset="0"/>
                <a:cs typeface="Tahoma" panose="020B0604030504040204" pitchFamily="34" charset="0"/>
              </a:rPr>
              <a:t>Indirect control in Electro-pneumatic</a:t>
            </a:r>
            <a:endParaRPr lang="en-TZ" sz="3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A59A10-7267-4DDA-9D4D-E0A481BB32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126273" cy="491002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8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Indirect Control of single acting cylinder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br>
              <a:rPr lang="en-US" sz="1200" dirty="0"/>
            </a:br>
            <a:b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1800" b="1" i="0" dirty="0">
                <a:solidFill>
                  <a:srgbClr val="FF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Forward stroke</a:t>
            </a:r>
          </a:p>
          <a:p>
            <a:pPr marL="0" indent="0"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The circuit is closed when push button PB closes. </a:t>
            </a:r>
          </a:p>
          <a:p>
            <a:pPr marL="0" indent="0"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Closing of Push button PB energizes a relay K1. </a:t>
            </a:r>
          </a:p>
          <a:p>
            <a:pPr marL="0" indent="0"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The coil Y is energized via normally open contact K1 (indirect energizing).</a:t>
            </a:r>
            <a:br>
              <a:rPr lang="en-US" sz="1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1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A magnetic field is produced in armature of the coil Y opens the passage for the compressed air. </a:t>
            </a:r>
          </a:p>
          <a:p>
            <a:pPr marL="0" indent="0"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The compressed air flows from 1 to 2 of the 3/2 DCV to cylinder, which travels to the final forward position.</a:t>
            </a:r>
            <a:br>
              <a:rPr lang="en-US" sz="1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1800" b="1" i="0" dirty="0">
                <a:solidFill>
                  <a:srgbClr val="FF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Return stroke</a:t>
            </a:r>
            <a:endParaRPr lang="en-US" sz="1800" b="1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indent="0"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When the push button PB is released, the circuit is interrupted. </a:t>
            </a:r>
          </a:p>
          <a:p>
            <a:pPr marL="0" indent="0"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Opening of Push button PB de-energizes a relay K1. </a:t>
            </a:r>
          </a:p>
          <a:p>
            <a:pPr marL="0" indent="0"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The magnetic field at coil Y is collapses due to the opening of contact K1 the 3/2-way valve switches back to its original position as shown in </a:t>
            </a:r>
            <a:r>
              <a:rPr lang="en-US" sz="1800" i="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Figure below. </a:t>
            </a:r>
          </a:p>
          <a:p>
            <a:pPr marL="0" indent="0"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The</a:t>
            </a:r>
            <a:r>
              <a:rPr lang="en-US" sz="18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compressed air in the cylinder then exhausts through port 3 of the DCV and the cylinder travel to the final rear position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endParaRPr lang="en-TZ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2206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A91C068-81ED-413F-B286-5E161F30D9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7488" y="0"/>
            <a:ext cx="7701567" cy="6664816"/>
          </a:xfrm>
        </p:spPr>
      </p:pic>
      <p:pic>
        <p:nvPicPr>
          <p:cNvPr id="2" name="Content Placeholder 4">
            <a:extLst>
              <a:ext uri="{FF2B5EF4-FFF2-40B4-BE49-F238E27FC236}">
                <a16:creationId xmlns:a16="http://schemas.microsoft.com/office/drawing/2014/main" id="{D3159AEA-C550-2496-B8A8-590FBB6287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2200" y="180110"/>
            <a:ext cx="3717781" cy="5456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0874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081D0-ACF2-4FCC-B5E6-ECDEBB7D7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Verdana" panose="020B0604030504040204" pitchFamily="34" charset="0"/>
                <a:ea typeface="Verdana" panose="020B0604030504040204" pitchFamily="34" charset="0"/>
                <a:cs typeface="Tahoma" panose="020B0604030504040204" pitchFamily="34" charset="0"/>
              </a:rPr>
              <a:t>Indirect control in Electro-pneumatic</a:t>
            </a:r>
            <a:endParaRPr lang="en-TZ" sz="3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9F9046-10E0-4B43-9CCB-8E202D9B23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3578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19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Indirect Control of double acting cylinder (using 5/2-way, single solenoid)</a:t>
            </a:r>
            <a:r>
              <a:rPr lang="en-US" sz="13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</a:p>
          <a:p>
            <a:pPr marL="0" indent="0">
              <a:buNone/>
            </a:pPr>
            <a:br>
              <a:rPr lang="en-US" sz="13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1900" b="1" i="0" dirty="0">
                <a:solidFill>
                  <a:srgbClr val="FF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Forward stroke</a:t>
            </a:r>
          </a:p>
          <a:p>
            <a:pPr marL="0" indent="0">
              <a:buNone/>
            </a:pPr>
            <a:r>
              <a:rPr lang="en-US" sz="19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The circuit is closed when push button PB closes. Closing of Push button PB energizes a relay K1. </a:t>
            </a:r>
          </a:p>
          <a:p>
            <a:pPr marL="0" indent="0">
              <a:buNone/>
            </a:pPr>
            <a:r>
              <a:rPr lang="en-US" sz="19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The coil Y is energized via normally open contact K1 (indirect energizing).</a:t>
            </a:r>
          </a:p>
          <a:p>
            <a:pPr marL="0" indent="0">
              <a:buNone/>
            </a:pPr>
            <a:r>
              <a:rPr lang="en-US" sz="19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A magnetic field is produced in armature of the coil Y opens the passage for the</a:t>
            </a:r>
          </a:p>
          <a:p>
            <a:pPr marL="0" indent="0">
              <a:buNone/>
            </a:pPr>
            <a:r>
              <a:rPr lang="en-US" sz="19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compressed air through internal pilot. </a:t>
            </a:r>
          </a:p>
          <a:p>
            <a:pPr marL="0" indent="0">
              <a:buNone/>
            </a:pPr>
            <a:r>
              <a:rPr lang="en-US" sz="19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The compressed air flows from 1 to 4 of the 5/2 DCV to cylinder, which travels to the final forward position.</a:t>
            </a:r>
          </a:p>
          <a:p>
            <a:pPr marL="0" indent="0">
              <a:buNone/>
            </a:pPr>
            <a:r>
              <a:rPr lang="en-US" sz="1900" b="1" i="0" dirty="0">
                <a:solidFill>
                  <a:srgbClr val="FF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Return stroke</a:t>
            </a:r>
          </a:p>
          <a:p>
            <a:pPr marL="0" indent="0">
              <a:buNone/>
            </a:pPr>
            <a:r>
              <a:rPr lang="en-US" sz="19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When the push button PB is released, the circuit is interrupted. </a:t>
            </a:r>
          </a:p>
          <a:p>
            <a:pPr marL="0" indent="0">
              <a:buNone/>
            </a:pPr>
            <a:r>
              <a:rPr lang="en-US" sz="19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Opening of Push button PB de-energizes a relay K1. </a:t>
            </a:r>
          </a:p>
          <a:p>
            <a:pPr marL="0" indent="0">
              <a:buNone/>
            </a:pPr>
            <a:r>
              <a:rPr lang="en-US" sz="19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The magnetic field at coil Y is collapses due to the opening of contact K1 the 5/2-wayvalve switches back to its original position as shown in </a:t>
            </a:r>
            <a:r>
              <a:rPr lang="en-US" sz="1900" i="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Figure below</a:t>
            </a:r>
            <a:r>
              <a:rPr lang="en-US" sz="19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. </a:t>
            </a:r>
          </a:p>
          <a:p>
            <a:pPr marL="0" indent="0">
              <a:buNone/>
            </a:pPr>
            <a:r>
              <a:rPr lang="en-US" sz="19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The compressed air in the cylinder then exhausts through port 5 of the DCV and the cylinder travel to the final rear position</a:t>
            </a:r>
            <a:r>
              <a:rPr lang="en-US" sz="3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238152104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B202FA7-6539-4096-841E-9DE22FD3EB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66684" y="0"/>
            <a:ext cx="8332630" cy="7006107"/>
          </a:xfrm>
        </p:spPr>
      </p:pic>
    </p:spTree>
    <p:extLst>
      <p:ext uri="{BB962C8B-B14F-4D97-AF65-F5344CB8AC3E}">
        <p14:creationId xmlns:p14="http://schemas.microsoft.com/office/powerpoint/2010/main" val="424681433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407EC-21BF-4505-936B-D01CF3204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Verdana" panose="020B0604030504040204" pitchFamily="34" charset="0"/>
                <a:ea typeface="Verdana" panose="020B0604030504040204" pitchFamily="34" charset="0"/>
                <a:cs typeface="Tahoma" panose="020B0604030504040204" pitchFamily="34" charset="0"/>
              </a:rPr>
              <a:t>Indirect control in Electro-pneumatic</a:t>
            </a:r>
            <a:endParaRPr lang="en-TZ" sz="3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7F79F7-8218-41B4-BACC-37692C1FBF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16731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19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Indirect Control of double acting cylinder (using 5/2-way, double solenoid)</a:t>
            </a:r>
            <a:r>
              <a:rPr lang="en-US" sz="13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</a:p>
          <a:p>
            <a:pPr marL="0" indent="0">
              <a:buNone/>
            </a:pPr>
            <a:br>
              <a:rPr lang="en-US" sz="13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1900" b="1" i="0" dirty="0">
                <a:solidFill>
                  <a:srgbClr val="FF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Forward stroke</a:t>
            </a:r>
          </a:p>
          <a:p>
            <a:pPr marL="0" indent="0">
              <a:buNone/>
            </a:pPr>
            <a:r>
              <a:rPr lang="en-US" sz="19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</a:t>
            </a:r>
            <a:r>
              <a:rPr lang="en-US" sz="19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hen push button PB1 is pressed, coil Y1 is energized and 5/2 way directional control valve changes over. </a:t>
            </a:r>
          </a:p>
          <a:p>
            <a:pPr marL="0" indent="0">
              <a:buNone/>
            </a:pPr>
            <a:r>
              <a:rPr lang="en-US" sz="19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The piston travels out and remains in the final forward position until a signal is applied to coil Y2. </a:t>
            </a:r>
          </a:p>
          <a:p>
            <a:pPr marL="0" indent="0">
              <a:buNone/>
            </a:pPr>
            <a:r>
              <a:rPr lang="en-US" sz="19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The 5/2 directional control valve will remain in the last position because it is double solenoid valve and has no return spring.</a:t>
            </a:r>
            <a:br>
              <a:rPr lang="en-US" sz="19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1900" b="1" i="0" dirty="0">
                <a:solidFill>
                  <a:srgbClr val="FF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Return stroke</a:t>
            </a:r>
          </a:p>
          <a:p>
            <a:pPr marL="0" indent="0">
              <a:buNone/>
            </a:pPr>
            <a:r>
              <a:rPr lang="en-US" sz="19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When the push button PB1 is released and PB2 is pressed. </a:t>
            </a:r>
          </a:p>
          <a:p>
            <a:pPr marL="0" indent="0">
              <a:buNone/>
            </a:pPr>
            <a:r>
              <a:rPr lang="en-US" sz="19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Opening of Push button PB1 de-energizes a relay K1. </a:t>
            </a:r>
          </a:p>
          <a:p>
            <a:pPr marL="0" indent="0">
              <a:buNone/>
            </a:pPr>
            <a:r>
              <a:rPr lang="en-US" sz="19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The magnetic field at coil Y1 is collapses due to the opening of contact K1. </a:t>
            </a:r>
          </a:p>
          <a:p>
            <a:pPr marL="0" indent="0">
              <a:buNone/>
            </a:pPr>
            <a:r>
              <a:rPr lang="en-US" sz="19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Closing of PB2 energizes Y2 and the piston returns to its original position as a result of changeover of the 5/2-way valve. </a:t>
            </a:r>
          </a:p>
          <a:p>
            <a:pPr marL="0" indent="0">
              <a:buNone/>
            </a:pPr>
            <a:r>
              <a:rPr lang="en-US" sz="19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The 5/2 way directional control valve will not switch over if there is an active opposing signal. </a:t>
            </a:r>
          </a:p>
          <a:p>
            <a:pPr marL="0" indent="0">
              <a:buNone/>
            </a:pPr>
            <a:r>
              <a:rPr lang="en-US" sz="19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For example, if Y1 is switched on and a signal is given to Y2, there will be no reaction as there would be an opposing signal</a:t>
            </a:r>
            <a:r>
              <a:rPr lang="en-US" sz="33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884636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C7C2C28-3DBE-4754-BCF8-45875A2F22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15922" y="180305"/>
            <a:ext cx="8332630" cy="6677695"/>
          </a:xfrm>
        </p:spPr>
      </p:pic>
    </p:spTree>
    <p:extLst>
      <p:ext uri="{BB962C8B-B14F-4D97-AF65-F5344CB8AC3E}">
        <p14:creationId xmlns:p14="http://schemas.microsoft.com/office/powerpoint/2010/main" val="16243194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734C8-C16E-4801-1F3B-92EB4F8C8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Assignment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341FA8-95E5-9E3C-BA02-C6504BC4B0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Describe how relay works</a:t>
            </a:r>
          </a:p>
        </p:txBody>
      </p:sp>
    </p:spTree>
    <p:extLst>
      <p:ext uri="{BB962C8B-B14F-4D97-AF65-F5344CB8AC3E}">
        <p14:creationId xmlns:p14="http://schemas.microsoft.com/office/powerpoint/2010/main" val="4346131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9900</TotalTime>
  <Words>2049</Words>
  <Application>Microsoft Office PowerPoint</Application>
  <PresentationFormat>Widescreen</PresentationFormat>
  <Paragraphs>193</Paragraphs>
  <Slides>48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5" baseType="lpstr">
      <vt:lpstr>Arial</vt:lpstr>
      <vt:lpstr>Calibri</vt:lpstr>
      <vt:lpstr>Calibri Light</vt:lpstr>
      <vt:lpstr>Tahoma</vt:lpstr>
      <vt:lpstr>Verdana</vt:lpstr>
      <vt:lpstr>Wingdings-Regular</vt:lpstr>
      <vt:lpstr>Office Theme</vt:lpstr>
      <vt:lpstr>Lecture 3;  Direct and indirect control in Electro-pneumatic</vt:lpstr>
      <vt:lpstr>Presentation outline</vt:lpstr>
      <vt:lpstr>Electro-pneumatic Basic Control Components</vt:lpstr>
      <vt:lpstr>Electro-pneumatics Basic Control Components</vt:lpstr>
      <vt:lpstr>Electro-pneumatic Basic Control Components</vt:lpstr>
      <vt:lpstr>Electro-pneumatic Basic Control Components</vt:lpstr>
      <vt:lpstr>PowerPoint Presentation</vt:lpstr>
      <vt:lpstr>Electro-pneumatic Basic Control Components</vt:lpstr>
      <vt:lpstr>PowerPoint Presentation</vt:lpstr>
      <vt:lpstr>Electro-pneumatic Basic Control Components</vt:lpstr>
      <vt:lpstr>Electro-pneumatic Basic Control Components</vt:lpstr>
      <vt:lpstr>Electro-pneumatic Basic Control Components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Electro-pneumatic Basic Control Components</vt:lpstr>
      <vt:lpstr>Electro-pneumatic Basic Control Components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Electro-pneumatic Basic Control Components</vt:lpstr>
      <vt:lpstr>Electro-pneumatic Basic Control Components</vt:lpstr>
      <vt:lpstr>Electro-pneumatic Basic Control Components</vt:lpstr>
      <vt:lpstr>PowerPoint Presentation</vt:lpstr>
      <vt:lpstr>Electro-pneumatic Basic Control Components</vt:lpstr>
      <vt:lpstr>Electro-pneumatic Basic Control Components</vt:lpstr>
      <vt:lpstr>PowerPoint Presentation</vt:lpstr>
      <vt:lpstr>Electro-pneumatic Signal Control System </vt:lpstr>
      <vt:lpstr>Electro-pneumatic Signal Control System </vt:lpstr>
      <vt:lpstr>Electro-pneumatic Signal Control System </vt:lpstr>
      <vt:lpstr>Electro-pneumatic Signal Control System </vt:lpstr>
      <vt:lpstr>Direct Control in Electro-pneumatic</vt:lpstr>
      <vt:lpstr>Direct Control in Electro-pneumatic</vt:lpstr>
      <vt:lpstr>PowerPoint Presentation</vt:lpstr>
      <vt:lpstr>Direct Control in Electro-pneumatic</vt:lpstr>
      <vt:lpstr>PowerPoint Presentation</vt:lpstr>
      <vt:lpstr>Indirect control in Electro-pneumatic</vt:lpstr>
      <vt:lpstr>Indirect control in Electro-pneumatic</vt:lpstr>
      <vt:lpstr>PowerPoint Presentation</vt:lpstr>
      <vt:lpstr>Indirect control in Electro-pneumatic</vt:lpstr>
      <vt:lpstr>PowerPoint Presentation</vt:lpstr>
      <vt:lpstr>Indirect control in Electro-pneumatic</vt:lpstr>
      <vt:lpstr>PowerPoint Presentation</vt:lpstr>
      <vt:lpstr>Assignment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3; Direct and indirect control in Electro-pneumatic</dc:title>
  <dc:creator>Shanel</dc:creator>
  <cp:lastModifiedBy>Shanel</cp:lastModifiedBy>
  <cp:revision>108</cp:revision>
  <dcterms:created xsi:type="dcterms:W3CDTF">2022-04-11T19:10:00Z</dcterms:created>
  <dcterms:modified xsi:type="dcterms:W3CDTF">2025-04-01T06:57:20Z</dcterms:modified>
</cp:coreProperties>
</file>