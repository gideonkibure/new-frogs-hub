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317" r:id="rId8"/>
    <p:sldId id="263" r:id="rId9"/>
    <p:sldId id="264" r:id="rId10"/>
    <p:sldId id="266" r:id="rId11"/>
    <p:sldId id="320" r:id="rId12"/>
    <p:sldId id="321" r:id="rId13"/>
    <p:sldId id="318" r:id="rId14"/>
    <p:sldId id="319" r:id="rId15"/>
    <p:sldId id="265" r:id="rId16"/>
    <p:sldId id="267" r:id="rId17"/>
    <p:sldId id="268" r:id="rId18"/>
    <p:sldId id="269" r:id="rId19"/>
    <p:sldId id="270" r:id="rId20"/>
    <p:sldId id="271" r:id="rId21"/>
    <p:sldId id="272" r:id="rId22"/>
    <p:sldId id="273" r:id="rId23"/>
    <p:sldId id="274" r:id="rId24"/>
    <p:sldId id="275" r:id="rId25"/>
    <p:sldId id="276" r:id="rId26"/>
    <p:sldId id="277" r:id="rId27"/>
    <p:sldId id="326" r:id="rId28"/>
    <p:sldId id="325" r:id="rId29"/>
    <p:sldId id="278" r:id="rId30"/>
    <p:sldId id="279" r:id="rId31"/>
    <p:sldId id="280" r:id="rId32"/>
    <p:sldId id="281" r:id="rId33"/>
    <p:sldId id="282" r:id="rId34"/>
    <p:sldId id="283" r:id="rId35"/>
    <p:sldId id="285" r:id="rId36"/>
    <p:sldId id="323"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6" r:id="rId57"/>
    <p:sldId id="307" r:id="rId58"/>
    <p:sldId id="305" r:id="rId59"/>
    <p:sldId id="308" r:id="rId60"/>
    <p:sldId id="309" r:id="rId61"/>
    <p:sldId id="310" r:id="rId62"/>
    <p:sldId id="311" r:id="rId63"/>
    <p:sldId id="312" r:id="rId64"/>
    <p:sldId id="313" r:id="rId65"/>
    <p:sldId id="314" r:id="rId66"/>
    <p:sldId id="315" r:id="rId67"/>
    <p:sldId id="316" r:id="rId68"/>
    <p:sldId id="322" r:id="rId69"/>
  </p:sldIdLst>
  <p:sldSz cx="12192000" cy="6858000"/>
  <p:notesSz cx="6858000" cy="9144000"/>
  <p:defaultText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2B14E-5B69-421D-8F60-6EF62CE5C0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Z"/>
          </a:p>
        </p:txBody>
      </p:sp>
      <p:sp>
        <p:nvSpPr>
          <p:cNvPr id="3" name="Subtitle 2">
            <a:extLst>
              <a:ext uri="{FF2B5EF4-FFF2-40B4-BE49-F238E27FC236}">
                <a16:creationId xmlns:a16="http://schemas.microsoft.com/office/drawing/2014/main" id="{CF3D3D81-6A79-4EB0-B539-E52D66FC3B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Z"/>
          </a:p>
        </p:txBody>
      </p:sp>
      <p:sp>
        <p:nvSpPr>
          <p:cNvPr id="4" name="Date Placeholder 3">
            <a:extLst>
              <a:ext uri="{FF2B5EF4-FFF2-40B4-BE49-F238E27FC236}">
                <a16:creationId xmlns:a16="http://schemas.microsoft.com/office/drawing/2014/main" id="{C17684B9-1997-4831-A371-FE09D5FC595A}"/>
              </a:ext>
            </a:extLst>
          </p:cNvPr>
          <p:cNvSpPr>
            <a:spLocks noGrp="1"/>
          </p:cNvSpPr>
          <p:nvPr>
            <p:ph type="dt" sz="half" idx="10"/>
          </p:nvPr>
        </p:nvSpPr>
        <p:spPr/>
        <p:txBody>
          <a:bodyPr/>
          <a:lstStyle/>
          <a:p>
            <a:fld id="{D27F685F-BCF2-44CA-909B-2D71197E17AA}" type="datetimeFigureOut">
              <a:rPr lang="en-TZ" smtClean="0"/>
              <a:t>03/20/2025</a:t>
            </a:fld>
            <a:endParaRPr lang="en-TZ"/>
          </a:p>
        </p:txBody>
      </p:sp>
      <p:sp>
        <p:nvSpPr>
          <p:cNvPr id="5" name="Footer Placeholder 4">
            <a:extLst>
              <a:ext uri="{FF2B5EF4-FFF2-40B4-BE49-F238E27FC236}">
                <a16:creationId xmlns:a16="http://schemas.microsoft.com/office/drawing/2014/main" id="{8F201FCD-20CB-4BAC-B1E9-13D1B3502494}"/>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6F20D753-A4AC-43BD-A946-0242DBA5FCE5}"/>
              </a:ext>
            </a:extLst>
          </p:cNvPr>
          <p:cNvSpPr>
            <a:spLocks noGrp="1"/>
          </p:cNvSpPr>
          <p:nvPr>
            <p:ph type="sldNum" sz="quarter" idx="12"/>
          </p:nvPr>
        </p:nvSpPr>
        <p:spPr/>
        <p:txBody>
          <a:bodyPr/>
          <a:lstStyle/>
          <a:p>
            <a:fld id="{4500F6EB-A1C8-41F5-8C46-C07D7A448238}" type="slidenum">
              <a:rPr lang="en-TZ" smtClean="0"/>
              <a:t>‹#›</a:t>
            </a:fld>
            <a:endParaRPr lang="en-TZ"/>
          </a:p>
        </p:txBody>
      </p:sp>
    </p:spTree>
    <p:extLst>
      <p:ext uri="{BB962C8B-B14F-4D97-AF65-F5344CB8AC3E}">
        <p14:creationId xmlns:p14="http://schemas.microsoft.com/office/powerpoint/2010/main" val="1017712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793CF-52E0-4224-BB46-A6A88CF16677}"/>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2D597218-87F1-4C11-9A3E-60A0C8887E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D382B2BF-AC19-4D5A-9772-47FF673B5EC4}"/>
              </a:ext>
            </a:extLst>
          </p:cNvPr>
          <p:cNvSpPr>
            <a:spLocks noGrp="1"/>
          </p:cNvSpPr>
          <p:nvPr>
            <p:ph type="dt" sz="half" idx="10"/>
          </p:nvPr>
        </p:nvSpPr>
        <p:spPr/>
        <p:txBody>
          <a:bodyPr/>
          <a:lstStyle/>
          <a:p>
            <a:fld id="{D27F685F-BCF2-44CA-909B-2D71197E17AA}" type="datetimeFigureOut">
              <a:rPr lang="en-TZ" smtClean="0"/>
              <a:t>03/20/2025</a:t>
            </a:fld>
            <a:endParaRPr lang="en-TZ"/>
          </a:p>
        </p:txBody>
      </p:sp>
      <p:sp>
        <p:nvSpPr>
          <p:cNvPr id="5" name="Footer Placeholder 4">
            <a:extLst>
              <a:ext uri="{FF2B5EF4-FFF2-40B4-BE49-F238E27FC236}">
                <a16:creationId xmlns:a16="http://schemas.microsoft.com/office/drawing/2014/main" id="{ACB33B6B-0117-4924-AE48-2C835E6DEAB0}"/>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38B350D3-7F00-460C-A83B-4F96DAEC34E3}"/>
              </a:ext>
            </a:extLst>
          </p:cNvPr>
          <p:cNvSpPr>
            <a:spLocks noGrp="1"/>
          </p:cNvSpPr>
          <p:nvPr>
            <p:ph type="sldNum" sz="quarter" idx="12"/>
          </p:nvPr>
        </p:nvSpPr>
        <p:spPr/>
        <p:txBody>
          <a:bodyPr/>
          <a:lstStyle/>
          <a:p>
            <a:fld id="{4500F6EB-A1C8-41F5-8C46-C07D7A448238}" type="slidenum">
              <a:rPr lang="en-TZ" smtClean="0"/>
              <a:t>‹#›</a:t>
            </a:fld>
            <a:endParaRPr lang="en-TZ"/>
          </a:p>
        </p:txBody>
      </p:sp>
    </p:spTree>
    <p:extLst>
      <p:ext uri="{BB962C8B-B14F-4D97-AF65-F5344CB8AC3E}">
        <p14:creationId xmlns:p14="http://schemas.microsoft.com/office/powerpoint/2010/main" val="1227543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DD142-41A2-4A24-A510-CA5338A78F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Z"/>
          </a:p>
        </p:txBody>
      </p:sp>
      <p:sp>
        <p:nvSpPr>
          <p:cNvPr id="3" name="Text Placeholder 2">
            <a:extLst>
              <a:ext uri="{FF2B5EF4-FFF2-40B4-BE49-F238E27FC236}">
                <a16:creationId xmlns:a16="http://schemas.microsoft.com/office/drawing/2014/main" id="{18C7C989-DDA3-4F93-8B47-4B456BFDED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135B7A-69ED-4715-8BC6-D381726CF4FF}"/>
              </a:ext>
            </a:extLst>
          </p:cNvPr>
          <p:cNvSpPr>
            <a:spLocks noGrp="1"/>
          </p:cNvSpPr>
          <p:nvPr>
            <p:ph type="dt" sz="half" idx="10"/>
          </p:nvPr>
        </p:nvSpPr>
        <p:spPr/>
        <p:txBody>
          <a:bodyPr/>
          <a:lstStyle/>
          <a:p>
            <a:fld id="{D27F685F-BCF2-44CA-909B-2D71197E17AA}" type="datetimeFigureOut">
              <a:rPr lang="en-TZ" smtClean="0"/>
              <a:t>03/20/2025</a:t>
            </a:fld>
            <a:endParaRPr lang="en-TZ"/>
          </a:p>
        </p:txBody>
      </p:sp>
      <p:sp>
        <p:nvSpPr>
          <p:cNvPr id="5" name="Footer Placeholder 4">
            <a:extLst>
              <a:ext uri="{FF2B5EF4-FFF2-40B4-BE49-F238E27FC236}">
                <a16:creationId xmlns:a16="http://schemas.microsoft.com/office/drawing/2014/main" id="{880111B6-5A8C-4215-B522-0A1F10764C29}"/>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45C955A2-6976-4729-A26A-71428523FAAC}"/>
              </a:ext>
            </a:extLst>
          </p:cNvPr>
          <p:cNvSpPr>
            <a:spLocks noGrp="1"/>
          </p:cNvSpPr>
          <p:nvPr>
            <p:ph type="sldNum" sz="quarter" idx="12"/>
          </p:nvPr>
        </p:nvSpPr>
        <p:spPr/>
        <p:txBody>
          <a:bodyPr/>
          <a:lstStyle/>
          <a:p>
            <a:fld id="{4500F6EB-A1C8-41F5-8C46-C07D7A448238}" type="slidenum">
              <a:rPr lang="en-TZ" smtClean="0"/>
              <a:t>‹#›</a:t>
            </a:fld>
            <a:endParaRPr lang="en-TZ"/>
          </a:p>
        </p:txBody>
      </p:sp>
    </p:spTree>
    <p:extLst>
      <p:ext uri="{BB962C8B-B14F-4D97-AF65-F5344CB8AC3E}">
        <p14:creationId xmlns:p14="http://schemas.microsoft.com/office/powerpoint/2010/main" val="1386285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A845-3159-466A-AE67-70032359EFFD}"/>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2B0F6DBB-F575-4817-AF94-6005A6CBBA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Content Placeholder 3">
            <a:extLst>
              <a:ext uri="{FF2B5EF4-FFF2-40B4-BE49-F238E27FC236}">
                <a16:creationId xmlns:a16="http://schemas.microsoft.com/office/drawing/2014/main" id="{0DA8678B-49F7-46E0-9EDE-5530334408F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Date Placeholder 4">
            <a:extLst>
              <a:ext uri="{FF2B5EF4-FFF2-40B4-BE49-F238E27FC236}">
                <a16:creationId xmlns:a16="http://schemas.microsoft.com/office/drawing/2014/main" id="{1580E208-3A73-4DA2-90EA-BC804D2C9323}"/>
              </a:ext>
            </a:extLst>
          </p:cNvPr>
          <p:cNvSpPr>
            <a:spLocks noGrp="1"/>
          </p:cNvSpPr>
          <p:nvPr>
            <p:ph type="dt" sz="half" idx="10"/>
          </p:nvPr>
        </p:nvSpPr>
        <p:spPr/>
        <p:txBody>
          <a:bodyPr/>
          <a:lstStyle/>
          <a:p>
            <a:fld id="{D27F685F-BCF2-44CA-909B-2D71197E17AA}" type="datetimeFigureOut">
              <a:rPr lang="en-TZ" smtClean="0"/>
              <a:t>03/20/2025</a:t>
            </a:fld>
            <a:endParaRPr lang="en-TZ"/>
          </a:p>
        </p:txBody>
      </p:sp>
      <p:sp>
        <p:nvSpPr>
          <p:cNvPr id="6" name="Footer Placeholder 5">
            <a:extLst>
              <a:ext uri="{FF2B5EF4-FFF2-40B4-BE49-F238E27FC236}">
                <a16:creationId xmlns:a16="http://schemas.microsoft.com/office/drawing/2014/main" id="{D8DD169D-43ED-48DE-9166-61F71B069745}"/>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8401B54A-41B3-4325-BDD3-C0E1AE8D43A1}"/>
              </a:ext>
            </a:extLst>
          </p:cNvPr>
          <p:cNvSpPr>
            <a:spLocks noGrp="1"/>
          </p:cNvSpPr>
          <p:nvPr>
            <p:ph type="sldNum" sz="quarter" idx="12"/>
          </p:nvPr>
        </p:nvSpPr>
        <p:spPr/>
        <p:txBody>
          <a:bodyPr/>
          <a:lstStyle/>
          <a:p>
            <a:fld id="{4500F6EB-A1C8-41F5-8C46-C07D7A448238}" type="slidenum">
              <a:rPr lang="en-TZ" smtClean="0"/>
              <a:t>‹#›</a:t>
            </a:fld>
            <a:endParaRPr lang="en-TZ"/>
          </a:p>
        </p:txBody>
      </p:sp>
    </p:spTree>
    <p:extLst>
      <p:ext uri="{BB962C8B-B14F-4D97-AF65-F5344CB8AC3E}">
        <p14:creationId xmlns:p14="http://schemas.microsoft.com/office/powerpoint/2010/main" val="1872702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6566F-F297-44C9-B654-1E48A358809B}"/>
              </a:ext>
            </a:extLst>
          </p:cNvPr>
          <p:cNvSpPr>
            <a:spLocks noGrp="1"/>
          </p:cNvSpPr>
          <p:nvPr>
            <p:ph type="title"/>
          </p:nvPr>
        </p:nvSpPr>
        <p:spPr>
          <a:xfrm>
            <a:off x="839788" y="365125"/>
            <a:ext cx="10515600" cy="1325563"/>
          </a:xfrm>
        </p:spPr>
        <p:txBody>
          <a:bodyPr/>
          <a:lstStyle/>
          <a:p>
            <a:r>
              <a:rPr lang="en-US"/>
              <a:t>Click to edit Master title style</a:t>
            </a:r>
            <a:endParaRPr lang="en-TZ"/>
          </a:p>
        </p:txBody>
      </p:sp>
      <p:sp>
        <p:nvSpPr>
          <p:cNvPr id="3" name="Text Placeholder 2">
            <a:extLst>
              <a:ext uri="{FF2B5EF4-FFF2-40B4-BE49-F238E27FC236}">
                <a16:creationId xmlns:a16="http://schemas.microsoft.com/office/drawing/2014/main" id="{E08F8E38-4660-4A3A-9574-731405A788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6F70A1-F882-4314-A06B-C9A5017C6B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Text Placeholder 4">
            <a:extLst>
              <a:ext uri="{FF2B5EF4-FFF2-40B4-BE49-F238E27FC236}">
                <a16:creationId xmlns:a16="http://schemas.microsoft.com/office/drawing/2014/main" id="{5A022662-6E58-491A-B4B2-6074090F7A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7E7F28-3EA8-48CD-AA6B-A80077ACFD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7" name="Date Placeholder 6">
            <a:extLst>
              <a:ext uri="{FF2B5EF4-FFF2-40B4-BE49-F238E27FC236}">
                <a16:creationId xmlns:a16="http://schemas.microsoft.com/office/drawing/2014/main" id="{C99FCC9A-B9EF-49D1-88DA-7A9221F56DA0}"/>
              </a:ext>
            </a:extLst>
          </p:cNvPr>
          <p:cNvSpPr>
            <a:spLocks noGrp="1"/>
          </p:cNvSpPr>
          <p:nvPr>
            <p:ph type="dt" sz="half" idx="10"/>
          </p:nvPr>
        </p:nvSpPr>
        <p:spPr/>
        <p:txBody>
          <a:bodyPr/>
          <a:lstStyle/>
          <a:p>
            <a:fld id="{D27F685F-BCF2-44CA-909B-2D71197E17AA}" type="datetimeFigureOut">
              <a:rPr lang="en-TZ" smtClean="0"/>
              <a:t>03/20/2025</a:t>
            </a:fld>
            <a:endParaRPr lang="en-TZ"/>
          </a:p>
        </p:txBody>
      </p:sp>
      <p:sp>
        <p:nvSpPr>
          <p:cNvPr id="8" name="Footer Placeholder 7">
            <a:extLst>
              <a:ext uri="{FF2B5EF4-FFF2-40B4-BE49-F238E27FC236}">
                <a16:creationId xmlns:a16="http://schemas.microsoft.com/office/drawing/2014/main" id="{85F8E832-2783-4A1E-A8DE-6B98210992EC}"/>
              </a:ext>
            </a:extLst>
          </p:cNvPr>
          <p:cNvSpPr>
            <a:spLocks noGrp="1"/>
          </p:cNvSpPr>
          <p:nvPr>
            <p:ph type="ftr" sz="quarter" idx="11"/>
          </p:nvPr>
        </p:nvSpPr>
        <p:spPr/>
        <p:txBody>
          <a:bodyPr/>
          <a:lstStyle/>
          <a:p>
            <a:endParaRPr lang="en-TZ"/>
          </a:p>
        </p:txBody>
      </p:sp>
      <p:sp>
        <p:nvSpPr>
          <p:cNvPr id="9" name="Slide Number Placeholder 8">
            <a:extLst>
              <a:ext uri="{FF2B5EF4-FFF2-40B4-BE49-F238E27FC236}">
                <a16:creationId xmlns:a16="http://schemas.microsoft.com/office/drawing/2014/main" id="{F24F4B82-704E-4E11-A936-67F3BDFD96D6}"/>
              </a:ext>
            </a:extLst>
          </p:cNvPr>
          <p:cNvSpPr>
            <a:spLocks noGrp="1"/>
          </p:cNvSpPr>
          <p:nvPr>
            <p:ph type="sldNum" sz="quarter" idx="12"/>
          </p:nvPr>
        </p:nvSpPr>
        <p:spPr/>
        <p:txBody>
          <a:bodyPr/>
          <a:lstStyle/>
          <a:p>
            <a:fld id="{4500F6EB-A1C8-41F5-8C46-C07D7A448238}" type="slidenum">
              <a:rPr lang="en-TZ" smtClean="0"/>
              <a:t>‹#›</a:t>
            </a:fld>
            <a:endParaRPr lang="en-TZ"/>
          </a:p>
        </p:txBody>
      </p:sp>
    </p:spTree>
    <p:extLst>
      <p:ext uri="{BB962C8B-B14F-4D97-AF65-F5344CB8AC3E}">
        <p14:creationId xmlns:p14="http://schemas.microsoft.com/office/powerpoint/2010/main" val="60845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A21E1-9B0A-4FC9-A710-5B527BF9A198}"/>
              </a:ext>
            </a:extLst>
          </p:cNvPr>
          <p:cNvSpPr>
            <a:spLocks noGrp="1"/>
          </p:cNvSpPr>
          <p:nvPr>
            <p:ph type="title"/>
          </p:nvPr>
        </p:nvSpPr>
        <p:spPr/>
        <p:txBody>
          <a:bodyPr/>
          <a:lstStyle/>
          <a:p>
            <a:r>
              <a:rPr lang="en-US"/>
              <a:t>Click to edit Master title style</a:t>
            </a:r>
            <a:endParaRPr lang="en-TZ"/>
          </a:p>
        </p:txBody>
      </p:sp>
      <p:sp>
        <p:nvSpPr>
          <p:cNvPr id="3" name="Date Placeholder 2">
            <a:extLst>
              <a:ext uri="{FF2B5EF4-FFF2-40B4-BE49-F238E27FC236}">
                <a16:creationId xmlns:a16="http://schemas.microsoft.com/office/drawing/2014/main" id="{3EA0B3DC-D73B-41C5-B105-9B321B9ACDC2}"/>
              </a:ext>
            </a:extLst>
          </p:cNvPr>
          <p:cNvSpPr>
            <a:spLocks noGrp="1"/>
          </p:cNvSpPr>
          <p:nvPr>
            <p:ph type="dt" sz="half" idx="10"/>
          </p:nvPr>
        </p:nvSpPr>
        <p:spPr/>
        <p:txBody>
          <a:bodyPr/>
          <a:lstStyle/>
          <a:p>
            <a:fld id="{D27F685F-BCF2-44CA-909B-2D71197E17AA}" type="datetimeFigureOut">
              <a:rPr lang="en-TZ" smtClean="0"/>
              <a:t>03/20/2025</a:t>
            </a:fld>
            <a:endParaRPr lang="en-TZ"/>
          </a:p>
        </p:txBody>
      </p:sp>
      <p:sp>
        <p:nvSpPr>
          <p:cNvPr id="4" name="Footer Placeholder 3">
            <a:extLst>
              <a:ext uri="{FF2B5EF4-FFF2-40B4-BE49-F238E27FC236}">
                <a16:creationId xmlns:a16="http://schemas.microsoft.com/office/drawing/2014/main" id="{1949FCC2-35BB-4CB0-84CB-98DAA83740F4}"/>
              </a:ext>
            </a:extLst>
          </p:cNvPr>
          <p:cNvSpPr>
            <a:spLocks noGrp="1"/>
          </p:cNvSpPr>
          <p:nvPr>
            <p:ph type="ftr" sz="quarter" idx="11"/>
          </p:nvPr>
        </p:nvSpPr>
        <p:spPr/>
        <p:txBody>
          <a:bodyPr/>
          <a:lstStyle/>
          <a:p>
            <a:endParaRPr lang="en-TZ"/>
          </a:p>
        </p:txBody>
      </p:sp>
      <p:sp>
        <p:nvSpPr>
          <p:cNvPr id="5" name="Slide Number Placeholder 4">
            <a:extLst>
              <a:ext uri="{FF2B5EF4-FFF2-40B4-BE49-F238E27FC236}">
                <a16:creationId xmlns:a16="http://schemas.microsoft.com/office/drawing/2014/main" id="{B65E9336-06EE-40E4-8A0A-71DD60C4906D}"/>
              </a:ext>
            </a:extLst>
          </p:cNvPr>
          <p:cNvSpPr>
            <a:spLocks noGrp="1"/>
          </p:cNvSpPr>
          <p:nvPr>
            <p:ph type="sldNum" sz="quarter" idx="12"/>
          </p:nvPr>
        </p:nvSpPr>
        <p:spPr/>
        <p:txBody>
          <a:bodyPr/>
          <a:lstStyle/>
          <a:p>
            <a:fld id="{4500F6EB-A1C8-41F5-8C46-C07D7A448238}" type="slidenum">
              <a:rPr lang="en-TZ" smtClean="0"/>
              <a:t>‹#›</a:t>
            </a:fld>
            <a:endParaRPr lang="en-TZ"/>
          </a:p>
        </p:txBody>
      </p:sp>
    </p:spTree>
    <p:extLst>
      <p:ext uri="{BB962C8B-B14F-4D97-AF65-F5344CB8AC3E}">
        <p14:creationId xmlns:p14="http://schemas.microsoft.com/office/powerpoint/2010/main" val="1285423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DED208-D22D-4CA8-96A4-4E5D3E3ABBC3}"/>
              </a:ext>
            </a:extLst>
          </p:cNvPr>
          <p:cNvSpPr>
            <a:spLocks noGrp="1"/>
          </p:cNvSpPr>
          <p:nvPr>
            <p:ph type="dt" sz="half" idx="10"/>
          </p:nvPr>
        </p:nvSpPr>
        <p:spPr/>
        <p:txBody>
          <a:bodyPr/>
          <a:lstStyle/>
          <a:p>
            <a:fld id="{D27F685F-BCF2-44CA-909B-2D71197E17AA}" type="datetimeFigureOut">
              <a:rPr lang="en-TZ" smtClean="0"/>
              <a:t>03/20/2025</a:t>
            </a:fld>
            <a:endParaRPr lang="en-TZ"/>
          </a:p>
        </p:txBody>
      </p:sp>
      <p:sp>
        <p:nvSpPr>
          <p:cNvPr id="3" name="Footer Placeholder 2">
            <a:extLst>
              <a:ext uri="{FF2B5EF4-FFF2-40B4-BE49-F238E27FC236}">
                <a16:creationId xmlns:a16="http://schemas.microsoft.com/office/drawing/2014/main" id="{EA88AAE7-AE89-47EF-B1E3-0436DA705987}"/>
              </a:ext>
            </a:extLst>
          </p:cNvPr>
          <p:cNvSpPr>
            <a:spLocks noGrp="1"/>
          </p:cNvSpPr>
          <p:nvPr>
            <p:ph type="ftr" sz="quarter" idx="11"/>
          </p:nvPr>
        </p:nvSpPr>
        <p:spPr/>
        <p:txBody>
          <a:bodyPr/>
          <a:lstStyle/>
          <a:p>
            <a:endParaRPr lang="en-TZ"/>
          </a:p>
        </p:txBody>
      </p:sp>
      <p:sp>
        <p:nvSpPr>
          <p:cNvPr id="4" name="Slide Number Placeholder 3">
            <a:extLst>
              <a:ext uri="{FF2B5EF4-FFF2-40B4-BE49-F238E27FC236}">
                <a16:creationId xmlns:a16="http://schemas.microsoft.com/office/drawing/2014/main" id="{3D3B3EA2-6257-429B-A7EB-3308899484DC}"/>
              </a:ext>
            </a:extLst>
          </p:cNvPr>
          <p:cNvSpPr>
            <a:spLocks noGrp="1"/>
          </p:cNvSpPr>
          <p:nvPr>
            <p:ph type="sldNum" sz="quarter" idx="12"/>
          </p:nvPr>
        </p:nvSpPr>
        <p:spPr/>
        <p:txBody>
          <a:bodyPr/>
          <a:lstStyle/>
          <a:p>
            <a:fld id="{4500F6EB-A1C8-41F5-8C46-C07D7A448238}" type="slidenum">
              <a:rPr lang="en-TZ" smtClean="0"/>
              <a:t>‹#›</a:t>
            </a:fld>
            <a:endParaRPr lang="en-TZ"/>
          </a:p>
        </p:txBody>
      </p:sp>
    </p:spTree>
    <p:extLst>
      <p:ext uri="{BB962C8B-B14F-4D97-AF65-F5344CB8AC3E}">
        <p14:creationId xmlns:p14="http://schemas.microsoft.com/office/powerpoint/2010/main" val="3120354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8738B-FDC7-4B00-B7E9-B6AFA54542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Z"/>
          </a:p>
        </p:txBody>
      </p:sp>
      <p:sp>
        <p:nvSpPr>
          <p:cNvPr id="3" name="Content Placeholder 2">
            <a:extLst>
              <a:ext uri="{FF2B5EF4-FFF2-40B4-BE49-F238E27FC236}">
                <a16:creationId xmlns:a16="http://schemas.microsoft.com/office/drawing/2014/main" id="{70FE8847-1CFC-4960-B214-8E610AFF0A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Text Placeholder 3">
            <a:extLst>
              <a:ext uri="{FF2B5EF4-FFF2-40B4-BE49-F238E27FC236}">
                <a16:creationId xmlns:a16="http://schemas.microsoft.com/office/drawing/2014/main" id="{1733E6B3-3914-44F0-8025-600371671F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6242F6-81A9-4E9C-95CE-FC9009D40650}"/>
              </a:ext>
            </a:extLst>
          </p:cNvPr>
          <p:cNvSpPr>
            <a:spLocks noGrp="1"/>
          </p:cNvSpPr>
          <p:nvPr>
            <p:ph type="dt" sz="half" idx="10"/>
          </p:nvPr>
        </p:nvSpPr>
        <p:spPr/>
        <p:txBody>
          <a:bodyPr/>
          <a:lstStyle/>
          <a:p>
            <a:fld id="{D27F685F-BCF2-44CA-909B-2D71197E17AA}" type="datetimeFigureOut">
              <a:rPr lang="en-TZ" smtClean="0"/>
              <a:t>03/20/2025</a:t>
            </a:fld>
            <a:endParaRPr lang="en-TZ"/>
          </a:p>
        </p:txBody>
      </p:sp>
      <p:sp>
        <p:nvSpPr>
          <p:cNvPr id="6" name="Footer Placeholder 5">
            <a:extLst>
              <a:ext uri="{FF2B5EF4-FFF2-40B4-BE49-F238E27FC236}">
                <a16:creationId xmlns:a16="http://schemas.microsoft.com/office/drawing/2014/main" id="{89050EDC-4E6B-4AF8-BFB0-FBC112D92CAA}"/>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CE82AED6-5085-40DB-A914-EF71C70C22F4}"/>
              </a:ext>
            </a:extLst>
          </p:cNvPr>
          <p:cNvSpPr>
            <a:spLocks noGrp="1"/>
          </p:cNvSpPr>
          <p:nvPr>
            <p:ph type="sldNum" sz="quarter" idx="12"/>
          </p:nvPr>
        </p:nvSpPr>
        <p:spPr/>
        <p:txBody>
          <a:bodyPr/>
          <a:lstStyle/>
          <a:p>
            <a:fld id="{4500F6EB-A1C8-41F5-8C46-C07D7A448238}" type="slidenum">
              <a:rPr lang="en-TZ" smtClean="0"/>
              <a:t>‹#›</a:t>
            </a:fld>
            <a:endParaRPr lang="en-TZ"/>
          </a:p>
        </p:txBody>
      </p:sp>
    </p:spTree>
    <p:extLst>
      <p:ext uri="{BB962C8B-B14F-4D97-AF65-F5344CB8AC3E}">
        <p14:creationId xmlns:p14="http://schemas.microsoft.com/office/powerpoint/2010/main" val="3122180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5A413-B050-4138-AC92-6E5165DA69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Z"/>
          </a:p>
        </p:txBody>
      </p:sp>
      <p:sp>
        <p:nvSpPr>
          <p:cNvPr id="3" name="Picture Placeholder 2">
            <a:extLst>
              <a:ext uri="{FF2B5EF4-FFF2-40B4-BE49-F238E27FC236}">
                <a16:creationId xmlns:a16="http://schemas.microsoft.com/office/drawing/2014/main" id="{B8942CD5-7496-45E9-A8D6-083E7B6C52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Z"/>
          </a:p>
        </p:txBody>
      </p:sp>
      <p:sp>
        <p:nvSpPr>
          <p:cNvPr id="4" name="Text Placeholder 3">
            <a:extLst>
              <a:ext uri="{FF2B5EF4-FFF2-40B4-BE49-F238E27FC236}">
                <a16:creationId xmlns:a16="http://schemas.microsoft.com/office/drawing/2014/main" id="{144CDAA4-408E-4373-90F0-463E553DBE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A49589-D5C5-431B-9974-E10A217DE01B}"/>
              </a:ext>
            </a:extLst>
          </p:cNvPr>
          <p:cNvSpPr>
            <a:spLocks noGrp="1"/>
          </p:cNvSpPr>
          <p:nvPr>
            <p:ph type="dt" sz="half" idx="10"/>
          </p:nvPr>
        </p:nvSpPr>
        <p:spPr/>
        <p:txBody>
          <a:bodyPr/>
          <a:lstStyle/>
          <a:p>
            <a:fld id="{D27F685F-BCF2-44CA-909B-2D71197E17AA}" type="datetimeFigureOut">
              <a:rPr lang="en-TZ" smtClean="0"/>
              <a:t>03/20/2025</a:t>
            </a:fld>
            <a:endParaRPr lang="en-TZ"/>
          </a:p>
        </p:txBody>
      </p:sp>
      <p:sp>
        <p:nvSpPr>
          <p:cNvPr id="6" name="Footer Placeholder 5">
            <a:extLst>
              <a:ext uri="{FF2B5EF4-FFF2-40B4-BE49-F238E27FC236}">
                <a16:creationId xmlns:a16="http://schemas.microsoft.com/office/drawing/2014/main" id="{E3951466-F5CE-4C00-82BA-60E13ADD1276}"/>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72384DB0-0CAB-4AD5-A55D-DF07788EFA10}"/>
              </a:ext>
            </a:extLst>
          </p:cNvPr>
          <p:cNvSpPr>
            <a:spLocks noGrp="1"/>
          </p:cNvSpPr>
          <p:nvPr>
            <p:ph type="sldNum" sz="quarter" idx="12"/>
          </p:nvPr>
        </p:nvSpPr>
        <p:spPr/>
        <p:txBody>
          <a:bodyPr/>
          <a:lstStyle/>
          <a:p>
            <a:fld id="{4500F6EB-A1C8-41F5-8C46-C07D7A448238}" type="slidenum">
              <a:rPr lang="en-TZ" smtClean="0"/>
              <a:t>‹#›</a:t>
            </a:fld>
            <a:endParaRPr lang="en-TZ"/>
          </a:p>
        </p:txBody>
      </p:sp>
    </p:spTree>
    <p:extLst>
      <p:ext uri="{BB962C8B-B14F-4D97-AF65-F5344CB8AC3E}">
        <p14:creationId xmlns:p14="http://schemas.microsoft.com/office/powerpoint/2010/main" val="1936529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1FDBA-DA27-4246-B724-EEF1591454E7}"/>
              </a:ext>
            </a:extLst>
          </p:cNvPr>
          <p:cNvSpPr>
            <a:spLocks noGrp="1"/>
          </p:cNvSpPr>
          <p:nvPr>
            <p:ph type="title"/>
          </p:nvPr>
        </p:nvSpPr>
        <p:spPr/>
        <p:txBody>
          <a:bodyPr/>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05CAF700-D1C1-4583-ADED-73F19447CB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06113A39-DDED-435F-A73C-C22E880598B4}"/>
              </a:ext>
            </a:extLst>
          </p:cNvPr>
          <p:cNvSpPr>
            <a:spLocks noGrp="1"/>
          </p:cNvSpPr>
          <p:nvPr>
            <p:ph type="dt" sz="half" idx="10"/>
          </p:nvPr>
        </p:nvSpPr>
        <p:spPr/>
        <p:txBody>
          <a:bodyPr/>
          <a:lstStyle/>
          <a:p>
            <a:fld id="{D27F685F-BCF2-44CA-909B-2D71197E17AA}" type="datetimeFigureOut">
              <a:rPr lang="en-TZ" smtClean="0"/>
              <a:t>03/20/2025</a:t>
            </a:fld>
            <a:endParaRPr lang="en-TZ"/>
          </a:p>
        </p:txBody>
      </p:sp>
      <p:sp>
        <p:nvSpPr>
          <p:cNvPr id="5" name="Footer Placeholder 4">
            <a:extLst>
              <a:ext uri="{FF2B5EF4-FFF2-40B4-BE49-F238E27FC236}">
                <a16:creationId xmlns:a16="http://schemas.microsoft.com/office/drawing/2014/main" id="{7340BBAB-1237-4571-AB86-A6F38A94DC56}"/>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81A0259B-9978-44B4-BCB9-6E15D083EE27}"/>
              </a:ext>
            </a:extLst>
          </p:cNvPr>
          <p:cNvSpPr>
            <a:spLocks noGrp="1"/>
          </p:cNvSpPr>
          <p:nvPr>
            <p:ph type="sldNum" sz="quarter" idx="12"/>
          </p:nvPr>
        </p:nvSpPr>
        <p:spPr/>
        <p:txBody>
          <a:bodyPr/>
          <a:lstStyle/>
          <a:p>
            <a:fld id="{4500F6EB-A1C8-41F5-8C46-C07D7A448238}" type="slidenum">
              <a:rPr lang="en-TZ" smtClean="0"/>
              <a:t>‹#›</a:t>
            </a:fld>
            <a:endParaRPr lang="en-TZ"/>
          </a:p>
        </p:txBody>
      </p:sp>
    </p:spTree>
    <p:extLst>
      <p:ext uri="{BB962C8B-B14F-4D97-AF65-F5344CB8AC3E}">
        <p14:creationId xmlns:p14="http://schemas.microsoft.com/office/powerpoint/2010/main" val="1681326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1107B1-797D-4871-A368-252B1716721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A0D113A5-5054-4A00-AE89-19CD92CFF7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D2DF534B-6E23-4413-AAAE-F45E91D02DD2}"/>
              </a:ext>
            </a:extLst>
          </p:cNvPr>
          <p:cNvSpPr>
            <a:spLocks noGrp="1"/>
          </p:cNvSpPr>
          <p:nvPr>
            <p:ph type="dt" sz="half" idx="10"/>
          </p:nvPr>
        </p:nvSpPr>
        <p:spPr/>
        <p:txBody>
          <a:bodyPr/>
          <a:lstStyle/>
          <a:p>
            <a:fld id="{D27F685F-BCF2-44CA-909B-2D71197E17AA}" type="datetimeFigureOut">
              <a:rPr lang="en-TZ" smtClean="0"/>
              <a:t>03/20/2025</a:t>
            </a:fld>
            <a:endParaRPr lang="en-TZ"/>
          </a:p>
        </p:txBody>
      </p:sp>
      <p:sp>
        <p:nvSpPr>
          <p:cNvPr id="5" name="Footer Placeholder 4">
            <a:extLst>
              <a:ext uri="{FF2B5EF4-FFF2-40B4-BE49-F238E27FC236}">
                <a16:creationId xmlns:a16="http://schemas.microsoft.com/office/drawing/2014/main" id="{35754CDF-E449-448C-BEED-E00F93DD7980}"/>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1822D265-4AA2-4FA4-8B12-A8B93A506E9F}"/>
              </a:ext>
            </a:extLst>
          </p:cNvPr>
          <p:cNvSpPr>
            <a:spLocks noGrp="1"/>
          </p:cNvSpPr>
          <p:nvPr>
            <p:ph type="sldNum" sz="quarter" idx="12"/>
          </p:nvPr>
        </p:nvSpPr>
        <p:spPr/>
        <p:txBody>
          <a:bodyPr/>
          <a:lstStyle/>
          <a:p>
            <a:fld id="{4500F6EB-A1C8-41F5-8C46-C07D7A448238}" type="slidenum">
              <a:rPr lang="en-TZ" smtClean="0"/>
              <a:t>‹#›</a:t>
            </a:fld>
            <a:endParaRPr lang="en-TZ"/>
          </a:p>
        </p:txBody>
      </p:sp>
    </p:spTree>
    <p:extLst>
      <p:ext uri="{BB962C8B-B14F-4D97-AF65-F5344CB8AC3E}">
        <p14:creationId xmlns:p14="http://schemas.microsoft.com/office/powerpoint/2010/main" val="118819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8EDF0D-B905-40AF-90DC-59D197DF2E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Z"/>
          </a:p>
        </p:txBody>
      </p:sp>
      <p:sp>
        <p:nvSpPr>
          <p:cNvPr id="3" name="Text Placeholder 2">
            <a:extLst>
              <a:ext uri="{FF2B5EF4-FFF2-40B4-BE49-F238E27FC236}">
                <a16:creationId xmlns:a16="http://schemas.microsoft.com/office/drawing/2014/main" id="{A5D6E71C-062D-4BB9-8B9A-DC51FED0CA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4C323792-D1F7-4C96-B521-A2115B136F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7F685F-BCF2-44CA-909B-2D71197E17AA}" type="datetimeFigureOut">
              <a:rPr lang="en-TZ" smtClean="0"/>
              <a:t>03/20/2025</a:t>
            </a:fld>
            <a:endParaRPr lang="en-TZ"/>
          </a:p>
        </p:txBody>
      </p:sp>
      <p:sp>
        <p:nvSpPr>
          <p:cNvPr id="5" name="Footer Placeholder 4">
            <a:extLst>
              <a:ext uri="{FF2B5EF4-FFF2-40B4-BE49-F238E27FC236}">
                <a16:creationId xmlns:a16="http://schemas.microsoft.com/office/drawing/2014/main" id="{5E40FEC1-D2F0-4EC8-B215-B6866FEC31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TZ"/>
          </a:p>
        </p:txBody>
      </p:sp>
      <p:sp>
        <p:nvSpPr>
          <p:cNvPr id="6" name="Slide Number Placeholder 5">
            <a:extLst>
              <a:ext uri="{FF2B5EF4-FFF2-40B4-BE49-F238E27FC236}">
                <a16:creationId xmlns:a16="http://schemas.microsoft.com/office/drawing/2014/main" id="{AFD48B4F-38A9-461F-AF64-0876BB4966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00F6EB-A1C8-41F5-8C46-C07D7A448238}" type="slidenum">
              <a:rPr lang="en-TZ" smtClean="0"/>
              <a:t>‹#›</a:t>
            </a:fld>
            <a:endParaRPr lang="en-TZ"/>
          </a:p>
        </p:txBody>
      </p:sp>
    </p:spTree>
    <p:extLst>
      <p:ext uri="{BB962C8B-B14F-4D97-AF65-F5344CB8AC3E}">
        <p14:creationId xmlns:p14="http://schemas.microsoft.com/office/powerpoint/2010/main" val="21937917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AFD51-4E46-44B7-9D39-428B1A5D4CF6}"/>
              </a:ext>
            </a:extLst>
          </p:cNvPr>
          <p:cNvSpPr>
            <a:spLocks noGrp="1"/>
          </p:cNvSpPr>
          <p:nvPr>
            <p:ph type="ctrTitle"/>
          </p:nvPr>
        </p:nvSpPr>
        <p:spPr/>
        <p:txBody>
          <a:bodyPr>
            <a:normAutofit/>
          </a:bodyPr>
          <a:lstStyle/>
          <a:p>
            <a:r>
              <a:rPr lang="en-US" sz="5400" b="1" dirty="0">
                <a:latin typeface="Tahoma" panose="020B0604030504040204" pitchFamily="34" charset="0"/>
                <a:ea typeface="Tahoma" panose="020B0604030504040204" pitchFamily="34" charset="0"/>
                <a:cs typeface="Tahoma" panose="020B0604030504040204" pitchFamily="34" charset="0"/>
              </a:rPr>
              <a:t>Introduction To Electro-Pneumatic</a:t>
            </a:r>
            <a:endParaRPr lang="en-TZ" sz="5400" dirty="0"/>
          </a:p>
        </p:txBody>
      </p:sp>
    </p:spTree>
    <p:extLst>
      <p:ext uri="{BB962C8B-B14F-4D97-AF65-F5344CB8AC3E}">
        <p14:creationId xmlns:p14="http://schemas.microsoft.com/office/powerpoint/2010/main" val="3981205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424EF-D223-4D38-8716-8F477602FD13}"/>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Main pneumatic components</a:t>
            </a:r>
            <a:endParaRPr lang="en-TZ" dirty="0"/>
          </a:p>
        </p:txBody>
      </p:sp>
      <p:sp>
        <p:nvSpPr>
          <p:cNvPr id="3" name="Content Placeholder 2">
            <a:extLst>
              <a:ext uri="{FF2B5EF4-FFF2-40B4-BE49-F238E27FC236}">
                <a16:creationId xmlns:a16="http://schemas.microsoft.com/office/drawing/2014/main" id="{F3D9F73F-B9B7-4569-9BD9-5AA17B0A161E}"/>
              </a:ext>
            </a:extLst>
          </p:cNvPr>
          <p:cNvSpPr>
            <a:spLocks noGrp="1"/>
          </p:cNvSpPr>
          <p:nvPr>
            <p:ph idx="1"/>
          </p:nvPr>
        </p:nvSpPr>
        <p:spPr>
          <a:xfrm>
            <a:off x="838199" y="1825625"/>
            <a:ext cx="10898875" cy="4351338"/>
          </a:xfrm>
        </p:spPr>
        <p:txBody>
          <a:bodyPr/>
          <a:lstStyle/>
          <a:p>
            <a:pPr marL="0" indent="0">
              <a:buNone/>
            </a:pPr>
            <a:r>
              <a:rPr lang="en-US" sz="36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Pneumatic components can be divided into two categories:</a:t>
            </a:r>
            <a:br>
              <a:rPr lang="en-US" sz="36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br>
            <a:r>
              <a:rPr lang="en-US" sz="36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1. Components that produce and transport compressed air.</a:t>
            </a:r>
            <a:br>
              <a:rPr lang="en-US" sz="36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br>
            <a:r>
              <a:rPr lang="en-US" sz="36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2. Components that consume compressed air.</a:t>
            </a:r>
            <a:r>
              <a:rPr lang="en-US" sz="4800" dirty="0">
                <a:latin typeface="Tahoma" panose="020B0604030504040204" pitchFamily="34" charset="0"/>
                <a:ea typeface="Tahoma" panose="020B0604030504040204" pitchFamily="34" charset="0"/>
                <a:cs typeface="Tahoma" panose="020B0604030504040204" pitchFamily="34" charset="0"/>
              </a:rPr>
              <a:t> </a:t>
            </a:r>
            <a:br>
              <a:rPr lang="en-US" dirty="0"/>
            </a:br>
            <a:endParaRPr lang="en-TZ" dirty="0"/>
          </a:p>
        </p:txBody>
      </p:sp>
    </p:spTree>
    <p:extLst>
      <p:ext uri="{BB962C8B-B14F-4D97-AF65-F5344CB8AC3E}">
        <p14:creationId xmlns:p14="http://schemas.microsoft.com/office/powerpoint/2010/main" val="4290734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CA3CD-0FA4-4448-B34E-38950444FB5D}"/>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Main pneumatic components</a:t>
            </a:r>
            <a:endParaRPr lang="en-TZ" dirty="0"/>
          </a:p>
        </p:txBody>
      </p:sp>
      <p:sp>
        <p:nvSpPr>
          <p:cNvPr id="3" name="Content Placeholder 2">
            <a:extLst>
              <a:ext uri="{FF2B5EF4-FFF2-40B4-BE49-F238E27FC236}">
                <a16:creationId xmlns:a16="http://schemas.microsoft.com/office/drawing/2014/main" id="{30D8E521-C57D-4A87-A3A9-331EDC6E93AF}"/>
              </a:ext>
            </a:extLst>
          </p:cNvPr>
          <p:cNvSpPr>
            <a:spLocks noGrp="1"/>
          </p:cNvSpPr>
          <p:nvPr>
            <p:ph idx="1"/>
          </p:nvPr>
        </p:nvSpPr>
        <p:spPr>
          <a:xfrm>
            <a:off x="491319" y="1825625"/>
            <a:ext cx="11423177" cy="4351338"/>
          </a:xfrm>
        </p:spPr>
        <p:txBody>
          <a:bodyPr>
            <a:normAutofit fontScale="92500" lnSpcReduction="10000"/>
          </a:bodyPr>
          <a:lstStyle/>
          <a:p>
            <a:pPr marL="514350" indent="-514350">
              <a:buAutoNum type="arabicPeriod"/>
            </a:pPr>
            <a:r>
              <a:rPr lang="en-US"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The production and transportation of compressed air</a:t>
            </a:r>
            <a:endParaRPr lang="en-US" sz="4000" b="1" i="0"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p>
            <a:pPr marL="0" indent="0">
              <a:buNone/>
            </a:pPr>
            <a:r>
              <a:rPr lang="en-US" dirty="0">
                <a:solidFill>
                  <a:srgbClr val="000000"/>
                </a:solidFill>
                <a:latin typeface="Tahoma" panose="020B0604030504040204" pitchFamily="34" charset="0"/>
                <a:ea typeface="Tahoma" panose="020B0604030504040204" pitchFamily="34" charset="0"/>
                <a:cs typeface="Tahoma" panose="020B0604030504040204" pitchFamily="34" charset="0"/>
              </a:rPr>
              <a:t>C</a:t>
            </a: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omponents that produce and transport compressed air include compressors and pressure regulating components.</a:t>
            </a:r>
            <a:r>
              <a:rPr lang="en-US" sz="4000" dirty="0">
                <a:latin typeface="Tahoma" panose="020B0604030504040204" pitchFamily="34" charset="0"/>
                <a:ea typeface="Tahoma" panose="020B0604030504040204" pitchFamily="34" charset="0"/>
                <a:cs typeface="Tahoma" panose="020B0604030504040204" pitchFamily="34" charset="0"/>
              </a:rPr>
              <a:t> </a:t>
            </a:r>
          </a:p>
          <a:p>
            <a:pPr marL="0" indent="0">
              <a:buNone/>
            </a:pPr>
            <a:r>
              <a:rPr lang="en-US" sz="4000" dirty="0">
                <a:solidFill>
                  <a:schemeClr val="accent5"/>
                </a:solidFill>
                <a:latin typeface="Tahoma" panose="020B0604030504040204" pitchFamily="34" charset="0"/>
                <a:ea typeface="Tahoma" panose="020B0604030504040204" pitchFamily="34" charset="0"/>
                <a:cs typeface="Tahoma" panose="020B0604030504040204" pitchFamily="34" charset="0"/>
              </a:rPr>
              <a:t>a. </a:t>
            </a:r>
            <a:r>
              <a:rPr lang="en-US" b="1" i="0" dirty="0">
                <a:solidFill>
                  <a:schemeClr val="accent5"/>
                </a:solidFill>
                <a:effectLst/>
                <a:latin typeface="Tahoma" panose="020B0604030504040204" pitchFamily="34" charset="0"/>
                <a:ea typeface="Tahoma" panose="020B0604030504040204" pitchFamily="34" charset="0"/>
                <a:cs typeface="Tahoma" panose="020B0604030504040204" pitchFamily="34" charset="0"/>
              </a:rPr>
              <a:t>Compressor</a:t>
            </a:r>
            <a:b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b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A compressor compresses air to the required pressures. </a:t>
            </a:r>
          </a:p>
          <a:p>
            <a:pPr marL="0" indent="0">
              <a:buNone/>
            </a:pP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It converts mechanical energy from motors and engines into pressure energy in compressed air </a:t>
            </a:r>
          </a:p>
          <a:p>
            <a:pPr marL="0" indent="0">
              <a:buNone/>
            </a:pP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Compressors can be divided into two classes: </a:t>
            </a:r>
            <a:r>
              <a:rPr lang="en-US"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reciprocatory and rotary</a:t>
            </a:r>
            <a:r>
              <a:rPr lang="en-US" sz="4000" b="1" dirty="0">
                <a:latin typeface="Tahoma" panose="020B0604030504040204" pitchFamily="34" charset="0"/>
                <a:ea typeface="Tahoma" panose="020B0604030504040204" pitchFamily="34" charset="0"/>
                <a:cs typeface="Tahoma" panose="020B0604030504040204" pitchFamily="34" charset="0"/>
              </a:rPr>
              <a:t> </a:t>
            </a:r>
            <a:br>
              <a:rPr lang="en-US" sz="4000" b="1" dirty="0">
                <a:latin typeface="Tahoma" panose="020B0604030504040204" pitchFamily="34" charset="0"/>
                <a:ea typeface="Tahoma" panose="020B0604030504040204" pitchFamily="34" charset="0"/>
                <a:cs typeface="Tahoma" panose="020B0604030504040204" pitchFamily="34" charset="0"/>
              </a:rPr>
            </a:br>
            <a:endParaRPr lang="en-TZ" sz="40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453013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1046A87-09B9-4E23-B580-048D7E1F6C68}"/>
              </a:ext>
            </a:extLst>
          </p:cNvPr>
          <p:cNvPicPr>
            <a:picLocks noGrp="1" noChangeAspect="1"/>
          </p:cNvPicPr>
          <p:nvPr>
            <p:ph idx="1"/>
          </p:nvPr>
        </p:nvPicPr>
        <p:blipFill>
          <a:blip r:embed="rId2"/>
          <a:stretch>
            <a:fillRect/>
          </a:stretch>
        </p:blipFill>
        <p:spPr>
          <a:xfrm>
            <a:off x="1078173" y="777922"/>
            <a:ext cx="4226258" cy="5308980"/>
          </a:xfrm>
        </p:spPr>
      </p:pic>
      <p:pic>
        <p:nvPicPr>
          <p:cNvPr id="7" name="Picture 6">
            <a:extLst>
              <a:ext uri="{FF2B5EF4-FFF2-40B4-BE49-F238E27FC236}">
                <a16:creationId xmlns:a16="http://schemas.microsoft.com/office/drawing/2014/main" id="{E69CA316-06A3-4E59-B441-9E6A005C062D}"/>
              </a:ext>
            </a:extLst>
          </p:cNvPr>
          <p:cNvPicPr>
            <a:picLocks noChangeAspect="1"/>
          </p:cNvPicPr>
          <p:nvPr/>
        </p:nvPicPr>
        <p:blipFill>
          <a:blip r:embed="rId3"/>
          <a:stretch>
            <a:fillRect/>
          </a:stretch>
        </p:blipFill>
        <p:spPr>
          <a:xfrm>
            <a:off x="5984190" y="1125940"/>
            <a:ext cx="5493577" cy="5732060"/>
          </a:xfrm>
          <a:prstGeom prst="rect">
            <a:avLst/>
          </a:prstGeom>
        </p:spPr>
      </p:pic>
    </p:spTree>
    <p:extLst>
      <p:ext uri="{BB962C8B-B14F-4D97-AF65-F5344CB8AC3E}">
        <p14:creationId xmlns:p14="http://schemas.microsoft.com/office/powerpoint/2010/main" val="1721484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D586B-3B59-48C8-AB5B-91B7958BEE66}"/>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Main pneumatic components</a:t>
            </a:r>
            <a:endParaRPr lang="en-TZ" dirty="0"/>
          </a:p>
        </p:txBody>
      </p:sp>
      <p:sp>
        <p:nvSpPr>
          <p:cNvPr id="3" name="Content Placeholder 2">
            <a:extLst>
              <a:ext uri="{FF2B5EF4-FFF2-40B4-BE49-F238E27FC236}">
                <a16:creationId xmlns:a16="http://schemas.microsoft.com/office/drawing/2014/main" id="{BA8295DE-2A47-4582-B10B-9A747244C652}"/>
              </a:ext>
            </a:extLst>
          </p:cNvPr>
          <p:cNvSpPr>
            <a:spLocks noGrp="1"/>
          </p:cNvSpPr>
          <p:nvPr>
            <p:ph idx="1"/>
          </p:nvPr>
        </p:nvSpPr>
        <p:spPr/>
        <p:txBody>
          <a:bodyPr>
            <a:normAutofit fontScale="92500"/>
          </a:bodyPr>
          <a:lstStyle/>
          <a:p>
            <a:pPr marL="0" indent="0">
              <a:buNone/>
            </a:pPr>
            <a:r>
              <a:rPr lang="en-US"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1. The production and transportation of compressed air</a:t>
            </a:r>
            <a:endParaRPr lang="en-US" sz="4000" b="1" i="0"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p>
            <a:pPr marL="0" indent="0">
              <a:buNone/>
            </a:pPr>
            <a:r>
              <a:rPr lang="en-US" b="1" dirty="0">
                <a:solidFill>
                  <a:schemeClr val="accent5"/>
                </a:solidFill>
                <a:latin typeface="Tahoma" panose="020B0604030504040204" pitchFamily="34" charset="0"/>
                <a:ea typeface="Tahoma" panose="020B0604030504040204" pitchFamily="34" charset="0"/>
                <a:cs typeface="Tahoma" panose="020B0604030504040204" pitchFamily="34" charset="0"/>
              </a:rPr>
              <a:t>b</a:t>
            </a:r>
            <a:r>
              <a:rPr lang="en-US" b="1" i="0" dirty="0">
                <a:solidFill>
                  <a:schemeClr val="accent5"/>
                </a:solidFill>
                <a:effectLst/>
                <a:latin typeface="Tahoma" panose="020B0604030504040204" pitchFamily="34" charset="0"/>
                <a:ea typeface="Tahoma" panose="020B0604030504040204" pitchFamily="34" charset="0"/>
                <a:cs typeface="Tahoma" panose="020B0604030504040204" pitchFamily="34" charset="0"/>
              </a:rPr>
              <a:t>. Pressure regulating component</a:t>
            </a:r>
            <a:r>
              <a:rPr lang="en-US" sz="4000" b="1" dirty="0">
                <a:solidFill>
                  <a:schemeClr val="accent5"/>
                </a:solidFill>
                <a:latin typeface="Tahoma" panose="020B0604030504040204" pitchFamily="34" charset="0"/>
                <a:ea typeface="Tahoma" panose="020B0604030504040204" pitchFamily="34" charset="0"/>
                <a:cs typeface="Tahoma" panose="020B0604030504040204" pitchFamily="34" charset="0"/>
              </a:rPr>
              <a:t> </a:t>
            </a:r>
            <a:br>
              <a:rPr lang="en-US" sz="4000" dirty="0">
                <a:latin typeface="Tahoma" panose="020B0604030504040204" pitchFamily="34" charset="0"/>
                <a:ea typeface="Tahoma" panose="020B0604030504040204" pitchFamily="34" charset="0"/>
                <a:cs typeface="Tahoma" panose="020B0604030504040204" pitchFamily="34" charset="0"/>
              </a:rPr>
            </a:b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Pressure regulating components are formed by various components, each of which has its own function and pneumatic symbol</a:t>
            </a:r>
            <a:r>
              <a:rPr lang="en-US" sz="4000" dirty="0">
                <a:latin typeface="Tahoma" panose="020B0604030504040204" pitchFamily="34" charset="0"/>
                <a:ea typeface="Tahoma" panose="020B0604030504040204" pitchFamily="34" charset="0"/>
                <a:cs typeface="Tahoma" panose="020B0604030504040204" pitchFamily="34" charset="0"/>
              </a:rPr>
              <a:t> </a:t>
            </a:r>
            <a:br>
              <a:rPr lang="en-US" sz="4000" dirty="0">
                <a:latin typeface="Tahoma" panose="020B0604030504040204" pitchFamily="34" charset="0"/>
                <a:ea typeface="Tahoma" panose="020B0604030504040204" pitchFamily="34" charset="0"/>
                <a:cs typeface="Tahoma" panose="020B0604030504040204" pitchFamily="34" charset="0"/>
              </a:rPr>
            </a:b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a:t>
            </a:r>
            <a:r>
              <a:rPr lang="en-US" b="0" i="0"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i</a:t>
            </a: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a:t>
            </a:r>
            <a:r>
              <a:rPr lang="en-US"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 Filter </a:t>
            </a: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 can remove impurities from compressed air before it is fed to the pneumatic components.</a:t>
            </a:r>
            <a:b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b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(ii) </a:t>
            </a:r>
            <a:r>
              <a:rPr lang="en-US"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Pressure regulator </a:t>
            </a: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 to stabilize the pressure and regulate the operation of pneumatic components</a:t>
            </a:r>
            <a:b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b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(iii) </a:t>
            </a:r>
            <a:r>
              <a:rPr lang="en-US"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Lubricator</a:t>
            </a: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 – To provide lubrication for pneumatic components</a:t>
            </a:r>
            <a:r>
              <a:rPr lang="en-US" sz="4000" dirty="0">
                <a:latin typeface="Tahoma" panose="020B0604030504040204" pitchFamily="34" charset="0"/>
                <a:ea typeface="Tahoma" panose="020B0604030504040204" pitchFamily="34" charset="0"/>
                <a:cs typeface="Tahoma" panose="020B0604030504040204" pitchFamily="34" charset="0"/>
              </a:rPr>
              <a:t> </a:t>
            </a:r>
            <a:br>
              <a:rPr lang="en-US" dirty="0"/>
            </a:br>
            <a:endParaRPr lang="en-TZ" dirty="0"/>
          </a:p>
        </p:txBody>
      </p:sp>
    </p:spTree>
    <p:extLst>
      <p:ext uri="{BB962C8B-B14F-4D97-AF65-F5344CB8AC3E}">
        <p14:creationId xmlns:p14="http://schemas.microsoft.com/office/powerpoint/2010/main" val="1485633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963BD95-9CB1-499F-8D3A-76748889CA5D}"/>
              </a:ext>
            </a:extLst>
          </p:cNvPr>
          <p:cNvPicPr>
            <a:picLocks noGrp="1" noChangeAspect="1"/>
          </p:cNvPicPr>
          <p:nvPr>
            <p:ph idx="1"/>
          </p:nvPr>
        </p:nvPicPr>
        <p:blipFill>
          <a:blip r:embed="rId2"/>
          <a:stretch>
            <a:fillRect/>
          </a:stretch>
        </p:blipFill>
        <p:spPr>
          <a:xfrm>
            <a:off x="600503" y="1269243"/>
            <a:ext cx="5495498" cy="5075272"/>
          </a:xfrm>
        </p:spPr>
      </p:pic>
      <p:pic>
        <p:nvPicPr>
          <p:cNvPr id="7" name="Picture 6">
            <a:extLst>
              <a:ext uri="{FF2B5EF4-FFF2-40B4-BE49-F238E27FC236}">
                <a16:creationId xmlns:a16="http://schemas.microsoft.com/office/drawing/2014/main" id="{8E901712-A699-4CBE-98B5-182D0FD2BB5E}"/>
              </a:ext>
            </a:extLst>
          </p:cNvPr>
          <p:cNvPicPr>
            <a:picLocks noChangeAspect="1"/>
          </p:cNvPicPr>
          <p:nvPr/>
        </p:nvPicPr>
        <p:blipFill>
          <a:blip r:embed="rId3"/>
          <a:stretch>
            <a:fillRect/>
          </a:stretch>
        </p:blipFill>
        <p:spPr>
          <a:xfrm>
            <a:off x="6291618" y="764275"/>
            <a:ext cx="5299879" cy="5363570"/>
          </a:xfrm>
          <a:prstGeom prst="rect">
            <a:avLst/>
          </a:prstGeom>
        </p:spPr>
      </p:pic>
    </p:spTree>
    <p:extLst>
      <p:ext uri="{BB962C8B-B14F-4D97-AF65-F5344CB8AC3E}">
        <p14:creationId xmlns:p14="http://schemas.microsoft.com/office/powerpoint/2010/main" val="638879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1B397-3725-485C-B677-8A92E902D781}"/>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Main pneumatic components</a:t>
            </a:r>
            <a:endParaRPr lang="en-TZ" dirty="0"/>
          </a:p>
        </p:txBody>
      </p:sp>
      <p:sp>
        <p:nvSpPr>
          <p:cNvPr id="3" name="Content Placeholder 2">
            <a:extLst>
              <a:ext uri="{FF2B5EF4-FFF2-40B4-BE49-F238E27FC236}">
                <a16:creationId xmlns:a16="http://schemas.microsoft.com/office/drawing/2014/main" id="{52EC299C-F75A-41BA-A0C3-55C7613455D3}"/>
              </a:ext>
            </a:extLst>
          </p:cNvPr>
          <p:cNvSpPr>
            <a:spLocks noGrp="1"/>
          </p:cNvSpPr>
          <p:nvPr>
            <p:ph idx="1"/>
          </p:nvPr>
        </p:nvSpPr>
        <p:spPr/>
        <p:txBody>
          <a:bodyPr/>
          <a:lstStyle/>
          <a:p>
            <a:pPr marL="0" indent="0">
              <a:buNone/>
            </a:pPr>
            <a:r>
              <a:rPr lang="en-US"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1. The production and transportation of compressed air</a:t>
            </a:r>
            <a:endParaRPr lang="en-US" sz="4000" b="1" i="0"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p>
            <a:pPr marL="0" indent="0">
              <a:buNone/>
            </a:pPr>
            <a:r>
              <a:rPr lang="en-US" b="1" i="0" dirty="0">
                <a:solidFill>
                  <a:schemeClr val="accent5"/>
                </a:solidFill>
                <a:effectLst/>
                <a:latin typeface="Tahoma" panose="020B0604030504040204" pitchFamily="34" charset="0"/>
                <a:ea typeface="Tahoma" panose="020B0604030504040204" pitchFamily="34" charset="0"/>
                <a:cs typeface="Tahoma" panose="020B0604030504040204" pitchFamily="34" charset="0"/>
              </a:rPr>
              <a:t>c. Connecting pipe</a:t>
            </a:r>
            <a:r>
              <a:rPr lang="en-US" b="1" dirty="0">
                <a:solidFill>
                  <a:schemeClr val="accent5"/>
                </a:solidFill>
                <a:latin typeface="Tahoma" panose="020B0604030504040204" pitchFamily="34" charset="0"/>
                <a:ea typeface="Tahoma" panose="020B0604030504040204" pitchFamily="34" charset="0"/>
                <a:cs typeface="Tahoma" panose="020B0604030504040204" pitchFamily="34" charset="0"/>
              </a:rPr>
              <a:t> </a:t>
            </a:r>
          </a:p>
          <a:p>
            <a:pPr marL="0" indent="0">
              <a:buNone/>
            </a:pPr>
            <a:r>
              <a:rPr lang="en-US" dirty="0">
                <a:latin typeface="Tahoma" panose="020B0604030504040204" pitchFamily="34" charset="0"/>
                <a:ea typeface="Tahoma" panose="020B0604030504040204" pitchFamily="34" charset="0"/>
                <a:cs typeface="Tahoma" panose="020B0604030504040204" pitchFamily="34" charset="0"/>
              </a:rPr>
              <a:t>Used to transport air within the circuit</a:t>
            </a:r>
            <a:br>
              <a:rPr lang="en-US" dirty="0"/>
            </a:br>
            <a:endParaRPr lang="en-TZ" dirty="0"/>
          </a:p>
        </p:txBody>
      </p:sp>
      <p:pic>
        <p:nvPicPr>
          <p:cNvPr id="5" name="Picture 4">
            <a:extLst>
              <a:ext uri="{FF2B5EF4-FFF2-40B4-BE49-F238E27FC236}">
                <a16:creationId xmlns:a16="http://schemas.microsoft.com/office/drawing/2014/main" id="{F912E76D-6A01-4DBD-BAB5-64B8DBF1D943}"/>
              </a:ext>
            </a:extLst>
          </p:cNvPr>
          <p:cNvPicPr>
            <a:picLocks noChangeAspect="1"/>
          </p:cNvPicPr>
          <p:nvPr/>
        </p:nvPicPr>
        <p:blipFill>
          <a:blip r:embed="rId2"/>
          <a:stretch>
            <a:fillRect/>
          </a:stretch>
        </p:blipFill>
        <p:spPr>
          <a:xfrm>
            <a:off x="6942160" y="2863850"/>
            <a:ext cx="4600575" cy="3448050"/>
          </a:xfrm>
          <a:prstGeom prst="rect">
            <a:avLst/>
          </a:prstGeom>
        </p:spPr>
      </p:pic>
    </p:spTree>
    <p:extLst>
      <p:ext uri="{BB962C8B-B14F-4D97-AF65-F5344CB8AC3E}">
        <p14:creationId xmlns:p14="http://schemas.microsoft.com/office/powerpoint/2010/main" val="1916237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37DE6-B677-4140-B659-F01387661ECD}"/>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Main pneumatic components</a:t>
            </a:r>
            <a:endParaRPr lang="en-TZ" dirty="0"/>
          </a:p>
        </p:txBody>
      </p:sp>
      <p:sp>
        <p:nvSpPr>
          <p:cNvPr id="3" name="Content Placeholder 2">
            <a:extLst>
              <a:ext uri="{FF2B5EF4-FFF2-40B4-BE49-F238E27FC236}">
                <a16:creationId xmlns:a16="http://schemas.microsoft.com/office/drawing/2014/main" id="{18BE09A6-D753-4B8A-BDF8-B09FE8E4D7CE}"/>
              </a:ext>
            </a:extLst>
          </p:cNvPr>
          <p:cNvSpPr>
            <a:spLocks noGrp="1"/>
          </p:cNvSpPr>
          <p:nvPr>
            <p:ph idx="1"/>
          </p:nvPr>
        </p:nvSpPr>
        <p:spPr>
          <a:xfrm>
            <a:off x="838200" y="1825625"/>
            <a:ext cx="10515600" cy="4667250"/>
          </a:xfrm>
        </p:spPr>
        <p:txBody>
          <a:bodyPr>
            <a:normAutofit fontScale="92500" lnSpcReduction="10000"/>
          </a:bodyPr>
          <a:lstStyle/>
          <a:p>
            <a:pPr marL="0" indent="0">
              <a:buNone/>
            </a:pPr>
            <a:r>
              <a:rPr lang="en-US"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2. Components that consume compressed air.</a:t>
            </a:r>
          </a:p>
          <a:p>
            <a:pPr marL="0" indent="0">
              <a:buNone/>
            </a:pP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Examples of components that consume compressed air include execution components (cylinders), directional control valves and assistant valves</a:t>
            </a:r>
            <a:r>
              <a:rPr lang="en-US" dirty="0">
                <a:latin typeface="Tahoma" panose="020B0604030504040204" pitchFamily="34" charset="0"/>
                <a:ea typeface="Tahoma" panose="020B0604030504040204" pitchFamily="34" charset="0"/>
                <a:cs typeface="Tahoma" panose="020B0604030504040204" pitchFamily="34" charset="0"/>
              </a:rPr>
              <a:t> </a:t>
            </a:r>
            <a:br>
              <a:rPr lang="en-US" dirty="0">
                <a:latin typeface="Tahoma" panose="020B0604030504040204" pitchFamily="34" charset="0"/>
                <a:ea typeface="Tahoma" panose="020B0604030504040204" pitchFamily="34" charset="0"/>
                <a:cs typeface="Tahoma" panose="020B0604030504040204" pitchFamily="34" charset="0"/>
              </a:rPr>
            </a:br>
            <a:r>
              <a:rPr lang="en-US" b="1" i="0" dirty="0">
                <a:solidFill>
                  <a:schemeClr val="accent5"/>
                </a:solidFill>
                <a:effectLst/>
                <a:latin typeface="Tahoma" panose="020B0604030504040204" pitchFamily="34" charset="0"/>
                <a:ea typeface="Tahoma" panose="020B0604030504040204" pitchFamily="34" charset="0"/>
                <a:cs typeface="Tahoma" panose="020B0604030504040204" pitchFamily="34" charset="0"/>
              </a:rPr>
              <a:t>(a) Execution component</a:t>
            </a:r>
            <a:b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b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Pneumatic execution components provide rectilinear or rotary movement. Examples of pneumatic execution components include cylinder pistons, pneumatic motors, etc. </a:t>
            </a:r>
          </a:p>
          <a:p>
            <a:pPr marL="0" indent="0">
              <a:buNone/>
            </a:pP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Rectilinear</a:t>
            </a:r>
            <a:r>
              <a:rPr lang="en-US"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motion is produced by cylinder pistons, while pneumatic motors provide continuous rotations.</a:t>
            </a:r>
            <a:b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b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There are many kinds of cylinders, such as single acting cylinders, double acting cylinders and telescopic cylinders.</a:t>
            </a:r>
            <a:r>
              <a:rPr lang="en-US" dirty="0">
                <a:latin typeface="Tahoma" panose="020B0604030504040204" pitchFamily="34" charset="0"/>
                <a:ea typeface="Tahoma" panose="020B0604030504040204" pitchFamily="34" charset="0"/>
                <a:cs typeface="Tahoma" panose="020B0604030504040204" pitchFamily="34" charset="0"/>
              </a:rPr>
              <a:t> </a:t>
            </a:r>
            <a:br>
              <a:rPr lang="en-US" sz="3200" dirty="0">
                <a:latin typeface="Tahoma" panose="020B0604030504040204" pitchFamily="34" charset="0"/>
                <a:ea typeface="Tahoma" panose="020B0604030504040204" pitchFamily="34" charset="0"/>
                <a:cs typeface="Tahoma" panose="020B0604030504040204" pitchFamily="34" charset="0"/>
              </a:rPr>
            </a:br>
            <a:endParaRPr lang="en-TZ" sz="32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589923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941AF-D7AB-421A-AB17-BF1CA02DA134}"/>
              </a:ext>
            </a:extLst>
          </p:cNvPr>
          <p:cNvSpPr>
            <a:spLocks noGrp="1"/>
          </p:cNvSpPr>
          <p:nvPr>
            <p:ph type="title"/>
          </p:nvPr>
        </p:nvSpPr>
        <p:spPr>
          <a:xfrm>
            <a:off x="838200" y="33611"/>
            <a:ext cx="10515600" cy="1144587"/>
          </a:xfrm>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Main pneumatic components</a:t>
            </a:r>
            <a:endParaRPr lang="en-TZ" dirty="0"/>
          </a:p>
        </p:txBody>
      </p:sp>
      <p:sp>
        <p:nvSpPr>
          <p:cNvPr id="3" name="Content Placeholder 2">
            <a:extLst>
              <a:ext uri="{FF2B5EF4-FFF2-40B4-BE49-F238E27FC236}">
                <a16:creationId xmlns:a16="http://schemas.microsoft.com/office/drawing/2014/main" id="{B6BC90C7-0A49-47F9-9D40-497111C4632E}"/>
              </a:ext>
            </a:extLst>
          </p:cNvPr>
          <p:cNvSpPr>
            <a:spLocks noGrp="1"/>
          </p:cNvSpPr>
          <p:nvPr>
            <p:ph idx="1"/>
          </p:nvPr>
        </p:nvSpPr>
        <p:spPr>
          <a:xfrm>
            <a:off x="838200" y="1178198"/>
            <a:ext cx="10515600" cy="4998765"/>
          </a:xfrm>
        </p:spPr>
        <p:txBody>
          <a:bodyPr/>
          <a:lstStyle/>
          <a:p>
            <a:pPr marL="0" indent="0">
              <a:buNone/>
            </a:pPr>
            <a:r>
              <a:rPr lang="en-US" sz="2000" b="1" i="0" dirty="0">
                <a:solidFill>
                  <a:schemeClr val="accent5"/>
                </a:solidFill>
                <a:effectLst/>
                <a:latin typeface="Tahoma" panose="020B0604030504040204" pitchFamily="34" charset="0"/>
                <a:ea typeface="Tahoma" panose="020B0604030504040204" pitchFamily="34" charset="0"/>
                <a:cs typeface="Tahoma" panose="020B0604030504040204" pitchFamily="34" charset="0"/>
              </a:rPr>
              <a:t>(a) Execution component</a:t>
            </a:r>
            <a:endParaRPr lang="en-US" sz="2000" b="1" i="0" dirty="0">
              <a:solidFill>
                <a:srgbClr val="000000"/>
              </a:solidFill>
              <a:effectLst/>
              <a:latin typeface="Arial" panose="020B0604020202020204" pitchFamily="34" charset="0"/>
            </a:endParaRPr>
          </a:p>
          <a:p>
            <a:pPr marL="400050" indent="-400050">
              <a:buAutoNum type="romanLcParenBoth"/>
            </a:pPr>
            <a:r>
              <a:rPr lang="en-US" sz="20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Single acting cylinder</a:t>
            </a:r>
            <a:endParaRPr lang="en-US" sz="2000" dirty="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A single acting cylinder has only one entrance that allows compressed air to flow through. Therefore, it can only produce thrust in one direction. </a:t>
            </a:r>
          </a:p>
          <a:p>
            <a:pPr marL="0" indent="0">
              <a:buNone/>
            </a:pP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The piston rod is propelled in the opposite direction by an internal spring, or by the external force provided by mechanical movement or weight of a load </a:t>
            </a:r>
          </a:p>
          <a:p>
            <a:pPr marL="0" indent="0">
              <a:buNone/>
            </a:pP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The thrust from the piston rod is greatly lowered because it has to overcome the force from the spring</a:t>
            </a:r>
            <a:r>
              <a:rPr lang="en-US" sz="2000" b="0" i="0" dirty="0">
                <a:solidFill>
                  <a:srgbClr val="000000"/>
                </a:solidFill>
                <a:effectLst/>
                <a:latin typeface="TimesNewRomanPSMT"/>
              </a:rPr>
              <a:t>.</a:t>
            </a:r>
            <a:r>
              <a:rPr lang="en-US" sz="3200" dirty="0"/>
              <a:t> </a:t>
            </a:r>
            <a:br>
              <a:rPr lang="en-US" dirty="0"/>
            </a:br>
            <a:br>
              <a:rPr lang="en-US" dirty="0"/>
            </a:br>
            <a:endParaRPr lang="en-TZ" dirty="0"/>
          </a:p>
        </p:txBody>
      </p:sp>
      <p:pic>
        <p:nvPicPr>
          <p:cNvPr id="5" name="Picture 4">
            <a:extLst>
              <a:ext uri="{FF2B5EF4-FFF2-40B4-BE49-F238E27FC236}">
                <a16:creationId xmlns:a16="http://schemas.microsoft.com/office/drawing/2014/main" id="{712F4662-8498-4460-8248-8918F853FD96}"/>
              </a:ext>
            </a:extLst>
          </p:cNvPr>
          <p:cNvPicPr>
            <a:picLocks noChangeAspect="1"/>
          </p:cNvPicPr>
          <p:nvPr/>
        </p:nvPicPr>
        <p:blipFill>
          <a:blip r:embed="rId2"/>
          <a:stretch>
            <a:fillRect/>
          </a:stretch>
        </p:blipFill>
        <p:spPr>
          <a:xfrm>
            <a:off x="1449222" y="4081327"/>
            <a:ext cx="5467350" cy="2419350"/>
          </a:xfrm>
          <a:prstGeom prst="rect">
            <a:avLst/>
          </a:prstGeom>
        </p:spPr>
      </p:pic>
      <p:pic>
        <p:nvPicPr>
          <p:cNvPr id="7" name="Picture 6">
            <a:extLst>
              <a:ext uri="{FF2B5EF4-FFF2-40B4-BE49-F238E27FC236}">
                <a16:creationId xmlns:a16="http://schemas.microsoft.com/office/drawing/2014/main" id="{14FADEC8-94F9-476F-A115-E3FB7C245FC6}"/>
              </a:ext>
            </a:extLst>
          </p:cNvPr>
          <p:cNvPicPr>
            <a:picLocks noChangeAspect="1"/>
          </p:cNvPicPr>
          <p:nvPr/>
        </p:nvPicPr>
        <p:blipFill>
          <a:blip r:embed="rId3"/>
          <a:stretch>
            <a:fillRect/>
          </a:stretch>
        </p:blipFill>
        <p:spPr>
          <a:xfrm>
            <a:off x="8016922" y="4144601"/>
            <a:ext cx="2933700" cy="2371725"/>
          </a:xfrm>
          <a:prstGeom prst="rect">
            <a:avLst/>
          </a:prstGeom>
        </p:spPr>
      </p:pic>
    </p:spTree>
    <p:extLst>
      <p:ext uri="{BB962C8B-B14F-4D97-AF65-F5344CB8AC3E}">
        <p14:creationId xmlns:p14="http://schemas.microsoft.com/office/powerpoint/2010/main" val="1119154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1FE94-62F2-4926-BB3A-B18D62D80525}"/>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Main pneumatic components</a:t>
            </a:r>
            <a:endParaRPr lang="en-TZ" dirty="0"/>
          </a:p>
        </p:txBody>
      </p:sp>
      <p:sp>
        <p:nvSpPr>
          <p:cNvPr id="3" name="Content Placeholder 2">
            <a:extLst>
              <a:ext uri="{FF2B5EF4-FFF2-40B4-BE49-F238E27FC236}">
                <a16:creationId xmlns:a16="http://schemas.microsoft.com/office/drawing/2014/main" id="{440E12A9-984E-4F6E-80E4-A8D1D72FADB6}"/>
              </a:ext>
            </a:extLst>
          </p:cNvPr>
          <p:cNvSpPr>
            <a:spLocks noGrp="1"/>
          </p:cNvSpPr>
          <p:nvPr>
            <p:ph idx="1"/>
          </p:nvPr>
        </p:nvSpPr>
        <p:spPr/>
        <p:txBody>
          <a:bodyPr/>
          <a:lstStyle/>
          <a:p>
            <a:pPr marL="0" indent="0">
              <a:buNone/>
            </a:pPr>
            <a:r>
              <a:rPr lang="en-US" sz="2400" b="1" i="0" dirty="0">
                <a:solidFill>
                  <a:schemeClr val="accent5"/>
                </a:solidFill>
                <a:effectLst/>
                <a:latin typeface="Tahoma" panose="020B0604030504040204" pitchFamily="34" charset="0"/>
                <a:ea typeface="Tahoma" panose="020B0604030504040204" pitchFamily="34" charset="0"/>
                <a:cs typeface="Tahoma" panose="020B0604030504040204" pitchFamily="34" charset="0"/>
              </a:rPr>
              <a:t>(a) Execution component</a:t>
            </a:r>
            <a:endPar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(ii) Double acting cylinder</a:t>
            </a:r>
          </a:p>
          <a:p>
            <a:pPr marL="0" indent="0">
              <a:buNone/>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In a double acting cylinder, air pressure is applied alternately to the relative surface of the piston, producing a propelling force and a retracting force</a:t>
            </a:r>
            <a:r>
              <a:rPr lang="en-US" sz="3600" dirty="0">
                <a:latin typeface="Tahoma" panose="020B0604030504040204" pitchFamily="34" charset="0"/>
                <a:ea typeface="Tahoma" panose="020B0604030504040204" pitchFamily="34" charset="0"/>
                <a:cs typeface="Tahoma" panose="020B0604030504040204" pitchFamily="34" charset="0"/>
              </a:rPr>
              <a:t> </a:t>
            </a:r>
            <a:br>
              <a:rPr lang="en-US" dirty="0"/>
            </a:br>
            <a:endParaRPr lang="en-TZ" dirty="0"/>
          </a:p>
        </p:txBody>
      </p:sp>
      <p:pic>
        <p:nvPicPr>
          <p:cNvPr id="5" name="Picture 4">
            <a:extLst>
              <a:ext uri="{FF2B5EF4-FFF2-40B4-BE49-F238E27FC236}">
                <a16:creationId xmlns:a16="http://schemas.microsoft.com/office/drawing/2014/main" id="{59B2A3FB-E0D9-412B-A758-E9F1D305115A}"/>
              </a:ext>
            </a:extLst>
          </p:cNvPr>
          <p:cNvPicPr>
            <a:picLocks noChangeAspect="1"/>
          </p:cNvPicPr>
          <p:nvPr/>
        </p:nvPicPr>
        <p:blipFill>
          <a:blip r:embed="rId2"/>
          <a:stretch>
            <a:fillRect/>
          </a:stretch>
        </p:blipFill>
        <p:spPr>
          <a:xfrm>
            <a:off x="1496491" y="3787775"/>
            <a:ext cx="4886325" cy="2524125"/>
          </a:xfrm>
          <a:prstGeom prst="rect">
            <a:avLst/>
          </a:prstGeom>
        </p:spPr>
      </p:pic>
      <p:pic>
        <p:nvPicPr>
          <p:cNvPr id="7" name="Picture 6">
            <a:extLst>
              <a:ext uri="{FF2B5EF4-FFF2-40B4-BE49-F238E27FC236}">
                <a16:creationId xmlns:a16="http://schemas.microsoft.com/office/drawing/2014/main" id="{E22EADFF-F00C-44FA-B285-2006E614FAEF}"/>
              </a:ext>
            </a:extLst>
          </p:cNvPr>
          <p:cNvPicPr>
            <a:picLocks noChangeAspect="1"/>
          </p:cNvPicPr>
          <p:nvPr/>
        </p:nvPicPr>
        <p:blipFill>
          <a:blip r:embed="rId3"/>
          <a:stretch>
            <a:fillRect/>
          </a:stretch>
        </p:blipFill>
        <p:spPr>
          <a:xfrm>
            <a:off x="7133159" y="3787775"/>
            <a:ext cx="3562350" cy="2286000"/>
          </a:xfrm>
          <a:prstGeom prst="rect">
            <a:avLst/>
          </a:prstGeom>
        </p:spPr>
      </p:pic>
    </p:spTree>
    <p:extLst>
      <p:ext uri="{BB962C8B-B14F-4D97-AF65-F5344CB8AC3E}">
        <p14:creationId xmlns:p14="http://schemas.microsoft.com/office/powerpoint/2010/main" val="3765689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785AF-E1E2-4C1D-868E-096518CE55D2}"/>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Main pneumatic components</a:t>
            </a:r>
            <a:endParaRPr lang="en-TZ" dirty="0"/>
          </a:p>
        </p:txBody>
      </p:sp>
      <p:sp>
        <p:nvSpPr>
          <p:cNvPr id="3" name="Content Placeholder 2">
            <a:extLst>
              <a:ext uri="{FF2B5EF4-FFF2-40B4-BE49-F238E27FC236}">
                <a16:creationId xmlns:a16="http://schemas.microsoft.com/office/drawing/2014/main" id="{03B218C6-7C8A-4ABA-830E-24DDDD081E30}"/>
              </a:ext>
            </a:extLst>
          </p:cNvPr>
          <p:cNvSpPr>
            <a:spLocks noGrp="1"/>
          </p:cNvSpPr>
          <p:nvPr>
            <p:ph idx="1"/>
          </p:nvPr>
        </p:nvSpPr>
        <p:spPr/>
        <p:txBody>
          <a:bodyPr/>
          <a:lstStyle/>
          <a:p>
            <a:pPr marL="0" indent="0">
              <a:buNone/>
            </a:pPr>
            <a:r>
              <a:rPr lang="en-US" sz="2800" b="1" i="0" dirty="0">
                <a:solidFill>
                  <a:schemeClr val="accent5"/>
                </a:solidFill>
                <a:effectLst/>
                <a:latin typeface="Tahoma" panose="020B0604030504040204" pitchFamily="34" charset="0"/>
                <a:ea typeface="Tahoma" panose="020B0604030504040204" pitchFamily="34" charset="0"/>
                <a:cs typeface="Tahoma" panose="020B0604030504040204" pitchFamily="34" charset="0"/>
              </a:rPr>
              <a:t>(a) Execution component</a:t>
            </a:r>
            <a:endParaRPr lang="en-US" sz="2800" b="1" i="0"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28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(ii) telescopic cylinder</a:t>
            </a:r>
          </a:p>
          <a:p>
            <a:pPr marL="0" indent="0">
              <a:buNone/>
            </a:pPr>
            <a:r>
              <a:rPr lang="en-US" b="0" i="0" dirty="0">
                <a:solidFill>
                  <a:srgbClr val="202124"/>
                </a:solidFill>
                <a:effectLst/>
                <a:latin typeface="Tahoma" panose="020B0604030504040204" pitchFamily="34" charset="0"/>
                <a:ea typeface="Tahoma" panose="020B0604030504040204" pitchFamily="34" charset="0"/>
                <a:cs typeface="Tahoma" panose="020B0604030504040204" pitchFamily="34" charset="0"/>
              </a:rPr>
              <a:t>Telescopic cylinders are used when an application requires a compact retracted dimension,</a:t>
            </a:r>
            <a:r>
              <a:rPr lang="en-US" i="0" dirty="0">
                <a:solidFill>
                  <a:srgbClr val="202124"/>
                </a:solidFill>
                <a:effectLst/>
                <a:latin typeface="Tahoma" panose="020B0604030504040204" pitchFamily="34" charset="0"/>
                <a:ea typeface="Tahoma" panose="020B0604030504040204" pitchFamily="34" charset="0"/>
                <a:cs typeface="Tahoma" panose="020B0604030504040204" pitchFamily="34" charset="0"/>
              </a:rPr>
              <a:t> but needs a longer stroke</a:t>
            </a:r>
            <a:r>
              <a:rPr lang="en-US" b="0" i="0" dirty="0">
                <a:solidFill>
                  <a:srgbClr val="202124"/>
                </a:solidFill>
                <a:effectLst/>
                <a:latin typeface="Tahoma" panose="020B0604030504040204" pitchFamily="34" charset="0"/>
                <a:ea typeface="Tahoma" panose="020B0604030504040204" pitchFamily="34" charset="0"/>
                <a:cs typeface="Tahoma" panose="020B0604030504040204" pitchFamily="34" charset="0"/>
              </a:rPr>
              <a:t>. </a:t>
            </a:r>
          </a:p>
          <a:p>
            <a:pPr marL="0" indent="0">
              <a:buNone/>
            </a:pPr>
            <a:r>
              <a:rPr lang="en-US" b="0" i="0" dirty="0">
                <a:solidFill>
                  <a:srgbClr val="202124"/>
                </a:solidFill>
                <a:effectLst/>
                <a:latin typeface="Tahoma" panose="020B0604030504040204" pitchFamily="34" charset="0"/>
                <a:ea typeface="Tahoma" panose="020B0604030504040204" pitchFamily="34" charset="0"/>
                <a:cs typeface="Tahoma" panose="020B0604030504040204" pitchFamily="34" charset="0"/>
              </a:rPr>
              <a:t>These cylinders are generally single acting and are available in two to five stages although there are double acting also.</a:t>
            </a:r>
          </a:p>
          <a:p>
            <a:pPr marL="0" indent="0">
              <a:buNone/>
            </a:pPr>
            <a:r>
              <a:rPr lang="en-US" dirty="0">
                <a:solidFill>
                  <a:srgbClr val="202124"/>
                </a:solidFill>
                <a:latin typeface="Tahoma" panose="020B0604030504040204" pitchFamily="34" charset="0"/>
                <a:ea typeface="Tahoma" panose="020B0604030504040204" pitchFamily="34" charset="0"/>
                <a:cs typeface="Tahoma" panose="020B0604030504040204" pitchFamily="34" charset="0"/>
              </a:rPr>
              <a:t>It operates in stages, the fist part emerges from cylinder while other parts come from inside of previous part</a:t>
            </a:r>
            <a:endParaRPr lang="en-TZ"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9020771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lescopic Hydraulic Cylinder, Crane Hydraulic Cylinder, टेलीस्कोपिक  हाइड्रोलिक सिलेंडर in Vellalore, Coimbatore , Green Tech India | ID:  10534700630">
            <a:extLst>
              <a:ext uri="{FF2B5EF4-FFF2-40B4-BE49-F238E27FC236}">
                <a16:creationId xmlns:a16="http://schemas.microsoft.com/office/drawing/2014/main" id="{2564A4A7-B920-42D4-B966-536152F477F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2887" y="249866"/>
            <a:ext cx="3142779" cy="280723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47BEA6AE-A894-4E9A-90EE-74BE7CAF58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2446" y="3800902"/>
            <a:ext cx="3016155" cy="218529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1FB644F9-F974-41E3-AB16-72EB7B2766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032" y="43046"/>
            <a:ext cx="2735239" cy="2363194"/>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Double acting Cylinder | Diagram , types , Symbol">
            <a:extLst>
              <a:ext uri="{FF2B5EF4-FFF2-40B4-BE49-F238E27FC236}">
                <a16:creationId xmlns:a16="http://schemas.microsoft.com/office/drawing/2014/main" id="{C3D8EDDC-1D54-4623-80AE-0D1292E1D9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24700" y="1146412"/>
            <a:ext cx="4604413" cy="4254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8972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701BA-FA49-457F-84CC-48FD024C207D}"/>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Main pneumatic components</a:t>
            </a:r>
            <a:endParaRPr lang="en-TZ" dirty="0"/>
          </a:p>
        </p:txBody>
      </p:sp>
      <p:sp>
        <p:nvSpPr>
          <p:cNvPr id="3" name="Content Placeholder 2">
            <a:extLst>
              <a:ext uri="{FF2B5EF4-FFF2-40B4-BE49-F238E27FC236}">
                <a16:creationId xmlns:a16="http://schemas.microsoft.com/office/drawing/2014/main" id="{A092F98D-AE4B-44AE-B9EC-A9F8398B6301}"/>
              </a:ext>
            </a:extLst>
          </p:cNvPr>
          <p:cNvSpPr>
            <a:spLocks noGrp="1"/>
          </p:cNvSpPr>
          <p:nvPr>
            <p:ph idx="1"/>
          </p:nvPr>
        </p:nvSpPr>
        <p:spPr/>
        <p:txBody>
          <a:bodyPr>
            <a:normAutofit lnSpcReduction="10000"/>
          </a:bodyPr>
          <a:lstStyle/>
          <a:p>
            <a:pPr marL="0" indent="0">
              <a:buNone/>
            </a:pPr>
            <a:r>
              <a:rPr lang="en-US" sz="2800" b="1" i="0" dirty="0">
                <a:solidFill>
                  <a:schemeClr val="accent5"/>
                </a:solidFill>
                <a:effectLst/>
                <a:latin typeface="Tahoma" panose="020B0604030504040204" pitchFamily="34" charset="0"/>
                <a:ea typeface="Tahoma" panose="020B0604030504040204" pitchFamily="34" charset="0"/>
                <a:cs typeface="Tahoma" panose="020B0604030504040204" pitchFamily="34" charset="0"/>
              </a:rPr>
              <a:t>(a) Execution component</a:t>
            </a:r>
            <a:endParaRPr lang="en-US" sz="2800" b="1" i="0"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p>
            <a:pPr marL="0" indent="0">
              <a:buNone/>
            </a:pPr>
            <a:r>
              <a:rPr lang="en-US" b="1" i="0" dirty="0">
                <a:solidFill>
                  <a:srgbClr val="202122"/>
                </a:solidFill>
                <a:effectLst/>
                <a:latin typeface="Tahoma" panose="020B0604030504040204" pitchFamily="34" charset="0"/>
                <a:ea typeface="Tahoma" panose="020B0604030504040204" pitchFamily="34" charset="0"/>
                <a:cs typeface="Tahoma" panose="020B0604030504040204" pitchFamily="34" charset="0"/>
              </a:rPr>
              <a:t>Pneumatic Motor</a:t>
            </a:r>
            <a:r>
              <a:rPr lang="en-US" b="0" i="0" dirty="0">
                <a:solidFill>
                  <a:srgbClr val="202122"/>
                </a:solidFill>
                <a:effectLst/>
                <a:latin typeface="Tahoma" panose="020B0604030504040204" pitchFamily="34" charset="0"/>
                <a:ea typeface="Tahoma" panose="020B0604030504040204" pitchFamily="34" charset="0"/>
                <a:cs typeface="Tahoma" panose="020B0604030504040204" pitchFamily="34" charset="0"/>
              </a:rPr>
              <a:t> </a:t>
            </a:r>
          </a:p>
          <a:p>
            <a:pPr marL="0" indent="0">
              <a:buNone/>
            </a:pPr>
            <a:r>
              <a:rPr lang="en-US" b="0" i="0" dirty="0">
                <a:effectLst/>
                <a:latin typeface="Tahoma" panose="020B0604030504040204" pitchFamily="34" charset="0"/>
                <a:ea typeface="Tahoma" panose="020B0604030504040204" pitchFamily="34" charset="0"/>
                <a:cs typeface="Tahoma" panose="020B0604030504040204" pitchFamily="34" charset="0"/>
              </a:rPr>
              <a:t>A </a:t>
            </a:r>
            <a:r>
              <a:rPr lang="en-US" i="0" dirty="0">
                <a:effectLst/>
                <a:latin typeface="Tahoma" panose="020B0604030504040204" pitchFamily="34" charset="0"/>
                <a:ea typeface="Tahoma" panose="020B0604030504040204" pitchFamily="34" charset="0"/>
                <a:cs typeface="Tahoma" panose="020B0604030504040204" pitchFamily="34" charset="0"/>
              </a:rPr>
              <a:t>pneumatic motor (air motor), or compressed air engine, is a type of </a:t>
            </a:r>
            <a:r>
              <a:rPr lang="en-US" dirty="0">
                <a:latin typeface="Tahoma" panose="020B0604030504040204" pitchFamily="34" charset="0"/>
                <a:ea typeface="Tahoma" panose="020B0604030504040204" pitchFamily="34" charset="0"/>
                <a:cs typeface="Tahoma" panose="020B0604030504040204" pitchFamily="34" charset="0"/>
              </a:rPr>
              <a:t>motor</a:t>
            </a:r>
            <a:r>
              <a:rPr lang="en-US" i="0" dirty="0">
                <a:effectLst/>
                <a:latin typeface="Tahoma" panose="020B0604030504040204" pitchFamily="34" charset="0"/>
                <a:ea typeface="Tahoma" panose="020B0604030504040204" pitchFamily="34" charset="0"/>
                <a:cs typeface="Tahoma" panose="020B0604030504040204" pitchFamily="34" charset="0"/>
              </a:rPr>
              <a:t> which does </a:t>
            </a:r>
            <a:r>
              <a:rPr lang="en-US" dirty="0">
                <a:latin typeface="Tahoma" panose="020B0604030504040204" pitchFamily="34" charset="0"/>
                <a:ea typeface="Tahoma" panose="020B0604030504040204" pitchFamily="34" charset="0"/>
                <a:cs typeface="Tahoma" panose="020B0604030504040204" pitchFamily="34" charset="0"/>
              </a:rPr>
              <a:t>mechanical work</a:t>
            </a:r>
            <a:r>
              <a:rPr lang="en-US" i="0" dirty="0">
                <a:effectLst/>
                <a:latin typeface="Tahoma" panose="020B0604030504040204" pitchFamily="34" charset="0"/>
                <a:ea typeface="Tahoma" panose="020B0604030504040204" pitchFamily="34" charset="0"/>
                <a:cs typeface="Tahoma" panose="020B0604030504040204" pitchFamily="34" charset="0"/>
              </a:rPr>
              <a:t> by expanding </a:t>
            </a:r>
            <a:r>
              <a:rPr lang="en-US" dirty="0">
                <a:latin typeface="Tahoma" panose="020B0604030504040204" pitchFamily="34" charset="0"/>
                <a:ea typeface="Tahoma" panose="020B0604030504040204" pitchFamily="34" charset="0"/>
                <a:cs typeface="Tahoma" panose="020B0604030504040204" pitchFamily="34" charset="0"/>
              </a:rPr>
              <a:t>compressed air</a:t>
            </a:r>
            <a:r>
              <a:rPr lang="en-US" i="0" dirty="0">
                <a:effectLst/>
                <a:latin typeface="Tahoma" panose="020B0604030504040204" pitchFamily="34" charset="0"/>
                <a:ea typeface="Tahoma" panose="020B0604030504040204" pitchFamily="34" charset="0"/>
                <a:cs typeface="Tahoma" panose="020B0604030504040204" pitchFamily="34" charset="0"/>
              </a:rPr>
              <a:t>.</a:t>
            </a:r>
          </a:p>
          <a:p>
            <a:pPr marL="0" indent="0">
              <a:buNone/>
            </a:pPr>
            <a:r>
              <a:rPr lang="en-US" i="0" dirty="0">
                <a:solidFill>
                  <a:srgbClr val="202124"/>
                </a:solidFill>
                <a:effectLst/>
                <a:latin typeface="Tahoma" panose="020B0604030504040204" pitchFamily="34" charset="0"/>
                <a:ea typeface="Tahoma" panose="020B0604030504040204" pitchFamily="34" charset="0"/>
                <a:cs typeface="Tahoma" panose="020B0604030504040204" pitchFamily="34" charset="0"/>
              </a:rPr>
              <a:t>Air motors are used to produce continuous rotary power from a compressed air system</a:t>
            </a:r>
          </a:p>
          <a:p>
            <a:pPr marL="0" indent="0">
              <a:buNone/>
            </a:pPr>
            <a:r>
              <a:rPr lang="en-US" i="0" dirty="0">
                <a:solidFill>
                  <a:srgbClr val="202124"/>
                </a:solidFill>
                <a:effectLst/>
                <a:latin typeface="Tahoma" panose="020B0604030504040204" pitchFamily="34" charset="0"/>
                <a:ea typeface="Tahoma" panose="020B0604030504040204" pitchFamily="34" charset="0"/>
                <a:cs typeface="Tahoma" panose="020B0604030504040204" pitchFamily="34" charset="0"/>
              </a:rPr>
              <a:t>A widespread application of pneumatic motors is in hand-held tools, impact wrenches, screwdrivers, nut runners, drills, grinders, sanders and so on.</a:t>
            </a:r>
            <a:endParaRPr lang="en-TZ"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8685752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ompressed air motor for pneumatic hydraulic pumps, housing with stud,  silver, 00018 - Pro-Lift-Montagetechnik">
            <a:extLst>
              <a:ext uri="{FF2B5EF4-FFF2-40B4-BE49-F238E27FC236}">
                <a16:creationId xmlns:a16="http://schemas.microsoft.com/office/drawing/2014/main" id="{5B07089D-0F79-4C99-B810-5BC294EB9A3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2997" y="1716442"/>
            <a:ext cx="6523745" cy="435133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87550BD7-BFD6-4D6A-A504-BA5262B64256}"/>
              </a:ext>
            </a:extLst>
          </p:cNvPr>
          <p:cNvPicPr>
            <a:picLocks noChangeAspect="1"/>
          </p:cNvPicPr>
          <p:nvPr/>
        </p:nvPicPr>
        <p:blipFill>
          <a:blip r:embed="rId3"/>
          <a:stretch>
            <a:fillRect/>
          </a:stretch>
        </p:blipFill>
        <p:spPr>
          <a:xfrm>
            <a:off x="6736742" y="2033516"/>
            <a:ext cx="3171533" cy="3482677"/>
          </a:xfrm>
          <a:prstGeom prst="rect">
            <a:avLst/>
          </a:prstGeom>
        </p:spPr>
      </p:pic>
      <p:pic>
        <p:nvPicPr>
          <p:cNvPr id="6" name="Picture 5">
            <a:extLst>
              <a:ext uri="{FF2B5EF4-FFF2-40B4-BE49-F238E27FC236}">
                <a16:creationId xmlns:a16="http://schemas.microsoft.com/office/drawing/2014/main" id="{F414ECD7-BA53-4A77-8CF9-4BDB1CF90AA0}"/>
              </a:ext>
            </a:extLst>
          </p:cNvPr>
          <p:cNvPicPr>
            <a:picLocks noChangeAspect="1"/>
          </p:cNvPicPr>
          <p:nvPr/>
        </p:nvPicPr>
        <p:blipFill>
          <a:blip r:embed="rId4"/>
          <a:stretch>
            <a:fillRect/>
          </a:stretch>
        </p:blipFill>
        <p:spPr>
          <a:xfrm>
            <a:off x="9493475" y="176982"/>
            <a:ext cx="2698525" cy="3078920"/>
          </a:xfrm>
          <a:prstGeom prst="rect">
            <a:avLst/>
          </a:prstGeom>
        </p:spPr>
      </p:pic>
    </p:spTree>
    <p:extLst>
      <p:ext uri="{BB962C8B-B14F-4D97-AF65-F5344CB8AC3E}">
        <p14:creationId xmlns:p14="http://schemas.microsoft.com/office/powerpoint/2010/main" val="2468935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F2AB5-EBD1-4DBB-BB89-28DC7DD3872D}"/>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Main pneumatic components</a:t>
            </a:r>
            <a:endParaRPr lang="en-TZ" dirty="0"/>
          </a:p>
        </p:txBody>
      </p:sp>
      <p:sp>
        <p:nvSpPr>
          <p:cNvPr id="3" name="Content Placeholder 2">
            <a:extLst>
              <a:ext uri="{FF2B5EF4-FFF2-40B4-BE49-F238E27FC236}">
                <a16:creationId xmlns:a16="http://schemas.microsoft.com/office/drawing/2014/main" id="{3677808A-C00D-410D-B845-9516AF6BB374}"/>
              </a:ext>
            </a:extLst>
          </p:cNvPr>
          <p:cNvSpPr>
            <a:spLocks noGrp="1"/>
          </p:cNvSpPr>
          <p:nvPr>
            <p:ph idx="1"/>
          </p:nvPr>
        </p:nvSpPr>
        <p:spPr>
          <a:xfrm>
            <a:off x="838200" y="1690688"/>
            <a:ext cx="10515600" cy="5167312"/>
          </a:xfrm>
        </p:spPr>
        <p:txBody>
          <a:bodyPr/>
          <a:lstStyle/>
          <a:p>
            <a:pPr marL="0" indent="0">
              <a:buNone/>
            </a:pPr>
            <a:r>
              <a:rPr lang="en-US" sz="18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2. Components that consume compressed air.</a:t>
            </a:r>
          </a:p>
          <a:p>
            <a:pPr marL="0" indent="0">
              <a:buNone/>
            </a:pPr>
            <a:r>
              <a:rPr lang="en-US" sz="1800" b="1" i="0" dirty="0">
                <a:solidFill>
                  <a:schemeClr val="accent5"/>
                </a:solidFill>
                <a:effectLst/>
                <a:latin typeface="Tahoma" panose="020B0604030504040204" pitchFamily="34" charset="0"/>
                <a:ea typeface="Tahoma" panose="020B0604030504040204" pitchFamily="34" charset="0"/>
                <a:cs typeface="Tahoma" panose="020B0604030504040204" pitchFamily="34" charset="0"/>
              </a:rPr>
              <a:t>(b) Directional control valve</a:t>
            </a:r>
            <a:r>
              <a:rPr lang="en-US" b="1" dirty="0">
                <a:solidFill>
                  <a:schemeClr val="accent5"/>
                </a:solidFill>
                <a:latin typeface="Tahoma" panose="020B0604030504040204" pitchFamily="34" charset="0"/>
                <a:ea typeface="Tahoma" panose="020B0604030504040204" pitchFamily="34" charset="0"/>
                <a:cs typeface="Tahoma" panose="020B0604030504040204" pitchFamily="34" charset="0"/>
              </a:rPr>
              <a:t> </a:t>
            </a:r>
            <a:br>
              <a:rPr lang="en-US" dirty="0">
                <a:latin typeface="Tahoma" panose="020B0604030504040204" pitchFamily="34" charset="0"/>
                <a:ea typeface="Tahoma" panose="020B0604030504040204" pitchFamily="34" charset="0"/>
                <a:cs typeface="Tahoma" panose="020B0604030504040204" pitchFamily="34" charset="0"/>
              </a:rPr>
            </a:br>
            <a:r>
              <a:rPr lang="en-US" sz="180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Directional control valves ensure the flow of air between air ports by opening, closing and switching their internal connections</a:t>
            </a:r>
            <a:r>
              <a:rPr lang="en-US" dirty="0">
                <a:latin typeface="Tahoma" panose="020B0604030504040204" pitchFamily="34" charset="0"/>
                <a:ea typeface="Tahoma" panose="020B0604030504040204" pitchFamily="34" charset="0"/>
                <a:cs typeface="Tahoma" panose="020B0604030504040204" pitchFamily="34" charset="0"/>
              </a:rPr>
              <a:t> </a:t>
            </a:r>
            <a:br>
              <a:rPr lang="en-US" dirty="0">
                <a:latin typeface="Tahoma" panose="020B0604030504040204" pitchFamily="34" charset="0"/>
                <a:ea typeface="Tahoma" panose="020B0604030504040204" pitchFamily="34" charset="0"/>
                <a:cs typeface="Tahoma" panose="020B0604030504040204" pitchFamily="34" charset="0"/>
              </a:rPr>
            </a:br>
            <a:r>
              <a:rPr lang="en-US" sz="1800" dirty="0">
                <a:solidFill>
                  <a:srgbClr val="000000"/>
                </a:solidFill>
                <a:latin typeface="Tahoma" panose="020B0604030504040204" pitchFamily="34" charset="0"/>
                <a:ea typeface="Tahoma" panose="020B0604030504040204" pitchFamily="34" charset="0"/>
                <a:cs typeface="Tahoma" panose="020B0604030504040204" pitchFamily="34" charset="0"/>
              </a:rPr>
              <a:t>C</a:t>
            </a:r>
            <a:r>
              <a:rPr lang="en-US" sz="180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lassification is determined by the number of ports, the number of switching positions, the normal position of the valve and its method of operation.</a:t>
            </a:r>
            <a:r>
              <a:rPr lang="en-US" dirty="0">
                <a:latin typeface="Tahoma" panose="020B0604030504040204" pitchFamily="34" charset="0"/>
                <a:ea typeface="Tahoma" panose="020B0604030504040204" pitchFamily="34" charset="0"/>
                <a:cs typeface="Tahoma" panose="020B0604030504040204" pitchFamily="34" charset="0"/>
              </a:rPr>
              <a:t> </a:t>
            </a:r>
            <a:br>
              <a:rPr lang="en-US" dirty="0">
                <a:latin typeface="Tahoma" panose="020B0604030504040204" pitchFamily="34" charset="0"/>
                <a:ea typeface="Tahoma" panose="020B0604030504040204" pitchFamily="34" charset="0"/>
                <a:cs typeface="Tahoma" panose="020B0604030504040204" pitchFamily="34" charset="0"/>
              </a:rPr>
            </a:br>
            <a:r>
              <a:rPr lang="en-US" sz="180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Common types of directional control valves include 2/2, 3/2 and 5/2</a:t>
            </a:r>
            <a:br>
              <a:rPr lang="en-US" dirty="0">
                <a:latin typeface="Tahoma" panose="020B0604030504040204" pitchFamily="34" charset="0"/>
                <a:ea typeface="Tahoma" panose="020B0604030504040204" pitchFamily="34" charset="0"/>
                <a:cs typeface="Tahoma" panose="020B0604030504040204" pitchFamily="34" charset="0"/>
              </a:rPr>
            </a:br>
            <a:r>
              <a:rPr lang="en-US" sz="180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The first number represents the number of ports; the second number represents the number of positions.</a:t>
            </a:r>
            <a:r>
              <a:rPr lang="en-US" dirty="0">
                <a:latin typeface="Tahoma" panose="020B0604030504040204" pitchFamily="34" charset="0"/>
                <a:ea typeface="Tahoma" panose="020B0604030504040204" pitchFamily="34" charset="0"/>
                <a:cs typeface="Tahoma" panose="020B0604030504040204" pitchFamily="34" charset="0"/>
              </a:rPr>
              <a:t> </a:t>
            </a:r>
            <a:br>
              <a:rPr lang="en-US" dirty="0">
                <a:latin typeface="Tahoma" panose="020B0604030504040204" pitchFamily="34" charset="0"/>
                <a:ea typeface="Tahoma" panose="020B0604030504040204" pitchFamily="34" charset="0"/>
                <a:cs typeface="Tahoma" panose="020B0604030504040204" pitchFamily="34" charset="0"/>
              </a:rPr>
            </a:br>
            <a:r>
              <a:rPr lang="en-US" sz="180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A directional control valve that has five ports and two positions can be represented by</a:t>
            </a:r>
            <a:r>
              <a:rPr lang="en-US" dirty="0">
                <a:latin typeface="Tahoma" panose="020B0604030504040204" pitchFamily="34" charset="0"/>
                <a:ea typeface="Tahoma" panose="020B0604030504040204" pitchFamily="34" charset="0"/>
                <a:cs typeface="Tahoma" panose="020B0604030504040204" pitchFamily="34" charset="0"/>
              </a:rPr>
              <a:t> </a:t>
            </a:r>
            <a:br>
              <a:rPr lang="en-US" dirty="0"/>
            </a:br>
            <a:endParaRPr lang="en-TZ" dirty="0"/>
          </a:p>
        </p:txBody>
      </p:sp>
      <p:pic>
        <p:nvPicPr>
          <p:cNvPr id="5" name="Picture 4">
            <a:extLst>
              <a:ext uri="{FF2B5EF4-FFF2-40B4-BE49-F238E27FC236}">
                <a16:creationId xmlns:a16="http://schemas.microsoft.com/office/drawing/2014/main" id="{1DD49BA7-3F58-492C-A440-6EDF1D3AF289}"/>
              </a:ext>
            </a:extLst>
          </p:cNvPr>
          <p:cNvPicPr>
            <a:picLocks noChangeAspect="1"/>
          </p:cNvPicPr>
          <p:nvPr/>
        </p:nvPicPr>
        <p:blipFill>
          <a:blip r:embed="rId2"/>
          <a:stretch>
            <a:fillRect/>
          </a:stretch>
        </p:blipFill>
        <p:spPr>
          <a:xfrm>
            <a:off x="7826849" y="5085425"/>
            <a:ext cx="4078548" cy="1361317"/>
          </a:xfrm>
          <a:prstGeom prst="rect">
            <a:avLst/>
          </a:prstGeom>
        </p:spPr>
      </p:pic>
    </p:spTree>
    <p:extLst>
      <p:ext uri="{BB962C8B-B14F-4D97-AF65-F5344CB8AC3E}">
        <p14:creationId xmlns:p14="http://schemas.microsoft.com/office/powerpoint/2010/main" val="2389353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ED6FC-4393-4E39-B699-3204A14B2AB6}"/>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Main pneumatic components</a:t>
            </a:r>
            <a:endParaRPr lang="en-TZ" dirty="0"/>
          </a:p>
        </p:txBody>
      </p:sp>
      <p:sp>
        <p:nvSpPr>
          <p:cNvPr id="3" name="Content Placeholder 2">
            <a:extLst>
              <a:ext uri="{FF2B5EF4-FFF2-40B4-BE49-F238E27FC236}">
                <a16:creationId xmlns:a16="http://schemas.microsoft.com/office/drawing/2014/main" id="{862CEEC8-1CCE-4DB0-BF87-98413CCB8E18}"/>
              </a:ext>
            </a:extLst>
          </p:cNvPr>
          <p:cNvSpPr>
            <a:spLocks noGrp="1"/>
          </p:cNvSpPr>
          <p:nvPr>
            <p:ph idx="1"/>
          </p:nvPr>
        </p:nvSpPr>
        <p:spPr/>
        <p:txBody>
          <a:bodyPr/>
          <a:lstStyle/>
          <a:p>
            <a:pPr marL="0" indent="0">
              <a:buNone/>
            </a:pPr>
            <a:r>
              <a:rPr lang="en-US" sz="18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2. Components that consume compressed air.</a:t>
            </a:r>
          </a:p>
          <a:p>
            <a:pPr marL="0" indent="0">
              <a:buNone/>
            </a:pPr>
            <a:r>
              <a:rPr lang="en-US" sz="1800" b="1" i="0" dirty="0">
                <a:solidFill>
                  <a:schemeClr val="accent5"/>
                </a:solidFill>
                <a:effectLst/>
                <a:latin typeface="Tahoma" panose="020B0604030504040204" pitchFamily="34" charset="0"/>
                <a:ea typeface="Tahoma" panose="020B0604030504040204" pitchFamily="34" charset="0"/>
                <a:cs typeface="Tahoma" panose="020B0604030504040204" pitchFamily="34" charset="0"/>
              </a:rPr>
              <a:t>(b) Directional control valve</a:t>
            </a:r>
            <a:endParaRPr lang="en-US" sz="1800" b="0" i="0"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p>
            <a:pPr marL="400050" indent="-400050">
              <a:buAutoNum type="romanLcParenBoth"/>
            </a:pPr>
            <a:r>
              <a:rPr lang="en-US" sz="18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2/2 Directional control valve</a:t>
            </a:r>
          </a:p>
          <a:p>
            <a:pPr marL="0" indent="0">
              <a:buNone/>
            </a:pPr>
            <a:r>
              <a:rPr lang="en-US" sz="18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The structure of a 2/2 directional control valve is very simple. </a:t>
            </a:r>
          </a:p>
          <a:p>
            <a:pPr marL="0" indent="0">
              <a:buNone/>
            </a:pPr>
            <a:r>
              <a:rPr lang="en-US" sz="18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It uses the thrust from the spring to open and close the valve, stopping compressed air from flowing towards working tube ‘A’ from air inlet ‘P’. </a:t>
            </a:r>
          </a:p>
          <a:p>
            <a:pPr marL="0" indent="0">
              <a:buNone/>
            </a:pPr>
            <a:r>
              <a:rPr lang="en-US" sz="18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When a force is applied to the control axis, the valve will be pushed open, connecting ‘P’ with ‘A’. </a:t>
            </a:r>
          </a:p>
          <a:p>
            <a:pPr marL="0" indent="0">
              <a:buNone/>
            </a:pPr>
            <a:r>
              <a:rPr lang="en-US" sz="18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The force applied to the control axis has to overcome both air pressure and the repulsive force of the spring. </a:t>
            </a:r>
          </a:p>
          <a:p>
            <a:pPr marL="0" indent="0">
              <a:buNone/>
            </a:pPr>
            <a:r>
              <a:rPr lang="en-US" sz="18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The control valve can be driven manually or mechanically, and restored to its original position by the spring</a:t>
            </a:r>
            <a:r>
              <a:rPr lang="en-US" dirty="0">
                <a:latin typeface="Tahoma" panose="020B0604030504040204" pitchFamily="34" charset="0"/>
                <a:ea typeface="Tahoma" panose="020B0604030504040204" pitchFamily="34" charset="0"/>
                <a:cs typeface="Tahoma" panose="020B0604030504040204" pitchFamily="34" charset="0"/>
              </a:rPr>
              <a:t> </a:t>
            </a:r>
            <a:br>
              <a:rPr lang="en-US" dirty="0">
                <a:latin typeface="Tahoma" panose="020B0604030504040204" pitchFamily="34" charset="0"/>
                <a:ea typeface="Tahoma" panose="020B0604030504040204" pitchFamily="34" charset="0"/>
                <a:cs typeface="Tahoma" panose="020B0604030504040204" pitchFamily="34" charset="0"/>
              </a:rPr>
            </a:br>
            <a:endParaRPr lang="en-TZ"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237542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9B4FBF4-7D00-419E-B4E1-EE9332A93441}"/>
              </a:ext>
            </a:extLst>
          </p:cNvPr>
          <p:cNvPicPr>
            <a:picLocks noGrp="1" noChangeAspect="1"/>
          </p:cNvPicPr>
          <p:nvPr>
            <p:ph idx="1"/>
          </p:nvPr>
        </p:nvPicPr>
        <p:blipFill>
          <a:blip r:embed="rId2"/>
          <a:stretch>
            <a:fillRect/>
          </a:stretch>
        </p:blipFill>
        <p:spPr>
          <a:xfrm>
            <a:off x="1915447" y="1050381"/>
            <a:ext cx="3835733" cy="4235994"/>
          </a:xfrm>
        </p:spPr>
      </p:pic>
      <p:pic>
        <p:nvPicPr>
          <p:cNvPr id="7" name="Picture 6">
            <a:extLst>
              <a:ext uri="{FF2B5EF4-FFF2-40B4-BE49-F238E27FC236}">
                <a16:creationId xmlns:a16="http://schemas.microsoft.com/office/drawing/2014/main" id="{CB68CF27-7413-4FB3-85A5-3BE545B9EC38}"/>
              </a:ext>
            </a:extLst>
          </p:cNvPr>
          <p:cNvPicPr>
            <a:picLocks noChangeAspect="1"/>
          </p:cNvPicPr>
          <p:nvPr/>
        </p:nvPicPr>
        <p:blipFill>
          <a:blip r:embed="rId3"/>
          <a:stretch>
            <a:fillRect/>
          </a:stretch>
        </p:blipFill>
        <p:spPr>
          <a:xfrm>
            <a:off x="6795662" y="1311003"/>
            <a:ext cx="3835733" cy="4235994"/>
          </a:xfrm>
          <a:prstGeom prst="rect">
            <a:avLst/>
          </a:prstGeom>
        </p:spPr>
      </p:pic>
    </p:spTree>
    <p:extLst>
      <p:ext uri="{BB962C8B-B14F-4D97-AF65-F5344CB8AC3E}">
        <p14:creationId xmlns:p14="http://schemas.microsoft.com/office/powerpoint/2010/main" val="3107377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A64E6-2EA5-4095-9F9F-BAF740DAF138}"/>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Main pneumatic components</a:t>
            </a:r>
            <a:endParaRPr lang="en-TZ" dirty="0"/>
          </a:p>
        </p:txBody>
      </p:sp>
      <p:sp>
        <p:nvSpPr>
          <p:cNvPr id="3" name="Content Placeholder 2">
            <a:extLst>
              <a:ext uri="{FF2B5EF4-FFF2-40B4-BE49-F238E27FC236}">
                <a16:creationId xmlns:a16="http://schemas.microsoft.com/office/drawing/2014/main" id="{F7607143-A2B9-410E-845A-7320C602DC22}"/>
              </a:ext>
            </a:extLst>
          </p:cNvPr>
          <p:cNvSpPr>
            <a:spLocks noGrp="1"/>
          </p:cNvSpPr>
          <p:nvPr>
            <p:ph idx="1"/>
          </p:nvPr>
        </p:nvSpPr>
        <p:spPr/>
        <p:txBody>
          <a:bodyPr>
            <a:normAutofit fontScale="92500"/>
          </a:bodyPr>
          <a:lstStyle/>
          <a:p>
            <a:pPr marL="0" indent="0">
              <a:buNone/>
            </a:pPr>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2. Components that consume compressed air</a:t>
            </a:r>
          </a:p>
          <a:p>
            <a:pPr marL="0" indent="0">
              <a:buNone/>
            </a:pPr>
            <a:r>
              <a:rPr lang="en-US" sz="2400" b="1" i="0" dirty="0">
                <a:solidFill>
                  <a:schemeClr val="accent5"/>
                </a:solidFill>
                <a:effectLst/>
                <a:latin typeface="Tahoma" panose="020B0604030504040204" pitchFamily="34" charset="0"/>
                <a:ea typeface="Tahoma" panose="020B0604030504040204" pitchFamily="34" charset="0"/>
                <a:cs typeface="Tahoma" panose="020B0604030504040204" pitchFamily="34" charset="0"/>
              </a:rPr>
              <a:t>(b) Directional control valve</a:t>
            </a:r>
            <a:endPar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(ii) 3/2 Directional control valve</a:t>
            </a:r>
          </a:p>
          <a:p>
            <a:pPr marL="0" indent="0">
              <a:buNone/>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A 3/2 directional control valve can be used to control a single acting cylinder. </a:t>
            </a:r>
          </a:p>
          <a:p>
            <a:pPr marL="0" indent="0">
              <a:buNone/>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The</a:t>
            </a:r>
            <a:r>
              <a:rPr lang="en-US" sz="2400"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open valves in the middle will close until ‘P’ and ‘A’ are connected together. </a:t>
            </a:r>
          </a:p>
          <a:p>
            <a:pPr marL="0" indent="0">
              <a:buNone/>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Then another valve will open the sealed base between ‘A’ and ‘R’ (exhaust). </a:t>
            </a:r>
          </a:p>
          <a:p>
            <a:pPr marL="0" indent="0">
              <a:buNone/>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The valves can be driven manually, mechanically, electrically or pneumatically. </a:t>
            </a:r>
          </a:p>
          <a:p>
            <a:pPr marL="0" indent="0">
              <a:buNone/>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3/2 directional control valves can further be divided into two classes: Normally open type (N.O.) and normally closed type (N.C.) </a:t>
            </a:r>
            <a:br>
              <a:rPr lang="en-US" sz="3600" dirty="0">
                <a:latin typeface="Tahoma" panose="020B0604030504040204" pitchFamily="34" charset="0"/>
                <a:ea typeface="Tahoma" panose="020B0604030504040204" pitchFamily="34" charset="0"/>
                <a:cs typeface="Tahoma" panose="020B0604030504040204" pitchFamily="34" charset="0"/>
              </a:rPr>
            </a:br>
            <a:endParaRPr lang="en-TZ" sz="36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6781111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BEB37A8-8F39-48C9-AD0E-065839C44A6C}"/>
              </a:ext>
            </a:extLst>
          </p:cNvPr>
          <p:cNvPicPr>
            <a:picLocks noGrp="1" noChangeAspect="1"/>
          </p:cNvPicPr>
          <p:nvPr>
            <p:ph idx="1"/>
          </p:nvPr>
        </p:nvPicPr>
        <p:blipFill>
          <a:blip r:embed="rId2"/>
          <a:stretch>
            <a:fillRect/>
          </a:stretch>
        </p:blipFill>
        <p:spPr>
          <a:xfrm>
            <a:off x="1261280" y="537321"/>
            <a:ext cx="3524250" cy="3743325"/>
          </a:xfrm>
        </p:spPr>
      </p:pic>
      <p:pic>
        <p:nvPicPr>
          <p:cNvPr id="7" name="Picture 6">
            <a:extLst>
              <a:ext uri="{FF2B5EF4-FFF2-40B4-BE49-F238E27FC236}">
                <a16:creationId xmlns:a16="http://schemas.microsoft.com/office/drawing/2014/main" id="{790A8BBD-F8D7-49EC-AE9E-B142CB70E813}"/>
              </a:ext>
            </a:extLst>
          </p:cNvPr>
          <p:cNvPicPr>
            <a:picLocks noChangeAspect="1"/>
          </p:cNvPicPr>
          <p:nvPr/>
        </p:nvPicPr>
        <p:blipFill>
          <a:blip r:embed="rId3"/>
          <a:stretch>
            <a:fillRect/>
          </a:stretch>
        </p:blipFill>
        <p:spPr>
          <a:xfrm>
            <a:off x="7682339" y="737346"/>
            <a:ext cx="3514725" cy="3543300"/>
          </a:xfrm>
          <a:prstGeom prst="rect">
            <a:avLst/>
          </a:prstGeom>
        </p:spPr>
      </p:pic>
      <p:pic>
        <p:nvPicPr>
          <p:cNvPr id="9" name="Picture 8">
            <a:extLst>
              <a:ext uri="{FF2B5EF4-FFF2-40B4-BE49-F238E27FC236}">
                <a16:creationId xmlns:a16="http://schemas.microsoft.com/office/drawing/2014/main" id="{61186B5B-6128-4F00-92FE-51E4ABE3362B}"/>
              </a:ext>
            </a:extLst>
          </p:cNvPr>
          <p:cNvPicPr>
            <a:picLocks noChangeAspect="1"/>
          </p:cNvPicPr>
          <p:nvPr/>
        </p:nvPicPr>
        <p:blipFill>
          <a:blip r:embed="rId4"/>
          <a:stretch>
            <a:fillRect/>
          </a:stretch>
        </p:blipFill>
        <p:spPr>
          <a:xfrm>
            <a:off x="3482738" y="4499933"/>
            <a:ext cx="6591300" cy="1990725"/>
          </a:xfrm>
          <a:prstGeom prst="rect">
            <a:avLst/>
          </a:prstGeom>
        </p:spPr>
      </p:pic>
    </p:spTree>
    <p:extLst>
      <p:ext uri="{BB962C8B-B14F-4D97-AF65-F5344CB8AC3E}">
        <p14:creationId xmlns:p14="http://schemas.microsoft.com/office/powerpoint/2010/main" val="3597974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74752-2829-4024-B9F0-145C6343C9CD}"/>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Main pneumatic components</a:t>
            </a:r>
            <a:endParaRPr lang="en-TZ" dirty="0"/>
          </a:p>
        </p:txBody>
      </p:sp>
      <p:sp>
        <p:nvSpPr>
          <p:cNvPr id="3" name="Content Placeholder 2">
            <a:extLst>
              <a:ext uri="{FF2B5EF4-FFF2-40B4-BE49-F238E27FC236}">
                <a16:creationId xmlns:a16="http://schemas.microsoft.com/office/drawing/2014/main" id="{050237DF-C267-4FCF-A395-DCE883EE971D}"/>
              </a:ext>
            </a:extLst>
          </p:cNvPr>
          <p:cNvSpPr>
            <a:spLocks noGrp="1"/>
          </p:cNvSpPr>
          <p:nvPr>
            <p:ph idx="1"/>
          </p:nvPr>
        </p:nvSpPr>
        <p:spPr/>
        <p:txBody>
          <a:bodyPr>
            <a:normAutofit lnSpcReduction="10000"/>
          </a:bodyPr>
          <a:lstStyle/>
          <a:p>
            <a:pPr marL="0" indent="0">
              <a:buNone/>
            </a:pPr>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2. Components that consume compressed air</a:t>
            </a:r>
          </a:p>
          <a:p>
            <a:pPr marL="0" indent="0">
              <a:buNone/>
            </a:pPr>
            <a:r>
              <a:rPr lang="en-US" sz="2400" b="1" i="0" dirty="0">
                <a:solidFill>
                  <a:schemeClr val="accent5"/>
                </a:solidFill>
                <a:effectLst/>
                <a:latin typeface="Tahoma" panose="020B0604030504040204" pitchFamily="34" charset="0"/>
                <a:ea typeface="Tahoma" panose="020B0604030504040204" pitchFamily="34" charset="0"/>
                <a:cs typeface="Tahoma" panose="020B0604030504040204" pitchFamily="34" charset="0"/>
              </a:rPr>
              <a:t>(b) Directional control valve</a:t>
            </a:r>
            <a:endPar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(iii) 5/2 Directional control valve</a:t>
            </a:r>
            <a:endParaRPr lang="en-US" sz="2400" b="1" dirty="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When a pressure pulse is input into the pressure control port ‘P’, the spool will move to the left, connecting inlet ‘P’ and work passage ‘B’. </a:t>
            </a:r>
          </a:p>
          <a:p>
            <a:pPr marL="0" indent="0">
              <a:buNone/>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Work passage ‘A’ will then make a release of air through ‘R1’ and ‘R2’. </a:t>
            </a:r>
          </a:p>
          <a:p>
            <a:pPr marL="0" indent="0">
              <a:buNone/>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The directional valves will remain in this operational position until signals of the contrary are received. </a:t>
            </a:r>
          </a:p>
          <a:p>
            <a:pPr marL="0" indent="0">
              <a:buNone/>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Therefore, this type of directional control valves is said to have the function of ‘memory</a:t>
            </a:r>
            <a:r>
              <a:rPr lang="en-US" sz="2400" b="0" i="0" dirty="0">
                <a:solidFill>
                  <a:srgbClr val="000000"/>
                </a:solidFill>
                <a:effectLst/>
                <a:latin typeface="TimesNewRomanPSMT"/>
              </a:rPr>
              <a:t>’.</a:t>
            </a:r>
            <a:r>
              <a:rPr lang="en-US" sz="3600" dirty="0"/>
              <a:t> </a:t>
            </a:r>
            <a:br>
              <a:rPr lang="en-US" dirty="0"/>
            </a:br>
            <a:endParaRPr lang="en-TZ" dirty="0"/>
          </a:p>
        </p:txBody>
      </p:sp>
    </p:spTree>
    <p:extLst>
      <p:ext uri="{BB962C8B-B14F-4D97-AF65-F5344CB8AC3E}">
        <p14:creationId xmlns:p14="http://schemas.microsoft.com/office/powerpoint/2010/main" val="5828502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1C136FD-387A-4E39-AE83-585384A53727}"/>
              </a:ext>
            </a:extLst>
          </p:cNvPr>
          <p:cNvPicPr>
            <a:picLocks noGrp="1" noChangeAspect="1"/>
          </p:cNvPicPr>
          <p:nvPr>
            <p:ph idx="1"/>
          </p:nvPr>
        </p:nvPicPr>
        <p:blipFill>
          <a:blip r:embed="rId2"/>
          <a:stretch>
            <a:fillRect/>
          </a:stretch>
        </p:blipFill>
        <p:spPr>
          <a:xfrm>
            <a:off x="395786" y="1037230"/>
            <a:ext cx="4027442" cy="4025307"/>
          </a:xfrm>
        </p:spPr>
      </p:pic>
      <p:pic>
        <p:nvPicPr>
          <p:cNvPr id="7" name="Picture 6">
            <a:extLst>
              <a:ext uri="{FF2B5EF4-FFF2-40B4-BE49-F238E27FC236}">
                <a16:creationId xmlns:a16="http://schemas.microsoft.com/office/drawing/2014/main" id="{F4C0A4D0-BDC1-4BFA-86FC-D1D71436D96C}"/>
              </a:ext>
            </a:extLst>
          </p:cNvPr>
          <p:cNvPicPr>
            <a:picLocks noChangeAspect="1"/>
          </p:cNvPicPr>
          <p:nvPr/>
        </p:nvPicPr>
        <p:blipFill>
          <a:blip r:embed="rId3"/>
          <a:stretch>
            <a:fillRect/>
          </a:stretch>
        </p:blipFill>
        <p:spPr>
          <a:xfrm>
            <a:off x="4917814" y="1037230"/>
            <a:ext cx="3748513" cy="3820520"/>
          </a:xfrm>
          <a:prstGeom prst="rect">
            <a:avLst/>
          </a:prstGeom>
        </p:spPr>
      </p:pic>
      <p:pic>
        <p:nvPicPr>
          <p:cNvPr id="9" name="Picture 8">
            <a:extLst>
              <a:ext uri="{FF2B5EF4-FFF2-40B4-BE49-F238E27FC236}">
                <a16:creationId xmlns:a16="http://schemas.microsoft.com/office/drawing/2014/main" id="{A1B101BF-2D2F-43E4-9DE0-F2EBF92E50C9}"/>
              </a:ext>
            </a:extLst>
          </p:cNvPr>
          <p:cNvPicPr>
            <a:picLocks noChangeAspect="1"/>
          </p:cNvPicPr>
          <p:nvPr/>
        </p:nvPicPr>
        <p:blipFill>
          <a:blip r:embed="rId4"/>
          <a:stretch>
            <a:fillRect/>
          </a:stretch>
        </p:blipFill>
        <p:spPr>
          <a:xfrm>
            <a:off x="9031903" y="1201003"/>
            <a:ext cx="2764311" cy="3318052"/>
          </a:xfrm>
          <a:prstGeom prst="rect">
            <a:avLst/>
          </a:prstGeom>
        </p:spPr>
      </p:pic>
    </p:spTree>
    <p:extLst>
      <p:ext uri="{BB962C8B-B14F-4D97-AF65-F5344CB8AC3E}">
        <p14:creationId xmlns:p14="http://schemas.microsoft.com/office/powerpoint/2010/main" val="8318068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EDAA3-F5A1-49E2-BC07-559A185B11E7}"/>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Main pneumatic components</a:t>
            </a:r>
            <a:endParaRPr lang="en-TZ" dirty="0"/>
          </a:p>
        </p:txBody>
      </p:sp>
      <p:sp>
        <p:nvSpPr>
          <p:cNvPr id="3" name="Content Placeholder 2">
            <a:extLst>
              <a:ext uri="{FF2B5EF4-FFF2-40B4-BE49-F238E27FC236}">
                <a16:creationId xmlns:a16="http://schemas.microsoft.com/office/drawing/2014/main" id="{D95AAE99-53A1-46F0-BD3E-880D417A0A7E}"/>
              </a:ext>
            </a:extLst>
          </p:cNvPr>
          <p:cNvSpPr>
            <a:spLocks noGrp="1"/>
          </p:cNvSpPr>
          <p:nvPr>
            <p:ph idx="1"/>
          </p:nvPr>
        </p:nvSpPr>
        <p:spPr>
          <a:xfrm>
            <a:off x="838200" y="1852921"/>
            <a:ext cx="10515600" cy="4351338"/>
          </a:xfrm>
        </p:spPr>
        <p:txBody>
          <a:bodyPr>
            <a:normAutofit/>
          </a:bodyPr>
          <a:lstStyle/>
          <a:p>
            <a:pPr marL="0" indent="0">
              <a:buNone/>
            </a:pPr>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2. Components that consume compressed air</a:t>
            </a:r>
          </a:p>
          <a:p>
            <a:pPr marL="0" indent="0">
              <a:buNone/>
            </a:pPr>
            <a:r>
              <a:rPr lang="en-US" sz="2400" b="1" i="0" dirty="0">
                <a:solidFill>
                  <a:schemeClr val="accent5"/>
                </a:solidFill>
                <a:effectLst/>
                <a:latin typeface="Tahoma" panose="020B0604030504040204" pitchFamily="34" charset="0"/>
                <a:ea typeface="Tahoma" panose="020B0604030504040204" pitchFamily="34" charset="0"/>
                <a:cs typeface="Tahoma" panose="020B0604030504040204" pitchFamily="34" charset="0"/>
              </a:rPr>
              <a:t>(c) Control valve</a:t>
            </a:r>
            <a:b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b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A control valve is a valve that controls the flow of air. Examples include non-return valves, flow control valves, shuttle valves</a:t>
            </a:r>
            <a:r>
              <a:rPr lang="en-US" sz="3600" dirty="0">
                <a:latin typeface="Tahoma" panose="020B0604030504040204" pitchFamily="34" charset="0"/>
                <a:ea typeface="Tahoma" panose="020B0604030504040204" pitchFamily="34" charset="0"/>
                <a:cs typeface="Tahoma" panose="020B0604030504040204" pitchFamily="34" charset="0"/>
              </a:rPr>
              <a:t> </a:t>
            </a:r>
            <a:br>
              <a:rPr lang="en-US" sz="3600" dirty="0">
                <a:latin typeface="Tahoma" panose="020B0604030504040204" pitchFamily="34" charset="0"/>
                <a:ea typeface="Tahoma" panose="020B0604030504040204" pitchFamily="34" charset="0"/>
                <a:cs typeface="Tahoma" panose="020B0604030504040204" pitchFamily="34" charset="0"/>
              </a:rPr>
            </a:br>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a:t>
            </a:r>
            <a:r>
              <a:rPr lang="en-US" sz="2400" b="1" i="0"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i</a:t>
            </a:r>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 Non-return valve</a:t>
            </a:r>
            <a:b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b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A non-return valve allows air to flow in one direction only. </a:t>
            </a:r>
          </a:p>
          <a:p>
            <a:pPr marL="0" indent="0">
              <a:buNone/>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When air flows in the opposite direction, the valve will close. </a:t>
            </a:r>
          </a:p>
          <a:p>
            <a:pPr marL="0" indent="0">
              <a:buNone/>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Another name for non-return valve is </a:t>
            </a:r>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poppet valve </a:t>
            </a:r>
            <a:br>
              <a:rPr lang="en-US" sz="3600" b="1" dirty="0">
                <a:latin typeface="Tahoma" panose="020B0604030504040204" pitchFamily="34" charset="0"/>
                <a:ea typeface="Tahoma" panose="020B0604030504040204" pitchFamily="34" charset="0"/>
                <a:cs typeface="Tahoma" panose="020B0604030504040204" pitchFamily="34" charset="0"/>
              </a:rPr>
            </a:br>
            <a:endParaRPr lang="en-TZ" sz="36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7695917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6B5C725-8CDD-4670-800D-FF61B0D87B1C}"/>
              </a:ext>
            </a:extLst>
          </p:cNvPr>
          <p:cNvPicPr>
            <a:picLocks noGrp="1" noChangeAspect="1"/>
          </p:cNvPicPr>
          <p:nvPr>
            <p:ph idx="1"/>
          </p:nvPr>
        </p:nvPicPr>
        <p:blipFill>
          <a:blip r:embed="rId2"/>
          <a:stretch>
            <a:fillRect/>
          </a:stretch>
        </p:blipFill>
        <p:spPr>
          <a:xfrm>
            <a:off x="1554209" y="405737"/>
            <a:ext cx="8810625" cy="2552700"/>
          </a:xfrm>
        </p:spPr>
      </p:pic>
      <p:pic>
        <p:nvPicPr>
          <p:cNvPr id="6" name="Content Placeholder 4">
            <a:extLst>
              <a:ext uri="{FF2B5EF4-FFF2-40B4-BE49-F238E27FC236}">
                <a16:creationId xmlns:a16="http://schemas.microsoft.com/office/drawing/2014/main" id="{6CAD42BA-94B5-4F2E-BC9B-EB40C69EF975}"/>
              </a:ext>
            </a:extLst>
          </p:cNvPr>
          <p:cNvPicPr>
            <a:picLocks noChangeAspect="1"/>
          </p:cNvPicPr>
          <p:nvPr/>
        </p:nvPicPr>
        <p:blipFill>
          <a:blip r:embed="rId3"/>
          <a:stretch>
            <a:fillRect/>
          </a:stretch>
        </p:blipFill>
        <p:spPr>
          <a:xfrm>
            <a:off x="1288576" y="3618181"/>
            <a:ext cx="10515600" cy="3004457"/>
          </a:xfrm>
          <a:prstGeom prst="rect">
            <a:avLst/>
          </a:prstGeom>
        </p:spPr>
      </p:pic>
    </p:spTree>
    <p:extLst>
      <p:ext uri="{BB962C8B-B14F-4D97-AF65-F5344CB8AC3E}">
        <p14:creationId xmlns:p14="http://schemas.microsoft.com/office/powerpoint/2010/main" val="18313620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73259-C352-4A77-995F-C461407453A8}"/>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Main pneumatic components</a:t>
            </a:r>
            <a:endParaRPr lang="en-TZ" dirty="0"/>
          </a:p>
        </p:txBody>
      </p:sp>
      <p:sp>
        <p:nvSpPr>
          <p:cNvPr id="3" name="Content Placeholder 2">
            <a:extLst>
              <a:ext uri="{FF2B5EF4-FFF2-40B4-BE49-F238E27FC236}">
                <a16:creationId xmlns:a16="http://schemas.microsoft.com/office/drawing/2014/main" id="{85090DFE-D5FF-42D8-93A6-BDFFD8C9D7D2}"/>
              </a:ext>
            </a:extLst>
          </p:cNvPr>
          <p:cNvSpPr>
            <a:spLocks noGrp="1"/>
          </p:cNvSpPr>
          <p:nvPr>
            <p:ph idx="1"/>
          </p:nvPr>
        </p:nvSpPr>
        <p:spPr>
          <a:xfrm>
            <a:off x="838200" y="1825624"/>
            <a:ext cx="10515600" cy="5032375"/>
          </a:xfrm>
        </p:spPr>
        <p:txBody>
          <a:bodyPr>
            <a:normAutofit/>
          </a:bodyPr>
          <a:lstStyle/>
          <a:p>
            <a:pPr marL="0" indent="0">
              <a:buNone/>
            </a:pPr>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2. Components that consume compressed air</a:t>
            </a:r>
          </a:p>
          <a:p>
            <a:pPr marL="0" indent="0">
              <a:buNone/>
            </a:pPr>
            <a:r>
              <a:rPr lang="en-US" sz="2400" b="1" i="0" dirty="0">
                <a:solidFill>
                  <a:schemeClr val="accent5"/>
                </a:solidFill>
                <a:effectLst/>
                <a:latin typeface="Tahoma" panose="020B0604030504040204" pitchFamily="34" charset="0"/>
                <a:ea typeface="Tahoma" panose="020B0604030504040204" pitchFamily="34" charset="0"/>
                <a:cs typeface="Tahoma" panose="020B0604030504040204" pitchFamily="34" charset="0"/>
              </a:rPr>
              <a:t>(c) Control valve</a:t>
            </a:r>
          </a:p>
          <a:p>
            <a:pPr marL="0" indent="0">
              <a:buNone/>
            </a:pPr>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(ii) Flow control valve</a:t>
            </a:r>
            <a:b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b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A flow control valve is formed by a non-return valve and a variable throttle </a:t>
            </a:r>
            <a:br>
              <a:rPr lang="en-US" sz="3600" dirty="0">
                <a:latin typeface="Tahoma" panose="020B0604030504040204" pitchFamily="34" charset="0"/>
                <a:ea typeface="Tahoma" panose="020B0604030504040204" pitchFamily="34" charset="0"/>
                <a:cs typeface="Tahoma" panose="020B0604030504040204" pitchFamily="34" charset="0"/>
              </a:rPr>
            </a:br>
            <a:endParaRPr lang="en-TZ" sz="3600" dirty="0">
              <a:latin typeface="Tahoma" panose="020B0604030504040204" pitchFamily="34" charset="0"/>
              <a:ea typeface="Tahoma" panose="020B0604030504040204" pitchFamily="34" charset="0"/>
              <a:cs typeface="Tahoma" panose="020B0604030504040204" pitchFamily="34" charset="0"/>
            </a:endParaRPr>
          </a:p>
        </p:txBody>
      </p:sp>
      <p:pic>
        <p:nvPicPr>
          <p:cNvPr id="5" name="Picture 4">
            <a:extLst>
              <a:ext uri="{FF2B5EF4-FFF2-40B4-BE49-F238E27FC236}">
                <a16:creationId xmlns:a16="http://schemas.microsoft.com/office/drawing/2014/main" id="{0A1B0F12-7624-4F88-9BAF-248B3AC90312}"/>
              </a:ext>
            </a:extLst>
          </p:cNvPr>
          <p:cNvPicPr>
            <a:picLocks noChangeAspect="1"/>
          </p:cNvPicPr>
          <p:nvPr/>
        </p:nvPicPr>
        <p:blipFill>
          <a:blip r:embed="rId2"/>
          <a:stretch>
            <a:fillRect/>
          </a:stretch>
        </p:blipFill>
        <p:spPr>
          <a:xfrm>
            <a:off x="3706504" y="4000499"/>
            <a:ext cx="2943225" cy="2857500"/>
          </a:xfrm>
          <a:prstGeom prst="rect">
            <a:avLst/>
          </a:prstGeom>
        </p:spPr>
      </p:pic>
      <p:pic>
        <p:nvPicPr>
          <p:cNvPr id="7" name="Picture 6">
            <a:extLst>
              <a:ext uri="{FF2B5EF4-FFF2-40B4-BE49-F238E27FC236}">
                <a16:creationId xmlns:a16="http://schemas.microsoft.com/office/drawing/2014/main" id="{0D34DFF9-21F7-45CA-B7A6-422B3B783DD2}"/>
              </a:ext>
            </a:extLst>
          </p:cNvPr>
          <p:cNvPicPr>
            <a:picLocks noChangeAspect="1"/>
          </p:cNvPicPr>
          <p:nvPr/>
        </p:nvPicPr>
        <p:blipFill>
          <a:blip r:embed="rId3"/>
          <a:stretch>
            <a:fillRect/>
          </a:stretch>
        </p:blipFill>
        <p:spPr>
          <a:xfrm>
            <a:off x="7607346" y="3991495"/>
            <a:ext cx="3201679" cy="2678942"/>
          </a:xfrm>
          <a:prstGeom prst="rect">
            <a:avLst/>
          </a:prstGeom>
        </p:spPr>
      </p:pic>
    </p:spTree>
    <p:extLst>
      <p:ext uri="{BB962C8B-B14F-4D97-AF65-F5344CB8AC3E}">
        <p14:creationId xmlns:p14="http://schemas.microsoft.com/office/powerpoint/2010/main" val="30267328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32DC-571B-4366-85C7-CA1CD8BD561B}"/>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Main pneumatic components</a:t>
            </a:r>
            <a:endParaRPr lang="en-TZ" dirty="0"/>
          </a:p>
        </p:txBody>
      </p:sp>
      <p:sp>
        <p:nvSpPr>
          <p:cNvPr id="3" name="Content Placeholder 2">
            <a:extLst>
              <a:ext uri="{FF2B5EF4-FFF2-40B4-BE49-F238E27FC236}">
                <a16:creationId xmlns:a16="http://schemas.microsoft.com/office/drawing/2014/main" id="{CB9CF0C9-C6CA-4989-9118-559D7EC0745B}"/>
              </a:ext>
            </a:extLst>
          </p:cNvPr>
          <p:cNvSpPr>
            <a:spLocks noGrp="1"/>
          </p:cNvSpPr>
          <p:nvPr>
            <p:ph idx="1"/>
          </p:nvPr>
        </p:nvSpPr>
        <p:spPr/>
        <p:txBody>
          <a:bodyPr>
            <a:normAutofit lnSpcReduction="10000"/>
          </a:bodyPr>
          <a:lstStyle/>
          <a:p>
            <a:pPr marL="0" indent="0">
              <a:buNone/>
            </a:pPr>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2. Components that consume compressed air</a:t>
            </a:r>
          </a:p>
          <a:p>
            <a:pPr marL="0" indent="0">
              <a:buNone/>
            </a:pPr>
            <a:r>
              <a:rPr lang="en-US" sz="2400" b="1" i="0" dirty="0">
                <a:solidFill>
                  <a:schemeClr val="accent5"/>
                </a:solidFill>
                <a:effectLst/>
                <a:latin typeface="Tahoma" panose="020B0604030504040204" pitchFamily="34" charset="0"/>
                <a:ea typeface="Tahoma" panose="020B0604030504040204" pitchFamily="34" charset="0"/>
                <a:cs typeface="Tahoma" panose="020B0604030504040204" pitchFamily="34" charset="0"/>
              </a:rPr>
              <a:t>(c) Control valve</a:t>
            </a:r>
          </a:p>
          <a:p>
            <a:pPr marL="0" indent="0">
              <a:buNone/>
            </a:pPr>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(iii) Shuttle valve</a:t>
            </a:r>
          </a:p>
          <a:p>
            <a:pPr marL="0" indent="0">
              <a:buNone/>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Shuttle valves are also known as </a:t>
            </a:r>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double control or single control non-return valves. </a:t>
            </a:r>
          </a:p>
          <a:p>
            <a:pPr marL="0" indent="0">
              <a:buNone/>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A shuttle valve has two air inlets ‘P1’ and ‘P2’ and one air outlet ‘A’. </a:t>
            </a:r>
          </a:p>
          <a:p>
            <a:pPr marL="0" indent="0">
              <a:buNone/>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When compressed air enters through ‘P1’, the sphere will seal and block the other inlet ‘P2’. Air can then flow from ‘P1’ to ‘A’. </a:t>
            </a:r>
          </a:p>
          <a:p>
            <a:pPr marL="0" indent="0">
              <a:buNone/>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When</a:t>
            </a:r>
            <a:r>
              <a:rPr lang="en-US" sz="2400"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the contrary happens, the sphere will block inlet ‘P1’, allowing air to flow from ‘P2’ to ‘A’ only.</a:t>
            </a:r>
            <a:r>
              <a:rPr lang="en-US" sz="3600" dirty="0">
                <a:latin typeface="Tahoma" panose="020B0604030504040204" pitchFamily="34" charset="0"/>
                <a:ea typeface="Tahoma" panose="020B0604030504040204" pitchFamily="34" charset="0"/>
                <a:cs typeface="Tahoma" panose="020B0604030504040204" pitchFamily="34" charset="0"/>
              </a:rPr>
              <a:t> </a:t>
            </a:r>
            <a:br>
              <a:rPr lang="en-US" dirty="0"/>
            </a:br>
            <a:endParaRPr lang="en-TZ" dirty="0"/>
          </a:p>
        </p:txBody>
      </p:sp>
    </p:spTree>
    <p:extLst>
      <p:ext uri="{BB962C8B-B14F-4D97-AF65-F5344CB8AC3E}">
        <p14:creationId xmlns:p14="http://schemas.microsoft.com/office/powerpoint/2010/main" val="13690327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52CA7D3-D0DC-4BC6-9C6A-E3868AA89942}"/>
              </a:ext>
            </a:extLst>
          </p:cNvPr>
          <p:cNvPicPr>
            <a:picLocks noGrp="1" noChangeAspect="1"/>
          </p:cNvPicPr>
          <p:nvPr>
            <p:ph idx="1"/>
          </p:nvPr>
        </p:nvPicPr>
        <p:blipFill>
          <a:blip r:embed="rId2"/>
          <a:stretch>
            <a:fillRect/>
          </a:stretch>
        </p:blipFill>
        <p:spPr>
          <a:xfrm>
            <a:off x="1070068" y="1173707"/>
            <a:ext cx="10489585" cy="4584310"/>
          </a:xfrm>
        </p:spPr>
      </p:pic>
    </p:spTree>
    <p:extLst>
      <p:ext uri="{BB962C8B-B14F-4D97-AF65-F5344CB8AC3E}">
        <p14:creationId xmlns:p14="http://schemas.microsoft.com/office/powerpoint/2010/main" val="3765895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ED517-4EDF-7EAA-B2AB-D93463C3B028}"/>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Main pneumatic components</a:t>
            </a:r>
            <a:endParaRPr lang="en-TZ" dirty="0"/>
          </a:p>
        </p:txBody>
      </p:sp>
      <p:sp>
        <p:nvSpPr>
          <p:cNvPr id="3" name="Content Placeholder 2">
            <a:extLst>
              <a:ext uri="{FF2B5EF4-FFF2-40B4-BE49-F238E27FC236}">
                <a16:creationId xmlns:a16="http://schemas.microsoft.com/office/drawing/2014/main" id="{94B9311C-B933-BB4A-39EC-B8ABF2F3F451}"/>
              </a:ext>
            </a:extLst>
          </p:cNvPr>
          <p:cNvSpPr>
            <a:spLocks noGrp="1"/>
          </p:cNvSpPr>
          <p:nvPr>
            <p:ph idx="1"/>
          </p:nvPr>
        </p:nvSpPr>
        <p:spPr/>
        <p:txBody>
          <a:bodyPr>
            <a:normAutofit lnSpcReduction="10000"/>
          </a:bodyPr>
          <a:lstStyle/>
          <a:p>
            <a:pPr marL="0" indent="0" algn="just">
              <a:buNone/>
            </a:pPr>
            <a:r>
              <a:rPr lang="en-US" sz="32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2. Components that consume compressed air</a:t>
            </a:r>
          </a:p>
          <a:p>
            <a:pPr marL="0" indent="0" algn="just">
              <a:buNone/>
            </a:pPr>
            <a:r>
              <a:rPr lang="en-US" sz="3200" b="1" i="0" dirty="0">
                <a:solidFill>
                  <a:schemeClr val="accent5"/>
                </a:solidFill>
                <a:effectLst/>
                <a:latin typeface="Tahoma" panose="020B0604030504040204" pitchFamily="34" charset="0"/>
                <a:ea typeface="Tahoma" panose="020B0604030504040204" pitchFamily="34" charset="0"/>
                <a:cs typeface="Tahoma" panose="020B0604030504040204" pitchFamily="34" charset="0"/>
              </a:rPr>
              <a:t>(c) Control valve</a:t>
            </a:r>
          </a:p>
          <a:p>
            <a:pPr marL="0" indent="0" algn="just">
              <a:buNone/>
            </a:pPr>
            <a:r>
              <a:rPr lang="en-US" sz="3200" b="1" dirty="0">
                <a:latin typeface="Tahoma" panose="020B0604030504040204" pitchFamily="34" charset="0"/>
                <a:ea typeface="Tahoma" panose="020B0604030504040204" pitchFamily="34" charset="0"/>
                <a:cs typeface="Tahoma" panose="020B0604030504040204" pitchFamily="34" charset="0"/>
              </a:rPr>
              <a:t>(vi) D</a:t>
            </a:r>
            <a:r>
              <a:rPr lang="en-US" sz="3200" b="1" i="0" dirty="0">
                <a:effectLst/>
                <a:latin typeface="Tahoma" panose="020B0604030504040204" pitchFamily="34" charset="0"/>
                <a:ea typeface="Tahoma" panose="020B0604030504040204" pitchFamily="34" charset="0"/>
                <a:cs typeface="Tahoma" panose="020B0604030504040204" pitchFamily="34" charset="0"/>
              </a:rPr>
              <a:t>ual pressure valve</a:t>
            </a:r>
          </a:p>
          <a:p>
            <a:pPr marL="0" indent="0" algn="just">
              <a:buNone/>
            </a:pPr>
            <a:r>
              <a:rPr lang="en-US" sz="3200" i="0" dirty="0">
                <a:effectLst/>
                <a:latin typeface="Tahoma" panose="020B0604030504040204" pitchFamily="34" charset="0"/>
                <a:ea typeface="Tahoma" panose="020B0604030504040204" pitchFamily="34" charset="0"/>
                <a:cs typeface="Tahoma" panose="020B0604030504040204" pitchFamily="34" charset="0"/>
              </a:rPr>
              <a:t>It requires two pressurized inputs to allow an output from itself</a:t>
            </a:r>
            <a:r>
              <a:rPr lang="en-US" sz="3200" b="0" i="0" dirty="0">
                <a:effectLst/>
                <a:latin typeface="Tahoma" panose="020B0604030504040204" pitchFamily="34" charset="0"/>
                <a:ea typeface="Tahoma" panose="020B0604030504040204" pitchFamily="34" charset="0"/>
                <a:cs typeface="Tahoma" panose="020B0604030504040204" pitchFamily="34" charset="0"/>
              </a:rPr>
              <a:t>. </a:t>
            </a:r>
          </a:p>
          <a:p>
            <a:pPr marL="0" indent="0" algn="just">
              <a:buNone/>
            </a:pPr>
            <a:r>
              <a:rPr lang="en-US" sz="3200" b="0" i="0" dirty="0">
                <a:solidFill>
                  <a:srgbClr val="202124"/>
                </a:solidFill>
                <a:effectLst/>
                <a:latin typeface="Tahoma" panose="020B0604030504040204" pitchFamily="34" charset="0"/>
                <a:ea typeface="Tahoma" panose="020B0604030504040204" pitchFamily="34" charset="0"/>
                <a:cs typeface="Tahoma" panose="020B0604030504040204" pitchFamily="34" charset="0"/>
              </a:rPr>
              <a:t>This is achieved by one active input slides the shuttle valve shut blocking any air flow, add two active inputs and the shuttle remains centralized allowing flow through the valve.</a:t>
            </a:r>
            <a:endParaRPr lang="en-TZ" sz="32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3053952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52D8B-6003-6E7B-C845-1DDA85717826}"/>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Main pneumatic components</a:t>
            </a:r>
            <a:endParaRPr lang="en-TZ" dirty="0"/>
          </a:p>
        </p:txBody>
      </p:sp>
      <p:pic>
        <p:nvPicPr>
          <p:cNvPr id="5" name="Content Placeholder 4">
            <a:extLst>
              <a:ext uri="{FF2B5EF4-FFF2-40B4-BE49-F238E27FC236}">
                <a16:creationId xmlns:a16="http://schemas.microsoft.com/office/drawing/2014/main" id="{A39F22F5-2B7F-BF7A-2294-699A87E1E3B7}"/>
              </a:ext>
            </a:extLst>
          </p:cNvPr>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bwMode="auto">
          <a:xfrm>
            <a:off x="1418278" y="1799254"/>
            <a:ext cx="4677722" cy="43660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Dual-pressure valve (AND) 539770 - Pneumatics - Data sheets - Printed Media  - Services - Festo Didactic">
            <a:extLst>
              <a:ext uri="{FF2B5EF4-FFF2-40B4-BE49-F238E27FC236}">
                <a16:creationId xmlns:a16="http://schemas.microsoft.com/office/drawing/2014/main" id="{F8AEE6E5-9400-03F2-A6D8-41E8C241E4C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069541" y="1799254"/>
            <a:ext cx="4503762" cy="4533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15751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36F23-4E7A-4B2F-911E-3D1062914847}"/>
              </a:ext>
            </a:extLst>
          </p:cNvPr>
          <p:cNvSpPr>
            <a:spLocks noGrp="1"/>
          </p:cNvSpPr>
          <p:nvPr>
            <p:ph type="title"/>
          </p:nvPr>
        </p:nvSpPr>
        <p:spPr/>
        <p:txBody>
          <a:bodyPr>
            <a:normAutofit/>
          </a:bodyPr>
          <a:lstStyle/>
          <a:p>
            <a:r>
              <a:rPr lang="en-US" sz="28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Principles of Pneumatic Control</a:t>
            </a:r>
            <a:r>
              <a:rPr lang="en-US" sz="6000" b="1" dirty="0">
                <a:latin typeface="Tahoma" panose="020B0604030504040204" pitchFamily="34" charset="0"/>
                <a:ea typeface="Tahoma" panose="020B0604030504040204" pitchFamily="34" charset="0"/>
                <a:cs typeface="Tahoma" panose="020B0604030504040204" pitchFamily="34" charset="0"/>
              </a:rPr>
              <a:t> </a:t>
            </a:r>
            <a:endParaRPr lang="en-TZ" sz="6000" b="1" dirty="0">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0D5EBA46-F655-4067-8ED0-4C60552D7EC2}"/>
              </a:ext>
            </a:extLst>
          </p:cNvPr>
          <p:cNvSpPr>
            <a:spLocks noGrp="1"/>
          </p:cNvSpPr>
          <p:nvPr>
            <p:ph idx="1"/>
          </p:nvPr>
        </p:nvSpPr>
        <p:spPr>
          <a:xfrm>
            <a:off x="838200" y="1825625"/>
            <a:ext cx="10515600" cy="4667250"/>
          </a:xfrm>
        </p:spPr>
        <p:txBody>
          <a:bodyPr>
            <a:normAutofit/>
          </a:bodyPr>
          <a:lstStyle/>
          <a:p>
            <a:pPr marL="342900" indent="-342900">
              <a:buAutoNum type="alphaLcParenBoth"/>
            </a:pPr>
            <a:r>
              <a:rPr lang="en-US" sz="2000" b="1" i="0" dirty="0">
                <a:solidFill>
                  <a:srgbClr val="FF0000"/>
                </a:solidFill>
                <a:effectLst/>
                <a:latin typeface="Tahoma" panose="020B0604030504040204" pitchFamily="34" charset="0"/>
                <a:ea typeface="Tahoma" panose="020B0604030504040204" pitchFamily="34" charset="0"/>
                <a:cs typeface="Tahoma" panose="020B0604030504040204" pitchFamily="34" charset="0"/>
              </a:rPr>
              <a:t>Pneumatic circuit</a:t>
            </a:r>
          </a:p>
          <a:p>
            <a:pPr marL="0" indent="0">
              <a:buNone/>
            </a:pP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Pneumatic control systems can be designed in the form of pneumatic circuits. </a:t>
            </a:r>
          </a:p>
          <a:p>
            <a:pPr marL="0" indent="0">
              <a:buNone/>
            </a:pP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A pneumatic circuit is formed by various pneumatic components, such as cylinders, directional control valves, flow control valves, etc. </a:t>
            </a:r>
          </a:p>
          <a:p>
            <a:pPr marL="0" indent="0">
              <a:buNone/>
            </a:pP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Pneumatic circuits have the following functions:</a:t>
            </a:r>
          </a:p>
          <a:p>
            <a:pPr>
              <a:buFont typeface="Wingdings" panose="05000000000000000000" pitchFamily="2" charset="2"/>
              <a:buChar char="§"/>
            </a:pP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To control the injection and release of compressed air in the cylinders/motors.</a:t>
            </a:r>
          </a:p>
          <a:p>
            <a:pPr>
              <a:buFont typeface="Wingdings" panose="05000000000000000000" pitchFamily="2" charset="2"/>
              <a:buChar char="§"/>
            </a:pP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To use one valve to control another valve.</a:t>
            </a:r>
            <a:r>
              <a:rPr lang="en-US" sz="3200" dirty="0">
                <a:latin typeface="Tahoma" panose="020B0604030504040204" pitchFamily="34" charset="0"/>
                <a:ea typeface="Tahoma" panose="020B0604030504040204" pitchFamily="34" charset="0"/>
                <a:cs typeface="Tahoma" panose="020B0604030504040204" pitchFamily="34" charset="0"/>
              </a:rPr>
              <a:t> </a:t>
            </a:r>
          </a:p>
          <a:p>
            <a:pPr marL="0" indent="0">
              <a:buNone/>
            </a:pPr>
            <a:r>
              <a:rPr lang="en-US" sz="2000" b="1" i="0" dirty="0">
                <a:solidFill>
                  <a:srgbClr val="FF0000"/>
                </a:solidFill>
                <a:effectLst/>
                <a:latin typeface="Tahoma" panose="020B0604030504040204" pitchFamily="34" charset="0"/>
                <a:ea typeface="Tahoma" panose="020B0604030504040204" pitchFamily="34" charset="0"/>
                <a:cs typeface="Tahoma" panose="020B0604030504040204" pitchFamily="34" charset="0"/>
              </a:rPr>
              <a:t>b) Pneumatic circuit diagram</a:t>
            </a:r>
            <a:b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b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A pneumatic circuit diagram uses pneumatic symbols to describe its design. </a:t>
            </a:r>
          </a:p>
          <a:p>
            <a:pPr marL="0" indent="0">
              <a:buNone/>
            </a:pP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Some basic rules must be followed when drawing pneumatic diagrams.</a:t>
            </a:r>
            <a:r>
              <a:rPr lang="en-US" sz="3200" dirty="0">
                <a:latin typeface="Tahoma" panose="020B0604030504040204" pitchFamily="34" charset="0"/>
                <a:ea typeface="Tahoma" panose="020B0604030504040204" pitchFamily="34" charset="0"/>
                <a:cs typeface="Tahoma" panose="020B0604030504040204" pitchFamily="34" charset="0"/>
              </a:rPr>
              <a:t> </a:t>
            </a:r>
            <a:br>
              <a:rPr lang="en-US" dirty="0"/>
            </a:br>
            <a:endParaRPr lang="en-TZ" dirty="0"/>
          </a:p>
        </p:txBody>
      </p:sp>
    </p:spTree>
    <p:extLst>
      <p:ext uri="{BB962C8B-B14F-4D97-AF65-F5344CB8AC3E}">
        <p14:creationId xmlns:p14="http://schemas.microsoft.com/office/powerpoint/2010/main" val="16047019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D689B-3ED3-4076-A9E9-E510582F9491}"/>
              </a:ext>
            </a:extLst>
          </p:cNvPr>
          <p:cNvSpPr>
            <a:spLocks noGrp="1"/>
          </p:cNvSpPr>
          <p:nvPr>
            <p:ph type="title"/>
          </p:nvPr>
        </p:nvSpPr>
        <p:spPr/>
        <p:txBody>
          <a:bodyPr>
            <a:normAutofit/>
          </a:bodyPr>
          <a:lstStyle/>
          <a:p>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Principles of Pneumatic Control</a:t>
            </a:r>
            <a:endParaRPr lang="en-TZ" sz="5400" b="1" dirty="0"/>
          </a:p>
        </p:txBody>
      </p:sp>
      <p:sp>
        <p:nvSpPr>
          <p:cNvPr id="3" name="Content Placeholder 2">
            <a:extLst>
              <a:ext uri="{FF2B5EF4-FFF2-40B4-BE49-F238E27FC236}">
                <a16:creationId xmlns:a16="http://schemas.microsoft.com/office/drawing/2014/main" id="{187F7A99-3C5F-48D6-9288-96A5CC65650A}"/>
              </a:ext>
            </a:extLst>
          </p:cNvPr>
          <p:cNvSpPr>
            <a:spLocks noGrp="1"/>
          </p:cNvSpPr>
          <p:nvPr>
            <p:ph idx="1"/>
          </p:nvPr>
        </p:nvSpPr>
        <p:spPr/>
        <p:txBody>
          <a:bodyPr>
            <a:normAutofit/>
          </a:bodyPr>
          <a:lstStyle/>
          <a:p>
            <a:pPr marL="0" indent="0">
              <a:buNone/>
            </a:pPr>
            <a:r>
              <a:rPr lang="en-US" sz="2000" b="1" i="0" dirty="0">
                <a:solidFill>
                  <a:srgbClr val="FF0000"/>
                </a:solidFill>
                <a:effectLst/>
                <a:latin typeface="Tahoma" panose="020B0604030504040204" pitchFamily="34" charset="0"/>
                <a:ea typeface="Tahoma" panose="020B0604030504040204" pitchFamily="34" charset="0"/>
                <a:cs typeface="Tahoma" panose="020B0604030504040204" pitchFamily="34" charset="0"/>
              </a:rPr>
              <a:t>b) Pneumatic circuit diagram</a:t>
            </a:r>
          </a:p>
          <a:p>
            <a:pPr marL="0" indent="0">
              <a:buNone/>
            </a:pPr>
            <a:r>
              <a:rPr lang="en-US" sz="20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 Basic Rules</a:t>
            </a:r>
            <a:endPar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1. A pneumatic circuit diagram represents the circuit in static form and assumes there is no</a:t>
            </a:r>
          </a:p>
          <a:p>
            <a:pPr marL="0" indent="0">
              <a:buNone/>
            </a:pP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supply of pressure. The placement of the pneumatic components on the circuit also follows this assumption</a:t>
            </a:r>
            <a:r>
              <a:rPr lang="en-US" sz="3200" dirty="0">
                <a:latin typeface="Tahoma" panose="020B0604030504040204" pitchFamily="34" charset="0"/>
                <a:ea typeface="Tahoma" panose="020B0604030504040204" pitchFamily="34" charset="0"/>
                <a:cs typeface="Tahoma" panose="020B0604030504040204" pitchFamily="34" charset="0"/>
              </a:rPr>
              <a:t> </a:t>
            </a:r>
          </a:p>
          <a:p>
            <a:pPr marL="0" indent="0">
              <a:buNone/>
            </a:pP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2. The pneumatic symbol of a directional control valve is formed by one or more squares.  </a:t>
            </a:r>
          </a:p>
          <a:p>
            <a:pPr marL="0" indent="0">
              <a:buNone/>
            </a:pP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The</a:t>
            </a:r>
            <a:r>
              <a:rPr lang="en-US" sz="2000"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inlet and exhaust are drawn underneath the square, while the outlet is drawn on the top. Each function of the valve (the position of the valve) shall be represented by a square.  If</a:t>
            </a:r>
            <a:r>
              <a:rPr lang="en-US" sz="2000"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there are two or more functions, the squares should be arranged horizontally</a:t>
            </a:r>
            <a:r>
              <a:rPr lang="en-US" sz="3200" dirty="0">
                <a:latin typeface="Tahoma" panose="020B0604030504040204" pitchFamily="34" charset="0"/>
                <a:ea typeface="Tahoma" panose="020B0604030504040204" pitchFamily="34" charset="0"/>
                <a:cs typeface="Tahoma" panose="020B0604030504040204" pitchFamily="34" charset="0"/>
              </a:rPr>
              <a:t> </a:t>
            </a:r>
            <a:br>
              <a:rPr lang="en-US" dirty="0">
                <a:latin typeface="Tahoma" panose="020B0604030504040204" pitchFamily="34" charset="0"/>
                <a:ea typeface="Tahoma" panose="020B0604030504040204" pitchFamily="34" charset="0"/>
                <a:cs typeface="Tahoma" panose="020B0604030504040204" pitchFamily="34" charset="0"/>
              </a:rPr>
            </a:br>
            <a:endParaRPr lang="en-TZ"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1312801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DE41DEE-4E05-48E0-A570-4196C83B6115}"/>
              </a:ext>
            </a:extLst>
          </p:cNvPr>
          <p:cNvPicPr>
            <a:picLocks noGrp="1" noChangeAspect="1"/>
          </p:cNvPicPr>
          <p:nvPr>
            <p:ph idx="1"/>
          </p:nvPr>
        </p:nvPicPr>
        <p:blipFill>
          <a:blip r:embed="rId2"/>
          <a:stretch>
            <a:fillRect/>
          </a:stretch>
        </p:blipFill>
        <p:spPr>
          <a:xfrm>
            <a:off x="887602" y="1132764"/>
            <a:ext cx="9976016" cy="4169319"/>
          </a:xfrm>
        </p:spPr>
      </p:pic>
    </p:spTree>
    <p:extLst>
      <p:ext uri="{BB962C8B-B14F-4D97-AF65-F5344CB8AC3E}">
        <p14:creationId xmlns:p14="http://schemas.microsoft.com/office/powerpoint/2010/main" val="403860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669DA-8F99-4FD1-84DE-D8D2CD356E93}"/>
              </a:ext>
            </a:extLst>
          </p:cNvPr>
          <p:cNvSpPr>
            <a:spLocks noGrp="1"/>
          </p:cNvSpPr>
          <p:nvPr>
            <p:ph type="title"/>
          </p:nvPr>
        </p:nvSpPr>
        <p:spPr/>
        <p:txBody>
          <a:bodyPr>
            <a:normAutofit/>
          </a:bodyPr>
          <a:lstStyle/>
          <a:p>
            <a:r>
              <a:rPr lang="en-US" sz="40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Principles of Pneumatic Control</a:t>
            </a:r>
            <a:endParaRPr lang="en-TZ" sz="4000" dirty="0"/>
          </a:p>
        </p:txBody>
      </p:sp>
      <p:sp>
        <p:nvSpPr>
          <p:cNvPr id="3" name="Content Placeholder 2">
            <a:extLst>
              <a:ext uri="{FF2B5EF4-FFF2-40B4-BE49-F238E27FC236}">
                <a16:creationId xmlns:a16="http://schemas.microsoft.com/office/drawing/2014/main" id="{D2784BD1-06A8-4B1C-ADE4-915F72948784}"/>
              </a:ext>
            </a:extLst>
          </p:cNvPr>
          <p:cNvSpPr>
            <a:spLocks noGrp="1"/>
          </p:cNvSpPr>
          <p:nvPr>
            <p:ph idx="1"/>
          </p:nvPr>
        </p:nvSpPr>
        <p:spPr/>
        <p:txBody>
          <a:bodyPr>
            <a:normAutofit/>
          </a:bodyPr>
          <a:lstStyle/>
          <a:p>
            <a:pPr marL="0" indent="0">
              <a:buNone/>
            </a:pPr>
            <a:r>
              <a:rPr lang="en-US" sz="2400" b="1" i="0" dirty="0">
                <a:solidFill>
                  <a:srgbClr val="FF0000"/>
                </a:solidFill>
                <a:effectLst/>
                <a:latin typeface="Tahoma" panose="020B0604030504040204" pitchFamily="34" charset="0"/>
                <a:ea typeface="Tahoma" panose="020B0604030504040204" pitchFamily="34" charset="0"/>
                <a:cs typeface="Tahoma" panose="020B0604030504040204" pitchFamily="34" charset="0"/>
              </a:rPr>
              <a:t>b) Pneumatic circuit diagram</a:t>
            </a:r>
          </a:p>
          <a:p>
            <a:pPr marL="0" indent="0">
              <a:buNone/>
            </a:pPr>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 Basic Rules</a:t>
            </a:r>
            <a:endPar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3. Arrows "↓↖" are used to indicate the flow direction of air current. If the external port is not connected to the internal parts, the symbol “┬” is used. The symbol “⊙” underneath the square represents the air input, while the symbol “▽” represents the exhaust. </a:t>
            </a:r>
          </a:p>
          <a:p>
            <a:pPr marL="0" indent="0">
              <a:buNone/>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4. The pneumatic symbols of operational components should be drawn on the outside of the squares. </a:t>
            </a:r>
          </a:p>
          <a:p>
            <a:pPr marL="0" indent="0">
              <a:buNone/>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They can be mechanically, manually, pneumatically or electrically operated</a:t>
            </a:r>
            <a:br>
              <a:rPr lang="en-US" sz="3600" dirty="0">
                <a:latin typeface="Tahoma" panose="020B0604030504040204" pitchFamily="34" charset="0"/>
                <a:ea typeface="Tahoma" panose="020B0604030504040204" pitchFamily="34" charset="0"/>
                <a:cs typeface="Tahoma" panose="020B0604030504040204" pitchFamily="34" charset="0"/>
              </a:rPr>
            </a:br>
            <a:endParaRPr lang="en-TZ" sz="36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709181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FC46015-8396-4B1D-83E6-7681C942353B}"/>
              </a:ext>
            </a:extLst>
          </p:cNvPr>
          <p:cNvPicPr>
            <a:picLocks noGrp="1" noChangeAspect="1"/>
          </p:cNvPicPr>
          <p:nvPr>
            <p:ph idx="1"/>
          </p:nvPr>
        </p:nvPicPr>
        <p:blipFill>
          <a:blip r:embed="rId2"/>
          <a:stretch>
            <a:fillRect/>
          </a:stretch>
        </p:blipFill>
        <p:spPr>
          <a:xfrm>
            <a:off x="682743" y="1057020"/>
            <a:ext cx="10826513" cy="4743960"/>
          </a:xfrm>
        </p:spPr>
      </p:pic>
    </p:spTree>
    <p:extLst>
      <p:ext uri="{BB962C8B-B14F-4D97-AF65-F5344CB8AC3E}">
        <p14:creationId xmlns:p14="http://schemas.microsoft.com/office/powerpoint/2010/main" val="26701795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0EE27-B3C8-4D89-8394-9AD3D76935A6}"/>
              </a:ext>
            </a:extLst>
          </p:cNvPr>
          <p:cNvSpPr>
            <a:spLocks noGrp="1"/>
          </p:cNvSpPr>
          <p:nvPr>
            <p:ph type="title"/>
          </p:nvPr>
        </p:nvSpPr>
        <p:spPr/>
        <p:txBody>
          <a:bodyPr>
            <a:normAutofit/>
          </a:bodyPr>
          <a:lstStyle/>
          <a:p>
            <a:r>
              <a:rPr lang="en-US" sz="40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Principles of Pneumatic Control</a:t>
            </a:r>
            <a:endParaRPr lang="en-TZ" sz="4000" dirty="0"/>
          </a:p>
        </p:txBody>
      </p:sp>
      <p:sp>
        <p:nvSpPr>
          <p:cNvPr id="3" name="Content Placeholder 2">
            <a:extLst>
              <a:ext uri="{FF2B5EF4-FFF2-40B4-BE49-F238E27FC236}">
                <a16:creationId xmlns:a16="http://schemas.microsoft.com/office/drawing/2014/main" id="{D22B5754-4115-4138-9CF8-3774D75908E9}"/>
              </a:ext>
            </a:extLst>
          </p:cNvPr>
          <p:cNvSpPr>
            <a:spLocks noGrp="1"/>
          </p:cNvSpPr>
          <p:nvPr>
            <p:ph idx="1"/>
          </p:nvPr>
        </p:nvSpPr>
        <p:spPr/>
        <p:txBody>
          <a:bodyPr/>
          <a:lstStyle/>
          <a:p>
            <a:pPr marL="0" indent="0">
              <a:buNone/>
            </a:pPr>
            <a:r>
              <a:rPr lang="en-US" sz="2400" b="1" i="0" dirty="0">
                <a:solidFill>
                  <a:srgbClr val="FF0000"/>
                </a:solidFill>
                <a:effectLst/>
                <a:latin typeface="Tahoma" panose="020B0604030504040204" pitchFamily="34" charset="0"/>
                <a:ea typeface="Tahoma" panose="020B0604030504040204" pitchFamily="34" charset="0"/>
                <a:cs typeface="Tahoma" panose="020B0604030504040204" pitchFamily="34" charset="0"/>
              </a:rPr>
              <a:t>b) Pneumatic circuit diagram</a:t>
            </a:r>
          </a:p>
          <a:p>
            <a:pPr marL="0" indent="0">
              <a:buNone/>
            </a:pPr>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 Basic Rules</a:t>
            </a:r>
            <a:endPar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5. Pneumatic operation signal pressure lines should be drawn on one side of the squares, while triangles are used to represent the direction of air flow </a:t>
            </a:r>
            <a:br>
              <a:rPr lang="en-US" dirty="0"/>
            </a:br>
            <a:endParaRPr lang="en-TZ" dirty="0"/>
          </a:p>
        </p:txBody>
      </p:sp>
      <p:pic>
        <p:nvPicPr>
          <p:cNvPr id="5" name="Picture 4">
            <a:extLst>
              <a:ext uri="{FF2B5EF4-FFF2-40B4-BE49-F238E27FC236}">
                <a16:creationId xmlns:a16="http://schemas.microsoft.com/office/drawing/2014/main" id="{441944BD-56F6-41DD-BA70-FBB86666741B}"/>
              </a:ext>
            </a:extLst>
          </p:cNvPr>
          <p:cNvPicPr>
            <a:picLocks noChangeAspect="1"/>
          </p:cNvPicPr>
          <p:nvPr/>
        </p:nvPicPr>
        <p:blipFill>
          <a:blip r:embed="rId2"/>
          <a:stretch>
            <a:fillRect/>
          </a:stretch>
        </p:blipFill>
        <p:spPr>
          <a:xfrm>
            <a:off x="4116008" y="4208912"/>
            <a:ext cx="4314825" cy="1333500"/>
          </a:xfrm>
          <a:prstGeom prst="rect">
            <a:avLst/>
          </a:prstGeom>
        </p:spPr>
      </p:pic>
    </p:spTree>
    <p:extLst>
      <p:ext uri="{BB962C8B-B14F-4D97-AF65-F5344CB8AC3E}">
        <p14:creationId xmlns:p14="http://schemas.microsoft.com/office/powerpoint/2010/main" val="8848148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DE223-B4F8-4D2A-A7AA-3EFBA72EB000}"/>
              </a:ext>
            </a:extLst>
          </p:cNvPr>
          <p:cNvSpPr>
            <a:spLocks noGrp="1"/>
          </p:cNvSpPr>
          <p:nvPr>
            <p:ph type="title"/>
          </p:nvPr>
        </p:nvSpPr>
        <p:spPr/>
        <p:txBody>
          <a:bodyPr>
            <a:normAutofit/>
          </a:bodyPr>
          <a:lstStyle/>
          <a:p>
            <a:r>
              <a:rPr lang="en-US" sz="40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Principles of Pneumatic Control</a:t>
            </a:r>
            <a:endParaRPr lang="en-TZ" sz="4000" dirty="0"/>
          </a:p>
        </p:txBody>
      </p:sp>
      <p:sp>
        <p:nvSpPr>
          <p:cNvPr id="3" name="Content Placeholder 2">
            <a:extLst>
              <a:ext uri="{FF2B5EF4-FFF2-40B4-BE49-F238E27FC236}">
                <a16:creationId xmlns:a16="http://schemas.microsoft.com/office/drawing/2014/main" id="{8C2E3777-D15E-4CA7-966E-6F1B8582847A}"/>
              </a:ext>
            </a:extLst>
          </p:cNvPr>
          <p:cNvSpPr>
            <a:spLocks noGrp="1"/>
          </p:cNvSpPr>
          <p:nvPr>
            <p:ph idx="1"/>
          </p:nvPr>
        </p:nvSpPr>
        <p:spPr/>
        <p:txBody>
          <a:bodyPr>
            <a:normAutofit fontScale="92500" lnSpcReduction="10000"/>
          </a:bodyPr>
          <a:lstStyle/>
          <a:p>
            <a:pPr marL="0" indent="0">
              <a:buNone/>
            </a:pPr>
            <a:r>
              <a:rPr lang="en-US" sz="2000" b="1" i="0" dirty="0">
                <a:solidFill>
                  <a:srgbClr val="FF0000"/>
                </a:solidFill>
                <a:effectLst/>
                <a:latin typeface="Tahoma" panose="020B0604030504040204" pitchFamily="34" charset="0"/>
                <a:ea typeface="Tahoma" panose="020B0604030504040204" pitchFamily="34" charset="0"/>
                <a:cs typeface="Tahoma" panose="020B0604030504040204" pitchFamily="34" charset="0"/>
              </a:rPr>
              <a:t>b) Pneumatic circuit diagram</a:t>
            </a:r>
          </a:p>
          <a:p>
            <a:pPr marL="0" indent="0">
              <a:buNone/>
            </a:pPr>
            <a:r>
              <a:rPr lang="en-US" sz="20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(II) Basic Principles</a:t>
            </a:r>
            <a:r>
              <a:rPr lang="en-US" sz="4800" b="1" dirty="0">
                <a:latin typeface="Tahoma" panose="020B0604030504040204" pitchFamily="34" charset="0"/>
                <a:ea typeface="Tahoma" panose="020B0604030504040204" pitchFamily="34" charset="0"/>
                <a:cs typeface="Tahoma" panose="020B0604030504040204" pitchFamily="34" charset="0"/>
              </a:rPr>
              <a:t> </a:t>
            </a:r>
            <a:endParaRPr lang="en-US" sz="2000" b="1" i="0" dirty="0">
              <a:solidFill>
                <a:srgbClr val="FF0000"/>
              </a:solidFill>
              <a:effectLst/>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Fig. below shows some of the basic principles of drawing pneumatic circuit diagrams, the numbers in the diagram correspond to the following points:</a:t>
            </a:r>
            <a:r>
              <a:rPr lang="en-US" sz="2000" dirty="0">
                <a:latin typeface="Tahoma" panose="020B0604030504040204" pitchFamily="34" charset="0"/>
                <a:ea typeface="Tahoma" panose="020B0604030504040204" pitchFamily="34" charset="0"/>
                <a:cs typeface="Tahoma" panose="020B0604030504040204" pitchFamily="34" charset="0"/>
              </a:rPr>
              <a:t> </a:t>
            </a:r>
          </a:p>
          <a:p>
            <a:pPr marL="0" indent="0">
              <a:buNone/>
            </a:pP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1. When the manual switch is not operated, the spring will restore the valve to its original position.</a:t>
            </a:r>
            <a:b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b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2. From the position of the spring, one can deduce that the block is operating. The other block will not operate until the switch is pushed.</a:t>
            </a:r>
            <a:b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b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3. Air pressure exists along this line because it is connected to the source of compressed air.</a:t>
            </a:r>
            <a:b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b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4. As this cylinder cavity and piston rod are under the influence of pressure, the piston rod is in its restored position.</a:t>
            </a:r>
            <a:b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b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5. The rear cylinder cavity and this line are connected to the exhaust, where air is released</a:t>
            </a:r>
            <a:r>
              <a:rPr lang="en-US" sz="3200" dirty="0">
                <a:latin typeface="Tahoma" panose="020B0604030504040204" pitchFamily="34" charset="0"/>
                <a:ea typeface="Tahoma" panose="020B0604030504040204" pitchFamily="34" charset="0"/>
                <a:cs typeface="Tahoma" panose="020B0604030504040204" pitchFamily="34" charset="0"/>
              </a:rPr>
              <a:t> </a:t>
            </a:r>
            <a:br>
              <a:rPr lang="en-US" dirty="0"/>
            </a:br>
            <a:endParaRPr lang="en-TZ" dirty="0"/>
          </a:p>
        </p:txBody>
      </p:sp>
    </p:spTree>
    <p:extLst>
      <p:ext uri="{BB962C8B-B14F-4D97-AF65-F5344CB8AC3E}">
        <p14:creationId xmlns:p14="http://schemas.microsoft.com/office/powerpoint/2010/main" val="35230416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B8FD99B-55CE-4E9E-9200-6A4898862D45}"/>
              </a:ext>
            </a:extLst>
          </p:cNvPr>
          <p:cNvPicPr>
            <a:picLocks noGrp="1" noChangeAspect="1"/>
          </p:cNvPicPr>
          <p:nvPr>
            <p:ph idx="1"/>
          </p:nvPr>
        </p:nvPicPr>
        <p:blipFill>
          <a:blip r:embed="rId2"/>
          <a:stretch>
            <a:fillRect/>
          </a:stretch>
        </p:blipFill>
        <p:spPr>
          <a:xfrm>
            <a:off x="2281592" y="1431409"/>
            <a:ext cx="8008819" cy="3995181"/>
          </a:xfrm>
          <a:prstGeom prst="rect">
            <a:avLst/>
          </a:prstGeom>
        </p:spPr>
      </p:pic>
    </p:spTree>
    <p:extLst>
      <p:ext uri="{BB962C8B-B14F-4D97-AF65-F5344CB8AC3E}">
        <p14:creationId xmlns:p14="http://schemas.microsoft.com/office/powerpoint/2010/main" val="2626905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2B596-ECBA-479B-93B4-A1235A0F1FF3}"/>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Principles of Pneumatic Control</a:t>
            </a:r>
            <a:endParaRPr lang="en-TZ" dirty="0"/>
          </a:p>
        </p:txBody>
      </p:sp>
      <p:sp>
        <p:nvSpPr>
          <p:cNvPr id="3" name="Content Placeholder 2">
            <a:extLst>
              <a:ext uri="{FF2B5EF4-FFF2-40B4-BE49-F238E27FC236}">
                <a16:creationId xmlns:a16="http://schemas.microsoft.com/office/drawing/2014/main" id="{13265897-A0AB-4CE1-86EE-E131182CCCBE}"/>
              </a:ext>
            </a:extLst>
          </p:cNvPr>
          <p:cNvSpPr>
            <a:spLocks noGrp="1"/>
          </p:cNvSpPr>
          <p:nvPr>
            <p:ph idx="1"/>
          </p:nvPr>
        </p:nvSpPr>
        <p:spPr/>
        <p:txBody>
          <a:bodyPr>
            <a:normAutofit lnSpcReduction="10000"/>
          </a:bodyPr>
          <a:lstStyle/>
          <a:p>
            <a:pPr marL="0" indent="0">
              <a:buNone/>
            </a:pPr>
            <a:r>
              <a:rPr lang="en-US" sz="2400" b="1" i="0" dirty="0">
                <a:solidFill>
                  <a:srgbClr val="FF0000"/>
                </a:solidFill>
                <a:effectLst/>
                <a:latin typeface="Tahoma" panose="020B0604030504040204" pitchFamily="34" charset="0"/>
                <a:ea typeface="Tahoma" panose="020B0604030504040204" pitchFamily="34" charset="0"/>
                <a:cs typeface="Tahoma" panose="020B0604030504040204" pitchFamily="34" charset="0"/>
              </a:rPr>
              <a:t>b) Pneumatic circuit diagram</a:t>
            </a:r>
          </a:p>
          <a:p>
            <a:pPr marL="0" indent="0">
              <a:buNone/>
            </a:pPr>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(iii) The setting of circuit diagrams </a:t>
            </a:r>
          </a:p>
          <a:p>
            <a:pPr marL="0" indent="0">
              <a:buNone/>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When drawing a complete circuit diagram, one should place the pneumatic components on different levels and positions, so the relations between the components can be expressed clearly.</a:t>
            </a:r>
            <a:b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b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This is called the setting of circuit diagrams. </a:t>
            </a:r>
          </a:p>
          <a:p>
            <a:pPr marL="0" indent="0">
              <a:buNone/>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A circuit diagram is usually divided into three levels: </a:t>
            </a:r>
          </a:p>
          <a:p>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Power level </a:t>
            </a:r>
          </a:p>
          <a:p>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Logic level and </a:t>
            </a:r>
          </a:p>
          <a:p>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Signal input level</a:t>
            </a:r>
            <a:r>
              <a:rPr lang="en-US" sz="3600" dirty="0">
                <a:latin typeface="Tahoma" panose="020B0604030504040204" pitchFamily="34" charset="0"/>
                <a:ea typeface="Tahoma" panose="020B0604030504040204" pitchFamily="34" charset="0"/>
                <a:cs typeface="Tahoma" panose="020B0604030504040204" pitchFamily="34" charset="0"/>
              </a:rPr>
              <a:t> </a:t>
            </a:r>
            <a:br>
              <a:rPr lang="en-US" dirty="0"/>
            </a:br>
            <a:endParaRPr lang="en-TZ" dirty="0"/>
          </a:p>
        </p:txBody>
      </p:sp>
    </p:spTree>
    <p:extLst>
      <p:ext uri="{BB962C8B-B14F-4D97-AF65-F5344CB8AC3E}">
        <p14:creationId xmlns:p14="http://schemas.microsoft.com/office/powerpoint/2010/main" val="23556725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B4F8B-B962-44A5-9D97-B202B6B9D914}"/>
              </a:ext>
            </a:extLst>
          </p:cNvPr>
          <p:cNvSpPr>
            <a:spLocks noGrp="1"/>
          </p:cNvSpPr>
          <p:nvPr>
            <p:ph type="title"/>
          </p:nvPr>
        </p:nvSpPr>
        <p:spPr>
          <a:xfrm>
            <a:off x="838200" y="365125"/>
            <a:ext cx="10515600" cy="1845812"/>
          </a:xfrm>
        </p:spPr>
        <p:txBody>
          <a:bodyPr>
            <a:normAutofit/>
          </a:bodyPr>
          <a:lstStyle/>
          <a:p>
            <a:pPr marL="0" indent="0">
              <a:buNone/>
            </a:pPr>
            <a:r>
              <a:rPr lang="en-US" sz="27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Principles of Pneumatic Control</a:t>
            </a:r>
            <a:br>
              <a:rPr lang="en-US" sz="27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br>
            <a:r>
              <a:rPr lang="en-US" sz="2700" i="0" dirty="0">
                <a:solidFill>
                  <a:srgbClr val="FF0000"/>
                </a:solidFill>
                <a:effectLst/>
                <a:latin typeface="Tahoma" panose="020B0604030504040204" pitchFamily="34" charset="0"/>
                <a:ea typeface="Tahoma" panose="020B0604030504040204" pitchFamily="34" charset="0"/>
                <a:cs typeface="Tahoma" panose="020B0604030504040204" pitchFamily="34" charset="0"/>
              </a:rPr>
              <a:t>b) Pneumatic circuit diagram</a:t>
            </a:r>
            <a:br>
              <a:rPr lang="en-US" sz="2700" i="0" dirty="0">
                <a:solidFill>
                  <a:srgbClr val="FF0000"/>
                </a:solidFill>
                <a:effectLst/>
                <a:latin typeface="Tahoma" panose="020B0604030504040204" pitchFamily="34" charset="0"/>
                <a:ea typeface="Tahoma" panose="020B0604030504040204" pitchFamily="34" charset="0"/>
                <a:cs typeface="Tahoma" panose="020B0604030504040204" pitchFamily="34" charset="0"/>
              </a:rPr>
            </a:br>
            <a:r>
              <a:rPr lang="en-US" sz="270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(iii) The setting of circuit diagrams </a:t>
            </a:r>
            <a:br>
              <a:rPr lang="en-US" sz="40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br>
            <a:endParaRPr lang="en-TZ" sz="4000" dirty="0"/>
          </a:p>
        </p:txBody>
      </p:sp>
      <p:pic>
        <p:nvPicPr>
          <p:cNvPr id="5" name="Content Placeholder 4">
            <a:extLst>
              <a:ext uri="{FF2B5EF4-FFF2-40B4-BE49-F238E27FC236}">
                <a16:creationId xmlns:a16="http://schemas.microsoft.com/office/drawing/2014/main" id="{7CC10E36-130F-4596-9CEB-7CEBD62F34EB}"/>
              </a:ext>
            </a:extLst>
          </p:cNvPr>
          <p:cNvPicPr>
            <a:picLocks noGrp="1" noChangeAspect="1"/>
          </p:cNvPicPr>
          <p:nvPr>
            <p:ph idx="1"/>
          </p:nvPr>
        </p:nvPicPr>
        <p:blipFill>
          <a:blip r:embed="rId2"/>
          <a:stretch>
            <a:fillRect/>
          </a:stretch>
        </p:blipFill>
        <p:spPr>
          <a:xfrm>
            <a:off x="1121391" y="1949995"/>
            <a:ext cx="9539785" cy="5032562"/>
          </a:xfrm>
        </p:spPr>
      </p:pic>
    </p:spTree>
    <p:extLst>
      <p:ext uri="{BB962C8B-B14F-4D97-AF65-F5344CB8AC3E}">
        <p14:creationId xmlns:p14="http://schemas.microsoft.com/office/powerpoint/2010/main" val="21813020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E290A-A067-4214-860F-A26A964749FF}"/>
              </a:ext>
            </a:extLst>
          </p:cNvPr>
          <p:cNvSpPr>
            <a:spLocks noGrp="1"/>
          </p:cNvSpPr>
          <p:nvPr>
            <p:ph type="title"/>
          </p:nvPr>
        </p:nvSpPr>
        <p:spPr>
          <a:xfrm>
            <a:off x="838200" y="365126"/>
            <a:ext cx="10515600" cy="1081538"/>
          </a:xfrm>
        </p:spPr>
        <p:txBody>
          <a:bodyPr>
            <a:normAutofit/>
          </a:bodyPr>
          <a:lstStyle/>
          <a:p>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Principles of Pneumatic Control</a:t>
            </a:r>
            <a:b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br>
            <a:r>
              <a:rPr lang="en-US" sz="2400" i="0" dirty="0">
                <a:solidFill>
                  <a:srgbClr val="FF0000"/>
                </a:solidFill>
                <a:effectLst/>
                <a:latin typeface="Tahoma" panose="020B0604030504040204" pitchFamily="34" charset="0"/>
                <a:ea typeface="Tahoma" panose="020B0604030504040204" pitchFamily="34" charset="0"/>
                <a:cs typeface="Tahoma" panose="020B0604030504040204" pitchFamily="34" charset="0"/>
              </a:rPr>
              <a:t>b) Pneumatic circuit diagram</a:t>
            </a:r>
            <a:br>
              <a:rPr lang="en-US" sz="2400" i="0" dirty="0">
                <a:solidFill>
                  <a:srgbClr val="FF0000"/>
                </a:solidFill>
                <a:effectLst/>
                <a:latin typeface="Tahoma" panose="020B0604030504040204" pitchFamily="34" charset="0"/>
                <a:ea typeface="Tahoma" panose="020B0604030504040204" pitchFamily="34" charset="0"/>
                <a:cs typeface="Tahoma" panose="020B0604030504040204" pitchFamily="34" charset="0"/>
              </a:rPr>
            </a:br>
            <a:r>
              <a:rPr lang="en-US" sz="240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(iii) The setting of circuit diagrams</a:t>
            </a:r>
            <a:endParaRPr lang="en-TZ" sz="5400" b="1" dirty="0"/>
          </a:p>
        </p:txBody>
      </p:sp>
      <p:pic>
        <p:nvPicPr>
          <p:cNvPr id="5" name="Content Placeholder 4">
            <a:extLst>
              <a:ext uri="{FF2B5EF4-FFF2-40B4-BE49-F238E27FC236}">
                <a16:creationId xmlns:a16="http://schemas.microsoft.com/office/drawing/2014/main" id="{C26D011E-4E1A-428C-BBEC-586E9199B153}"/>
              </a:ext>
            </a:extLst>
          </p:cNvPr>
          <p:cNvPicPr>
            <a:picLocks noGrp="1" noChangeAspect="1"/>
          </p:cNvPicPr>
          <p:nvPr>
            <p:ph idx="1"/>
          </p:nvPr>
        </p:nvPicPr>
        <p:blipFill>
          <a:blip r:embed="rId2"/>
          <a:stretch>
            <a:fillRect/>
          </a:stretch>
        </p:blipFill>
        <p:spPr>
          <a:xfrm>
            <a:off x="1227471" y="1446663"/>
            <a:ext cx="10126329" cy="5254388"/>
          </a:xfrm>
        </p:spPr>
      </p:pic>
    </p:spTree>
    <p:extLst>
      <p:ext uri="{BB962C8B-B14F-4D97-AF65-F5344CB8AC3E}">
        <p14:creationId xmlns:p14="http://schemas.microsoft.com/office/powerpoint/2010/main" val="17290432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DDD7E-0304-48E3-A5CA-D60C7591F53D}"/>
              </a:ext>
            </a:extLst>
          </p:cNvPr>
          <p:cNvSpPr>
            <a:spLocks noGrp="1"/>
          </p:cNvSpPr>
          <p:nvPr>
            <p:ph type="title"/>
          </p:nvPr>
        </p:nvSpPr>
        <p:spPr/>
        <p:txBody>
          <a:bodyPr>
            <a:noAutofit/>
          </a:bodyPr>
          <a:lstStyle/>
          <a:p>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Principles of Pneumatic Control</a:t>
            </a:r>
            <a:b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br>
            <a:r>
              <a:rPr lang="en-US" sz="2400" i="0" dirty="0">
                <a:solidFill>
                  <a:srgbClr val="FF0000"/>
                </a:solidFill>
                <a:effectLst/>
                <a:latin typeface="Tahoma" panose="020B0604030504040204" pitchFamily="34" charset="0"/>
                <a:ea typeface="Tahoma" panose="020B0604030504040204" pitchFamily="34" charset="0"/>
                <a:cs typeface="Tahoma" panose="020B0604030504040204" pitchFamily="34" charset="0"/>
              </a:rPr>
              <a:t>b) Pneumatic circuit diagram</a:t>
            </a:r>
            <a:br>
              <a:rPr lang="en-US" sz="2400" i="0" dirty="0">
                <a:solidFill>
                  <a:srgbClr val="FF0000"/>
                </a:solidFill>
                <a:effectLst/>
                <a:latin typeface="Tahoma" panose="020B0604030504040204" pitchFamily="34" charset="0"/>
                <a:ea typeface="Tahoma" panose="020B0604030504040204" pitchFamily="34" charset="0"/>
                <a:cs typeface="Tahoma" panose="020B0604030504040204" pitchFamily="34" charset="0"/>
              </a:rPr>
            </a:br>
            <a:r>
              <a:rPr lang="en-US" sz="240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(iii) The setting of circuit diagrams</a:t>
            </a:r>
            <a:endParaRPr lang="en-TZ" sz="2400" dirty="0"/>
          </a:p>
        </p:txBody>
      </p:sp>
      <p:pic>
        <p:nvPicPr>
          <p:cNvPr id="5" name="Content Placeholder 4">
            <a:extLst>
              <a:ext uri="{FF2B5EF4-FFF2-40B4-BE49-F238E27FC236}">
                <a16:creationId xmlns:a16="http://schemas.microsoft.com/office/drawing/2014/main" id="{DC18B7A7-FAE8-43EC-9BE5-0BA69F6C732F}"/>
              </a:ext>
            </a:extLst>
          </p:cNvPr>
          <p:cNvPicPr>
            <a:picLocks noGrp="1" noChangeAspect="1"/>
          </p:cNvPicPr>
          <p:nvPr>
            <p:ph idx="1"/>
          </p:nvPr>
        </p:nvPicPr>
        <p:blipFill>
          <a:blip r:embed="rId2"/>
          <a:stretch>
            <a:fillRect/>
          </a:stretch>
        </p:blipFill>
        <p:spPr>
          <a:xfrm>
            <a:off x="1628982" y="1801505"/>
            <a:ext cx="9384761" cy="4892722"/>
          </a:xfrm>
        </p:spPr>
      </p:pic>
    </p:spTree>
    <p:extLst>
      <p:ext uri="{BB962C8B-B14F-4D97-AF65-F5344CB8AC3E}">
        <p14:creationId xmlns:p14="http://schemas.microsoft.com/office/powerpoint/2010/main" val="14563279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64A9D-D15C-48A7-B8FE-F191E152E51C}"/>
              </a:ext>
            </a:extLst>
          </p:cNvPr>
          <p:cNvSpPr>
            <a:spLocks noGrp="1"/>
          </p:cNvSpPr>
          <p:nvPr>
            <p:ph type="title"/>
          </p:nvPr>
        </p:nvSpPr>
        <p:spPr/>
        <p:txBody>
          <a:bodyPr>
            <a:noAutofit/>
          </a:bodyPr>
          <a:lstStyle/>
          <a:p>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Principles of Pneumatic Control</a:t>
            </a:r>
            <a:b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br>
            <a:r>
              <a:rPr lang="en-US" sz="2400" i="0" dirty="0">
                <a:solidFill>
                  <a:srgbClr val="FF0000"/>
                </a:solidFill>
                <a:effectLst/>
                <a:latin typeface="Tahoma" panose="020B0604030504040204" pitchFamily="34" charset="0"/>
                <a:ea typeface="Tahoma" panose="020B0604030504040204" pitchFamily="34" charset="0"/>
                <a:cs typeface="Tahoma" panose="020B0604030504040204" pitchFamily="34" charset="0"/>
              </a:rPr>
              <a:t>b) Pneumatic circuit diagram</a:t>
            </a:r>
            <a:br>
              <a:rPr lang="en-US" sz="2400" i="0" dirty="0">
                <a:solidFill>
                  <a:srgbClr val="FF0000"/>
                </a:solidFill>
                <a:effectLst/>
                <a:latin typeface="Tahoma" panose="020B0604030504040204" pitchFamily="34" charset="0"/>
                <a:ea typeface="Tahoma" panose="020B0604030504040204" pitchFamily="34" charset="0"/>
                <a:cs typeface="Tahoma" panose="020B0604030504040204" pitchFamily="34" charset="0"/>
              </a:rPr>
            </a:br>
            <a:r>
              <a:rPr lang="en-US" sz="240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(iii) The setting of circuit diagrams</a:t>
            </a:r>
            <a:endParaRPr lang="en-TZ" sz="2400" dirty="0"/>
          </a:p>
        </p:txBody>
      </p:sp>
      <p:pic>
        <p:nvPicPr>
          <p:cNvPr id="5" name="Content Placeholder 4">
            <a:extLst>
              <a:ext uri="{FF2B5EF4-FFF2-40B4-BE49-F238E27FC236}">
                <a16:creationId xmlns:a16="http://schemas.microsoft.com/office/drawing/2014/main" id="{715B7FE8-3D34-49D7-ACC6-9A2803C8FFF8}"/>
              </a:ext>
            </a:extLst>
          </p:cNvPr>
          <p:cNvPicPr>
            <a:picLocks noGrp="1" noChangeAspect="1"/>
          </p:cNvPicPr>
          <p:nvPr>
            <p:ph idx="1"/>
          </p:nvPr>
        </p:nvPicPr>
        <p:blipFill>
          <a:blip r:embed="rId2"/>
          <a:stretch>
            <a:fillRect/>
          </a:stretch>
        </p:blipFill>
        <p:spPr>
          <a:xfrm>
            <a:off x="1078173" y="1658393"/>
            <a:ext cx="10515599" cy="4834482"/>
          </a:xfrm>
        </p:spPr>
      </p:pic>
    </p:spTree>
    <p:extLst>
      <p:ext uri="{BB962C8B-B14F-4D97-AF65-F5344CB8AC3E}">
        <p14:creationId xmlns:p14="http://schemas.microsoft.com/office/powerpoint/2010/main" val="25225377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8C148-41F2-46B6-A1F8-8490A4497B0A}"/>
              </a:ext>
            </a:extLst>
          </p:cNvPr>
          <p:cNvSpPr>
            <a:spLocks noGrp="1"/>
          </p:cNvSpPr>
          <p:nvPr>
            <p:ph type="title"/>
          </p:nvPr>
        </p:nvSpPr>
        <p:spPr/>
        <p:txBody>
          <a:bodyPr>
            <a:normAutofit/>
          </a:bodyPr>
          <a:lstStyle/>
          <a:p>
            <a:r>
              <a:rPr lang="en-US" sz="32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Different Kinds of Basic Circuits</a:t>
            </a:r>
            <a:r>
              <a:rPr lang="en-US" sz="6600" b="1" dirty="0">
                <a:latin typeface="Tahoma" panose="020B0604030504040204" pitchFamily="34" charset="0"/>
                <a:ea typeface="Tahoma" panose="020B0604030504040204" pitchFamily="34" charset="0"/>
                <a:cs typeface="Tahoma" panose="020B0604030504040204" pitchFamily="34" charset="0"/>
              </a:rPr>
              <a:t> </a:t>
            </a:r>
            <a:endParaRPr lang="en-TZ" sz="6600" b="1" dirty="0">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AE876A53-562C-4AA3-9DB5-442D36145B8C}"/>
              </a:ext>
            </a:extLst>
          </p:cNvPr>
          <p:cNvSpPr>
            <a:spLocks noGrp="1"/>
          </p:cNvSpPr>
          <p:nvPr>
            <p:ph idx="1"/>
          </p:nvPr>
        </p:nvSpPr>
        <p:spPr/>
        <p:txBody>
          <a:bodyPr>
            <a:normAutofit lnSpcReduction="10000"/>
          </a:bodyPr>
          <a:lstStyle/>
          <a:p>
            <a:pPr marL="0" indent="0">
              <a:buNone/>
            </a:pP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A basic circuit is a pneumatic circuit designed to perform basic tasks, such as</a:t>
            </a:r>
          </a:p>
          <a:p>
            <a:pPr marL="514350" indent="-514350">
              <a:buFont typeface="+mj-lt"/>
              <a:buAutoNum type="alphaLcParenR"/>
            </a:pP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Flow amplification</a:t>
            </a:r>
          </a:p>
          <a:p>
            <a:pPr marL="514350" indent="-514350">
              <a:buFont typeface="+mj-lt"/>
              <a:buAutoNum type="alphaLcParenR"/>
            </a:pP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Signal inversion </a:t>
            </a:r>
          </a:p>
          <a:p>
            <a:pPr marL="514350" indent="-514350">
              <a:buFont typeface="+mj-lt"/>
              <a:buAutoNum type="alphaLcParenR"/>
            </a:pP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Memory</a:t>
            </a:r>
          </a:p>
          <a:p>
            <a:pPr marL="514350" indent="-514350">
              <a:buFont typeface="+mj-lt"/>
              <a:buAutoNum type="alphaLcParenR"/>
            </a:pP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Delay</a:t>
            </a:r>
          </a:p>
          <a:p>
            <a:pPr marL="514350" indent="-514350">
              <a:buFont typeface="+mj-lt"/>
              <a:buAutoNum type="alphaLcParenR"/>
            </a:pP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Single acting cylinder control</a:t>
            </a:r>
          </a:p>
          <a:p>
            <a:pPr marL="514350" indent="-514350">
              <a:buFont typeface="+mj-lt"/>
              <a:buAutoNum type="alphaLcParenR"/>
            </a:pP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Double acting cylinder control</a:t>
            </a:r>
            <a:r>
              <a:rPr lang="en-US" sz="4000" dirty="0">
                <a:latin typeface="Tahoma" panose="020B0604030504040204" pitchFamily="34" charset="0"/>
                <a:ea typeface="Tahoma" panose="020B0604030504040204" pitchFamily="34" charset="0"/>
                <a:cs typeface="Tahoma" panose="020B0604030504040204" pitchFamily="34" charset="0"/>
              </a:rPr>
              <a:t> </a:t>
            </a:r>
            <a:br>
              <a:rPr lang="en-US" sz="4000" dirty="0">
                <a:latin typeface="Tahoma" panose="020B0604030504040204" pitchFamily="34" charset="0"/>
                <a:ea typeface="Tahoma" panose="020B0604030504040204" pitchFamily="34" charset="0"/>
                <a:cs typeface="Tahoma" panose="020B0604030504040204" pitchFamily="34" charset="0"/>
              </a:rPr>
            </a:br>
            <a:endParaRPr lang="en-TZ" sz="40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2865907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CD4DA-DDAD-4643-BE03-076EDC06D8B2}"/>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Different Kinds of Basic Circuits</a:t>
            </a:r>
            <a:r>
              <a:rPr lang="en-US" sz="8800" b="1" dirty="0">
                <a:latin typeface="Tahoma" panose="020B0604030504040204" pitchFamily="34" charset="0"/>
                <a:ea typeface="Tahoma" panose="020B0604030504040204" pitchFamily="34" charset="0"/>
                <a:cs typeface="Tahoma" panose="020B0604030504040204" pitchFamily="34" charset="0"/>
              </a:rPr>
              <a:t> </a:t>
            </a:r>
            <a:endParaRPr lang="en-TZ" dirty="0"/>
          </a:p>
        </p:txBody>
      </p:sp>
      <p:sp>
        <p:nvSpPr>
          <p:cNvPr id="3" name="Content Placeholder 2">
            <a:extLst>
              <a:ext uri="{FF2B5EF4-FFF2-40B4-BE49-F238E27FC236}">
                <a16:creationId xmlns:a16="http://schemas.microsoft.com/office/drawing/2014/main" id="{EBAFC1A4-7B36-4733-90B7-C5C24866D97A}"/>
              </a:ext>
            </a:extLst>
          </p:cNvPr>
          <p:cNvSpPr>
            <a:spLocks noGrp="1"/>
          </p:cNvSpPr>
          <p:nvPr>
            <p:ph idx="1"/>
          </p:nvPr>
        </p:nvSpPr>
        <p:spPr/>
        <p:txBody>
          <a:bodyPr>
            <a:normAutofit lnSpcReduction="10000"/>
          </a:bodyPr>
          <a:lstStyle/>
          <a:p>
            <a:pPr marL="342900" indent="-342900">
              <a:buAutoNum type="alphaLcParenBoth"/>
            </a:pPr>
            <a:r>
              <a:rPr lang="en-US" sz="20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Flow amplification</a:t>
            </a:r>
            <a:endParaRPr lang="en-US" sz="2000" dirty="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Cylinders with a large capacity require a larger flow of air, which can be hazardous to users. </a:t>
            </a:r>
          </a:p>
          <a:p>
            <a:pPr marL="0" indent="0">
              <a:buNone/>
            </a:pP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It</a:t>
            </a:r>
            <a:r>
              <a:rPr lang="en-US" sz="2000"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is unsafe to manually operate pneumatic directional control valves with large flow capacity. </a:t>
            </a:r>
          </a:p>
          <a:p>
            <a:pPr marL="0" indent="0">
              <a:buNone/>
            </a:pP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Instead</a:t>
            </a:r>
            <a:r>
              <a:rPr lang="en-US" sz="2000"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we should first operate manually a small control valve and use it to operate the pneumatic control system with large flow capacity. </a:t>
            </a:r>
          </a:p>
          <a:p>
            <a:pPr marL="0" indent="0">
              <a:buNone/>
            </a:pP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This is called flow amplification, which can greatly ensure the safety of the operators. </a:t>
            </a:r>
          </a:p>
          <a:p>
            <a:pPr marL="0" indent="0">
              <a:buNone/>
            </a:pP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During operation, valves with large flow capacity should be placed near the cylinder, while valves with smaller flow capacity should be placed on control boards some distances away. </a:t>
            </a:r>
          </a:p>
          <a:p>
            <a:pPr marL="0" indent="0">
              <a:buNone/>
            </a:pP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Fig. </a:t>
            </a:r>
            <a:r>
              <a:rPr lang="en-US" sz="2000" dirty="0">
                <a:solidFill>
                  <a:srgbClr val="000000"/>
                </a:solidFill>
                <a:latin typeface="Tahoma" panose="020B0604030504040204" pitchFamily="34" charset="0"/>
                <a:ea typeface="Tahoma" panose="020B0604030504040204" pitchFamily="34" charset="0"/>
                <a:cs typeface="Tahoma" panose="020B0604030504040204" pitchFamily="34" charset="0"/>
              </a:rPr>
              <a:t>below</a:t>
            </a:r>
            <a:r>
              <a:rPr lang="en-US" sz="20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 shows a basic flow amplification circuit. </a:t>
            </a:r>
          </a:p>
          <a:p>
            <a:pPr marL="0" indent="0">
              <a:buNone/>
            </a:pPr>
            <a:r>
              <a:rPr lang="en-US" sz="20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Notice how different components are placed on different levels.</a:t>
            </a:r>
            <a:r>
              <a:rPr lang="en-US" sz="3200" b="1" dirty="0">
                <a:latin typeface="Tahoma" panose="020B0604030504040204" pitchFamily="34" charset="0"/>
                <a:ea typeface="Tahoma" panose="020B0604030504040204" pitchFamily="34" charset="0"/>
                <a:cs typeface="Tahoma" panose="020B0604030504040204" pitchFamily="34" charset="0"/>
              </a:rPr>
              <a:t> </a:t>
            </a:r>
            <a:br>
              <a:rPr lang="en-US" b="1" dirty="0"/>
            </a:br>
            <a:endParaRPr lang="en-TZ" b="1" dirty="0"/>
          </a:p>
        </p:txBody>
      </p:sp>
    </p:spTree>
    <p:extLst>
      <p:ext uri="{BB962C8B-B14F-4D97-AF65-F5344CB8AC3E}">
        <p14:creationId xmlns:p14="http://schemas.microsoft.com/office/powerpoint/2010/main" val="21028103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7741D14-2512-447C-9AF4-6D60CCE8970A}"/>
              </a:ext>
            </a:extLst>
          </p:cNvPr>
          <p:cNvPicPr>
            <a:picLocks noGrp="1" noChangeAspect="1"/>
          </p:cNvPicPr>
          <p:nvPr>
            <p:ph idx="1"/>
          </p:nvPr>
        </p:nvPicPr>
        <p:blipFill>
          <a:blip r:embed="rId2"/>
          <a:stretch>
            <a:fillRect/>
          </a:stretch>
        </p:blipFill>
        <p:spPr>
          <a:xfrm>
            <a:off x="1583141" y="545910"/>
            <a:ext cx="9253182" cy="5513695"/>
          </a:xfrm>
        </p:spPr>
      </p:pic>
    </p:spTree>
    <p:extLst>
      <p:ext uri="{BB962C8B-B14F-4D97-AF65-F5344CB8AC3E}">
        <p14:creationId xmlns:p14="http://schemas.microsoft.com/office/powerpoint/2010/main" val="21812375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67841-4B39-4916-AB8C-48D03A8A4D05}"/>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Different Kinds of Basic Circuits</a:t>
            </a:r>
            <a:r>
              <a:rPr lang="en-US" sz="8800" b="1" dirty="0">
                <a:latin typeface="Tahoma" panose="020B0604030504040204" pitchFamily="34" charset="0"/>
                <a:ea typeface="Tahoma" panose="020B0604030504040204" pitchFamily="34" charset="0"/>
                <a:cs typeface="Tahoma" panose="020B0604030504040204" pitchFamily="34" charset="0"/>
              </a:rPr>
              <a:t> </a:t>
            </a:r>
            <a:endParaRPr lang="en-TZ" dirty="0"/>
          </a:p>
        </p:txBody>
      </p:sp>
      <p:sp>
        <p:nvSpPr>
          <p:cNvPr id="3" name="Content Placeholder 2">
            <a:extLst>
              <a:ext uri="{FF2B5EF4-FFF2-40B4-BE49-F238E27FC236}">
                <a16:creationId xmlns:a16="http://schemas.microsoft.com/office/drawing/2014/main" id="{AE263CF8-8607-4800-B151-8F35E549463A}"/>
              </a:ext>
            </a:extLst>
          </p:cNvPr>
          <p:cNvSpPr>
            <a:spLocks noGrp="1"/>
          </p:cNvSpPr>
          <p:nvPr>
            <p:ph idx="1"/>
          </p:nvPr>
        </p:nvSpPr>
        <p:spPr/>
        <p:txBody>
          <a:bodyPr/>
          <a:lstStyle/>
          <a:p>
            <a:pPr marL="0" indent="0">
              <a:buNone/>
            </a:pPr>
            <a:r>
              <a:rPr lang="en-US" b="1" i="0" dirty="0">
                <a:solidFill>
                  <a:srgbClr val="000000"/>
                </a:solidFill>
                <a:effectLst/>
                <a:latin typeface="Arial" panose="020B0604020202020204" pitchFamily="34" charset="0"/>
              </a:rPr>
              <a:t>(b) Signal inversion</a:t>
            </a:r>
            <a:br>
              <a:rPr lang="en-US" b="0" i="0" dirty="0">
                <a:solidFill>
                  <a:srgbClr val="000000"/>
                </a:solidFill>
                <a:effectLst/>
                <a:latin typeface="Arial" panose="020B0604020202020204" pitchFamily="34" charset="0"/>
              </a:rPr>
            </a:br>
            <a:r>
              <a:rPr lang="en-US" b="0" i="0" dirty="0">
                <a:solidFill>
                  <a:srgbClr val="000000"/>
                </a:solidFill>
                <a:effectLst/>
                <a:latin typeface="TimesNewRomanPSMT"/>
              </a:rPr>
              <a:t>The pneumatic diagram in Fig. below shows how directional control valves can be switched.</a:t>
            </a:r>
            <a:br>
              <a:rPr lang="en-US" b="0" i="0" dirty="0">
                <a:solidFill>
                  <a:srgbClr val="000000"/>
                </a:solidFill>
                <a:effectLst/>
                <a:latin typeface="TimesNewRomanPSMT"/>
              </a:rPr>
            </a:br>
            <a:r>
              <a:rPr lang="en-US" b="0" i="0" dirty="0">
                <a:solidFill>
                  <a:srgbClr val="000000"/>
                </a:solidFill>
                <a:effectLst/>
                <a:latin typeface="TimesNewRomanPSMT"/>
              </a:rPr>
              <a:t>When operating control valve </a:t>
            </a:r>
            <a:r>
              <a:rPr lang="en-US" b="0" i="0" dirty="0">
                <a:solidFill>
                  <a:srgbClr val="000000"/>
                </a:solidFill>
                <a:effectLst/>
                <a:latin typeface="Wingdings-Regular"/>
              </a:rPr>
              <a:t></a:t>
            </a:r>
            <a:r>
              <a:rPr lang="en-US" b="0" i="0" dirty="0">
                <a:solidFill>
                  <a:srgbClr val="000000"/>
                </a:solidFill>
                <a:effectLst/>
                <a:latin typeface="TimesNewRomanPSMT"/>
              </a:rPr>
              <a:t>, control valve </a:t>
            </a:r>
            <a:r>
              <a:rPr lang="en-US" b="0" i="0" dirty="0">
                <a:solidFill>
                  <a:srgbClr val="000000"/>
                </a:solidFill>
                <a:effectLst/>
                <a:latin typeface="Wingdings-Regular"/>
              </a:rPr>
              <a:t> </a:t>
            </a:r>
            <a:r>
              <a:rPr lang="en-US" b="0" i="0" dirty="0">
                <a:solidFill>
                  <a:srgbClr val="000000"/>
                </a:solidFill>
                <a:effectLst/>
                <a:latin typeface="TimesNewRomanPSMT"/>
              </a:rPr>
              <a:t>will stop producing pressure output. </a:t>
            </a:r>
          </a:p>
          <a:p>
            <a:pPr marL="0" indent="0">
              <a:buNone/>
            </a:pPr>
            <a:r>
              <a:rPr lang="en-US" b="0" i="0" dirty="0">
                <a:solidFill>
                  <a:srgbClr val="000000"/>
                </a:solidFill>
                <a:effectLst/>
                <a:latin typeface="TimesNewRomanPSMT"/>
              </a:rPr>
              <a:t>When control valve </a:t>
            </a:r>
            <a:r>
              <a:rPr lang="en-US" b="0" i="0" dirty="0">
                <a:solidFill>
                  <a:srgbClr val="000000"/>
                </a:solidFill>
                <a:effectLst/>
                <a:latin typeface="Wingdings-Regular"/>
              </a:rPr>
              <a:t> </a:t>
            </a:r>
            <a:r>
              <a:rPr lang="en-US" b="0" i="0" dirty="0">
                <a:solidFill>
                  <a:srgbClr val="000000"/>
                </a:solidFill>
                <a:effectLst/>
                <a:latin typeface="TimesNewRomanPSMT"/>
              </a:rPr>
              <a:t>ceases operation and is restored to its original position, control valve </a:t>
            </a:r>
            <a:r>
              <a:rPr lang="en-US" b="0" i="0" dirty="0">
                <a:solidFill>
                  <a:srgbClr val="000000"/>
                </a:solidFill>
                <a:effectLst/>
                <a:latin typeface="Wingdings-Regular"/>
              </a:rPr>
              <a:t> </a:t>
            </a:r>
            <a:r>
              <a:rPr lang="en-US" b="0" i="0" dirty="0">
                <a:solidFill>
                  <a:srgbClr val="000000"/>
                </a:solidFill>
                <a:effectLst/>
                <a:latin typeface="TimesNewRomanPSMT"/>
              </a:rPr>
              <a:t>will resume its output. </a:t>
            </a:r>
          </a:p>
          <a:p>
            <a:pPr marL="0" indent="0">
              <a:buNone/>
            </a:pPr>
            <a:r>
              <a:rPr lang="en-US" b="0" i="0" dirty="0">
                <a:solidFill>
                  <a:srgbClr val="000000"/>
                </a:solidFill>
                <a:effectLst/>
                <a:latin typeface="TimesNewRomanPSMT"/>
              </a:rPr>
              <a:t>Therefore, at any given time, the pressure output of control valve </a:t>
            </a:r>
            <a:r>
              <a:rPr lang="en-US" b="0" i="0" dirty="0">
                <a:solidFill>
                  <a:srgbClr val="000000"/>
                </a:solidFill>
                <a:effectLst/>
                <a:latin typeface="Wingdings-Regular"/>
              </a:rPr>
              <a:t> </a:t>
            </a:r>
            <a:r>
              <a:rPr lang="en-US" b="0" i="0" dirty="0">
                <a:solidFill>
                  <a:srgbClr val="000000"/>
                </a:solidFill>
                <a:effectLst/>
                <a:latin typeface="TimesNewRomanPSMT"/>
              </a:rPr>
              <a:t>is the exact opposite of that of control valve</a:t>
            </a:r>
            <a:r>
              <a:rPr lang="en-US" sz="4000" dirty="0"/>
              <a:t> </a:t>
            </a:r>
            <a:r>
              <a:rPr lang="en-US" b="0" i="0" dirty="0">
                <a:solidFill>
                  <a:srgbClr val="000000"/>
                </a:solidFill>
                <a:effectLst/>
                <a:latin typeface="Wingdings-Regular"/>
              </a:rPr>
              <a:t></a:t>
            </a:r>
            <a:br>
              <a:rPr lang="en-US" dirty="0"/>
            </a:br>
            <a:endParaRPr lang="en-TZ" dirty="0"/>
          </a:p>
        </p:txBody>
      </p:sp>
    </p:spTree>
    <p:extLst>
      <p:ext uri="{BB962C8B-B14F-4D97-AF65-F5344CB8AC3E}">
        <p14:creationId xmlns:p14="http://schemas.microsoft.com/office/powerpoint/2010/main" val="19651897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ECE9B5B-B96D-4CAA-986C-AAE463AFA511}"/>
              </a:ext>
            </a:extLst>
          </p:cNvPr>
          <p:cNvPicPr>
            <a:picLocks noGrp="1" noChangeAspect="1"/>
          </p:cNvPicPr>
          <p:nvPr>
            <p:ph idx="1"/>
          </p:nvPr>
        </p:nvPicPr>
        <p:blipFill>
          <a:blip r:embed="rId2"/>
          <a:stretch>
            <a:fillRect/>
          </a:stretch>
        </p:blipFill>
        <p:spPr>
          <a:xfrm>
            <a:off x="2506638" y="453788"/>
            <a:ext cx="7178723" cy="5950423"/>
          </a:xfrm>
        </p:spPr>
      </p:pic>
    </p:spTree>
    <p:extLst>
      <p:ext uri="{BB962C8B-B14F-4D97-AF65-F5344CB8AC3E}">
        <p14:creationId xmlns:p14="http://schemas.microsoft.com/office/powerpoint/2010/main" val="17423232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E4AC5-2207-46DA-B74C-D0A84F47623E}"/>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Different Kinds of Basic Circuits</a:t>
            </a:r>
            <a:r>
              <a:rPr lang="en-US" sz="8800" b="1" dirty="0">
                <a:latin typeface="Tahoma" panose="020B0604030504040204" pitchFamily="34" charset="0"/>
                <a:ea typeface="Tahoma" panose="020B0604030504040204" pitchFamily="34" charset="0"/>
                <a:cs typeface="Tahoma" panose="020B0604030504040204" pitchFamily="34" charset="0"/>
              </a:rPr>
              <a:t> </a:t>
            </a:r>
            <a:endParaRPr lang="en-TZ" dirty="0"/>
          </a:p>
        </p:txBody>
      </p:sp>
      <p:sp>
        <p:nvSpPr>
          <p:cNvPr id="3" name="Content Placeholder 2">
            <a:extLst>
              <a:ext uri="{FF2B5EF4-FFF2-40B4-BE49-F238E27FC236}">
                <a16:creationId xmlns:a16="http://schemas.microsoft.com/office/drawing/2014/main" id="{39570BD8-3830-438B-8817-C8DC74634A78}"/>
              </a:ext>
            </a:extLst>
          </p:cNvPr>
          <p:cNvSpPr>
            <a:spLocks noGrp="1"/>
          </p:cNvSpPr>
          <p:nvPr>
            <p:ph idx="1"/>
          </p:nvPr>
        </p:nvSpPr>
        <p:spPr/>
        <p:txBody>
          <a:bodyPr>
            <a:normAutofit fontScale="92500"/>
          </a:bodyPr>
          <a:lstStyle/>
          <a:p>
            <a:pPr marL="0" indent="0">
              <a:buNone/>
            </a:pPr>
            <a:r>
              <a:rPr lang="en-US" b="1" i="0" dirty="0">
                <a:solidFill>
                  <a:srgbClr val="000000"/>
                </a:solidFill>
                <a:effectLst/>
                <a:latin typeface="Times New Roman" panose="02020603050405020304" pitchFamily="18" charset="0"/>
                <a:cs typeface="Times New Roman" panose="02020603050405020304" pitchFamily="18" charset="0"/>
              </a:rPr>
              <a:t>(c) Memory Function</a:t>
            </a:r>
            <a:br>
              <a:rPr lang="en-US" b="0" i="0" dirty="0">
                <a:solidFill>
                  <a:srgbClr val="000000"/>
                </a:solidFill>
                <a:effectLst/>
                <a:latin typeface="Arial" panose="020B0604020202020204" pitchFamily="34" charset="0"/>
              </a:rPr>
            </a:br>
            <a:r>
              <a:rPr lang="en-US" b="0" i="0" dirty="0">
                <a:solidFill>
                  <a:srgbClr val="000000"/>
                </a:solidFill>
                <a:effectLst/>
                <a:latin typeface="TimesNewRomanPSMT"/>
              </a:rPr>
              <a:t>Memory function can keep a component at a certain state permanently until there is a change of signals. Fig. below shows a memory function circuit. </a:t>
            </a:r>
          </a:p>
          <a:p>
            <a:pPr marL="0" indent="0">
              <a:buNone/>
            </a:pPr>
            <a:r>
              <a:rPr lang="en-US" b="0" i="0" dirty="0">
                <a:solidFill>
                  <a:srgbClr val="000000"/>
                </a:solidFill>
                <a:effectLst/>
                <a:latin typeface="TimesNewRomanPSMT"/>
              </a:rPr>
              <a:t>When control valve </a:t>
            </a:r>
            <a:r>
              <a:rPr lang="en-US" b="0" i="0" dirty="0">
                <a:solidFill>
                  <a:srgbClr val="000000"/>
                </a:solidFill>
                <a:effectLst/>
                <a:latin typeface="Wingdings-Regular"/>
              </a:rPr>
              <a:t> </a:t>
            </a:r>
            <a:r>
              <a:rPr lang="en-US" b="0" i="0" dirty="0">
                <a:solidFill>
                  <a:srgbClr val="000000"/>
                </a:solidFill>
                <a:effectLst/>
                <a:latin typeface="TimesNewRomanPSMT"/>
              </a:rPr>
              <a:t>is operated momentarily (that is, pressed for a short time), the output signal of the 5/2 directional control valve </a:t>
            </a:r>
            <a:r>
              <a:rPr lang="en-US" b="0" i="0" dirty="0">
                <a:solidFill>
                  <a:srgbClr val="000000"/>
                </a:solidFill>
                <a:effectLst/>
                <a:latin typeface="Wingdings-Regular"/>
              </a:rPr>
              <a:t> </a:t>
            </a:r>
            <a:r>
              <a:rPr lang="en-US" b="0" i="0" dirty="0">
                <a:solidFill>
                  <a:srgbClr val="000000"/>
                </a:solidFill>
                <a:effectLst/>
                <a:latin typeface="TimesNewRomanPSMT"/>
              </a:rPr>
              <a:t>will be set to ON. </a:t>
            </a:r>
          </a:p>
          <a:p>
            <a:pPr marL="0" indent="0">
              <a:buNone/>
            </a:pPr>
            <a:r>
              <a:rPr lang="en-US" b="0" i="0" dirty="0">
                <a:solidFill>
                  <a:srgbClr val="000000"/>
                </a:solidFill>
                <a:effectLst/>
                <a:latin typeface="TimesNewRomanPSMT"/>
              </a:rPr>
              <a:t>The signal will stay that way until control valve </a:t>
            </a:r>
            <a:r>
              <a:rPr lang="en-US" b="0" i="0" dirty="0">
                <a:solidFill>
                  <a:srgbClr val="000000"/>
                </a:solidFill>
                <a:effectLst/>
                <a:latin typeface="Wingdings-Regular"/>
              </a:rPr>
              <a:t> </a:t>
            </a:r>
            <a:r>
              <a:rPr lang="en-US" b="0" i="0" dirty="0">
                <a:solidFill>
                  <a:srgbClr val="000000"/>
                </a:solidFill>
                <a:effectLst/>
                <a:latin typeface="TimesNewRomanPSMT"/>
              </a:rPr>
              <a:t>is operated momentarily and generates another signal to replace it, causing it to stay permanently</a:t>
            </a:r>
            <a:br>
              <a:rPr lang="en-US" b="0" i="0" dirty="0">
                <a:solidFill>
                  <a:srgbClr val="000000"/>
                </a:solidFill>
                <a:effectLst/>
                <a:latin typeface="TimesNewRomanPSMT"/>
              </a:rPr>
            </a:br>
            <a:r>
              <a:rPr lang="en-US" b="0" i="0" dirty="0">
                <a:solidFill>
                  <a:srgbClr val="000000"/>
                </a:solidFill>
                <a:effectLst/>
                <a:latin typeface="TimesNewRomanPSMT"/>
              </a:rPr>
              <a:t>at OFF.</a:t>
            </a:r>
            <a:r>
              <a:rPr lang="en-US" sz="4000" dirty="0"/>
              <a:t> </a:t>
            </a:r>
            <a:br>
              <a:rPr lang="en-US" dirty="0"/>
            </a:br>
            <a:endParaRPr lang="en-TZ" dirty="0"/>
          </a:p>
        </p:txBody>
      </p:sp>
    </p:spTree>
    <p:extLst>
      <p:ext uri="{BB962C8B-B14F-4D97-AF65-F5344CB8AC3E}">
        <p14:creationId xmlns:p14="http://schemas.microsoft.com/office/powerpoint/2010/main" val="10246748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B2AC88A-4DCF-41FE-BA40-F47ABD39B924}"/>
              </a:ext>
            </a:extLst>
          </p:cNvPr>
          <p:cNvPicPr>
            <a:picLocks noGrp="1" noChangeAspect="1"/>
          </p:cNvPicPr>
          <p:nvPr>
            <p:ph idx="1"/>
          </p:nvPr>
        </p:nvPicPr>
        <p:blipFill>
          <a:blip r:embed="rId2"/>
          <a:stretch>
            <a:fillRect/>
          </a:stretch>
        </p:blipFill>
        <p:spPr>
          <a:xfrm>
            <a:off x="2006222" y="562970"/>
            <a:ext cx="8407020" cy="5732060"/>
          </a:xfrm>
        </p:spPr>
      </p:pic>
    </p:spTree>
    <p:extLst>
      <p:ext uri="{BB962C8B-B14F-4D97-AF65-F5344CB8AC3E}">
        <p14:creationId xmlns:p14="http://schemas.microsoft.com/office/powerpoint/2010/main" val="29271969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3D85C-2ADA-4CFF-A906-9BCF17574CA2}"/>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Different Kinds of Basic Circuits</a:t>
            </a:r>
            <a:r>
              <a:rPr lang="en-US" sz="8800" b="1" dirty="0">
                <a:latin typeface="Tahoma" panose="020B0604030504040204" pitchFamily="34" charset="0"/>
                <a:ea typeface="Tahoma" panose="020B0604030504040204" pitchFamily="34" charset="0"/>
                <a:cs typeface="Tahoma" panose="020B0604030504040204" pitchFamily="34" charset="0"/>
              </a:rPr>
              <a:t> </a:t>
            </a:r>
            <a:endParaRPr lang="en-TZ" dirty="0"/>
          </a:p>
        </p:txBody>
      </p:sp>
      <p:sp>
        <p:nvSpPr>
          <p:cNvPr id="3" name="Content Placeholder 2">
            <a:extLst>
              <a:ext uri="{FF2B5EF4-FFF2-40B4-BE49-F238E27FC236}">
                <a16:creationId xmlns:a16="http://schemas.microsoft.com/office/drawing/2014/main" id="{5123E905-0E92-4E9F-A78A-BCCF0313A4BC}"/>
              </a:ext>
            </a:extLst>
          </p:cNvPr>
          <p:cNvSpPr>
            <a:spLocks noGrp="1"/>
          </p:cNvSpPr>
          <p:nvPr>
            <p:ph idx="1"/>
          </p:nvPr>
        </p:nvSpPr>
        <p:spPr/>
        <p:txBody>
          <a:bodyPr/>
          <a:lstStyle/>
          <a:p>
            <a:pPr marL="0" indent="0">
              <a:buNone/>
            </a:pPr>
            <a:r>
              <a:rPr lang="en-US" b="1" i="0" dirty="0">
                <a:solidFill>
                  <a:srgbClr val="000000"/>
                </a:solidFill>
                <a:effectLst/>
                <a:latin typeface="Arial" panose="020B0604020202020204" pitchFamily="34" charset="0"/>
              </a:rPr>
              <a:t>(d) Delay function</a:t>
            </a:r>
            <a:br>
              <a:rPr lang="en-US" b="0" i="0" dirty="0">
                <a:solidFill>
                  <a:srgbClr val="000000"/>
                </a:solidFill>
                <a:effectLst/>
                <a:latin typeface="Arial" panose="020B0604020202020204" pitchFamily="34" charset="0"/>
              </a:rPr>
            </a:br>
            <a:r>
              <a:rPr lang="en-US" b="0" i="0" dirty="0">
                <a:solidFill>
                  <a:srgbClr val="000000"/>
                </a:solidFill>
                <a:effectLst/>
                <a:latin typeface="TimesNewRomanPSMT"/>
              </a:rPr>
              <a:t>A pneumatic delay circuit can delay the operating time of the next control valve. </a:t>
            </a:r>
          </a:p>
          <a:p>
            <a:pPr marL="0" indent="0">
              <a:buNone/>
            </a:pPr>
            <a:r>
              <a:rPr lang="en-US" b="0" i="0" dirty="0">
                <a:solidFill>
                  <a:srgbClr val="000000"/>
                </a:solidFill>
                <a:effectLst/>
                <a:latin typeface="TimesNewRomanPSMT"/>
              </a:rPr>
              <a:t>Its principle of operation involves the use of an orifice to slow down the flow of air and control the time of pneumatic operation. </a:t>
            </a:r>
          </a:p>
          <a:p>
            <a:pPr marL="0" indent="0">
              <a:buNone/>
            </a:pPr>
            <a:r>
              <a:rPr lang="en-US" b="0" i="0" dirty="0">
                <a:solidFill>
                  <a:srgbClr val="000000"/>
                </a:solidFill>
                <a:effectLst/>
                <a:latin typeface="TimesNewRomanPSMT"/>
              </a:rPr>
              <a:t>Delay functions can be divided into two classes: ON-signal delay and OFF signal delay</a:t>
            </a:r>
            <a:r>
              <a:rPr lang="en-US" sz="1800" b="0" i="0" dirty="0">
                <a:solidFill>
                  <a:srgbClr val="000000"/>
                </a:solidFill>
                <a:effectLst/>
                <a:latin typeface="TimesNewRomanPSMT"/>
              </a:rPr>
              <a:t>.</a:t>
            </a:r>
            <a:r>
              <a:rPr lang="en-US" dirty="0"/>
              <a:t> </a:t>
            </a:r>
            <a:br>
              <a:rPr lang="en-US" dirty="0"/>
            </a:br>
            <a:endParaRPr lang="en-TZ" dirty="0"/>
          </a:p>
        </p:txBody>
      </p:sp>
    </p:spTree>
    <p:extLst>
      <p:ext uri="{BB962C8B-B14F-4D97-AF65-F5344CB8AC3E}">
        <p14:creationId xmlns:p14="http://schemas.microsoft.com/office/powerpoint/2010/main" val="3075233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759BA-C245-4D72-B2A9-AFD1118CD6EA}"/>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Different Kinds of Basic Circuits</a:t>
            </a:r>
            <a:r>
              <a:rPr lang="en-US" sz="8800" b="1" dirty="0">
                <a:latin typeface="Tahoma" panose="020B0604030504040204" pitchFamily="34" charset="0"/>
                <a:ea typeface="Tahoma" panose="020B0604030504040204" pitchFamily="34" charset="0"/>
                <a:cs typeface="Tahoma" panose="020B0604030504040204" pitchFamily="34" charset="0"/>
              </a:rPr>
              <a:t> </a:t>
            </a:r>
            <a:endParaRPr lang="en-TZ" dirty="0"/>
          </a:p>
        </p:txBody>
      </p:sp>
      <p:sp>
        <p:nvSpPr>
          <p:cNvPr id="3" name="Content Placeholder 2">
            <a:extLst>
              <a:ext uri="{FF2B5EF4-FFF2-40B4-BE49-F238E27FC236}">
                <a16:creationId xmlns:a16="http://schemas.microsoft.com/office/drawing/2014/main" id="{9B61E20E-7BAA-4E96-8573-DF52418F49D5}"/>
              </a:ext>
            </a:extLst>
          </p:cNvPr>
          <p:cNvSpPr>
            <a:spLocks noGrp="1"/>
          </p:cNvSpPr>
          <p:nvPr>
            <p:ph idx="1"/>
          </p:nvPr>
        </p:nvSpPr>
        <p:spPr/>
        <p:txBody>
          <a:bodyPr>
            <a:normAutofit/>
          </a:bodyPr>
          <a:lstStyle/>
          <a:p>
            <a:pPr marL="0" indent="0">
              <a:buNone/>
            </a:pPr>
            <a:r>
              <a:rPr lang="en-US" sz="2400" b="1" i="0" dirty="0">
                <a:solidFill>
                  <a:srgbClr val="000000"/>
                </a:solidFill>
                <a:effectLst/>
                <a:latin typeface="Arial" panose="020B0604020202020204" pitchFamily="34" charset="0"/>
              </a:rPr>
              <a:t>(d) Delay function</a:t>
            </a:r>
          </a:p>
          <a:p>
            <a:pPr marL="514350" indent="-514350">
              <a:buAutoNum type="romanLcParenBoth"/>
            </a:pPr>
            <a:r>
              <a:rPr lang="en-US" sz="2400" b="1" i="0" dirty="0">
                <a:solidFill>
                  <a:srgbClr val="FF0000"/>
                </a:solidFill>
                <a:effectLst/>
                <a:latin typeface="Arial" panose="020B0604020202020204" pitchFamily="34" charset="0"/>
              </a:rPr>
              <a:t>ON-signal delay</a:t>
            </a:r>
            <a:endParaRPr lang="en-US" sz="2400" dirty="0">
              <a:solidFill>
                <a:srgbClr val="000000"/>
              </a:solidFill>
              <a:latin typeface="Arial" panose="020B0604020202020204" pitchFamily="34" charset="0"/>
            </a:endParaRPr>
          </a:p>
          <a:p>
            <a:pPr marL="0" indent="0">
              <a:buNone/>
            </a:pPr>
            <a:r>
              <a:rPr lang="en-US" sz="2400" b="0" i="0" dirty="0">
                <a:solidFill>
                  <a:srgbClr val="000000"/>
                </a:solidFill>
                <a:effectLst/>
                <a:latin typeface="TimesNewRomanPSMT"/>
              </a:rPr>
              <a:t>Fig. below shows the circuit diagram of an ON-signal delay circuit, which delays the output of the next control valve. </a:t>
            </a:r>
          </a:p>
          <a:p>
            <a:pPr marL="0" indent="0">
              <a:buNone/>
            </a:pPr>
            <a:r>
              <a:rPr lang="en-US" sz="2400" b="0" i="0" dirty="0">
                <a:solidFill>
                  <a:srgbClr val="000000"/>
                </a:solidFill>
                <a:effectLst/>
                <a:latin typeface="TimesNewRomanPSMT"/>
              </a:rPr>
              <a:t>When control valve </a:t>
            </a:r>
            <a:r>
              <a:rPr lang="en-US" sz="2400" b="0" i="0" dirty="0">
                <a:solidFill>
                  <a:srgbClr val="000000"/>
                </a:solidFill>
                <a:effectLst/>
                <a:latin typeface="Wingdings-Regular"/>
              </a:rPr>
              <a:t> </a:t>
            </a:r>
            <a:r>
              <a:rPr lang="en-US" sz="2400" b="0" i="0" dirty="0">
                <a:solidFill>
                  <a:srgbClr val="000000"/>
                </a:solidFill>
                <a:effectLst/>
                <a:latin typeface="TimesNewRomanPSMT"/>
              </a:rPr>
              <a:t>is operated, the one way flow control valve will slow</a:t>
            </a:r>
            <a:br>
              <a:rPr lang="en-US" sz="2400" b="0" i="0" dirty="0">
                <a:solidFill>
                  <a:srgbClr val="000000"/>
                </a:solidFill>
                <a:effectLst/>
                <a:latin typeface="TimesNewRomanPSMT"/>
              </a:rPr>
            </a:br>
            <a:r>
              <a:rPr lang="en-US" sz="2400" b="0" i="0" dirty="0">
                <a:solidFill>
                  <a:srgbClr val="000000"/>
                </a:solidFill>
                <a:effectLst/>
                <a:latin typeface="TimesNewRomanPSMT"/>
              </a:rPr>
              <a:t>down the flow of air, thus delaying the signal output of the outlet of control valve </a:t>
            </a:r>
            <a:r>
              <a:rPr lang="en-US" sz="2400" b="0" i="0" dirty="0">
                <a:solidFill>
                  <a:srgbClr val="000000"/>
                </a:solidFill>
                <a:effectLst/>
                <a:latin typeface="Wingdings-Regular"/>
              </a:rPr>
              <a:t> </a:t>
            </a:r>
            <a:r>
              <a:rPr lang="en-US" sz="2400" b="0" i="0" dirty="0">
                <a:solidFill>
                  <a:srgbClr val="000000"/>
                </a:solidFill>
                <a:effectLst/>
                <a:latin typeface="TimesNewRomanPSMT"/>
              </a:rPr>
              <a:t>(A), resulting in a persistent ON-signal. </a:t>
            </a:r>
          </a:p>
          <a:p>
            <a:pPr marL="0" indent="0">
              <a:buNone/>
            </a:pPr>
            <a:r>
              <a:rPr lang="en-US" sz="2400" b="0" i="0" dirty="0">
                <a:solidFill>
                  <a:srgbClr val="000000"/>
                </a:solidFill>
                <a:effectLst/>
                <a:latin typeface="TimesNewRomanPSMT"/>
              </a:rPr>
              <a:t>The time when control valve </a:t>
            </a:r>
            <a:r>
              <a:rPr lang="en-US" sz="2400" b="0" i="0" dirty="0">
                <a:solidFill>
                  <a:srgbClr val="000000"/>
                </a:solidFill>
                <a:effectLst/>
                <a:latin typeface="Wingdings-Regular"/>
              </a:rPr>
              <a:t> </a:t>
            </a:r>
            <a:r>
              <a:rPr lang="en-US" sz="2400" b="0" i="0" dirty="0">
                <a:solidFill>
                  <a:srgbClr val="000000"/>
                </a:solidFill>
                <a:effectLst/>
                <a:latin typeface="TimesNewRomanPSMT"/>
              </a:rPr>
              <a:t>will be restored to its original position is not affected.</a:t>
            </a:r>
            <a:r>
              <a:rPr lang="en-US" sz="3600" dirty="0"/>
              <a:t> </a:t>
            </a:r>
            <a:br>
              <a:rPr lang="en-US" dirty="0"/>
            </a:br>
            <a:endParaRPr lang="en-TZ" dirty="0"/>
          </a:p>
        </p:txBody>
      </p:sp>
    </p:spTree>
    <p:extLst>
      <p:ext uri="{BB962C8B-B14F-4D97-AF65-F5344CB8AC3E}">
        <p14:creationId xmlns:p14="http://schemas.microsoft.com/office/powerpoint/2010/main" val="34993990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EACDF4F-FBF6-4D7C-A519-CB2B8AC7AE5B}"/>
              </a:ext>
            </a:extLst>
          </p:cNvPr>
          <p:cNvPicPr>
            <a:picLocks noGrp="1" noChangeAspect="1"/>
          </p:cNvPicPr>
          <p:nvPr>
            <p:ph idx="1"/>
          </p:nvPr>
        </p:nvPicPr>
        <p:blipFill>
          <a:blip r:embed="rId2"/>
          <a:stretch>
            <a:fillRect/>
          </a:stretch>
        </p:blipFill>
        <p:spPr>
          <a:xfrm>
            <a:off x="2144724" y="818865"/>
            <a:ext cx="7902552" cy="5873667"/>
          </a:xfrm>
        </p:spPr>
      </p:pic>
    </p:spTree>
    <p:extLst>
      <p:ext uri="{BB962C8B-B14F-4D97-AF65-F5344CB8AC3E}">
        <p14:creationId xmlns:p14="http://schemas.microsoft.com/office/powerpoint/2010/main" val="25624386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E3B63-8C2D-4F8E-8B63-D8C56D59D990}"/>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Different Kinds of Basic Circuits</a:t>
            </a:r>
            <a:r>
              <a:rPr lang="en-US" sz="8800" b="1" dirty="0">
                <a:latin typeface="Tahoma" panose="020B0604030504040204" pitchFamily="34" charset="0"/>
                <a:ea typeface="Tahoma" panose="020B0604030504040204" pitchFamily="34" charset="0"/>
                <a:cs typeface="Tahoma" panose="020B0604030504040204" pitchFamily="34" charset="0"/>
              </a:rPr>
              <a:t> </a:t>
            </a:r>
            <a:endParaRPr lang="en-TZ" dirty="0"/>
          </a:p>
        </p:txBody>
      </p:sp>
      <p:sp>
        <p:nvSpPr>
          <p:cNvPr id="3" name="Content Placeholder 2">
            <a:extLst>
              <a:ext uri="{FF2B5EF4-FFF2-40B4-BE49-F238E27FC236}">
                <a16:creationId xmlns:a16="http://schemas.microsoft.com/office/drawing/2014/main" id="{76654A62-1E37-4924-B7E2-953AC61295C5}"/>
              </a:ext>
            </a:extLst>
          </p:cNvPr>
          <p:cNvSpPr>
            <a:spLocks noGrp="1"/>
          </p:cNvSpPr>
          <p:nvPr>
            <p:ph idx="1"/>
          </p:nvPr>
        </p:nvSpPr>
        <p:spPr/>
        <p:txBody>
          <a:bodyPr>
            <a:normAutofit fontScale="92500" lnSpcReduction="10000"/>
          </a:bodyPr>
          <a:lstStyle/>
          <a:p>
            <a:pPr marL="0" indent="0">
              <a:buNone/>
            </a:pPr>
            <a:r>
              <a:rPr lang="en-US" sz="2400" b="1" i="0" dirty="0">
                <a:solidFill>
                  <a:srgbClr val="000000"/>
                </a:solidFill>
                <a:effectLst/>
                <a:latin typeface="Arial" panose="020B0604020202020204" pitchFamily="34" charset="0"/>
              </a:rPr>
              <a:t>(d) Delay function</a:t>
            </a:r>
          </a:p>
          <a:p>
            <a:pPr marL="0" indent="0">
              <a:buNone/>
            </a:pPr>
            <a:r>
              <a:rPr lang="en-US" sz="2400" b="1" i="0" dirty="0">
                <a:solidFill>
                  <a:srgbClr val="FF0000"/>
                </a:solidFill>
                <a:effectLst/>
                <a:latin typeface="Arial" panose="020B0604020202020204" pitchFamily="34" charset="0"/>
              </a:rPr>
              <a:t>(ii) OFF-signal Delay</a:t>
            </a:r>
            <a:br>
              <a:rPr lang="en-US" sz="2400" b="0" i="0" dirty="0">
                <a:solidFill>
                  <a:srgbClr val="000000"/>
                </a:solidFill>
                <a:effectLst/>
                <a:latin typeface="Arial" panose="020B0604020202020204" pitchFamily="34" charset="0"/>
              </a:rPr>
            </a:br>
            <a:r>
              <a:rPr lang="en-US" sz="2400" b="0" i="0" dirty="0">
                <a:solidFill>
                  <a:srgbClr val="000000"/>
                </a:solidFill>
                <a:effectLst/>
                <a:latin typeface="TimesNewRomanPSMT"/>
              </a:rPr>
              <a:t>Fig. below shows the circuit diagram of an OFF-signal delay circuit, which delays the output of the next control valve. </a:t>
            </a:r>
          </a:p>
          <a:p>
            <a:pPr marL="0" indent="0">
              <a:buNone/>
            </a:pPr>
            <a:r>
              <a:rPr lang="en-US" sz="2400" b="0" i="0" dirty="0">
                <a:solidFill>
                  <a:srgbClr val="000000"/>
                </a:solidFill>
                <a:effectLst/>
                <a:latin typeface="TimesNewRomanPSMT"/>
              </a:rPr>
              <a:t>This circuit is similar to an ON-signal delay circuit. </a:t>
            </a:r>
          </a:p>
          <a:p>
            <a:pPr marL="0" indent="0">
              <a:buNone/>
            </a:pPr>
            <a:r>
              <a:rPr lang="en-US" sz="2400" b="0" i="0" dirty="0">
                <a:solidFill>
                  <a:srgbClr val="000000"/>
                </a:solidFill>
                <a:effectLst/>
                <a:latin typeface="TimesNewRomanPSMT"/>
              </a:rPr>
              <a:t>The only difference is that the one way flow control valve is connected in the opposite direction. </a:t>
            </a:r>
          </a:p>
          <a:p>
            <a:pPr marL="0" indent="0">
              <a:buNone/>
            </a:pPr>
            <a:r>
              <a:rPr lang="en-US" sz="2400" b="0" i="0" dirty="0">
                <a:solidFill>
                  <a:srgbClr val="000000"/>
                </a:solidFill>
                <a:effectLst/>
                <a:latin typeface="TimesNewRomanPSMT"/>
              </a:rPr>
              <a:t>Therefore, when control valve </a:t>
            </a:r>
            <a:r>
              <a:rPr lang="en-US" sz="2400" b="0" i="0" dirty="0">
                <a:solidFill>
                  <a:srgbClr val="000000"/>
                </a:solidFill>
                <a:effectLst/>
                <a:latin typeface="Wingdings-Regular"/>
              </a:rPr>
              <a:t> </a:t>
            </a:r>
            <a:r>
              <a:rPr lang="en-US" sz="2400" b="0" i="0" dirty="0">
                <a:solidFill>
                  <a:srgbClr val="000000"/>
                </a:solidFill>
                <a:effectLst/>
                <a:latin typeface="TimesNewRomanPSMT"/>
              </a:rPr>
              <a:t>is operated, the outlet of control valve </a:t>
            </a:r>
            <a:r>
              <a:rPr lang="en-US" sz="2400" b="0" i="0" dirty="0">
                <a:solidFill>
                  <a:srgbClr val="000000"/>
                </a:solidFill>
                <a:effectLst/>
                <a:latin typeface="Wingdings-Regular"/>
              </a:rPr>
              <a:t> </a:t>
            </a:r>
            <a:r>
              <a:rPr lang="en-US" sz="2400" b="0" i="0" dirty="0">
                <a:solidFill>
                  <a:srgbClr val="000000"/>
                </a:solidFill>
                <a:effectLst/>
                <a:latin typeface="TimesNewRomanPSMT"/>
              </a:rPr>
              <a:t>(A) will continue to output signals. </a:t>
            </a:r>
          </a:p>
          <a:p>
            <a:pPr marL="0" indent="0">
              <a:buNone/>
            </a:pPr>
            <a:r>
              <a:rPr lang="en-US" sz="2400" b="0" i="0" dirty="0">
                <a:solidFill>
                  <a:srgbClr val="000000"/>
                </a:solidFill>
                <a:effectLst/>
                <a:latin typeface="TimesNewRomanPSMT"/>
              </a:rPr>
              <a:t>However, when control valve </a:t>
            </a:r>
            <a:r>
              <a:rPr lang="en-US" sz="2400" b="0" i="0" dirty="0">
                <a:solidFill>
                  <a:srgbClr val="000000"/>
                </a:solidFill>
                <a:effectLst/>
                <a:latin typeface="Wingdings-Regular"/>
              </a:rPr>
              <a:t> </a:t>
            </a:r>
            <a:r>
              <a:rPr lang="en-US" sz="2400" b="0" i="0" dirty="0">
                <a:solidFill>
                  <a:srgbClr val="000000"/>
                </a:solidFill>
                <a:effectLst/>
                <a:latin typeface="TimesNewRomanPSMT"/>
              </a:rPr>
              <a:t>is restored to its original position, the release of air is slowed down by the one way flow control valve, resulting in a persistent OFF-signal.</a:t>
            </a:r>
            <a:r>
              <a:rPr lang="en-US" sz="3600" dirty="0"/>
              <a:t> </a:t>
            </a:r>
            <a:br>
              <a:rPr lang="en-US" dirty="0"/>
            </a:br>
            <a:endParaRPr lang="en-TZ" dirty="0"/>
          </a:p>
        </p:txBody>
      </p:sp>
    </p:spTree>
    <p:extLst>
      <p:ext uri="{BB962C8B-B14F-4D97-AF65-F5344CB8AC3E}">
        <p14:creationId xmlns:p14="http://schemas.microsoft.com/office/powerpoint/2010/main" val="7607254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8B1B684-D188-4CE8-8E25-ED6FBE4A350C}"/>
              </a:ext>
            </a:extLst>
          </p:cNvPr>
          <p:cNvPicPr>
            <a:picLocks noGrp="1" noChangeAspect="1"/>
          </p:cNvPicPr>
          <p:nvPr>
            <p:ph idx="1"/>
          </p:nvPr>
        </p:nvPicPr>
        <p:blipFill>
          <a:blip r:embed="rId2"/>
          <a:stretch>
            <a:fillRect/>
          </a:stretch>
        </p:blipFill>
        <p:spPr>
          <a:xfrm>
            <a:off x="1421642" y="931459"/>
            <a:ext cx="9348716" cy="5732060"/>
          </a:xfrm>
        </p:spPr>
      </p:pic>
    </p:spTree>
    <p:extLst>
      <p:ext uri="{BB962C8B-B14F-4D97-AF65-F5344CB8AC3E}">
        <p14:creationId xmlns:p14="http://schemas.microsoft.com/office/powerpoint/2010/main" val="2448553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8E7A2-3932-4F38-A874-8D6E80962E35}"/>
              </a:ext>
            </a:extLst>
          </p:cNvPr>
          <p:cNvSpPr>
            <a:spLocks noGrp="1"/>
          </p:cNvSpPr>
          <p:nvPr>
            <p:ph type="title"/>
          </p:nvPr>
        </p:nvSpPr>
        <p:spPr/>
        <p:txBody>
          <a:bodyPr>
            <a:normAutofit/>
          </a:bodyPr>
          <a:lstStyle/>
          <a:p>
            <a:r>
              <a:rPr lang="en-US" sz="40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Different Kinds of Basic Circuits</a:t>
            </a:r>
            <a:r>
              <a:rPr lang="en-US" sz="8000" b="1" dirty="0">
                <a:latin typeface="Tahoma" panose="020B0604030504040204" pitchFamily="34" charset="0"/>
                <a:ea typeface="Tahoma" panose="020B0604030504040204" pitchFamily="34" charset="0"/>
                <a:cs typeface="Tahoma" panose="020B0604030504040204" pitchFamily="34" charset="0"/>
              </a:rPr>
              <a:t> </a:t>
            </a:r>
            <a:endParaRPr lang="en-TZ" sz="4000" dirty="0"/>
          </a:p>
        </p:txBody>
      </p:sp>
      <p:sp>
        <p:nvSpPr>
          <p:cNvPr id="3" name="Content Placeholder 2">
            <a:extLst>
              <a:ext uri="{FF2B5EF4-FFF2-40B4-BE49-F238E27FC236}">
                <a16:creationId xmlns:a16="http://schemas.microsoft.com/office/drawing/2014/main" id="{CE4921D4-1028-4A52-8A80-824D7916E311}"/>
              </a:ext>
            </a:extLst>
          </p:cNvPr>
          <p:cNvSpPr>
            <a:spLocks noGrp="1"/>
          </p:cNvSpPr>
          <p:nvPr>
            <p:ph idx="1"/>
          </p:nvPr>
        </p:nvSpPr>
        <p:spPr>
          <a:xfrm>
            <a:off x="723331" y="1825625"/>
            <a:ext cx="11068335" cy="4351338"/>
          </a:xfrm>
        </p:spPr>
        <p:txBody>
          <a:bodyPr>
            <a:normAutofit/>
          </a:bodyPr>
          <a:lstStyle/>
          <a:p>
            <a:pPr marL="0" indent="0">
              <a:buNone/>
            </a:pPr>
            <a:r>
              <a:rPr lang="en-US" sz="3200" b="1" i="0" dirty="0">
                <a:solidFill>
                  <a:srgbClr val="000000"/>
                </a:solidFill>
                <a:effectLst/>
                <a:latin typeface="Arial" panose="020B0604020202020204" pitchFamily="34" charset="0"/>
              </a:rPr>
              <a:t>(e) Single acting cylinder control</a:t>
            </a:r>
            <a:br>
              <a:rPr lang="en-US" sz="3200" b="0" i="0" dirty="0">
                <a:solidFill>
                  <a:srgbClr val="000000"/>
                </a:solidFill>
                <a:effectLst/>
                <a:latin typeface="Arial" panose="020B0604020202020204" pitchFamily="34" charset="0"/>
              </a:rPr>
            </a:br>
            <a:r>
              <a:rPr lang="en-US" sz="3200" b="0" i="0" dirty="0">
                <a:solidFill>
                  <a:srgbClr val="000000"/>
                </a:solidFill>
                <a:effectLst/>
                <a:latin typeface="TimesNewRomanPSMT"/>
              </a:rPr>
              <a:t>Single acting cylinders can be controlled manually. </a:t>
            </a:r>
          </a:p>
          <a:p>
            <a:pPr marL="0" indent="0">
              <a:buNone/>
            </a:pPr>
            <a:r>
              <a:rPr lang="en-US" sz="3200" b="0" i="0" dirty="0">
                <a:solidFill>
                  <a:srgbClr val="000000"/>
                </a:solidFill>
                <a:effectLst/>
                <a:latin typeface="TimesNewRomanPSMT"/>
              </a:rPr>
              <a:t>However, they can also be controlled by two or more valves. This is called logic control. </a:t>
            </a:r>
          </a:p>
          <a:p>
            <a:pPr marL="0" indent="0">
              <a:buNone/>
            </a:pPr>
            <a:r>
              <a:rPr lang="en-US" sz="3200" b="0" i="0" dirty="0">
                <a:solidFill>
                  <a:srgbClr val="000000"/>
                </a:solidFill>
                <a:effectLst/>
                <a:latin typeface="TimesNewRomanPSMT"/>
              </a:rPr>
              <a:t>Examples of logic control include ‘OR’ function, ‘AND’ function, ‘NOT’ function, etc.</a:t>
            </a:r>
            <a:r>
              <a:rPr lang="en-US" sz="4400" dirty="0"/>
              <a:t> </a:t>
            </a:r>
            <a:br>
              <a:rPr lang="en-US" sz="4400" dirty="0"/>
            </a:br>
            <a:endParaRPr lang="en-TZ" sz="4400" dirty="0"/>
          </a:p>
        </p:txBody>
      </p:sp>
    </p:spTree>
    <p:extLst>
      <p:ext uri="{BB962C8B-B14F-4D97-AF65-F5344CB8AC3E}">
        <p14:creationId xmlns:p14="http://schemas.microsoft.com/office/powerpoint/2010/main" val="11576375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E944D-5A42-42C1-A289-118F9C8EC35A}"/>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Different Kinds of Basic Circuits</a:t>
            </a:r>
            <a:r>
              <a:rPr lang="en-US" sz="8800" b="1" dirty="0">
                <a:latin typeface="Tahoma" panose="020B0604030504040204" pitchFamily="34" charset="0"/>
                <a:ea typeface="Tahoma" panose="020B0604030504040204" pitchFamily="34" charset="0"/>
                <a:cs typeface="Tahoma" panose="020B0604030504040204" pitchFamily="34" charset="0"/>
              </a:rPr>
              <a:t> </a:t>
            </a:r>
            <a:endParaRPr lang="en-TZ" dirty="0"/>
          </a:p>
        </p:txBody>
      </p:sp>
      <p:sp>
        <p:nvSpPr>
          <p:cNvPr id="3" name="Content Placeholder 2">
            <a:extLst>
              <a:ext uri="{FF2B5EF4-FFF2-40B4-BE49-F238E27FC236}">
                <a16:creationId xmlns:a16="http://schemas.microsoft.com/office/drawing/2014/main" id="{B2B3CD0C-D1A3-4986-BFFC-CE1AC06FC270}"/>
              </a:ext>
            </a:extLst>
          </p:cNvPr>
          <p:cNvSpPr>
            <a:spLocks noGrp="1"/>
          </p:cNvSpPr>
          <p:nvPr>
            <p:ph idx="1"/>
          </p:nvPr>
        </p:nvSpPr>
        <p:spPr/>
        <p:txBody>
          <a:bodyPr>
            <a:normAutofit fontScale="92500" lnSpcReduction="10000"/>
          </a:bodyPr>
          <a:lstStyle/>
          <a:p>
            <a:pPr marL="0" indent="0">
              <a:buNone/>
            </a:pPr>
            <a:r>
              <a:rPr lang="en-US" sz="26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(e) Single acting cylinder control</a:t>
            </a:r>
            <a:r>
              <a:rPr lang="en-US" sz="1700" b="1" dirty="0">
                <a:latin typeface="Tahoma" panose="020B0604030504040204" pitchFamily="34" charset="0"/>
                <a:ea typeface="Tahoma" panose="020B0604030504040204" pitchFamily="34" charset="0"/>
                <a:cs typeface="Tahoma" panose="020B0604030504040204" pitchFamily="34" charset="0"/>
              </a:rPr>
              <a:t> </a:t>
            </a:r>
            <a:br>
              <a:rPr lang="en-US" sz="1700" b="1" dirty="0">
                <a:latin typeface="Tahoma" panose="020B0604030504040204" pitchFamily="34" charset="0"/>
                <a:ea typeface="Tahoma" panose="020B0604030504040204" pitchFamily="34" charset="0"/>
                <a:cs typeface="Tahoma" panose="020B0604030504040204" pitchFamily="34" charset="0"/>
              </a:rPr>
            </a:br>
            <a:r>
              <a:rPr lang="en-US" sz="2600" b="1" i="0" dirty="0">
                <a:solidFill>
                  <a:srgbClr val="FF0000"/>
                </a:solidFill>
                <a:effectLst/>
                <a:latin typeface="Tahoma" panose="020B0604030504040204" pitchFamily="34" charset="0"/>
                <a:ea typeface="Tahoma" panose="020B0604030504040204" pitchFamily="34" charset="0"/>
                <a:cs typeface="Tahoma" panose="020B0604030504040204" pitchFamily="34" charset="0"/>
              </a:rPr>
              <a:t>(</a:t>
            </a:r>
            <a:r>
              <a:rPr lang="en-US" sz="2600" b="1" i="0"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i</a:t>
            </a:r>
            <a:r>
              <a:rPr lang="en-US" sz="2600" b="1" i="0" dirty="0">
                <a:solidFill>
                  <a:srgbClr val="FF0000"/>
                </a:solidFill>
                <a:effectLst/>
                <a:latin typeface="Tahoma" panose="020B0604030504040204" pitchFamily="34" charset="0"/>
                <a:ea typeface="Tahoma" panose="020B0604030504040204" pitchFamily="34" charset="0"/>
                <a:cs typeface="Tahoma" panose="020B0604030504040204" pitchFamily="34" charset="0"/>
              </a:rPr>
              <a:t>) Direct control and speed control</a:t>
            </a:r>
            <a:br>
              <a:rPr lang="en-US" sz="26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br>
            <a:r>
              <a:rPr lang="en-US" sz="26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If a single acting cylinder is connected to a manual 3/2 directional control valve, when the control valve is operated, it will cause the cylinder to work Therefore, the circuit allows the cylinder to be controlled manually.</a:t>
            </a:r>
            <a:r>
              <a:rPr lang="en-US" sz="3900" dirty="0">
                <a:latin typeface="Tahoma" panose="020B0604030504040204" pitchFamily="34" charset="0"/>
                <a:ea typeface="Tahoma" panose="020B0604030504040204" pitchFamily="34" charset="0"/>
                <a:cs typeface="Tahoma" panose="020B0604030504040204" pitchFamily="34" charset="0"/>
              </a:rPr>
              <a:t> </a:t>
            </a:r>
          </a:p>
          <a:p>
            <a:pPr marL="0" indent="0">
              <a:buNone/>
            </a:pPr>
            <a:r>
              <a:rPr lang="en-US" sz="260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The only way to change the extension speed of the piston of a single acting cylinder is to restrict the flow of air at the inlet and use the spring to determine the speed of retraction. </a:t>
            </a:r>
          </a:p>
          <a:p>
            <a:pPr marL="0" indent="0">
              <a:buNone/>
            </a:pPr>
            <a:r>
              <a:rPr lang="en-US" sz="260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Therefore, a one way flow control valve is placed in the circuit to control the speed.</a:t>
            </a:r>
            <a:r>
              <a:rPr lang="en-US" sz="3900" dirty="0">
                <a:latin typeface="Tahoma" panose="020B0604030504040204" pitchFamily="34" charset="0"/>
                <a:ea typeface="Tahoma" panose="020B0604030504040204" pitchFamily="34" charset="0"/>
                <a:cs typeface="Tahoma" panose="020B0604030504040204" pitchFamily="34" charset="0"/>
              </a:rPr>
              <a:t> </a:t>
            </a:r>
            <a:br>
              <a:rPr lang="en-US" dirty="0"/>
            </a:br>
            <a:br>
              <a:rPr lang="en-US" dirty="0"/>
            </a:br>
            <a:endParaRPr lang="en-TZ" dirty="0"/>
          </a:p>
        </p:txBody>
      </p:sp>
    </p:spTree>
    <p:extLst>
      <p:ext uri="{BB962C8B-B14F-4D97-AF65-F5344CB8AC3E}">
        <p14:creationId xmlns:p14="http://schemas.microsoft.com/office/powerpoint/2010/main" val="35266511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AD55932-99BA-4485-A360-F5C6479FF6AE}"/>
              </a:ext>
            </a:extLst>
          </p:cNvPr>
          <p:cNvPicPr>
            <a:picLocks noGrp="1" noChangeAspect="1"/>
          </p:cNvPicPr>
          <p:nvPr>
            <p:ph idx="1"/>
          </p:nvPr>
        </p:nvPicPr>
        <p:blipFill>
          <a:blip r:embed="rId2"/>
          <a:stretch>
            <a:fillRect/>
          </a:stretch>
        </p:blipFill>
        <p:spPr>
          <a:xfrm>
            <a:off x="1705970" y="668740"/>
            <a:ext cx="8202305" cy="5813947"/>
          </a:xfrm>
          <a:prstGeom prst="rect">
            <a:avLst/>
          </a:prstGeom>
        </p:spPr>
      </p:pic>
    </p:spTree>
    <p:extLst>
      <p:ext uri="{BB962C8B-B14F-4D97-AF65-F5344CB8AC3E}">
        <p14:creationId xmlns:p14="http://schemas.microsoft.com/office/powerpoint/2010/main" val="31364499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C7724-85E4-4A9A-A658-538FCCC43B86}"/>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Different Kinds of Basic Circuits</a:t>
            </a:r>
            <a:r>
              <a:rPr lang="en-US" sz="8800" b="1" dirty="0">
                <a:latin typeface="Tahoma" panose="020B0604030504040204" pitchFamily="34" charset="0"/>
                <a:ea typeface="Tahoma" panose="020B0604030504040204" pitchFamily="34" charset="0"/>
                <a:cs typeface="Tahoma" panose="020B0604030504040204" pitchFamily="34" charset="0"/>
              </a:rPr>
              <a:t> </a:t>
            </a:r>
            <a:endParaRPr lang="en-TZ" dirty="0"/>
          </a:p>
        </p:txBody>
      </p:sp>
      <p:sp>
        <p:nvSpPr>
          <p:cNvPr id="3" name="Content Placeholder 2">
            <a:extLst>
              <a:ext uri="{FF2B5EF4-FFF2-40B4-BE49-F238E27FC236}">
                <a16:creationId xmlns:a16="http://schemas.microsoft.com/office/drawing/2014/main" id="{04E419B1-82DA-42E0-91AC-7EF95DFD2B6B}"/>
              </a:ext>
            </a:extLst>
          </p:cNvPr>
          <p:cNvSpPr>
            <a:spLocks noGrp="1"/>
          </p:cNvSpPr>
          <p:nvPr>
            <p:ph idx="1"/>
          </p:nvPr>
        </p:nvSpPr>
        <p:spPr/>
        <p:txBody>
          <a:bodyPr>
            <a:normAutofit fontScale="92500"/>
          </a:bodyPr>
          <a:lstStyle/>
          <a:p>
            <a:pPr marL="0" indent="0">
              <a:buNone/>
            </a:pPr>
            <a:r>
              <a:rPr lang="en-US" sz="2400" b="1" i="0" dirty="0">
                <a:solidFill>
                  <a:srgbClr val="000000"/>
                </a:solidFill>
                <a:effectLst/>
                <a:latin typeface="Arial" panose="020B0604020202020204" pitchFamily="34" charset="0"/>
              </a:rPr>
              <a:t>(e) Single acting cylinder control</a:t>
            </a:r>
            <a:r>
              <a:rPr lang="en-US" sz="1600" b="1" dirty="0"/>
              <a:t> </a:t>
            </a:r>
            <a:br>
              <a:rPr lang="en-US" sz="1600" b="1" dirty="0"/>
            </a:br>
            <a:r>
              <a:rPr lang="en-US" sz="2400" b="1" i="0" dirty="0">
                <a:solidFill>
                  <a:srgbClr val="FF0000"/>
                </a:solidFill>
                <a:effectLst/>
                <a:latin typeface="Arial" panose="020B0604020202020204" pitchFamily="34" charset="0"/>
              </a:rPr>
              <a:t>(ii) OR Function</a:t>
            </a:r>
            <a:br>
              <a:rPr lang="en-US" sz="2400" b="0" i="0" dirty="0">
                <a:solidFill>
                  <a:srgbClr val="000000"/>
                </a:solidFill>
                <a:effectLst/>
                <a:latin typeface="Arial" panose="020B0604020202020204" pitchFamily="34" charset="0"/>
              </a:rPr>
            </a:br>
            <a:r>
              <a:rPr lang="en-US" sz="2400" b="0" i="0" dirty="0">
                <a:solidFill>
                  <a:srgbClr val="000000"/>
                </a:solidFill>
                <a:effectLst/>
                <a:latin typeface="TimesNewRomanPSMT"/>
              </a:rPr>
              <a:t>The single acting cylinder in Fig. below can be operated by two different circuits. </a:t>
            </a:r>
          </a:p>
          <a:p>
            <a:pPr marL="0" indent="0">
              <a:buNone/>
            </a:pPr>
            <a:r>
              <a:rPr lang="en-US" sz="2400" b="0" i="0" dirty="0">
                <a:solidFill>
                  <a:srgbClr val="000000"/>
                </a:solidFill>
                <a:effectLst/>
                <a:latin typeface="TimesNewRomanPSMT"/>
              </a:rPr>
              <a:t>Examples include manual operation and relying on automatic circuit signals, that is, when either control valve </a:t>
            </a:r>
            <a:r>
              <a:rPr lang="en-US" sz="2400" b="0" i="0" dirty="0">
                <a:solidFill>
                  <a:srgbClr val="000000"/>
                </a:solidFill>
                <a:effectLst/>
                <a:latin typeface="Wingdings-Regular"/>
              </a:rPr>
              <a:t> </a:t>
            </a:r>
            <a:r>
              <a:rPr lang="en-US" sz="2400" b="0" i="0" dirty="0">
                <a:solidFill>
                  <a:srgbClr val="000000"/>
                </a:solidFill>
                <a:effectLst/>
                <a:latin typeface="TimesNewRomanPSMT"/>
              </a:rPr>
              <a:t>or control valve </a:t>
            </a:r>
            <a:r>
              <a:rPr lang="en-US" sz="2400" b="0" i="0" dirty="0">
                <a:solidFill>
                  <a:srgbClr val="000000"/>
                </a:solidFill>
                <a:effectLst/>
                <a:latin typeface="Wingdings-Regular"/>
              </a:rPr>
              <a:t> </a:t>
            </a:r>
            <a:r>
              <a:rPr lang="en-US" sz="2400" b="0" i="0" dirty="0">
                <a:solidFill>
                  <a:srgbClr val="000000"/>
                </a:solidFill>
                <a:effectLst/>
                <a:latin typeface="TimesNewRomanPSMT"/>
              </a:rPr>
              <a:t>is operated, the cylinder will work. </a:t>
            </a:r>
          </a:p>
          <a:p>
            <a:pPr marL="0" indent="0">
              <a:buNone/>
            </a:pPr>
            <a:r>
              <a:rPr lang="en-US" sz="2400" b="0" i="0" dirty="0">
                <a:solidFill>
                  <a:srgbClr val="000000"/>
                </a:solidFill>
                <a:effectLst/>
                <a:latin typeface="TimesNewRomanPSMT"/>
              </a:rPr>
              <a:t>Therefore, the circuit in Fig. below possesses the OR function. </a:t>
            </a:r>
          </a:p>
          <a:p>
            <a:pPr marL="0" indent="0">
              <a:buNone/>
            </a:pPr>
            <a:r>
              <a:rPr lang="en-US" sz="2400" b="0" i="0" dirty="0">
                <a:solidFill>
                  <a:srgbClr val="000000"/>
                </a:solidFill>
                <a:effectLst/>
                <a:latin typeface="TimesNewRomanPSMT"/>
              </a:rPr>
              <a:t>However, if the output of two 3/2 directional control valves are connected through</a:t>
            </a:r>
            <a:br>
              <a:rPr lang="en-US" sz="2400" b="0" i="0" dirty="0">
                <a:solidFill>
                  <a:srgbClr val="000000"/>
                </a:solidFill>
                <a:effectLst/>
                <a:latin typeface="TimesNewRomanPSMT"/>
              </a:rPr>
            </a:br>
            <a:r>
              <a:rPr lang="en-US" sz="2400" b="0" i="0" dirty="0">
                <a:solidFill>
                  <a:srgbClr val="000000"/>
                </a:solidFill>
                <a:effectLst/>
                <a:latin typeface="TimesNewRomanPSMT"/>
              </a:rPr>
              <a:t>the port of a triode, the air current from control valve </a:t>
            </a:r>
            <a:r>
              <a:rPr lang="en-US" sz="2400" b="0" i="0" dirty="0">
                <a:solidFill>
                  <a:srgbClr val="000000"/>
                </a:solidFill>
                <a:effectLst/>
                <a:latin typeface="Wingdings-Regular"/>
              </a:rPr>
              <a:t> </a:t>
            </a:r>
            <a:r>
              <a:rPr lang="en-US" sz="2400" b="0" i="0" dirty="0">
                <a:solidFill>
                  <a:srgbClr val="000000"/>
                </a:solidFill>
                <a:effectLst/>
                <a:latin typeface="TimesNewRomanPSMT"/>
              </a:rPr>
              <a:t>will be released through the exhaust of control valve </a:t>
            </a:r>
            <a:r>
              <a:rPr lang="en-US" sz="2400" b="0" i="0" dirty="0">
                <a:solidFill>
                  <a:srgbClr val="000000"/>
                </a:solidFill>
                <a:effectLst/>
                <a:latin typeface="Wingdings-Regular"/>
              </a:rPr>
              <a:t></a:t>
            </a:r>
            <a:r>
              <a:rPr lang="en-US" sz="2400" b="0" i="0" dirty="0">
                <a:solidFill>
                  <a:srgbClr val="000000"/>
                </a:solidFill>
                <a:effectLst/>
                <a:latin typeface="TimesNewRomanPSMT"/>
              </a:rPr>
              <a:t>, and so the cylinder will not work. </a:t>
            </a:r>
          </a:p>
          <a:p>
            <a:pPr marL="0" indent="0">
              <a:buNone/>
            </a:pPr>
            <a:r>
              <a:rPr lang="en-US" sz="2400" b="0" i="0" dirty="0">
                <a:solidFill>
                  <a:srgbClr val="000000"/>
                </a:solidFill>
                <a:effectLst/>
                <a:latin typeface="TimesNewRomanPSMT"/>
              </a:rPr>
              <a:t>This problem can be solved by connecting a shuttle valve to the port of the triode.</a:t>
            </a:r>
            <a:r>
              <a:rPr lang="en-US" sz="3600" dirty="0"/>
              <a:t> </a:t>
            </a:r>
            <a:br>
              <a:rPr lang="en-US" sz="3600" dirty="0"/>
            </a:br>
            <a:endParaRPr lang="en-TZ" sz="3600" dirty="0"/>
          </a:p>
        </p:txBody>
      </p:sp>
    </p:spTree>
    <p:extLst>
      <p:ext uri="{BB962C8B-B14F-4D97-AF65-F5344CB8AC3E}">
        <p14:creationId xmlns:p14="http://schemas.microsoft.com/office/powerpoint/2010/main" val="33020267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6AF595D-2765-42DA-82CD-952241FB9880}"/>
              </a:ext>
            </a:extLst>
          </p:cNvPr>
          <p:cNvPicPr>
            <a:picLocks noGrp="1" noChangeAspect="1"/>
          </p:cNvPicPr>
          <p:nvPr>
            <p:ph idx="1"/>
          </p:nvPr>
        </p:nvPicPr>
        <p:blipFill>
          <a:blip r:embed="rId2"/>
          <a:stretch>
            <a:fillRect/>
          </a:stretch>
        </p:blipFill>
        <p:spPr>
          <a:xfrm>
            <a:off x="1787857" y="245660"/>
            <a:ext cx="8584442" cy="5936775"/>
          </a:xfrm>
        </p:spPr>
      </p:pic>
    </p:spTree>
    <p:extLst>
      <p:ext uri="{BB962C8B-B14F-4D97-AF65-F5344CB8AC3E}">
        <p14:creationId xmlns:p14="http://schemas.microsoft.com/office/powerpoint/2010/main" val="2930684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D4FF9-7A45-4BF7-8796-6D4F368284E4}"/>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Different Kinds of Basic Circuits</a:t>
            </a:r>
            <a:r>
              <a:rPr lang="en-US" sz="8800" b="1" dirty="0">
                <a:latin typeface="Tahoma" panose="020B0604030504040204" pitchFamily="34" charset="0"/>
                <a:ea typeface="Tahoma" panose="020B0604030504040204" pitchFamily="34" charset="0"/>
                <a:cs typeface="Tahoma" panose="020B0604030504040204" pitchFamily="34" charset="0"/>
              </a:rPr>
              <a:t> </a:t>
            </a:r>
            <a:endParaRPr lang="en-TZ" dirty="0"/>
          </a:p>
        </p:txBody>
      </p:sp>
      <p:sp>
        <p:nvSpPr>
          <p:cNvPr id="3" name="Content Placeholder 2">
            <a:extLst>
              <a:ext uri="{FF2B5EF4-FFF2-40B4-BE49-F238E27FC236}">
                <a16:creationId xmlns:a16="http://schemas.microsoft.com/office/drawing/2014/main" id="{F49652C3-56EE-480E-ACA1-3A419E16BFC3}"/>
              </a:ext>
            </a:extLst>
          </p:cNvPr>
          <p:cNvSpPr>
            <a:spLocks noGrp="1"/>
          </p:cNvSpPr>
          <p:nvPr>
            <p:ph idx="1"/>
          </p:nvPr>
        </p:nvSpPr>
        <p:spPr/>
        <p:txBody>
          <a:bodyPr>
            <a:normAutofit fontScale="92500" lnSpcReduction="10000"/>
          </a:bodyPr>
          <a:lstStyle/>
          <a:p>
            <a:pPr marL="0" indent="0">
              <a:buNone/>
            </a:pPr>
            <a:r>
              <a:rPr lang="en-US" b="1" i="0" dirty="0">
                <a:solidFill>
                  <a:srgbClr val="000000"/>
                </a:solidFill>
                <a:effectLst/>
                <a:latin typeface="Arial" panose="020B0604020202020204" pitchFamily="34" charset="0"/>
              </a:rPr>
              <a:t>(e) Single acting cylinder control</a:t>
            </a:r>
            <a:r>
              <a:rPr lang="en-US" sz="1800" b="1" dirty="0"/>
              <a:t> </a:t>
            </a:r>
            <a:br>
              <a:rPr lang="en-US" sz="1800" b="1" dirty="0"/>
            </a:br>
            <a:r>
              <a:rPr lang="en-US" b="1" i="0" dirty="0">
                <a:solidFill>
                  <a:srgbClr val="FF0000"/>
                </a:solidFill>
                <a:effectLst/>
                <a:latin typeface="Arial" panose="020B0604020202020204" pitchFamily="34" charset="0"/>
              </a:rPr>
              <a:t>(iii) AND Function</a:t>
            </a:r>
            <a:br>
              <a:rPr lang="en-US" b="0" i="0" dirty="0">
                <a:solidFill>
                  <a:srgbClr val="000000"/>
                </a:solidFill>
                <a:effectLst/>
                <a:latin typeface="Arial" panose="020B0604020202020204" pitchFamily="34" charset="0"/>
              </a:rPr>
            </a:br>
            <a:r>
              <a:rPr lang="en-US" b="0" i="0" dirty="0">
                <a:solidFill>
                  <a:srgbClr val="000000"/>
                </a:solidFill>
                <a:effectLst/>
                <a:latin typeface="TimesNewRomanPSMT"/>
              </a:rPr>
              <a:t>Another name for an AND function is interlock control. </a:t>
            </a:r>
          </a:p>
          <a:p>
            <a:pPr marL="0" indent="0">
              <a:buNone/>
            </a:pPr>
            <a:r>
              <a:rPr lang="en-US" b="0" i="0" dirty="0">
                <a:solidFill>
                  <a:srgbClr val="000000"/>
                </a:solidFill>
                <a:effectLst/>
                <a:latin typeface="TimesNewRomanPSMT"/>
              </a:rPr>
              <a:t>This means control is possible only when two conditions are satisfied. </a:t>
            </a:r>
          </a:p>
          <a:p>
            <a:pPr marL="0" indent="0">
              <a:buNone/>
            </a:pPr>
            <a:r>
              <a:rPr lang="en-US" b="0" i="0" dirty="0">
                <a:solidFill>
                  <a:srgbClr val="000000"/>
                </a:solidFill>
                <a:effectLst/>
                <a:latin typeface="TimesNewRomanPSMT"/>
              </a:rPr>
              <a:t>A classic example is a pneumatic system that works only when its safety door is closed and its manual control valve is operated. </a:t>
            </a:r>
          </a:p>
          <a:p>
            <a:pPr marL="0" indent="0">
              <a:buNone/>
            </a:pPr>
            <a:r>
              <a:rPr lang="en-US" b="0" i="0" dirty="0">
                <a:solidFill>
                  <a:srgbClr val="000000"/>
                </a:solidFill>
                <a:effectLst/>
                <a:latin typeface="TimesNewRomanPSMT"/>
              </a:rPr>
              <a:t>The flow passage will open only when both control valves are operated. Fig. below shows the circuit diagram of an AND function circuit. </a:t>
            </a:r>
          </a:p>
          <a:p>
            <a:pPr marL="0" indent="0">
              <a:buNone/>
            </a:pPr>
            <a:r>
              <a:rPr lang="en-US" b="0" i="0" dirty="0">
                <a:solidFill>
                  <a:srgbClr val="000000"/>
                </a:solidFill>
                <a:effectLst/>
                <a:latin typeface="TimesNewRomanPSMT"/>
              </a:rPr>
              <a:t>The cylinder will work only when both valve </a:t>
            </a:r>
            <a:r>
              <a:rPr lang="en-US" b="0" i="0" dirty="0">
                <a:solidFill>
                  <a:srgbClr val="000000"/>
                </a:solidFill>
                <a:effectLst/>
                <a:latin typeface="Wingdings-Regular"/>
              </a:rPr>
              <a:t> </a:t>
            </a:r>
            <a:r>
              <a:rPr lang="en-US" b="0" i="0" dirty="0">
                <a:solidFill>
                  <a:srgbClr val="000000"/>
                </a:solidFill>
                <a:effectLst/>
                <a:latin typeface="TimesNewRomanPSMT"/>
              </a:rPr>
              <a:t>and </a:t>
            </a:r>
            <a:r>
              <a:rPr lang="en-US" b="0" i="0" dirty="0">
                <a:solidFill>
                  <a:srgbClr val="000000"/>
                </a:solidFill>
                <a:effectLst/>
                <a:latin typeface="Wingdings-Regular"/>
              </a:rPr>
              <a:t> </a:t>
            </a:r>
            <a:r>
              <a:rPr lang="en-US" b="0" i="0" dirty="0">
                <a:solidFill>
                  <a:srgbClr val="000000"/>
                </a:solidFill>
                <a:effectLst/>
                <a:latin typeface="TimesNewRomanPSMT"/>
              </a:rPr>
              <a:t>are operated.</a:t>
            </a:r>
            <a:r>
              <a:rPr lang="en-US" sz="4000" dirty="0"/>
              <a:t> </a:t>
            </a:r>
            <a:br>
              <a:rPr lang="en-US" sz="4000" dirty="0"/>
            </a:br>
            <a:endParaRPr lang="en-TZ" sz="4000" dirty="0"/>
          </a:p>
        </p:txBody>
      </p:sp>
    </p:spTree>
    <p:extLst>
      <p:ext uri="{BB962C8B-B14F-4D97-AF65-F5344CB8AC3E}">
        <p14:creationId xmlns:p14="http://schemas.microsoft.com/office/powerpoint/2010/main" val="3387273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94EEDEE-ECE1-40D1-865B-35948F2A5E9D}"/>
              </a:ext>
            </a:extLst>
          </p:cNvPr>
          <p:cNvPicPr>
            <a:picLocks noGrp="1" noChangeAspect="1"/>
          </p:cNvPicPr>
          <p:nvPr>
            <p:ph idx="1"/>
          </p:nvPr>
        </p:nvPicPr>
        <p:blipFill>
          <a:blip r:embed="rId2"/>
          <a:stretch>
            <a:fillRect/>
          </a:stretch>
        </p:blipFill>
        <p:spPr>
          <a:xfrm>
            <a:off x="2156346" y="378725"/>
            <a:ext cx="8270543" cy="6100549"/>
          </a:xfrm>
        </p:spPr>
      </p:pic>
    </p:spTree>
    <p:extLst>
      <p:ext uri="{BB962C8B-B14F-4D97-AF65-F5344CB8AC3E}">
        <p14:creationId xmlns:p14="http://schemas.microsoft.com/office/powerpoint/2010/main" val="26181598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5AB8D-1998-43C0-9DE6-CB4932DE5451}"/>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Different Kinds of Basic Circuits</a:t>
            </a:r>
            <a:r>
              <a:rPr lang="en-US" sz="8800" b="1" dirty="0">
                <a:latin typeface="Tahoma" panose="020B0604030504040204" pitchFamily="34" charset="0"/>
                <a:ea typeface="Tahoma" panose="020B0604030504040204" pitchFamily="34" charset="0"/>
                <a:cs typeface="Tahoma" panose="020B0604030504040204" pitchFamily="34" charset="0"/>
              </a:rPr>
              <a:t> </a:t>
            </a:r>
            <a:endParaRPr lang="en-TZ" dirty="0"/>
          </a:p>
        </p:txBody>
      </p:sp>
      <p:sp>
        <p:nvSpPr>
          <p:cNvPr id="3" name="Content Placeholder 2">
            <a:extLst>
              <a:ext uri="{FF2B5EF4-FFF2-40B4-BE49-F238E27FC236}">
                <a16:creationId xmlns:a16="http://schemas.microsoft.com/office/drawing/2014/main" id="{75A5851E-2E4E-40E5-A413-1EDB054EA0EC}"/>
              </a:ext>
            </a:extLst>
          </p:cNvPr>
          <p:cNvSpPr>
            <a:spLocks noGrp="1"/>
          </p:cNvSpPr>
          <p:nvPr>
            <p:ph idx="1"/>
          </p:nvPr>
        </p:nvSpPr>
        <p:spPr/>
        <p:txBody>
          <a:bodyPr>
            <a:normAutofit fontScale="92500" lnSpcReduction="10000"/>
          </a:bodyPr>
          <a:lstStyle/>
          <a:p>
            <a:pPr marL="0" indent="0">
              <a:buNone/>
            </a:pPr>
            <a:r>
              <a:rPr lang="en-US" sz="2400" b="1" i="0" dirty="0">
                <a:solidFill>
                  <a:srgbClr val="000000"/>
                </a:solidFill>
                <a:effectLst/>
                <a:latin typeface="Arial" panose="020B0604020202020204" pitchFamily="34" charset="0"/>
              </a:rPr>
              <a:t>(e) Single acting cylinder control</a:t>
            </a:r>
          </a:p>
          <a:p>
            <a:pPr marL="0" indent="0">
              <a:buNone/>
            </a:pPr>
            <a:r>
              <a:rPr lang="en-US" sz="2400" b="1" i="0" dirty="0">
                <a:solidFill>
                  <a:srgbClr val="FF0000"/>
                </a:solidFill>
                <a:effectLst/>
                <a:latin typeface="Arial" panose="020B0604020202020204" pitchFamily="34" charset="0"/>
              </a:rPr>
              <a:t>(iv) NOT Function</a:t>
            </a:r>
            <a:br>
              <a:rPr lang="en-US" sz="2400" b="0" i="0" dirty="0">
                <a:solidFill>
                  <a:srgbClr val="000000"/>
                </a:solidFill>
                <a:effectLst/>
                <a:latin typeface="Arial" panose="020B0604020202020204" pitchFamily="34" charset="0"/>
              </a:rPr>
            </a:br>
            <a:r>
              <a:rPr lang="en-US" sz="2400" b="0" i="0" dirty="0">
                <a:solidFill>
                  <a:srgbClr val="000000"/>
                </a:solidFill>
                <a:effectLst/>
                <a:latin typeface="TimesNewRomanPSMT"/>
              </a:rPr>
              <a:t>Another name for a NOT function is inverse control. </a:t>
            </a:r>
          </a:p>
          <a:p>
            <a:pPr marL="0" indent="0">
              <a:buNone/>
            </a:pPr>
            <a:r>
              <a:rPr lang="en-US" sz="2400" b="0" i="0" dirty="0">
                <a:solidFill>
                  <a:srgbClr val="000000"/>
                </a:solidFill>
                <a:effectLst/>
                <a:latin typeface="TimesNewRomanPSMT"/>
              </a:rPr>
              <a:t>In order to hold or lock an operating conveyor or a similar machine, the cylinder must be locked until a signal for cancelling the lock is received. </a:t>
            </a:r>
          </a:p>
          <a:p>
            <a:pPr marL="0" indent="0">
              <a:buNone/>
            </a:pPr>
            <a:r>
              <a:rPr lang="en-US" sz="2400" b="0" i="0" dirty="0">
                <a:solidFill>
                  <a:srgbClr val="000000"/>
                </a:solidFill>
                <a:effectLst/>
                <a:latin typeface="TimesNewRomanPSMT"/>
              </a:rPr>
              <a:t>Therefore, the signal for cancelling the lock should be operated by a normally open type</a:t>
            </a:r>
            <a:br>
              <a:rPr lang="en-US" sz="2400" b="0" i="0" dirty="0">
                <a:solidFill>
                  <a:srgbClr val="000000"/>
                </a:solidFill>
                <a:effectLst/>
                <a:latin typeface="TimesNewRomanPSMT"/>
              </a:rPr>
            </a:br>
            <a:r>
              <a:rPr lang="en-US" sz="2400" b="0" i="0" dirty="0">
                <a:solidFill>
                  <a:srgbClr val="000000"/>
                </a:solidFill>
                <a:effectLst/>
                <a:latin typeface="TimesNewRomanPSMT"/>
              </a:rPr>
              <a:t>control valve. </a:t>
            </a:r>
          </a:p>
          <a:p>
            <a:pPr marL="0" indent="0">
              <a:buNone/>
            </a:pPr>
            <a:r>
              <a:rPr lang="en-US" sz="2400" b="0" i="0" dirty="0">
                <a:solidFill>
                  <a:srgbClr val="000000"/>
                </a:solidFill>
                <a:effectLst/>
                <a:latin typeface="TimesNewRomanPSMT"/>
              </a:rPr>
              <a:t>However, to cancel the lock, the same signal must also cancel the locks on other devices, like the indication signal </a:t>
            </a:r>
            <a:r>
              <a:rPr lang="en-US" sz="2400" b="0" i="0" dirty="0">
                <a:solidFill>
                  <a:srgbClr val="000000"/>
                </a:solidFill>
                <a:effectLst/>
                <a:latin typeface="Wingdings-Regular"/>
              </a:rPr>
              <a:t> </a:t>
            </a:r>
            <a:r>
              <a:rPr lang="en-US" sz="2400" b="0" i="0" dirty="0">
                <a:solidFill>
                  <a:srgbClr val="000000"/>
                </a:solidFill>
                <a:effectLst/>
                <a:latin typeface="TimesNewRomanPSMT"/>
              </a:rPr>
              <a:t>in Fig. below. </a:t>
            </a:r>
          </a:p>
          <a:p>
            <a:pPr marL="0" indent="0">
              <a:buNone/>
            </a:pPr>
            <a:r>
              <a:rPr lang="en-US" sz="2400" b="0" i="0" dirty="0">
                <a:solidFill>
                  <a:srgbClr val="000000"/>
                </a:solidFill>
                <a:effectLst/>
                <a:latin typeface="TimesNewRomanPSMT"/>
              </a:rPr>
              <a:t>Fig. below shows how the normally closed type control valve </a:t>
            </a:r>
            <a:r>
              <a:rPr lang="en-US" sz="2400" b="0" i="0" dirty="0">
                <a:solidFill>
                  <a:srgbClr val="000000"/>
                </a:solidFill>
                <a:effectLst/>
                <a:latin typeface="Wingdings-Regular"/>
              </a:rPr>
              <a:t> </a:t>
            </a:r>
            <a:r>
              <a:rPr lang="en-US" sz="2400" b="0" i="0" dirty="0">
                <a:solidFill>
                  <a:srgbClr val="000000"/>
                </a:solidFill>
                <a:effectLst/>
                <a:latin typeface="TimesNewRomanPSMT"/>
              </a:rPr>
              <a:t>can be used to cut off the normally open type control valve </a:t>
            </a:r>
            <a:r>
              <a:rPr lang="en-US" sz="2400" b="0" i="0" dirty="0">
                <a:solidFill>
                  <a:srgbClr val="000000"/>
                </a:solidFill>
                <a:effectLst/>
                <a:latin typeface="Wingdings-Regular"/>
              </a:rPr>
              <a:t> </a:t>
            </a:r>
            <a:r>
              <a:rPr lang="en-US" sz="2400" b="0" i="0" dirty="0">
                <a:solidFill>
                  <a:srgbClr val="000000"/>
                </a:solidFill>
                <a:effectLst/>
                <a:latin typeface="TimesNewRomanPSMT"/>
              </a:rPr>
              <a:t>and achieve the goal of changing the signal</a:t>
            </a:r>
            <a:r>
              <a:rPr lang="en-US" sz="3600" dirty="0"/>
              <a:t> </a:t>
            </a:r>
            <a:br>
              <a:rPr lang="en-US" dirty="0"/>
            </a:br>
            <a:endParaRPr lang="en-TZ" dirty="0"/>
          </a:p>
        </p:txBody>
      </p:sp>
    </p:spTree>
    <p:extLst>
      <p:ext uri="{BB962C8B-B14F-4D97-AF65-F5344CB8AC3E}">
        <p14:creationId xmlns:p14="http://schemas.microsoft.com/office/powerpoint/2010/main" val="9419974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3FA8899-E6D4-449B-929D-4B4A91DB7C4C}"/>
              </a:ext>
            </a:extLst>
          </p:cNvPr>
          <p:cNvPicPr>
            <a:picLocks noGrp="1" noChangeAspect="1"/>
          </p:cNvPicPr>
          <p:nvPr>
            <p:ph idx="1"/>
          </p:nvPr>
        </p:nvPicPr>
        <p:blipFill>
          <a:blip r:embed="rId2"/>
          <a:stretch>
            <a:fillRect/>
          </a:stretch>
        </p:blipFill>
        <p:spPr>
          <a:xfrm>
            <a:off x="2579427" y="382138"/>
            <a:ext cx="7533564" cy="5827594"/>
          </a:xfrm>
        </p:spPr>
      </p:pic>
    </p:spTree>
    <p:extLst>
      <p:ext uri="{BB962C8B-B14F-4D97-AF65-F5344CB8AC3E}">
        <p14:creationId xmlns:p14="http://schemas.microsoft.com/office/powerpoint/2010/main" val="335442721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FFC26-0C7A-40C1-B0C5-A214CCB6C1A5}"/>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Different Kinds of Basic Circuits</a:t>
            </a:r>
            <a:r>
              <a:rPr lang="en-US" sz="8800" b="1" dirty="0">
                <a:latin typeface="Tahoma" panose="020B0604030504040204" pitchFamily="34" charset="0"/>
                <a:ea typeface="Tahoma" panose="020B0604030504040204" pitchFamily="34" charset="0"/>
                <a:cs typeface="Tahoma" panose="020B0604030504040204" pitchFamily="34" charset="0"/>
              </a:rPr>
              <a:t> </a:t>
            </a:r>
            <a:endParaRPr lang="en-TZ" dirty="0"/>
          </a:p>
        </p:txBody>
      </p:sp>
      <p:sp>
        <p:nvSpPr>
          <p:cNvPr id="3" name="Content Placeholder 2">
            <a:extLst>
              <a:ext uri="{FF2B5EF4-FFF2-40B4-BE49-F238E27FC236}">
                <a16:creationId xmlns:a16="http://schemas.microsoft.com/office/drawing/2014/main" id="{7F60EA15-4A70-4D14-8914-DDBE2B290BAD}"/>
              </a:ext>
            </a:extLst>
          </p:cNvPr>
          <p:cNvSpPr>
            <a:spLocks noGrp="1"/>
          </p:cNvSpPr>
          <p:nvPr>
            <p:ph idx="1"/>
          </p:nvPr>
        </p:nvSpPr>
        <p:spPr/>
        <p:txBody>
          <a:bodyPr/>
          <a:lstStyle/>
          <a:p>
            <a:pPr marL="0" indent="0">
              <a:buNone/>
            </a:pPr>
            <a:r>
              <a:rPr lang="en-US" sz="2400" b="1" i="0" dirty="0">
                <a:solidFill>
                  <a:srgbClr val="000000"/>
                </a:solidFill>
                <a:effectLst/>
                <a:latin typeface="Arial" panose="020B0604020202020204" pitchFamily="34" charset="0"/>
              </a:rPr>
              <a:t>(f) Double acting cylinder</a:t>
            </a:r>
            <a:r>
              <a:rPr lang="en-US" sz="1600" b="1" dirty="0"/>
              <a:t> </a:t>
            </a:r>
            <a:br>
              <a:rPr lang="en-US" sz="3600" b="1" dirty="0"/>
            </a:br>
            <a:r>
              <a:rPr lang="en-US" sz="2400" b="1" i="0" dirty="0">
                <a:solidFill>
                  <a:srgbClr val="FF0000"/>
                </a:solidFill>
                <a:effectLst/>
                <a:latin typeface="Arial" panose="020B0604020202020204" pitchFamily="34" charset="0"/>
              </a:rPr>
              <a:t>(</a:t>
            </a:r>
            <a:r>
              <a:rPr lang="en-US" sz="2400" b="1" i="0" dirty="0" err="1">
                <a:solidFill>
                  <a:srgbClr val="FF0000"/>
                </a:solidFill>
                <a:effectLst/>
                <a:latin typeface="Arial" panose="020B0604020202020204" pitchFamily="34" charset="0"/>
              </a:rPr>
              <a:t>i</a:t>
            </a:r>
            <a:r>
              <a:rPr lang="en-US" sz="2400" b="1" i="0" dirty="0">
                <a:solidFill>
                  <a:srgbClr val="FF0000"/>
                </a:solidFill>
                <a:effectLst/>
                <a:latin typeface="Arial" panose="020B0604020202020204" pitchFamily="34" charset="0"/>
              </a:rPr>
              <a:t>) Direct control</a:t>
            </a:r>
            <a:br>
              <a:rPr lang="en-US" sz="2400" b="0" i="0" dirty="0">
                <a:solidFill>
                  <a:srgbClr val="000000"/>
                </a:solidFill>
                <a:effectLst/>
                <a:latin typeface="Arial" panose="020B0604020202020204" pitchFamily="34" charset="0"/>
              </a:rPr>
            </a:br>
            <a:r>
              <a:rPr lang="en-US" sz="2400" b="0" i="0" dirty="0">
                <a:solidFill>
                  <a:srgbClr val="000000"/>
                </a:solidFill>
                <a:effectLst/>
                <a:latin typeface="TimesNewRomanPSMT"/>
              </a:rPr>
              <a:t>The only difference between a single acting cylinder and a double acting cylinder is that a double acting cylinder uses a 5/2 directional control valve instead of a 3/2 directional control valve</a:t>
            </a:r>
            <a:br>
              <a:rPr lang="en-US" sz="2400" b="0" i="0" dirty="0">
                <a:solidFill>
                  <a:srgbClr val="000000"/>
                </a:solidFill>
                <a:effectLst/>
                <a:latin typeface="TimesNewRomanPSMT"/>
              </a:rPr>
            </a:br>
            <a:r>
              <a:rPr lang="en-US" sz="2400" b="0" i="0" dirty="0">
                <a:solidFill>
                  <a:srgbClr val="000000"/>
                </a:solidFill>
                <a:effectLst/>
                <a:latin typeface="TimesNewRomanPSMT"/>
              </a:rPr>
              <a:t>Usually, when a double acting cylinder is not operated, outlet ‘B’ and inlet ‘P’ will be connected. </a:t>
            </a:r>
          </a:p>
          <a:p>
            <a:pPr marL="0" indent="0">
              <a:buNone/>
            </a:pPr>
            <a:r>
              <a:rPr lang="en-US" sz="2400" b="0" i="0" dirty="0">
                <a:solidFill>
                  <a:srgbClr val="000000"/>
                </a:solidFill>
                <a:effectLst/>
                <a:latin typeface="TimesNewRomanPSMT"/>
              </a:rPr>
              <a:t>In this circuit, whenever the operation button is pushed manually, the double acting</a:t>
            </a:r>
            <a:br>
              <a:rPr lang="en-US" sz="2400" b="0" i="0" dirty="0">
                <a:solidFill>
                  <a:srgbClr val="000000"/>
                </a:solidFill>
                <a:effectLst/>
                <a:latin typeface="TimesNewRomanPSMT"/>
              </a:rPr>
            </a:br>
            <a:r>
              <a:rPr lang="en-US" sz="2400" b="0" i="0" dirty="0">
                <a:solidFill>
                  <a:srgbClr val="000000"/>
                </a:solidFill>
                <a:effectLst/>
                <a:latin typeface="TimesNewRomanPSMT"/>
              </a:rPr>
              <a:t>cylinder will move back and forth once.</a:t>
            </a:r>
            <a:r>
              <a:rPr lang="en-US" sz="3600" dirty="0"/>
              <a:t> </a:t>
            </a:r>
            <a:br>
              <a:rPr lang="en-US" dirty="0"/>
            </a:br>
            <a:endParaRPr lang="en-TZ" dirty="0"/>
          </a:p>
        </p:txBody>
      </p:sp>
    </p:spTree>
    <p:extLst>
      <p:ext uri="{BB962C8B-B14F-4D97-AF65-F5344CB8AC3E}">
        <p14:creationId xmlns:p14="http://schemas.microsoft.com/office/powerpoint/2010/main" val="34126433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06D9757-60AB-4175-93A5-D233F2C77BC0}"/>
              </a:ext>
            </a:extLst>
          </p:cNvPr>
          <p:cNvPicPr>
            <a:picLocks noGrp="1" noChangeAspect="1"/>
          </p:cNvPicPr>
          <p:nvPr>
            <p:ph idx="1"/>
          </p:nvPr>
        </p:nvPicPr>
        <p:blipFill>
          <a:blip r:embed="rId2"/>
          <a:stretch>
            <a:fillRect/>
          </a:stretch>
        </p:blipFill>
        <p:spPr>
          <a:xfrm>
            <a:off x="2129548" y="382138"/>
            <a:ext cx="8310989" cy="5784814"/>
          </a:xfrm>
        </p:spPr>
      </p:pic>
    </p:spTree>
    <p:extLst>
      <p:ext uri="{BB962C8B-B14F-4D97-AF65-F5344CB8AC3E}">
        <p14:creationId xmlns:p14="http://schemas.microsoft.com/office/powerpoint/2010/main" val="2728255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E5691-DD5B-4ADC-8052-AF22F03CD40F}"/>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Different Kinds of Basic Circuits</a:t>
            </a:r>
            <a:r>
              <a:rPr lang="en-US" sz="8800" b="1" dirty="0">
                <a:latin typeface="Tahoma" panose="020B0604030504040204" pitchFamily="34" charset="0"/>
                <a:ea typeface="Tahoma" panose="020B0604030504040204" pitchFamily="34" charset="0"/>
                <a:cs typeface="Tahoma" panose="020B0604030504040204" pitchFamily="34" charset="0"/>
              </a:rPr>
              <a:t> </a:t>
            </a:r>
            <a:endParaRPr lang="en-TZ" dirty="0"/>
          </a:p>
        </p:txBody>
      </p:sp>
      <p:sp>
        <p:nvSpPr>
          <p:cNvPr id="3" name="Content Placeholder 2">
            <a:extLst>
              <a:ext uri="{FF2B5EF4-FFF2-40B4-BE49-F238E27FC236}">
                <a16:creationId xmlns:a16="http://schemas.microsoft.com/office/drawing/2014/main" id="{63A066F1-8EB1-463D-9D14-A6013AAB89EA}"/>
              </a:ext>
            </a:extLst>
          </p:cNvPr>
          <p:cNvSpPr>
            <a:spLocks noGrp="1"/>
          </p:cNvSpPr>
          <p:nvPr>
            <p:ph idx="1"/>
          </p:nvPr>
        </p:nvSpPr>
        <p:spPr/>
        <p:txBody>
          <a:bodyPr>
            <a:normAutofit/>
          </a:bodyPr>
          <a:lstStyle/>
          <a:p>
            <a:pPr marL="0" indent="0">
              <a:buNone/>
            </a:pPr>
            <a:r>
              <a:rPr lang="en-US" sz="2400" b="1" i="0" dirty="0">
                <a:solidFill>
                  <a:srgbClr val="000000"/>
                </a:solidFill>
                <a:effectLst/>
                <a:latin typeface="Arial" panose="020B0604020202020204" pitchFamily="34" charset="0"/>
              </a:rPr>
              <a:t>(f) Double acting cylinder</a:t>
            </a:r>
            <a:r>
              <a:rPr lang="en-US" sz="1600" b="1" dirty="0"/>
              <a:t> </a:t>
            </a:r>
            <a:br>
              <a:rPr lang="en-US" sz="3600" b="1" dirty="0"/>
            </a:br>
            <a:r>
              <a:rPr lang="en-US" sz="2400" b="1" i="0" dirty="0">
                <a:solidFill>
                  <a:srgbClr val="FF0000"/>
                </a:solidFill>
                <a:effectLst/>
                <a:latin typeface="Arial" panose="020B0604020202020204" pitchFamily="34" charset="0"/>
              </a:rPr>
              <a:t>(</a:t>
            </a:r>
            <a:r>
              <a:rPr lang="en-US" sz="2400" b="1" i="0" dirty="0" err="1">
                <a:solidFill>
                  <a:srgbClr val="FF0000"/>
                </a:solidFill>
                <a:effectLst/>
                <a:latin typeface="Arial" panose="020B0604020202020204" pitchFamily="34" charset="0"/>
              </a:rPr>
              <a:t>i</a:t>
            </a:r>
            <a:r>
              <a:rPr lang="en-US" sz="2400" b="1" i="0" dirty="0">
                <a:solidFill>
                  <a:srgbClr val="FF0000"/>
                </a:solidFill>
                <a:effectLst/>
                <a:latin typeface="Arial" panose="020B0604020202020204" pitchFamily="34" charset="0"/>
              </a:rPr>
              <a:t>) Direct control </a:t>
            </a:r>
            <a:r>
              <a:rPr lang="en-US" sz="2400" b="1" i="0" dirty="0" err="1">
                <a:solidFill>
                  <a:srgbClr val="FF0000"/>
                </a:solidFill>
                <a:effectLst/>
                <a:latin typeface="Arial" panose="020B0604020202020204" pitchFamily="34" charset="0"/>
              </a:rPr>
              <a:t>cont</a:t>
            </a:r>
            <a:r>
              <a:rPr lang="en-US" sz="2400" b="1" i="0" dirty="0">
                <a:solidFill>
                  <a:srgbClr val="FF0000"/>
                </a:solidFill>
                <a:effectLst/>
                <a:latin typeface="Arial" panose="020B0604020202020204" pitchFamily="34" charset="0"/>
              </a:rPr>
              <a:t>…</a:t>
            </a:r>
          </a:p>
          <a:p>
            <a:pPr marL="0" indent="0">
              <a:buNone/>
            </a:pPr>
            <a:r>
              <a:rPr lang="en-US" sz="2400" b="0" i="0" dirty="0">
                <a:solidFill>
                  <a:srgbClr val="000000"/>
                </a:solidFill>
                <a:effectLst/>
                <a:latin typeface="TimesNewRomanPSMT"/>
              </a:rPr>
              <a:t>In order to control the speed in both directions, flow control valves are connected to the inlets on both sides of the cylinder. </a:t>
            </a:r>
          </a:p>
          <a:p>
            <a:pPr marL="0" indent="0">
              <a:buNone/>
            </a:pPr>
            <a:r>
              <a:rPr lang="en-US" sz="2400" b="0" i="0" dirty="0">
                <a:solidFill>
                  <a:srgbClr val="000000"/>
                </a:solidFill>
                <a:effectLst/>
                <a:latin typeface="TimesNewRomanPSMT"/>
              </a:rPr>
              <a:t>The direction of the flow control valve is opposite to that of the release of air by the flow control valve of the single acting cylinder. </a:t>
            </a:r>
          </a:p>
          <a:p>
            <a:pPr marL="0" indent="0">
              <a:buNone/>
            </a:pPr>
            <a:r>
              <a:rPr lang="en-US" sz="2400" b="0" i="0" dirty="0">
                <a:solidFill>
                  <a:srgbClr val="000000"/>
                </a:solidFill>
                <a:effectLst/>
                <a:latin typeface="TimesNewRomanPSMT"/>
              </a:rPr>
              <a:t>Compared to the throttle inlet, the flow control valve is tougher and more stable. Connecting the circuit in this way allows the input of sufficient air pressure and energy to drive the piston</a:t>
            </a:r>
            <a:r>
              <a:rPr lang="en-US" sz="3600" dirty="0"/>
              <a:t> </a:t>
            </a:r>
            <a:br>
              <a:rPr lang="en-US" dirty="0"/>
            </a:br>
            <a:endParaRPr lang="en-TZ" dirty="0"/>
          </a:p>
        </p:txBody>
      </p:sp>
    </p:spTree>
    <p:extLst>
      <p:ext uri="{BB962C8B-B14F-4D97-AF65-F5344CB8AC3E}">
        <p14:creationId xmlns:p14="http://schemas.microsoft.com/office/powerpoint/2010/main" val="41374689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5275D-9BB7-4D09-96FA-DBE1D6D4ACAF}"/>
              </a:ext>
            </a:extLst>
          </p:cNvPr>
          <p:cNvSpPr>
            <a:spLocks noGrp="1"/>
          </p:cNvSpPr>
          <p:nvPr>
            <p:ph type="title"/>
          </p:nvPr>
        </p:nvSpPr>
        <p:spPr/>
        <p:txBody>
          <a:bodyPr/>
          <a:lstStyle/>
          <a:p>
            <a:r>
              <a:rPr lang="en-US" sz="4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Different Kinds of Basic Circuits</a:t>
            </a:r>
            <a:r>
              <a:rPr lang="en-US" sz="8800" b="1" dirty="0">
                <a:latin typeface="Tahoma" panose="020B0604030504040204" pitchFamily="34" charset="0"/>
                <a:ea typeface="Tahoma" panose="020B0604030504040204" pitchFamily="34" charset="0"/>
                <a:cs typeface="Tahoma" panose="020B0604030504040204" pitchFamily="34" charset="0"/>
              </a:rPr>
              <a:t> </a:t>
            </a:r>
            <a:endParaRPr lang="en-TZ" dirty="0"/>
          </a:p>
        </p:txBody>
      </p:sp>
      <p:sp>
        <p:nvSpPr>
          <p:cNvPr id="3" name="Content Placeholder 2">
            <a:extLst>
              <a:ext uri="{FF2B5EF4-FFF2-40B4-BE49-F238E27FC236}">
                <a16:creationId xmlns:a16="http://schemas.microsoft.com/office/drawing/2014/main" id="{67EE68F2-1A4C-4D9D-95A6-55F7E1A57F92}"/>
              </a:ext>
            </a:extLst>
          </p:cNvPr>
          <p:cNvSpPr>
            <a:spLocks noGrp="1"/>
          </p:cNvSpPr>
          <p:nvPr>
            <p:ph idx="1"/>
          </p:nvPr>
        </p:nvSpPr>
        <p:spPr/>
        <p:txBody>
          <a:bodyPr>
            <a:normAutofit fontScale="92500" lnSpcReduction="20000"/>
          </a:bodyPr>
          <a:lstStyle/>
          <a:p>
            <a:pPr marL="0" indent="0">
              <a:buNone/>
            </a:pPr>
            <a:r>
              <a:rPr lang="en-US" sz="2400" b="1" i="0" dirty="0">
                <a:solidFill>
                  <a:srgbClr val="000000"/>
                </a:solidFill>
                <a:effectLst/>
                <a:latin typeface="Arial" panose="020B0604020202020204" pitchFamily="34" charset="0"/>
              </a:rPr>
              <a:t>(f) Double acting cylinder</a:t>
            </a:r>
          </a:p>
          <a:p>
            <a:pPr marL="0" indent="0">
              <a:buNone/>
            </a:pPr>
            <a:r>
              <a:rPr lang="en-US" sz="2400" b="1" i="0" dirty="0">
                <a:solidFill>
                  <a:srgbClr val="FF0000"/>
                </a:solidFill>
                <a:effectLst/>
                <a:latin typeface="Arial" panose="020B0604020202020204" pitchFamily="34" charset="0"/>
              </a:rPr>
              <a:t>(ii) Single control</a:t>
            </a:r>
            <a:br>
              <a:rPr lang="en-US" sz="2400" b="0" i="0" dirty="0">
                <a:solidFill>
                  <a:srgbClr val="000000"/>
                </a:solidFill>
                <a:effectLst/>
                <a:latin typeface="Arial" panose="020B0604020202020204" pitchFamily="34" charset="0"/>
              </a:rPr>
            </a:br>
            <a:r>
              <a:rPr lang="en-US" sz="2400" b="0" i="0" dirty="0">
                <a:solidFill>
                  <a:srgbClr val="000000"/>
                </a:solidFill>
                <a:effectLst/>
                <a:latin typeface="TimesNewRomanPSMT"/>
              </a:rPr>
              <a:t>A cylinder always has to maintain its position in a lot of situations, even after the</a:t>
            </a:r>
            <a:br>
              <a:rPr lang="en-US" sz="2400" b="0" i="0" dirty="0">
                <a:solidFill>
                  <a:srgbClr val="000000"/>
                </a:solidFill>
                <a:effectLst/>
                <a:latin typeface="TimesNewRomanPSMT"/>
              </a:rPr>
            </a:br>
            <a:r>
              <a:rPr lang="en-US" sz="2400" b="0" i="0" dirty="0">
                <a:solidFill>
                  <a:srgbClr val="000000"/>
                </a:solidFill>
                <a:effectLst/>
                <a:latin typeface="TimesNewRomanPSMT"/>
              </a:rPr>
              <a:t>operational signal has disappeared. </a:t>
            </a:r>
          </a:p>
          <a:p>
            <a:pPr marL="0" indent="0">
              <a:buNone/>
            </a:pPr>
            <a:r>
              <a:rPr lang="en-US" sz="2400" b="0" i="0" dirty="0">
                <a:solidFill>
                  <a:srgbClr val="000000"/>
                </a:solidFill>
                <a:effectLst/>
                <a:latin typeface="TimesNewRomanPSMT"/>
              </a:rPr>
              <a:t>This can be achieved by the use of a circuit that possesses the memory function. </a:t>
            </a:r>
          </a:p>
          <a:p>
            <a:pPr marL="0" indent="0">
              <a:buNone/>
            </a:pPr>
            <a:r>
              <a:rPr lang="en-US" sz="2400" b="0" i="0" dirty="0">
                <a:solidFill>
                  <a:srgbClr val="000000"/>
                </a:solidFill>
                <a:effectLst/>
                <a:latin typeface="TimesNewRomanPSMT"/>
              </a:rPr>
              <a:t>As shown in Fig. below, the extension path of a double acting cylinder is activated by control valve </a:t>
            </a:r>
            <a:r>
              <a:rPr lang="en-US" sz="2400" b="0" i="0" dirty="0">
                <a:solidFill>
                  <a:srgbClr val="000000"/>
                </a:solidFill>
                <a:effectLst/>
                <a:latin typeface="Wingdings-Regular"/>
              </a:rPr>
              <a:t></a:t>
            </a:r>
            <a:r>
              <a:rPr lang="en-US" sz="2400" b="0" i="0" dirty="0">
                <a:solidFill>
                  <a:srgbClr val="000000"/>
                </a:solidFill>
                <a:effectLst/>
                <a:latin typeface="TimesNewRomanPSMT"/>
              </a:rPr>
              <a:t>, while retraction is governed by control valve </a:t>
            </a:r>
            <a:r>
              <a:rPr lang="en-US" sz="2400" b="0" i="0" dirty="0">
                <a:solidFill>
                  <a:srgbClr val="000000"/>
                </a:solidFill>
                <a:effectLst/>
                <a:latin typeface="Wingdings-Regular"/>
              </a:rPr>
              <a:t></a:t>
            </a:r>
            <a:r>
              <a:rPr lang="en-US" sz="2400" b="0" i="0" dirty="0">
                <a:solidFill>
                  <a:srgbClr val="000000"/>
                </a:solidFill>
                <a:effectLst/>
                <a:latin typeface="TimesNewRomanPSMT"/>
              </a:rPr>
              <a:t>. </a:t>
            </a:r>
          </a:p>
          <a:p>
            <a:pPr marL="0" indent="0">
              <a:buNone/>
            </a:pPr>
            <a:r>
              <a:rPr lang="en-US" sz="2400" b="0" i="0" dirty="0">
                <a:solidFill>
                  <a:srgbClr val="000000"/>
                </a:solidFill>
                <a:effectLst/>
                <a:latin typeface="TimesNewRomanPSMT"/>
              </a:rPr>
              <a:t>Control valve </a:t>
            </a:r>
            <a:r>
              <a:rPr lang="en-US" sz="2400" b="0" i="0" dirty="0">
                <a:solidFill>
                  <a:srgbClr val="000000"/>
                </a:solidFill>
                <a:effectLst/>
                <a:latin typeface="Wingdings-Regular"/>
              </a:rPr>
              <a:t></a:t>
            </a:r>
            <a:r>
              <a:rPr lang="en-US" sz="2400" b="0" i="0" dirty="0">
                <a:solidFill>
                  <a:srgbClr val="000000"/>
                </a:solidFill>
                <a:effectLst/>
                <a:latin typeface="TimesNewRomanPSMT"/>
              </a:rPr>
              <a:t>, on the other hand, maintains the position of the cylinder by maintaining its own position.</a:t>
            </a:r>
            <a:br>
              <a:rPr lang="en-US" sz="2400" b="0" i="0" dirty="0">
                <a:solidFill>
                  <a:srgbClr val="000000"/>
                </a:solidFill>
                <a:effectLst/>
                <a:latin typeface="TimesNewRomanPSMT"/>
              </a:rPr>
            </a:br>
            <a:r>
              <a:rPr lang="en-US" sz="2400" b="0" i="0" dirty="0">
                <a:solidFill>
                  <a:srgbClr val="000000"/>
                </a:solidFill>
                <a:effectLst/>
                <a:latin typeface="TimesNewRomanPSMT"/>
              </a:rPr>
              <a:t>Control valve </a:t>
            </a:r>
            <a:r>
              <a:rPr lang="en-US" sz="2400" b="0" i="0" dirty="0">
                <a:solidFill>
                  <a:srgbClr val="000000"/>
                </a:solidFill>
                <a:effectLst/>
                <a:latin typeface="Wingdings-Regular"/>
              </a:rPr>
              <a:t> </a:t>
            </a:r>
            <a:r>
              <a:rPr lang="en-US" sz="2400" b="0" i="0" dirty="0">
                <a:solidFill>
                  <a:srgbClr val="000000"/>
                </a:solidFill>
                <a:effectLst/>
                <a:latin typeface="TimesNewRomanPSMT"/>
              </a:rPr>
              <a:t>will be changed only when one of the manual control valves is pushed. </a:t>
            </a:r>
          </a:p>
          <a:p>
            <a:pPr marL="0" indent="0">
              <a:buNone/>
            </a:pPr>
            <a:r>
              <a:rPr lang="en-US" sz="2400" b="0" i="0" dirty="0">
                <a:solidFill>
                  <a:srgbClr val="000000"/>
                </a:solidFill>
                <a:effectLst/>
                <a:latin typeface="TimesNewRomanPSMT"/>
              </a:rPr>
              <a:t>If both control valves </a:t>
            </a:r>
            <a:r>
              <a:rPr lang="en-US" sz="2400" b="0" i="0" dirty="0">
                <a:solidFill>
                  <a:srgbClr val="000000"/>
                </a:solidFill>
                <a:effectLst/>
                <a:latin typeface="Wingdings-Regular"/>
              </a:rPr>
              <a:t> </a:t>
            </a:r>
            <a:r>
              <a:rPr lang="en-US" sz="2400" b="0" i="0" dirty="0">
                <a:solidFill>
                  <a:srgbClr val="000000"/>
                </a:solidFill>
                <a:effectLst/>
                <a:latin typeface="TimesNewRomanPSMT"/>
              </a:rPr>
              <a:t>and </a:t>
            </a:r>
            <a:r>
              <a:rPr lang="en-US" sz="2400" b="0" i="0" dirty="0">
                <a:solidFill>
                  <a:srgbClr val="000000"/>
                </a:solidFill>
                <a:effectLst/>
                <a:latin typeface="Wingdings-Regular"/>
              </a:rPr>
              <a:t> </a:t>
            </a:r>
            <a:r>
              <a:rPr lang="en-US" sz="2400" b="0" i="0" dirty="0">
                <a:solidFill>
                  <a:srgbClr val="000000"/>
                </a:solidFill>
                <a:effectLst/>
                <a:latin typeface="TimesNewRomanPSMT"/>
              </a:rPr>
              <a:t>are operated at the same time, control valve </a:t>
            </a:r>
            <a:r>
              <a:rPr lang="en-US" sz="2400" b="0" i="0" dirty="0">
                <a:solidFill>
                  <a:srgbClr val="000000"/>
                </a:solidFill>
                <a:effectLst/>
                <a:latin typeface="Wingdings-Regular"/>
              </a:rPr>
              <a:t> </a:t>
            </a:r>
            <a:r>
              <a:rPr lang="en-US" sz="2400" b="0" i="0" dirty="0">
                <a:solidFill>
                  <a:srgbClr val="000000"/>
                </a:solidFill>
                <a:effectLst/>
                <a:latin typeface="TimesNewRomanPSMT"/>
              </a:rPr>
              <a:t>will be subject to the same pressure and will remain in its original position.</a:t>
            </a:r>
            <a:r>
              <a:rPr lang="en-US" sz="3600" dirty="0"/>
              <a:t> </a:t>
            </a:r>
            <a:br>
              <a:rPr lang="en-US" dirty="0"/>
            </a:br>
            <a:endParaRPr lang="en-TZ" dirty="0"/>
          </a:p>
        </p:txBody>
      </p:sp>
    </p:spTree>
    <p:extLst>
      <p:ext uri="{BB962C8B-B14F-4D97-AF65-F5344CB8AC3E}">
        <p14:creationId xmlns:p14="http://schemas.microsoft.com/office/powerpoint/2010/main" val="97739677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5EB6022-664C-4ED0-870B-58419F4FB490}"/>
              </a:ext>
            </a:extLst>
          </p:cNvPr>
          <p:cNvPicPr>
            <a:picLocks noGrp="1" noChangeAspect="1"/>
          </p:cNvPicPr>
          <p:nvPr>
            <p:ph idx="1"/>
          </p:nvPr>
        </p:nvPicPr>
        <p:blipFill>
          <a:blip r:embed="rId2"/>
          <a:stretch>
            <a:fillRect/>
          </a:stretch>
        </p:blipFill>
        <p:spPr>
          <a:xfrm>
            <a:off x="2456597" y="504968"/>
            <a:ext cx="7050933" cy="5235267"/>
          </a:xfrm>
        </p:spPr>
      </p:pic>
    </p:spTree>
    <p:extLst>
      <p:ext uri="{BB962C8B-B14F-4D97-AF65-F5344CB8AC3E}">
        <p14:creationId xmlns:p14="http://schemas.microsoft.com/office/powerpoint/2010/main" val="34094337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2A59E-6656-42FA-8612-7F03DF88D9F3}"/>
              </a:ext>
            </a:extLst>
          </p:cNvPr>
          <p:cNvSpPr>
            <a:spLocks noGrp="1"/>
          </p:cNvSpPr>
          <p:nvPr>
            <p:ph type="title"/>
          </p:nvPr>
        </p:nvSpPr>
        <p:spPr/>
        <p:txBody>
          <a:bodyPr/>
          <a:lstStyle/>
          <a:p>
            <a:r>
              <a:rPr lang="en-US" b="1" i="0" dirty="0">
                <a:solidFill>
                  <a:srgbClr val="202124"/>
                </a:solidFill>
                <a:effectLst/>
                <a:latin typeface="arial" panose="020B0604020202020204" pitchFamily="34" charset="0"/>
              </a:rPr>
              <a:t>Cylinder Troubleshooting</a:t>
            </a:r>
            <a:endParaRPr lang="en-TZ" b="1" dirty="0"/>
          </a:p>
        </p:txBody>
      </p:sp>
      <p:sp>
        <p:nvSpPr>
          <p:cNvPr id="3" name="Content Placeholder 2">
            <a:extLst>
              <a:ext uri="{FF2B5EF4-FFF2-40B4-BE49-F238E27FC236}">
                <a16:creationId xmlns:a16="http://schemas.microsoft.com/office/drawing/2014/main" id="{0C120C9A-19C3-4194-909C-AAC93F8F0B4F}"/>
              </a:ext>
            </a:extLst>
          </p:cNvPr>
          <p:cNvSpPr>
            <a:spLocks noGrp="1"/>
          </p:cNvSpPr>
          <p:nvPr>
            <p:ph idx="1"/>
          </p:nvPr>
        </p:nvSpPr>
        <p:spPr/>
        <p:txBody>
          <a:bodyPr/>
          <a:lstStyle/>
          <a:p>
            <a:pPr marL="0" indent="0" algn="l">
              <a:buNone/>
            </a:pPr>
            <a:r>
              <a:rPr lang="en-US" b="0" i="0" dirty="0">
                <a:solidFill>
                  <a:srgbClr val="202124"/>
                </a:solidFill>
                <a:effectLst/>
                <a:latin typeface="arial" panose="020B0604020202020204" pitchFamily="34" charset="0"/>
              </a:rPr>
              <a:t>Pneumatic cylinder failure typically </a:t>
            </a:r>
            <a:r>
              <a:rPr lang="en-US" b="0" i="0">
                <a:solidFill>
                  <a:srgbClr val="202124"/>
                </a:solidFill>
                <a:effectLst/>
                <a:latin typeface="arial" panose="020B0604020202020204" pitchFamily="34" charset="0"/>
              </a:rPr>
              <a:t>results from </a:t>
            </a:r>
            <a:r>
              <a:rPr lang="en-US" b="0" i="0" dirty="0">
                <a:solidFill>
                  <a:srgbClr val="202124"/>
                </a:solidFill>
                <a:effectLst/>
                <a:latin typeface="arial" panose="020B0604020202020204" pitchFamily="34" charset="0"/>
              </a:rPr>
              <a:t>different conditions: </a:t>
            </a:r>
          </a:p>
          <a:p>
            <a:r>
              <a:rPr lang="en-US" i="0" dirty="0">
                <a:solidFill>
                  <a:srgbClr val="202124"/>
                </a:solidFill>
                <a:effectLst/>
                <a:latin typeface="arial" panose="020B0604020202020204" pitchFamily="34" charset="0"/>
              </a:rPr>
              <a:t>Side-load mounting</a:t>
            </a:r>
          </a:p>
          <a:p>
            <a:r>
              <a:rPr lang="en-US" i="0" dirty="0">
                <a:solidFill>
                  <a:srgbClr val="202124"/>
                </a:solidFill>
                <a:effectLst/>
                <a:latin typeface="arial" panose="020B0604020202020204" pitchFamily="34" charset="0"/>
              </a:rPr>
              <a:t>Contamination</a:t>
            </a:r>
          </a:p>
          <a:p>
            <a:r>
              <a:rPr lang="en-US" i="0" dirty="0">
                <a:solidFill>
                  <a:srgbClr val="202124"/>
                </a:solidFill>
                <a:effectLst/>
                <a:latin typeface="arial" panose="020B0604020202020204" pitchFamily="34" charset="0"/>
              </a:rPr>
              <a:t>Lack of lubrication and </a:t>
            </a:r>
          </a:p>
          <a:p>
            <a:r>
              <a:rPr lang="en-US" dirty="0">
                <a:solidFill>
                  <a:srgbClr val="202124"/>
                </a:solidFill>
                <a:latin typeface="arial" panose="020B0604020202020204" pitchFamily="34" charset="0"/>
              </a:rPr>
              <a:t>O</a:t>
            </a:r>
            <a:r>
              <a:rPr lang="en-US" i="0" dirty="0">
                <a:solidFill>
                  <a:srgbClr val="202124"/>
                </a:solidFill>
                <a:effectLst/>
                <a:latin typeface="arial" panose="020B0604020202020204" pitchFamily="34" charset="0"/>
              </a:rPr>
              <a:t>peration in excess of component limits</a:t>
            </a:r>
          </a:p>
          <a:p>
            <a:endParaRPr lang="en-TZ" dirty="0"/>
          </a:p>
        </p:txBody>
      </p:sp>
    </p:spTree>
    <p:extLst>
      <p:ext uri="{BB962C8B-B14F-4D97-AF65-F5344CB8AC3E}">
        <p14:creationId xmlns:p14="http://schemas.microsoft.com/office/powerpoint/2010/main" val="15927223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3232</TotalTime>
  <Words>3664</Words>
  <Application>Microsoft Office PowerPoint</Application>
  <PresentationFormat>Widescreen</PresentationFormat>
  <Paragraphs>228</Paragraphs>
  <Slides>68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68</vt:i4>
      </vt:variant>
    </vt:vector>
  </HeadingPairs>
  <TitlesOfParts>
    <vt:vector size="78" baseType="lpstr">
      <vt:lpstr>Arial</vt:lpstr>
      <vt:lpstr>Arial</vt:lpstr>
      <vt:lpstr>Calibri</vt:lpstr>
      <vt:lpstr>Calibri Light</vt:lpstr>
      <vt:lpstr>Tahoma</vt:lpstr>
      <vt:lpstr>Times New Roman</vt:lpstr>
      <vt:lpstr>TimesNewRomanPSMT</vt:lpstr>
      <vt:lpstr>Wingdings</vt:lpstr>
      <vt:lpstr>Wingdings-Regular</vt:lpstr>
      <vt:lpstr>Office Theme</vt:lpstr>
      <vt:lpstr>Introduction To Electro-Pneumatic</vt:lpstr>
      <vt:lpstr>Main pneumatic components</vt:lpstr>
      <vt:lpstr>Main pneumatic components</vt:lpstr>
      <vt:lpstr>PowerPoint Presentation</vt:lpstr>
      <vt:lpstr>Main pneumatic components</vt:lpstr>
      <vt:lpstr>PowerPoint Presentation</vt:lpstr>
      <vt:lpstr>Main pneumatic components</vt:lpstr>
      <vt:lpstr>Main pneumatic components</vt:lpstr>
      <vt:lpstr>Main pneumatic components</vt:lpstr>
      <vt:lpstr>Main pneumatic components</vt:lpstr>
      <vt:lpstr>Main pneumatic components</vt:lpstr>
      <vt:lpstr>PowerPoint Presentation</vt:lpstr>
      <vt:lpstr>Main pneumatic components</vt:lpstr>
      <vt:lpstr>PowerPoint Presentation</vt:lpstr>
      <vt:lpstr>Main pneumatic components</vt:lpstr>
      <vt:lpstr>Main pneumatic components</vt:lpstr>
      <vt:lpstr>PowerPoint Presentation</vt:lpstr>
      <vt:lpstr>Main pneumatic components</vt:lpstr>
      <vt:lpstr>PowerPoint Presentation</vt:lpstr>
      <vt:lpstr>Main pneumatic components</vt:lpstr>
      <vt:lpstr>PowerPoint Presentation</vt:lpstr>
      <vt:lpstr>Main pneumatic components</vt:lpstr>
      <vt:lpstr>PowerPoint Presentation</vt:lpstr>
      <vt:lpstr>Main pneumatic components</vt:lpstr>
      <vt:lpstr>Main pneumatic components</vt:lpstr>
      <vt:lpstr>PowerPoint Presentation</vt:lpstr>
      <vt:lpstr>Main pneumatic components</vt:lpstr>
      <vt:lpstr>Main pneumatic components</vt:lpstr>
      <vt:lpstr>Principles of Pneumatic Control </vt:lpstr>
      <vt:lpstr>Principles of Pneumatic Control</vt:lpstr>
      <vt:lpstr>PowerPoint Presentation</vt:lpstr>
      <vt:lpstr>Principles of Pneumatic Control</vt:lpstr>
      <vt:lpstr>PowerPoint Presentation</vt:lpstr>
      <vt:lpstr>Principles of Pneumatic Control</vt:lpstr>
      <vt:lpstr>Principles of Pneumatic Control</vt:lpstr>
      <vt:lpstr>PowerPoint Presentation</vt:lpstr>
      <vt:lpstr>Principles of Pneumatic Control</vt:lpstr>
      <vt:lpstr>Principles of Pneumatic Control b) Pneumatic circuit diagram (iii) The setting of circuit diagrams  </vt:lpstr>
      <vt:lpstr>Principles of Pneumatic Control b) Pneumatic circuit diagram (iii) The setting of circuit diagrams</vt:lpstr>
      <vt:lpstr>Principles of Pneumatic Control b) Pneumatic circuit diagram (iii) The setting of circuit diagrams</vt:lpstr>
      <vt:lpstr>Principles of Pneumatic Control b) Pneumatic circuit diagram (iii) The setting of circuit diagrams</vt:lpstr>
      <vt:lpstr>Different Kinds of Basic Circuits </vt:lpstr>
      <vt:lpstr>Different Kinds of Basic Circuits </vt:lpstr>
      <vt:lpstr>PowerPoint Presentation</vt:lpstr>
      <vt:lpstr>Different Kinds of Basic Circuits </vt:lpstr>
      <vt:lpstr>PowerPoint Presentation</vt:lpstr>
      <vt:lpstr>Different Kinds of Basic Circuits </vt:lpstr>
      <vt:lpstr>PowerPoint Presentation</vt:lpstr>
      <vt:lpstr>Different Kinds of Basic Circuits </vt:lpstr>
      <vt:lpstr>Different Kinds of Basic Circuits </vt:lpstr>
      <vt:lpstr>PowerPoint Presentation</vt:lpstr>
      <vt:lpstr>Different Kinds of Basic Circuits </vt:lpstr>
      <vt:lpstr>PowerPoint Presentation</vt:lpstr>
      <vt:lpstr>Different Kinds of Basic Circuits </vt:lpstr>
      <vt:lpstr>Different Kinds of Basic Circuits </vt:lpstr>
      <vt:lpstr>PowerPoint Presentation</vt:lpstr>
      <vt:lpstr>Different Kinds of Basic Circuits </vt:lpstr>
      <vt:lpstr>PowerPoint Presentation</vt:lpstr>
      <vt:lpstr>Different Kinds of Basic Circuits </vt:lpstr>
      <vt:lpstr>PowerPoint Presentation</vt:lpstr>
      <vt:lpstr>Different Kinds of Basic Circuits </vt:lpstr>
      <vt:lpstr>PowerPoint Presentation</vt:lpstr>
      <vt:lpstr>Different Kinds of Basic Circuits </vt:lpstr>
      <vt:lpstr>PowerPoint Presentation</vt:lpstr>
      <vt:lpstr>Different Kinds of Basic Circuits </vt:lpstr>
      <vt:lpstr>Different Kinds of Basic Circuits </vt:lpstr>
      <vt:lpstr>PowerPoint Presentation</vt:lpstr>
      <vt:lpstr>Cylinder Troubleshooting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Shanel</dc:creator>
  <cp:lastModifiedBy>Shanel</cp:lastModifiedBy>
  <cp:revision>32</cp:revision>
  <dcterms:created xsi:type="dcterms:W3CDTF">2022-04-02T19:11:14Z</dcterms:created>
  <dcterms:modified xsi:type="dcterms:W3CDTF">2025-03-20T20:06:54Z</dcterms:modified>
</cp:coreProperties>
</file>