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321" r:id="rId3"/>
    <p:sldId id="258" r:id="rId4"/>
    <p:sldId id="330" r:id="rId5"/>
    <p:sldId id="323" r:id="rId6"/>
    <p:sldId id="324" r:id="rId7"/>
    <p:sldId id="325" r:id="rId8"/>
    <p:sldId id="259" r:id="rId9"/>
    <p:sldId id="332" r:id="rId10"/>
    <p:sldId id="326" r:id="rId11"/>
    <p:sldId id="327" r:id="rId12"/>
    <p:sldId id="260" r:id="rId13"/>
    <p:sldId id="261" r:id="rId14"/>
    <p:sldId id="329" r:id="rId15"/>
    <p:sldId id="262" r:id="rId16"/>
    <p:sldId id="263" r:id="rId17"/>
    <p:sldId id="264" r:id="rId18"/>
    <p:sldId id="265" r:id="rId19"/>
    <p:sldId id="331" r:id="rId20"/>
    <p:sldId id="266" r:id="rId21"/>
    <p:sldId id="267" r:id="rId22"/>
    <p:sldId id="268" r:id="rId23"/>
    <p:sldId id="269" r:id="rId24"/>
    <p:sldId id="270" r:id="rId25"/>
    <p:sldId id="271" r:id="rId26"/>
    <p:sldId id="305" r:id="rId27"/>
    <p:sldId id="272" r:id="rId28"/>
    <p:sldId id="273" r:id="rId29"/>
    <p:sldId id="274" r:id="rId30"/>
    <p:sldId id="318" r:id="rId31"/>
    <p:sldId id="275" r:id="rId32"/>
    <p:sldId id="276" r:id="rId33"/>
    <p:sldId id="277" r:id="rId34"/>
    <p:sldId id="322" r:id="rId35"/>
    <p:sldId id="279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334" r:id="rId44"/>
    <p:sldId id="333" r:id="rId45"/>
    <p:sldId id="337" r:id="rId46"/>
    <p:sldId id="288" r:id="rId47"/>
    <p:sldId id="336" r:id="rId48"/>
    <p:sldId id="335" r:id="rId49"/>
    <p:sldId id="289" r:id="rId50"/>
    <p:sldId id="290" r:id="rId51"/>
    <p:sldId id="291" r:id="rId52"/>
    <p:sldId id="338" r:id="rId53"/>
    <p:sldId id="320" r:id="rId54"/>
    <p:sldId id="292" r:id="rId55"/>
    <p:sldId id="339" r:id="rId56"/>
    <p:sldId id="293" r:id="rId57"/>
    <p:sldId id="314" r:id="rId58"/>
    <p:sldId id="294" r:id="rId59"/>
    <p:sldId id="315" r:id="rId60"/>
    <p:sldId id="295" r:id="rId61"/>
    <p:sldId id="296" r:id="rId62"/>
    <p:sldId id="317" r:id="rId63"/>
    <p:sldId id="340" r:id="rId64"/>
    <p:sldId id="297" r:id="rId65"/>
    <p:sldId id="316" r:id="rId66"/>
    <p:sldId id="298" r:id="rId67"/>
    <p:sldId id="299" r:id="rId68"/>
    <p:sldId id="300" r:id="rId69"/>
    <p:sldId id="301" r:id="rId70"/>
    <p:sldId id="302" r:id="rId71"/>
    <p:sldId id="303" r:id="rId72"/>
    <p:sldId id="313" r:id="rId73"/>
    <p:sldId id="319" r:id="rId74"/>
    <p:sldId id="304" r:id="rId75"/>
    <p:sldId id="310" r:id="rId76"/>
    <p:sldId id="307" r:id="rId77"/>
    <p:sldId id="308" r:id="rId78"/>
    <p:sldId id="311" r:id="rId79"/>
    <p:sldId id="309" r:id="rId80"/>
    <p:sldId id="306" r:id="rId8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55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outlineViewPr>
    <p:cViewPr>
      <p:scale>
        <a:sx n="33" d="100"/>
        <a:sy n="33" d="100"/>
      </p:scale>
      <p:origin x="0" y="-234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A35D5-CE63-4087-B16F-DBF904C9A32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57EB4-9934-4673-A203-950DCF36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264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A35D5-CE63-4087-B16F-DBF904C9A32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57EB4-9934-4673-A203-950DCF36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472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A35D5-CE63-4087-B16F-DBF904C9A32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57EB4-9934-4673-A203-950DCF36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250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A35D5-CE63-4087-B16F-DBF904C9A32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57EB4-9934-4673-A203-950DCF36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34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A35D5-CE63-4087-B16F-DBF904C9A32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57EB4-9934-4673-A203-950DCF36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22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A35D5-CE63-4087-B16F-DBF904C9A32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57EB4-9934-4673-A203-950DCF36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282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A35D5-CE63-4087-B16F-DBF904C9A32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57EB4-9934-4673-A203-950DCF36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190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A35D5-CE63-4087-B16F-DBF904C9A32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57EB4-9934-4673-A203-950DCF36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918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A35D5-CE63-4087-B16F-DBF904C9A32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57EB4-9934-4673-A203-950DCF36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305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A35D5-CE63-4087-B16F-DBF904C9A32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57EB4-9934-4673-A203-950DCF36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361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A35D5-CE63-4087-B16F-DBF904C9A32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57EB4-9934-4673-A203-950DCF36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32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A35D5-CE63-4087-B16F-DBF904C9A32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257EB4-9934-4673-A203-950DCF36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244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gabswila@gmail.com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mp"/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mp"/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372F4-DDAA-4413-A627-13608FA93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US" sz="27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MBEYA UNIVERSITY OF SCIENCE AND TECHNOLOGY</a:t>
            </a:r>
            <a:br>
              <a:rPr lang="en-US" sz="27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7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7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CA" sz="27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CA" sz="27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CA" sz="27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COLLEGE: </a:t>
            </a:r>
            <a:r>
              <a:rPr lang="en-US" sz="2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CET     </a:t>
            </a:r>
            <a:r>
              <a:rPr lang="en-CA" sz="27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DEPARTMENT: </a:t>
            </a:r>
            <a:r>
              <a:rPr lang="en-CA" sz="2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MIE</a:t>
            </a:r>
            <a:br>
              <a:rPr lang="en-CA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CA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ORDINARY DIPLOMA IN AUTO ELE &amp; AUTO, SAFETY AND  MECHANICAL ENGINEERING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CA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(SECOND YEAR)</a:t>
            </a:r>
            <a:br>
              <a:rPr lang="en-CA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CA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MODULE NAME:</a:t>
            </a:r>
            <a:r>
              <a:rPr lang="en-CA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MACHINE ELEMENT AND DESIGN I  </a:t>
            </a:r>
            <a:r>
              <a:rPr lang="en-CA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CODE:</a:t>
            </a:r>
            <a:r>
              <a:rPr lang="en-CA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 6112 </a:t>
            </a:r>
            <a:br>
              <a:rPr lang="en-CA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7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TOPIC 1: </a:t>
            </a:r>
            <a:r>
              <a:rPr lang="en-US" sz="2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TO MACHINE ELEMENT AND DESIGN</a:t>
            </a:r>
            <a:br>
              <a:rPr lang="en-US" sz="2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700" b="1" dirty="0">
                <a:latin typeface="Times New Roman" panose="02020603050405020304" pitchFamily="18" charset="0"/>
                <a:ea typeface="Batang" panose="020B0503020000020004" pitchFamily="18" charset="-127"/>
                <a:cs typeface="Times New Roman" panose="02020603050405020304" pitchFamily="18" charset="0"/>
              </a:rPr>
              <a:t>ACADEMIC YEAR:</a:t>
            </a:r>
            <a:r>
              <a:rPr lang="en-US" sz="2700" dirty="0">
                <a:latin typeface="Times New Roman" panose="02020603050405020304" pitchFamily="18" charset="0"/>
                <a:ea typeface="Batang" panose="020B0503020000020004" pitchFamily="18" charset="-127"/>
                <a:cs typeface="Times New Roman" panose="02020603050405020304" pitchFamily="18" charset="0"/>
              </a:rPr>
              <a:t> 2025/2026              </a:t>
            </a:r>
            <a:r>
              <a:rPr lang="en-CA" sz="27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SEMESTER:</a:t>
            </a:r>
            <a:r>
              <a:rPr lang="en-CA" sz="2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II</a:t>
            </a:r>
            <a:endParaRPr lang="en-US" sz="27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69DC72-BFC7-D5F2-C94B-A73EE8A3DE2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448" y="1077685"/>
            <a:ext cx="2969777" cy="2118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07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372F4-DDAA-4413-A627-13608FA93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>
            <a:normAutofit fontScale="90000"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br>
              <a:rPr lang="en-CA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CA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FACILITATOR:</a:t>
            </a:r>
            <a:r>
              <a:rPr lang="en-CA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CA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Eng. KULWA KISHOSHA LUTEMA</a:t>
            </a:r>
            <a:b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CA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CONTACTS: </a:t>
            </a:r>
            <a:r>
              <a:rPr lang="en-CA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Phone</a:t>
            </a:r>
            <a:r>
              <a:rPr lang="en-CA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CA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0765 316 760 </a:t>
            </a:r>
            <a:br>
              <a:rPr lang="en-CA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CA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Email: </a:t>
            </a:r>
            <a:r>
              <a:rPr lang="en-CA" sz="3600" u="sng" dirty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kishoshakl3</a:t>
            </a:r>
            <a:r>
              <a:rPr lang="en-CA" sz="36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@gmail.com</a:t>
            </a:r>
            <a:b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CA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b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CA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LECTURE ROOM/TIME: </a:t>
            </a:r>
            <a:r>
              <a:rPr lang="en-CA" sz="31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Tuesday; </a:t>
            </a:r>
            <a:r>
              <a:rPr lang="en-CA" sz="31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SPORT HALL (19:15 – 21:30PM) </a:t>
            </a:r>
            <a:br>
              <a:rPr lang="en-CA" sz="31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CA" sz="31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Friday; </a:t>
            </a:r>
            <a:r>
              <a:rPr lang="en-CA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LPII-BF-R</a:t>
            </a:r>
            <a:r>
              <a:rPr lang="en-CA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  <a:r>
              <a:rPr lang="en-CA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(09:55-12:10) </a:t>
            </a:r>
            <a:br>
              <a:rPr lang="en-CA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br>
              <a:rPr lang="en-CA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en-CA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OFFICE: </a:t>
            </a:r>
            <a:r>
              <a:rPr lang="en-CA" sz="31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MECHANICAL STAFF ROOM </a:t>
            </a:r>
            <a:r>
              <a:rPr lang="en-CA" sz="3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C-204</a:t>
            </a:r>
            <a:br>
              <a:rPr lang="en-US" sz="3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3600" dirty="0"/>
            </a:b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84633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6A82E-1967-4326-B66A-0AE87D905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LECTURE 1:</a:t>
            </a:r>
            <a:b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b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INTRODUCTION TO MACHINE ELEMENT AND DESIGN</a:t>
            </a:r>
            <a:br>
              <a:rPr lang="en-US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br>
              <a:rPr lang="en-US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IN </a:t>
            </a:r>
            <a:br>
              <a:rPr lang="en-US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br>
              <a:rPr lang="en-US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MACHINE ELEMENT AND DESIGN 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068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6A82E-1967-4326-B66A-0AE87D905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C33FA0-BCFF-0D67-2FD7-478398D5A3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930" y="734"/>
            <a:ext cx="9993209" cy="685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877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6A82E-1967-4326-B66A-0AE87D905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pPr algn="ctr"/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13D3E5-73E7-FC68-F01F-80AAE875D5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538" y="0"/>
            <a:ext cx="10190923" cy="6867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596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6A82E-1967-4326-B66A-0AE87D905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pPr algn="ctr"/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226C33-49A4-1E1D-A075-69D1BB0BD6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18884" cy="516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202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6A82E-1967-4326-B66A-0AE87D905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pPr algn="ctr"/>
            <a:r>
              <a:rPr lang="en-US" dirty="0"/>
              <a:t>.</a:t>
            </a:r>
          </a:p>
        </p:txBody>
      </p:sp>
      <p:pic>
        <p:nvPicPr>
          <p:cNvPr id="2050" name="Picture 2" descr="Amazon.com: Machine Elements in Mechanical Design (What's New in Trades &amp;  Technology): 9780134441184: Mott, Robert, Vavrek, Edward, Wang, Jyhwen:  Books">
            <a:extLst>
              <a:ext uri="{FF2B5EF4-FFF2-40B4-BE49-F238E27FC236}">
                <a16:creationId xmlns:a16="http://schemas.microsoft.com/office/drawing/2014/main" id="{6C4A41F5-50B5-A12C-1283-39490B61C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52260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ypes of Machine Elements | Examples of Different Categories">
            <a:extLst>
              <a:ext uri="{FF2B5EF4-FFF2-40B4-BE49-F238E27FC236}">
                <a16:creationId xmlns:a16="http://schemas.microsoft.com/office/drawing/2014/main" id="{8F3D47D8-6459-0A97-C8E1-37AC5FA895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6050" y="-2"/>
            <a:ext cx="7001528" cy="4664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452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6B86B-05A8-4B23-91FF-5713D673D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018"/>
            <a:ext cx="10515600" cy="715618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82378-0A35-4E0B-B8E3-B4BE43718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017" y="821636"/>
            <a:ext cx="11900453" cy="603636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</a:t>
            </a:r>
            <a:r>
              <a:rPr lang="en-US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the transformation of concepts and ideas into useful machinery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conceive,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Engineering, Thomas Tredgold, “is the art of directing the great sources of power in nature for the use and convenience of man”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Engineering design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process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various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scientific principles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purpose of defining a device, a process, or a system in sufficient detail to permit its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realization.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Machine Design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creation of new and better machines and improving the existing ones that works safely, reliably and well.</a:t>
            </a:r>
          </a:p>
        </p:txBody>
      </p:sp>
    </p:spTree>
    <p:extLst>
      <p:ext uri="{BB962C8B-B14F-4D97-AF65-F5344CB8AC3E}">
        <p14:creationId xmlns:p14="http://schemas.microsoft.com/office/powerpoint/2010/main" val="1232653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6B86B-05A8-4B23-91FF-5713D673D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018"/>
            <a:ext cx="10515600" cy="715618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82378-0A35-4E0B-B8E3-B4BE43718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017" y="821636"/>
            <a:ext cx="11900453" cy="603636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of </a:t>
            </a:r>
            <a:r>
              <a:rPr lang="en-US" b="1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elements </a:t>
            </a:r>
            <a:r>
              <a:rPr lang="en-US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an integral part of the larger and more general field of </a:t>
            </a:r>
            <a:r>
              <a:rPr lang="en-US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mechanical design</a:t>
            </a:r>
            <a:r>
              <a:rPr lang="en-US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engineers create devices or systems to satisfy specific needs.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Mechanical devices typically involve </a:t>
            </a:r>
            <a:r>
              <a:rPr lang="en-US" b="1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moving parts </a:t>
            </a:r>
            <a:r>
              <a:rPr lang="en-US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that transmit power and accomplish </a:t>
            </a:r>
            <a:r>
              <a:rPr lang="en-US" b="1" i="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specific patterns </a:t>
            </a:r>
            <a:r>
              <a:rPr lang="en-US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 motion.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Mechanical </a:t>
            </a:r>
            <a:r>
              <a:rPr lang="en-US" b="1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en-US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composed of several mechanical </a:t>
            </a:r>
            <a:r>
              <a:rPr lang="en-US" b="1" i="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devices</a:t>
            </a:r>
            <a:r>
              <a:rPr lang="en-US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Therefore, to design mechanical devices and systems, you must be competent in the design of </a:t>
            </a:r>
            <a:r>
              <a:rPr lang="en-US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individual machine elements </a:t>
            </a:r>
            <a:r>
              <a:rPr lang="en-US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that comprise the system.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But you must also be able to </a:t>
            </a:r>
            <a:r>
              <a:rPr lang="en-US" b="1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</a:t>
            </a:r>
            <a:r>
              <a:rPr lang="en-US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several components and devices into a coordinated, robust system that meets your </a:t>
            </a:r>
            <a:r>
              <a:rPr lang="en-US" b="1" i="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customer’s needs</a:t>
            </a:r>
            <a:r>
              <a:rPr lang="en-US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810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6B86B-05A8-4B23-91FF-5713D673D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018"/>
            <a:ext cx="10515600" cy="715618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82378-0A35-4E0B-B8E3-B4BE43718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017" y="821636"/>
            <a:ext cx="11900453" cy="603636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Machine: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apparatus consisting of interrelated unit (elements) that modifies force or motion.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</a:t>
            </a:r>
            <a:r>
              <a:rPr lang="en-US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a combination of mechanisms and other components that transforms, transmits, or uses energy, load, or motion for a specific purpose.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comprises several different machine elements properly designed and arranged to work together as a whole.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is to produce a machine that not only is sufficiently rugged to function properly for a reasonable time, but also is economically feasible.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93210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6B86B-05A8-4B23-91FF-5713D673D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018"/>
            <a:ext cx="10515600" cy="715618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82378-0A35-4E0B-B8E3-B4BE43718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017" y="821636"/>
            <a:ext cx="11900453" cy="603636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element </a:t>
            </a:r>
            <a:r>
              <a:rPr lang="en-US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may </a:t>
            </a:r>
            <a:r>
              <a:rPr lang="en-US" b="1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S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 a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Normal load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transmitter: rolling-element bearings, hydrodynamic bearings, and rubbing bearings.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Torque transmitter: gears, shafts, chains, and belts.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Energy absorber: Brakes and dampers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Seal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Economics and functionality are always pressing concerns, and </a:t>
            </a:r>
            <a:r>
              <a:rPr lang="en-US" b="1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good design </a:t>
            </a:r>
            <a:r>
              <a:rPr lang="en-US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inherently means </a:t>
            </a:r>
            <a:r>
              <a:rPr lang="en-US" b="1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safe</a:t>
            </a:r>
            <a:r>
              <a:rPr lang="en-US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economical</a:t>
            </a:r>
            <a:r>
              <a:rPr lang="en-US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fu</a:t>
            </a:r>
            <a:r>
              <a:rPr lang="en-US" b="1" i="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nctional</a:t>
            </a:r>
            <a:r>
              <a:rPr lang="en-US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design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URWPalladioL-Roma"/>
              </a:rPr>
              <a:t>.</a:t>
            </a:r>
            <a:r>
              <a:rPr lang="en-US" sz="2000" dirty="0"/>
              <a:t>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283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19DC9-AF2C-40C8-B23B-4AC1161FB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2279"/>
            <a:ext cx="10515600" cy="72886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C380B-417E-4F04-830D-4B275D25A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774" y="901148"/>
            <a:ext cx="11913704" cy="578457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Machines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motion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forces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engineer’s task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define and calculate those motions, forces, and changes in energy in order to determine the sizes, shapes, and materials needed for each of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interrelated parts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machine.</a:t>
            </a:r>
          </a:p>
          <a:p>
            <a:pPr algn="ctr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IS THE ESSENCE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DESIGN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ultimate objective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mechanical design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to produce a useful product that satisfies the needs of a customer and that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reliabl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e,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economical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to manufacture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87228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0DE20-E06D-43EA-8839-8D8950FA0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9026"/>
            <a:ext cx="10515600" cy="76862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to expect during designing process?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7307B-D89E-4C32-9675-92DAE02C5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303" y="927652"/>
            <a:ext cx="11635409" cy="5771322"/>
          </a:xfr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Designing process is long (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consuming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study of existing ideas,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new idea has to be conceived.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idea is then studied (analysed) keeping in mind its commercial success and given shape in the form of drawings.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Preparation of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drawings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Availability of 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money, men and materials to turn new idea into an actual reality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6127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72300-1FF7-A9A5-7CCF-A92042151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pPr algn="ctr"/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49738C-6928-E976-6AF0-1B139906A4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327373" cy="68086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B21056-424C-F39F-144F-105AEB532A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7373" y="191869"/>
            <a:ext cx="6647408" cy="661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840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3DF45-B4EE-4993-BE97-3219257C2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45774"/>
            <a:ext cx="10424560" cy="689113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Knowledge in Machine Design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118E1-E830-4CD9-A01B-1BD415E10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34887"/>
            <a:ext cx="6096000" cy="6023114"/>
          </a:xfrm>
        </p:spPr>
        <p:txBody>
          <a:bodyPr>
            <a:noAutofit/>
          </a:bodyPr>
          <a:lstStyle/>
          <a:p>
            <a:pPr lvl="0"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KNOWLEDGE </a:t>
            </a:r>
          </a:p>
          <a:p>
            <a:pPr marL="514350" lvl="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Mathematics, </a:t>
            </a:r>
          </a:p>
          <a:p>
            <a:pPr marL="514350" lvl="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Mechanics (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Statics,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dynamics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kinematics, and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Material (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Properties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materials processing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514350" lvl="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 of Materials (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analysi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)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Theory of Machines (Machine elements)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02F9B6-7473-4ECC-9F2A-8621FA2E90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834887"/>
            <a:ext cx="6096000" cy="6023113"/>
          </a:xfrm>
        </p:spPr>
        <p:txBody>
          <a:bodyPr>
            <a:noAutofit/>
          </a:bodyPr>
          <a:lstStyle/>
          <a:p>
            <a:pPr marL="514350" indent="-5143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SKILLS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Creativity, problem solving, and project management 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Oral communication, listening, technical writing and teamwork skills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Drawing (Sketching, technical drawing, 2D and 3D CAD) and CAE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Workshop Processes 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 processes)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1960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91B10-1084-4444-B97C-E442785BC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765"/>
            <a:ext cx="10515600" cy="80838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of design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8C170-8EB5-495F-B913-59586EFD5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277" y="901148"/>
            <a:ext cx="11820939" cy="5864087"/>
          </a:xfrm>
        </p:spPr>
        <p:txBody>
          <a:bodyPr>
            <a:normAutofit/>
          </a:bodyPr>
          <a:lstStyle/>
          <a:p>
            <a:pPr marL="514350" lvl="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design.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designer’s work is concerned with adaptation of existing designs.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Needs no special knowledge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skill and can be attempted by designers of ordinary technical training.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designer only makes</a:t>
            </a: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minor modification</a:t>
            </a: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designs.</a:t>
            </a:r>
          </a:p>
          <a:p>
            <a:pPr algn="just">
              <a:lnSpc>
                <a:spcPct val="150000"/>
              </a:lnSpc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050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A7207-B625-4B8C-9601-6B7B3741B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766"/>
            <a:ext cx="10515600" cy="861392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DE2CF-245D-4266-8338-2E443B82D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954158"/>
            <a:ext cx="11608904" cy="5811076"/>
          </a:xfrm>
        </p:spPr>
        <p:txBody>
          <a:bodyPr>
            <a:normAutofit/>
          </a:bodyPr>
          <a:lstStyle/>
          <a:p>
            <a:pPr marL="514350" lvl="0" indent="-514350" algn="just">
              <a:lnSpc>
                <a:spcPct val="150000"/>
              </a:lnSpc>
              <a:buFont typeface="+mj-lt"/>
              <a:buAutoNum type="arabicPeriod" startAt="2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design.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Needs 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considerable scientific training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design ability in order to modify the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designs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a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idea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adopting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new material or different method of manufacture.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this case: though the designer starts from the existing design, but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product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 quite markedly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product.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46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06111-7DCF-4DA9-AFAC-C4B14AA7D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775"/>
            <a:ext cx="10515600" cy="715616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1A930-47BD-42CD-8722-01CB4D628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522" y="861391"/>
            <a:ext cx="11913704" cy="5850833"/>
          </a:xfrm>
        </p:spPr>
        <p:txBody>
          <a:bodyPr>
            <a:normAutofit/>
          </a:bodyPr>
          <a:lstStyle/>
          <a:p>
            <a:pPr marL="514350" lvl="0" indent="-514350" algn="just">
              <a:lnSpc>
                <a:spcPct val="150000"/>
              </a:lnSpc>
              <a:buFont typeface="+mj-lt"/>
              <a:buAutoNum type="arabicPeriod" startAt="3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design.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lot of 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technical ability and </a:t>
            </a: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creative thinking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Only those designers who have </a:t>
            </a: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qualities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sufficiently high order can take up the work of a new design.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58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06111-7DCF-4DA9-AFAC-C4B14AA7D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775"/>
            <a:ext cx="10515600" cy="71561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Factors to be considered in Machine Design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1A930-47BD-42CD-8722-01CB4D628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61391"/>
            <a:ext cx="12046226" cy="5996609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mechanism to be used? Relative arrangement of the constituent elements.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Material Forces on the elements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Size, shape and space requirements. The final weight is also a major concern.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method of manufacturing the components and their assembly.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How will it operate?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Reliability and safety aspects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Inspectability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Maintenance, cost and aesthetics of the designed product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1377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35CD4-5886-4626-B726-E99A9E3F3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34888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Considerations in Machine Design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DB4AD-4D65-4A90-9D89-C5BB1CC31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296" y="834888"/>
            <a:ext cx="11913704" cy="6023112"/>
          </a:xfrm>
        </p:spPr>
        <p:txBody>
          <a:bodyPr>
            <a:noAutofit/>
          </a:bodyPr>
          <a:lstStyle/>
          <a:p>
            <a:pPr marL="514350" lvl="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of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stresses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caused by the load: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Stress induced can be Compressive, Tensile, Shear, Bending or Torsional stress.</a:t>
            </a:r>
          </a:p>
          <a:p>
            <a:pPr marL="514350" lvl="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 of the parts or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kinematics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machine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arrangement of the parts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</a:t>
            </a:r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motion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motion of the parts may be: Rectilinear motion (unidirectional and reciprocating motions), Curvilinear motion (rotary and simple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harmonic) or Constant velocity.</a:t>
            </a:r>
          </a:p>
        </p:txBody>
      </p:sp>
    </p:spTree>
    <p:extLst>
      <p:ext uri="{BB962C8B-B14F-4D97-AF65-F5344CB8AC3E}">
        <p14:creationId xmlns:p14="http://schemas.microsoft.com/office/powerpoint/2010/main" val="2158930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781A6-3BE1-4582-A167-FA31785A0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018"/>
            <a:ext cx="10515600" cy="715618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D6675-3FD6-4EE1-BBF6-853C1C748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017" y="821636"/>
            <a:ext cx="11913705" cy="6036364"/>
          </a:xfrm>
        </p:spPr>
        <p:txBody>
          <a:bodyPr>
            <a:noAutofit/>
          </a:bodyPr>
          <a:lstStyle/>
          <a:p>
            <a:pPr marL="514350" lvl="0" indent="-514350" algn="just">
              <a:lnSpc>
                <a:spcPct val="150000"/>
              </a:lnSpc>
              <a:buFont typeface="+mj-lt"/>
              <a:buAutoNum type="arabicPeriod" startAt="3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 of materials: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Knowledge of the properties of  materials and their behaviour under working conditions.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Properties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materials: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durability, flexibility, weight, resistance to heat and corrosion, ability to cast,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welded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hardened,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machinability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electrical conductivity, etc.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Factors to be considered: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availability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suitability for the working conditions and 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cost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material.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0855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EA9EE-098A-4BCB-B5EE-DAF1F67E0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4212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C7526-A78A-4F41-A6EB-A79C67BB7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052" y="742121"/>
            <a:ext cx="11741426" cy="6115879"/>
          </a:xfrm>
        </p:spPr>
        <p:txBody>
          <a:bodyPr>
            <a:noAutofit/>
          </a:bodyPr>
          <a:lstStyle/>
          <a:p>
            <a:pPr marL="514350" lvl="0" indent="-514350" algn="just">
              <a:lnSpc>
                <a:spcPct val="100000"/>
              </a:lnSpc>
              <a:buFont typeface="+mj-lt"/>
              <a:buAutoNum type="arabicPeriod" startAt="4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size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parts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necessary to know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forces which the part must sustain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anticipate any sudden impact load which may cause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failure.</a:t>
            </a:r>
          </a:p>
          <a:p>
            <a:pPr marL="514350" lvl="0" indent="-514350" algn="just">
              <a:lnSpc>
                <a:spcPct val="150000"/>
              </a:lnSpc>
              <a:buFont typeface="+mj-lt"/>
              <a:buAutoNum type="arabicPeriod" startAt="5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Frictional resistance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lubrication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of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frictional resistance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be 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noted</a:t>
            </a:r>
          </a:p>
          <a:p>
            <a:pPr marL="514350" lvl="0" indent="-514350" algn="just">
              <a:lnSpc>
                <a:spcPct val="150000"/>
              </a:lnSpc>
              <a:buFont typeface="+mj-lt"/>
              <a:buAutoNum type="arabicPeriod" startAt="6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Convenient and economical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starting, controlling and stopping levers should be located on the basis of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convenient handling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adjustment for wear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be provided</a:t>
            </a:r>
          </a:p>
        </p:txBody>
      </p:sp>
    </p:spTree>
    <p:extLst>
      <p:ext uri="{BB962C8B-B14F-4D97-AF65-F5344CB8AC3E}">
        <p14:creationId xmlns:p14="http://schemas.microsoft.com/office/powerpoint/2010/main" val="173334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8F654-F670-4F13-9400-373A232C0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2887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4FBCF-469F-4FD0-9363-0488775F0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043" y="728871"/>
            <a:ext cx="11794435" cy="6129129"/>
          </a:xfrm>
        </p:spPr>
        <p:txBody>
          <a:bodyPr>
            <a:noAutofit/>
          </a:bodyPr>
          <a:lstStyle/>
          <a:p>
            <a:pPr marL="457200" lvl="0" indent="-457200" algn="just">
              <a:lnSpc>
                <a:spcPct val="150000"/>
              </a:lnSpc>
              <a:buFont typeface="+mj-lt"/>
              <a:buAutoNum type="arabicPeriod" startAt="7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standard parts: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use of standard parts is closely 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related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cost,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Should be used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whenever possible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Parts such as gears, bolt and nuts, motors, belts, bearings and other parts are selected. </a:t>
            </a:r>
          </a:p>
          <a:p>
            <a:pPr marL="457200" lvl="0" indent="-457200" algn="just">
              <a:lnSpc>
                <a:spcPct val="150000"/>
              </a:lnSpc>
              <a:buFont typeface="+mj-lt"/>
              <a:buAutoNum type="arabicPeriod" startAt="8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of operation: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Any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moving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of a machine which is within the zone of a worker is considered an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accident hazard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may be the cause of an injury.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Thus, during design process, safety has to be considered to avoid unnecessary accident.</a:t>
            </a:r>
          </a:p>
        </p:txBody>
      </p:sp>
    </p:spTree>
    <p:extLst>
      <p:ext uri="{BB962C8B-B14F-4D97-AF65-F5344CB8AC3E}">
        <p14:creationId xmlns:p14="http://schemas.microsoft.com/office/powerpoint/2010/main" val="1765226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26172-A246-4E86-A6B4-FE1360C7C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018"/>
            <a:ext cx="10515600" cy="768626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879DE-F278-4C72-A8B4-1AAA4CFFA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530" y="874644"/>
            <a:ext cx="11860696" cy="5983356"/>
          </a:xfrm>
        </p:spPr>
        <p:txBody>
          <a:bodyPr>
            <a:noAutofit/>
          </a:bodyPr>
          <a:lstStyle/>
          <a:p>
            <a:pPr marL="514350" lvl="0" indent="-514350" algn="just">
              <a:lnSpc>
                <a:spcPct val="150000"/>
              </a:lnSpc>
              <a:buFont typeface="+mj-lt"/>
              <a:buAutoNum type="arabicPeriod" startAt="9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Workshop facilities.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design engineer should be familiar with the limitations of his employer’s workshop, in order to avoid the unnecessary cost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lvl="0" indent="-514350" algn="just">
              <a:lnSpc>
                <a:spcPct val="150000"/>
              </a:lnSpc>
              <a:buFont typeface="+mj-lt"/>
              <a:buAutoNum type="arabicPeriod" startAt="1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machines to be manufactured.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engineering and shop costs which are called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 charges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overhead expenses are distributed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the number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articles to be manufactured.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only a few articles are to be made, extra expenses are not justified unless the machine is large or of some special design. </a:t>
            </a:r>
          </a:p>
        </p:txBody>
      </p:sp>
    </p:spTree>
    <p:extLst>
      <p:ext uri="{BB962C8B-B14F-4D97-AF65-F5344CB8AC3E}">
        <p14:creationId xmlns:p14="http://schemas.microsoft.com/office/powerpoint/2010/main" val="4076882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3746E-BEB0-4ED3-8632-78515910E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765"/>
            <a:ext cx="10515600" cy="77591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EC408-FBDB-462C-8370-07A77B92AD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180" y="868680"/>
            <a:ext cx="11612880" cy="5989320"/>
          </a:xfrm>
        </p:spPr>
        <p:txBody>
          <a:bodyPr>
            <a:noAutofit/>
          </a:bodyPr>
          <a:lstStyle/>
          <a:p>
            <a:pPr marL="514350" lvl="0" indent="-514350" algn="just">
              <a:lnSpc>
                <a:spcPct val="160000"/>
              </a:lnSpc>
              <a:buFont typeface="+mj-lt"/>
              <a:buAutoNum type="arabicPeriod" startAt="11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of construction: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aim of design engineer under all conditions, should be to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manufacturing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minimum.</a:t>
            </a:r>
          </a:p>
          <a:p>
            <a:pPr marL="514350" lvl="0" indent="-514350" algn="just">
              <a:lnSpc>
                <a:spcPct val="160000"/>
              </a:lnSpc>
              <a:buFont typeface="+mj-lt"/>
              <a:buAutoNum type="arabicPeriod" startAt="12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Assembling.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Every machine must be assembled as a unit before it can function.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Other factors to be considered: reliability, friction, usability, utility, cost, life, noise, thermal properties, surface, lubrication, marketability, maintenance, volume, liability, recovery.</a:t>
            </a:r>
          </a:p>
        </p:txBody>
      </p:sp>
    </p:spTree>
    <p:extLst>
      <p:ext uri="{BB962C8B-B14F-4D97-AF65-F5344CB8AC3E}">
        <p14:creationId xmlns:p14="http://schemas.microsoft.com/office/powerpoint/2010/main" val="2561516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95580-78F6-4C15-B7BD-C5ED1593C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05741"/>
            <a:ext cx="3932237" cy="781684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82832-FD9D-4352-A907-5EAED48F8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9338" y="702365"/>
            <a:ext cx="5552661" cy="6147697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must be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Competitive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Usable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Manufacturable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Comply with codes and standards</a:t>
            </a:r>
          </a:p>
          <a:p>
            <a:pPr marL="571500" indent="-571500">
              <a:buFont typeface="+mj-lt"/>
              <a:buAutoNum type="romanL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950209-1C8F-420E-8382-D4D5B55076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995363"/>
            <a:ext cx="6639338" cy="5862637"/>
          </a:xfrm>
        </p:spPr>
        <p:txBody>
          <a:bodyPr>
            <a:normAutofit lnSpcReduction="10000"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is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innovative: creating new / improving existing product.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Highly iterative: involve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refining multiple version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product until the desired outcome is achieved.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Decision making process: series of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choices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i.e., selection of materials, </a:t>
            </a:r>
            <a:r>
              <a:rPr lang="en-US" sz="2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loading and kinematics.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81392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639DA-8F23-47B6-97C6-2D7E49FDD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775"/>
            <a:ext cx="10515600" cy="834886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 of Mechanical Design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CA47B-00B9-4696-98FF-74882FE90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91" y="980661"/>
            <a:ext cx="11728174" cy="5731563"/>
          </a:xfrm>
        </p:spPr>
        <p:txBody>
          <a:bodyPr>
            <a:normAutofit/>
          </a:bodyPr>
          <a:lstStyle/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Solving a 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Provide solution to specific problems, such as addressing user needs, reducing cost or improving the performance of the product.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best shapes for a product: creating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appealing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drawings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aid the manufacturing process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savings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923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5ADE4-7A77-4CBA-A1F4-0606338E3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119271"/>
            <a:ext cx="11498580" cy="702364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99344AF-0ECA-4451-8924-D9B8E2CCA8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8796477"/>
              </p:ext>
            </p:extLst>
          </p:nvPr>
        </p:nvGraphicFramePr>
        <p:xfrm>
          <a:off x="320040" y="1378206"/>
          <a:ext cx="11566829" cy="4905829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5791200">
                  <a:extLst>
                    <a:ext uri="{9D8B030D-6E8A-4147-A177-3AD203B41FA5}">
                      <a16:colId xmlns:a16="http://schemas.microsoft.com/office/drawing/2014/main" val="3207992406"/>
                    </a:ext>
                  </a:extLst>
                </a:gridCol>
                <a:gridCol w="2464905">
                  <a:extLst>
                    <a:ext uri="{9D8B030D-6E8A-4147-A177-3AD203B41FA5}">
                      <a16:colId xmlns:a16="http://schemas.microsoft.com/office/drawing/2014/main" val="1838509100"/>
                    </a:ext>
                  </a:extLst>
                </a:gridCol>
                <a:gridCol w="3310724">
                  <a:extLst>
                    <a:ext uri="{9D8B030D-6E8A-4147-A177-3AD203B41FA5}">
                      <a16:colId xmlns:a16="http://schemas.microsoft.com/office/drawing/2014/main" val="2211604996"/>
                    </a:ext>
                  </a:extLst>
                </a:gridCol>
              </a:tblGrid>
              <a:tr h="959496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DESIGNED WORK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 DESIGNED WORK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0805657"/>
                  </a:ext>
                </a:extLst>
              </a:tr>
              <a:tr h="683794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Followed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Followed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504079"/>
                  </a:ext>
                </a:extLst>
              </a:tr>
              <a:tr h="636104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and precision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Followed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 not followed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4985249"/>
                  </a:ext>
                </a:extLst>
              </a:tr>
              <a:tr h="665094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Ergonomic and economic factors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Considered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 not considered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5861142"/>
                  </a:ext>
                </a:extLst>
              </a:tr>
              <a:tr h="662608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Details drawing and size of machine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Considered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considered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54643"/>
                  </a:ext>
                </a:extLst>
              </a:tr>
              <a:tr h="636124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Tolerance and limits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Considered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 not considered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6522129"/>
                  </a:ext>
                </a:extLst>
              </a:tr>
              <a:tr h="662609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cost and 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Considered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 not considered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23842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6384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84421-AB11-486B-8399-07BE64BAB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765"/>
            <a:ext cx="10515600" cy="80838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procedure (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Procedure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5D9EF-7B77-488B-901A-78DF63B37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530" y="901148"/>
            <a:ext cx="11860696" cy="5956852"/>
          </a:xfrm>
        </p:spPr>
        <p:txBody>
          <a:bodyPr>
            <a:noAutofit/>
          </a:bodyPr>
          <a:lstStyle/>
          <a:p>
            <a:pPr marL="514350" lvl="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Recognition of need: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of all, make a complete statement of the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indicating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aim or purpose for which the machine is to be designed.</a:t>
            </a:r>
          </a:p>
          <a:p>
            <a:pPr marL="514350" lvl="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Synthesis (Mechanisms):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possible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mechanism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group of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 will give the desired motion.</a:t>
            </a:r>
          </a:p>
          <a:p>
            <a:pPr marL="514350" lvl="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forces: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forces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acting on each member of the machine and the energy transmitted by each member.</a:t>
            </a:r>
          </a:p>
          <a:p>
            <a:pPr algn="just">
              <a:lnSpc>
                <a:spcPct val="150000"/>
              </a:lnSpc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67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3F0FB-542E-4B25-9127-51E30024B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765"/>
            <a:ext cx="10515600" cy="775915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5E73F-4316-4BF9-A747-FC3E3BBB1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529" y="868680"/>
            <a:ext cx="11767931" cy="5989320"/>
          </a:xfrm>
        </p:spPr>
        <p:txBody>
          <a:bodyPr>
            <a:normAutofit/>
          </a:bodyPr>
          <a:lstStyle/>
          <a:p>
            <a:pPr marL="514350" indent="-514350" algn="just">
              <a:lnSpc>
                <a:spcPct val="160000"/>
              </a:lnSpc>
              <a:buFont typeface="+mj-lt"/>
              <a:buAutoNum type="arabicPeriod" startAt="4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 selection: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Select the material best suited for the machine.</a:t>
            </a:r>
          </a:p>
          <a:p>
            <a:pPr marL="514350" lvl="0" indent="-514350" algn="just">
              <a:lnSpc>
                <a:spcPct val="160000"/>
              </a:lnSpc>
              <a:buFont typeface="+mj-lt"/>
              <a:buAutoNum type="arabicPeriod" startAt="4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of elements (Size and Stresses):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size of each member of the machine by considering the force acting on the member and the permissible stresses for the material used. </a:t>
            </a:r>
          </a:p>
          <a:p>
            <a:pPr marL="514350" lvl="0" indent="-514350" algn="just">
              <a:lnSpc>
                <a:spcPct val="160000"/>
              </a:lnSpc>
              <a:buFont typeface="+mj-lt"/>
              <a:buAutoNum type="arabicPeriod" startAt="4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Modification: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 the size of the member to agree with the past experience and judgment to facilitate manufacture and reduce overall cost.</a:t>
            </a:r>
          </a:p>
          <a:p>
            <a:pPr>
              <a:lnSpc>
                <a:spcPct val="160000"/>
              </a:lnSpc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156236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9BE80-B952-43FB-B17A-C28CE9189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783"/>
            <a:ext cx="10515600" cy="944217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0962C-DE11-4A87-A7A0-DA9B972D8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025" y="1143000"/>
            <a:ext cx="11834191" cy="5715000"/>
          </a:xfrm>
        </p:spPr>
        <p:txBody>
          <a:bodyPr>
            <a:normAutofit/>
          </a:bodyPr>
          <a:lstStyle/>
          <a:p>
            <a:pPr marL="514350" lvl="0" indent="-514350" algn="just">
              <a:lnSpc>
                <a:spcPct val="150000"/>
              </a:lnSpc>
              <a:buFont typeface="+mj-lt"/>
              <a:buAutoNum type="arabicPeriod" startAt="7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drawing: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 the detailed drawing of each component and the assembly of the machine with complete specification for the manufacturing processes suggested.</a:t>
            </a:r>
          </a:p>
          <a:p>
            <a:pPr marL="514350" lvl="0" indent="-514350" algn="just">
              <a:lnSpc>
                <a:spcPct val="150000"/>
              </a:lnSpc>
              <a:buFont typeface="+mj-lt"/>
              <a:buAutoNum type="arabicPeriod" startAt="7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Production.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component, as per the drawing, is manufactured in the workshop.</a:t>
            </a:r>
          </a:p>
        </p:txBody>
      </p:sp>
    </p:spTree>
    <p:extLst>
      <p:ext uri="{BB962C8B-B14F-4D97-AF65-F5344CB8AC3E}">
        <p14:creationId xmlns:p14="http://schemas.microsoft.com/office/powerpoint/2010/main" val="336256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26CD4-E8F5-48EB-9A7C-E04E73496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644"/>
            <a:ext cx="10515600" cy="801756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a good designer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23A48-4979-4381-A9E0-47DE8A360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765" y="914400"/>
            <a:ext cx="11953461" cy="5830957"/>
          </a:xfrm>
        </p:spPr>
        <p:txBody>
          <a:bodyPr>
            <a:normAutofit/>
          </a:bodyPr>
          <a:lstStyle/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and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skills: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CAD software such CATIA, Solidworks, Autodesk inventor, CFD and analysis software.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Creative and Analytical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thinking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Push beyond of what currently exists.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Excellence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work: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engineers and non-engineers orally and in writing.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solving (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to details: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and precision.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089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BCB08-C983-4EDA-8555-A9435FEF6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149"/>
            <a:ext cx="10515600" cy="74874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Terminology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779504-5F1A-41CB-B351-55DF9D7F5D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2522" y="887896"/>
                <a:ext cx="11767930" cy="5830956"/>
              </a:xfrm>
            </p:spPr>
            <p:txBody>
              <a:bodyPr>
                <a:normAutofit/>
              </a:bodyPr>
              <a:lstStyle/>
              <a:p>
                <a:pPr lvl="0" algn="just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STRESS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just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some </a:t>
                </a:r>
                <a:r>
                  <a:rPr lang="en-US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external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system of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forces or loads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 on a body, the</a:t>
                </a:r>
                <a:r>
                  <a:rPr lang="en-US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internal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forces (equal and opposite) are set up at various sections of the body, which 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resist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external forces. </a:t>
                </a:r>
              </a:p>
              <a:p>
                <a:pPr lvl="0" algn="just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This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internal force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 unit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area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any section of the body is known as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Unit Stress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 simply a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STRESS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𝒔𝒕𝒓𝒆𝒔𝒔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skw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𝑭</m:t>
                          </m:r>
                        </m:num>
                        <m:den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 algn="just">
                  <a:lnSpc>
                    <a:spcPct val="150000"/>
                  </a:lnSpc>
                  <a:buNone/>
                </a:pP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 =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Force or load acting on a body and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=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Cross- sectional area of the body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779504-5F1A-41CB-B351-55DF9D7F5D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2522" y="887896"/>
                <a:ext cx="11767930" cy="5830956"/>
              </a:xfrm>
              <a:blipFill>
                <a:blip r:embed="rId2"/>
                <a:stretch>
                  <a:fillRect l="-933" r="-1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0056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BCB08-C983-4EDA-8555-A9435FEF6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149"/>
            <a:ext cx="10515600" cy="74874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779504-5F1A-41CB-B351-55DF9D7F5D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2522" y="887896"/>
                <a:ext cx="11767930" cy="5830956"/>
              </a:xfrm>
            </p:spPr>
            <p:txBody>
              <a:bodyPr>
                <a:noAutofit/>
              </a:bodyPr>
              <a:lstStyle/>
              <a:p>
                <a:pPr lvl="0" algn="just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S.I unit of the stress is 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Pascal (Pa)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such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 </m:t>
                    </m:r>
                    <m:f>
                      <m:fPr>
                        <m:type m:val="skw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in actual practice bigger units such as megapascal and gigapascal are used.</a:t>
                </a:r>
              </a:p>
              <a:p>
                <a:pPr lvl="0" algn="just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STRAIN</a:t>
                </a:r>
              </a:p>
              <a:p>
                <a:pPr algn="just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a system of forces or loads act on a body, it undergoes some deformation. This deformation per unit original dimension is known as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Unit Strain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 simply a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STRAIN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𝑠𝑡𝑟𝑎𝑖𝑛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skw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𝑐h𝑎𝑛𝑔𝑒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𝑙𝑒𝑛𝑔𝑡h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                        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𝑜𝑟𝑖𝑔𝑖𝑛𝑎𝑙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𝑙𝑒𝑛𝑔h𝑡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𝑏𝑜𝑑𝑦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algn="just">
                  <a:lnSpc>
                    <a:spcPct val="150000"/>
                  </a:lnSpc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779504-5F1A-41CB-B351-55DF9D7F5D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2522" y="887896"/>
                <a:ext cx="11767930" cy="5830956"/>
              </a:xfrm>
              <a:blipFill>
                <a:blip r:embed="rId2"/>
                <a:stretch>
                  <a:fillRect l="-933" r="-1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321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C0809-7F74-4CEA-A4D8-8CC1216BF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2523"/>
            <a:ext cx="10515600" cy="768625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And Strain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6B1E6-ABBA-44B6-9872-D388FCFE1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91" y="901148"/>
            <a:ext cx="11675166" cy="5824329"/>
          </a:xfrm>
        </p:spPr>
        <p:txBody>
          <a:bodyPr>
            <a:normAutofit/>
          </a:bodyPr>
          <a:lstStyle/>
          <a:p>
            <a:pPr marL="514350" lvl="0" indent="-514350">
              <a:lnSpc>
                <a:spcPct val="150000"/>
              </a:lnSpc>
              <a:buFont typeface="+mj-lt"/>
              <a:buAutoNum type="arabi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Tensile stress and strain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rabi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Compressive stress and strain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rabi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Young’s modulus or Modulus of elasticity 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arenR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Hooke's law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states that when a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 is loaded 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 elastic limit,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stress is directly proportional to strain.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rabi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Shear stress and strain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rabi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Shear modulus or Modulus of rigidity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847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0FBAC-5FB1-4BD1-AE56-1853A2176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"/>
            <a:ext cx="3771969" cy="768626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FB597A1A-F950-08D9-F8A0-6D0E6F2275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59450" y="1709737"/>
            <a:ext cx="5019675" cy="34290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14ECA6-5BA9-4F34-8803-DB41D1AF12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987425"/>
            <a:ext cx="4611757" cy="5870575"/>
          </a:xfrm>
        </p:spPr>
        <p:txBody>
          <a:bodyPr>
            <a:normAutofit lnSpcReduction="10000"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Stress-Strain diagram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Proportional limit, Elastic limit, Yield point, Ultimate stress, Breaking stress, Percentage reduction in area and percentage elongation.</a:t>
            </a:r>
          </a:p>
          <a:p>
            <a:pPr algn="just">
              <a:lnSpc>
                <a:spcPct val="150000"/>
              </a:lnSpc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9664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182FD-CE42-462A-BA86-B3AE31CF2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77239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 of safety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35D2F-8623-4379-859B-B3E520278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017" y="777240"/>
            <a:ext cx="11887200" cy="608076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Working Stress: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designing machine parts, it is desirable to keep the stress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than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maximum/ ultimate stress at which failure of the material takes place.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stress is known as the 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working/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stress.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also known as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allowable stress.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failure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not meant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actual breaking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material,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Some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parts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said to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they have 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plastic deformation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in them.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9858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84537-66B3-45E0-BC17-5007AF5BA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2279"/>
            <a:ext cx="10515600" cy="821634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1EE03E-9275-4B91-B832-729709096F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5043" y="993913"/>
                <a:ext cx="11714922" cy="5864087"/>
              </a:xfrm>
            </p:spPr>
            <p:txBody>
              <a:bodyPr>
                <a:normAutofit fontScale="92500"/>
              </a:bodyPr>
              <a:lstStyle/>
              <a:p>
                <a:pPr algn="just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Factor of safety: 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ratio of the maximum stress to the working stress.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Cambria Math" panose="02040503050406030204" pitchFamily="18" charset="0"/>
                        </a:rPr>
                        <m:t>𝑓𝑎𝑐𝑡𝑜𝑟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𝑠𝑎𝑓𝑒𝑡𝑦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𝑚𝑎𝑥𝑖𝑚𝑢𝑚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𝑠𝑡𝑟𝑒𝑠𝑠</m:t>
                          </m:r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𝑤𝑜𝑟𝑘𝑖𝑛𝑔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𝑜𝑟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𝑎𝑙𝑙𝑜𝑤𝑎𝑏𝑙𝑒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𝑠𝑡𝑟𝑒𝑠𝑠</m:t>
                          </m:r>
                        </m:den>
                      </m:f>
                    </m:oMath>
                  </m:oMathPara>
                </a14:m>
                <a:endPara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case of </a:t>
                </a:r>
                <a:r>
                  <a:rPr lang="en-US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ductile material 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e.g. mild steel, where yield point is clearly defined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Cambria Math" panose="02040503050406030204" pitchFamily="18" charset="0"/>
                        </a:rPr>
                        <m:t>𝑓𝑎𝑐𝑡𝑜𝑟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𝑠𝑎𝑓𝑒𝑡𝑦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𝑦𝑖𝑒𝑙𝑑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𝑝𝑜𝑖𝑛𝑡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𝑠𝑡𝑟𝑒𝑠𝑠</m:t>
                          </m:r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𝑤𝑜𝑟𝑘𝑖𝑛𝑔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𝑜𝑟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𝑎𝑙𝑙𝑜𝑤𝑎𝑏𝑙𝑒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𝑠𝑡𝑟𝑒𝑠𝑠</m:t>
                          </m:r>
                        </m:den>
                      </m:f>
                    </m:oMath>
                  </m:oMathPara>
                </a14:m>
                <a:endPara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1EE03E-9275-4B91-B832-729709096F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5043" y="993913"/>
                <a:ext cx="11714922" cy="5864087"/>
              </a:xfrm>
              <a:blipFill>
                <a:blip r:embed="rId2"/>
                <a:stretch>
                  <a:fillRect l="-1041" r="-12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8480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483D9-8D8C-448E-A0D7-48095E28E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5035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0126F9-A1C8-41FA-A2C0-EF8F9F7491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7322" y="1280160"/>
                <a:ext cx="11476382" cy="5465197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case of </a:t>
                </a:r>
                <a:r>
                  <a:rPr lang="en-US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brittle material 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e.g. cast iron, where yield point is not well defined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Cambria Math" panose="02040503050406030204" pitchFamily="18" charset="0"/>
                        </a:rPr>
                        <m:t>𝑓𝑎𝑐𝑡𝑜𝑟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𝑠𝑎𝑓𝑒𝑡𝑦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𝑢𝑙𝑡𝑖𝑚𝑎𝑡𝑒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𝑠𝑡𝑟𝑒𝑠𝑠</m:t>
                          </m:r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𝑤𝑜𝑟𝑘𝑖𝑛𝑔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𝑜𝑟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𝑎𝑙𝑙𝑜𝑤𝑎𝑏𝑙𝑒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𝑠𝑡𝑟𝑒𝑠𝑠</m:t>
                          </m:r>
                        </m:den>
                      </m:f>
                    </m:oMath>
                  </m:oMathPara>
                </a14:m>
                <a:endPara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endPara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0126F9-A1C8-41FA-A2C0-EF8F9F7491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7322" y="1280160"/>
                <a:ext cx="11476382" cy="5465197"/>
              </a:xfrm>
              <a:blipFill>
                <a:blip r:embed="rId2"/>
                <a:stretch>
                  <a:fillRect l="-1222" r="-13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2330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4A2C1-2291-4A82-A1A6-EF1E6D4DF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271"/>
            <a:ext cx="10515600" cy="768625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 Affecting Factor of Safety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EA9CB-8830-40F0-8DC1-7865BBE22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043" y="887896"/>
            <a:ext cx="11820940" cy="5850833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Proper factor of safety selection depends on</a:t>
            </a:r>
          </a:p>
          <a:p>
            <a:pPr marL="571500" lvl="0" indent="-571500">
              <a:lnSpc>
                <a:spcPct val="150000"/>
              </a:lnSpc>
              <a:buFont typeface="+mj-lt"/>
              <a:buAutoNum type="romanL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material,</a:t>
            </a:r>
          </a:p>
          <a:p>
            <a:pPr marL="571500" lvl="0" indent="-571500">
              <a:lnSpc>
                <a:spcPct val="150000"/>
              </a:lnSpc>
              <a:buFont typeface="+mj-lt"/>
              <a:buAutoNum type="romanL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 of manufacture,</a:t>
            </a:r>
          </a:p>
          <a:p>
            <a:pPr marL="571500" lvl="0" indent="-571500">
              <a:lnSpc>
                <a:spcPct val="150000"/>
              </a:lnSpc>
              <a:buFont typeface="+mj-lt"/>
              <a:buAutoNum type="romanL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Type of stress, </a:t>
            </a:r>
          </a:p>
          <a:p>
            <a:pPr marL="571500" lvl="0" indent="-571500">
              <a:lnSpc>
                <a:spcPct val="150000"/>
              </a:lnSpc>
              <a:buFont typeface="+mj-lt"/>
              <a:buAutoNum type="romanL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service conditions,</a:t>
            </a:r>
          </a:p>
          <a:p>
            <a:pPr marL="571500" lvl="0" indent="-571500">
              <a:lnSpc>
                <a:spcPct val="150000"/>
              </a:lnSpc>
              <a:buFont typeface="+mj-lt"/>
              <a:buAutoNum type="romanL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 of the parts.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1939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069BD-6E7E-4D8C-AD50-12874273C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37259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48F4B-D7E0-4CCC-AA1A-A07B85030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37260"/>
            <a:ext cx="12192000" cy="592074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selecting a proper factor of safety, a design engineer should consider the following factors</a:t>
            </a:r>
          </a:p>
          <a:p>
            <a:pPr marL="514350" lvl="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 properties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reliability of the properties of the material and applied load </a:t>
            </a:r>
          </a:p>
          <a:p>
            <a:pPr marL="514350" lvl="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 of uncertainty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certainty as to exact mode of failure </a:t>
            </a:r>
          </a:p>
          <a:p>
            <a:pPr marL="514350" lvl="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extent of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localized stresses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 stresses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up during manufacture</a:t>
            </a:r>
          </a:p>
          <a:p>
            <a:pPr marL="514350" lvl="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Consequence of failure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extent of loss of life and property if failure occurs.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102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1DF51-043C-4F90-B746-BFFFBB593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22959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6045D-1CA1-4C8D-AA6D-F00F9C912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330" y="822960"/>
            <a:ext cx="11171583" cy="5153769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There are two ways in which </a:t>
            </a: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stress are acting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machine parts 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Stresses due to static loading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Stress due to fluctuating or alternating loads (variable stress)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Only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parts are subjected to </a:t>
            </a: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 loading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stress is constant.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Examples of static loading: seating on a chair, load on structure.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164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1DF51-043C-4F90-B746-BFFFBB593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22959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6045D-1CA1-4C8D-AA6D-F00F9C912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026" y="822960"/>
            <a:ext cx="11865334" cy="603504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Most of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parts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(such as axles, shafts, crankshafts, connecting rods, springs, pinion teeth etc.) are subjected to </a:t>
            </a: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 or alternating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a machine parts is under fluctuating load it will lead to cyclic stress (maximum and minimum stress).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equations for an element against static load is different with that against fluctuating load.</a:t>
            </a:r>
          </a:p>
        </p:txBody>
      </p:sp>
    </p:spTree>
    <p:extLst>
      <p:ext uri="{BB962C8B-B14F-4D97-AF65-F5344CB8AC3E}">
        <p14:creationId xmlns:p14="http://schemas.microsoft.com/office/powerpoint/2010/main" val="1972668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0BA8E-2DA8-A398-EE31-9B6ECE160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D23D5F-7322-7B19-61FE-5ADDB6467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237" y="3309921"/>
            <a:ext cx="9526" cy="2381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B4E559-A366-E7F3-D8D8-AA93579BEE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0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599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0BA8E-2DA8-A398-EE31-9B6ECE160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D23D5F-7322-7B19-61FE-5ADDB6467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237" y="3309921"/>
            <a:ext cx="9526" cy="238158"/>
          </a:xfrm>
          <a:prstGeom prst="rect">
            <a:avLst/>
          </a:prstGeom>
        </p:spPr>
      </p:pic>
      <p:pic>
        <p:nvPicPr>
          <p:cNvPr id="1026" name="Picture 2" descr="Fatigue Stress Action Types - Roy Mech">
            <a:extLst>
              <a:ext uri="{FF2B5EF4-FFF2-40B4-BE49-F238E27FC236}">
                <a16:creationId xmlns:a16="http://schemas.microsoft.com/office/drawing/2014/main" id="{C28EE039-CF46-DD68-2622-8F9B58BD15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3473" y="1662619"/>
            <a:ext cx="6674860" cy="3104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8564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FE1D0-1223-4F77-89EC-1E8FBFEE9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5015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against static load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B96F9-3BC2-4FD4-97D7-0C02D68C2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0140"/>
            <a:ext cx="11353800" cy="5737860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load is constant over a certain amount of time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is this member going to fail?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B9E02-4036-9410-7F7B-3F6074E1FA3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0" t="18265" b="9854"/>
          <a:stretch/>
        </p:blipFill>
        <p:spPr>
          <a:xfrm>
            <a:off x="838200" y="1785571"/>
            <a:ext cx="11097813" cy="2521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657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FE1D0-1223-4F77-89EC-1E8FBFEE9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5015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under static load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B96F9-3BC2-4FD4-97D7-0C02D68C2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835" y="1120139"/>
            <a:ext cx="11211339" cy="5372735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Types of failure that occur when a machine is subjected to static load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Yielding: </a:t>
            </a:r>
            <a:r>
              <a:rPr lang="en-US" sz="32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the </a:t>
            </a:r>
            <a:r>
              <a:rPr lang="en-US" sz="3200" b="0" i="0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failure of a component due to an applied stress that is greater than the material's yield stress</a:t>
            </a:r>
            <a:r>
              <a:rPr lang="en-US" sz="32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Hence 'yielding', and which does not necessarily cause fracture.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Fracture: </a:t>
            </a:r>
            <a:r>
              <a:rPr lang="en-US" sz="32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 </a:t>
            </a:r>
            <a:r>
              <a:rPr lang="en-US" sz="3200" b="0" i="0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form of failure where the material separates in pieces due to stress.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4159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FE1D0-1223-4F77-89EC-1E8FBFEE9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5015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Cyclic Stresses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B96F9-3BC2-4FD4-97D7-0C02D68C2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0140"/>
            <a:ext cx="11353800" cy="5737860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Consider a rotating beam of circular cross-section and carrying a load W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Cyclic Stress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type of stress that occurs when material is subjected to repeated loading and unloading cycles.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FB2CF6-FE6E-47B1-9321-BA45FC8A83F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200400" y="3429000"/>
            <a:ext cx="6972300" cy="328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040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31E62-2DAC-4109-A724-E4F96BBE2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530"/>
            <a:ext cx="10515600" cy="797450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AAEEC-C866-4102-9F22-583AFE57B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835" y="982980"/>
            <a:ext cx="11141765" cy="4980498"/>
          </a:xfrm>
        </p:spPr>
        <p:txBody>
          <a:bodyPr>
            <a:norm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 induces stresses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beam which are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cyclic in nature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Upper fibres of the beam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(i.e. at point A) are under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compressive stress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lower fibres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(i.e. at point B) are under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tensile stress.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half a revolution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point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occupies the position of point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 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occupies the position of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 B.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Thus, the point B is now under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compressive stress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point A under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tensile stress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0357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95C31-6C58-4442-8578-AFBB50930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95129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28977-4851-456E-86DC-9A4FB15B4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795130"/>
            <a:ext cx="11781183" cy="6062869"/>
          </a:xfrm>
        </p:spPr>
        <p:txBody>
          <a:bodyPr>
            <a:norm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Stresses which vary from one value of compressive to the same value of tensile 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vice versa,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known as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completely reversed 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cyclic stresses.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kind of cyclic stress is developed in many rotating machine parts that are carrying a constant bending load, Example: stress experienced by the gear of a car transmission.</a:t>
            </a:r>
            <a:endParaRPr lang="en-US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33F2CA-A023-2870-8FCB-48A1025376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2996" y="3684198"/>
            <a:ext cx="6505635" cy="3173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053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37B5B-DFED-4F52-AE5E-775DD31E7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775"/>
            <a:ext cx="10515600" cy="702364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2D687-CF11-48E5-A658-45D89DB61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565" y="848140"/>
            <a:ext cx="11535355" cy="5618922"/>
          </a:xfrm>
        </p:spPr>
        <p:txBody>
          <a:bodyPr>
            <a:norm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stresses which vary from a 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 value</a:t>
            </a:r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value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same nature, (i.e. tensile or compressive) are called </a:t>
            </a: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fluctuating stresses.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stress experienced by the blade of wind turbine.</a:t>
            </a:r>
            <a:endParaRPr lang="en-US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CDE8B7-BD15-ADE4-4B5B-E2D08205DF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8370" y="3028057"/>
            <a:ext cx="5601689" cy="3829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73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37B5B-DFED-4F52-AE5E-775DD31E7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775"/>
            <a:ext cx="10515600" cy="702364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2D687-CF11-48E5-A658-45D89DB61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565" y="848140"/>
            <a:ext cx="11535355" cy="5618922"/>
          </a:xfrm>
        </p:spPr>
        <p:txBody>
          <a:bodyPr>
            <a:norm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stresses which vary from 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</a:t>
            </a:r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 certain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value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called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repeated stresses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Example: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experienced by car suspension system on rough road.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EB2127-216B-664C-99AB-69F08400B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826" y="3154261"/>
            <a:ext cx="7909924" cy="370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299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BE70D-4334-4C74-9CA3-87F8677F7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2175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77B22-A3CD-4BD6-B7BF-54E3F6486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531" y="1257300"/>
            <a:ext cx="11168270" cy="540854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stresses which vary from a </a:t>
            </a:r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 value</a:t>
            </a:r>
            <a:r>
              <a:rPr lang="en-US" sz="3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value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opposite nature are called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alternating stresses.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piston and connecting rod in reciprocating engine </a:t>
            </a: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41581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09931-34D3-42E2-B2A2-C5D47F704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531"/>
            <a:ext cx="10515600" cy="834886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concentration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CCEFD-6BFA-4933-84C4-8F9145639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087" y="1020417"/>
            <a:ext cx="11237843" cy="5837583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Stress concentration is the localization of high stresses due to the irregularities present in the component and abrupt changes of the cross section..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Stress is significantly higher in a localized region of a material than in the surroundings area.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8C01EA-45A7-416C-BC1B-623C43B4AE7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267200" y="4110037"/>
            <a:ext cx="7086600" cy="2747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766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31D5C-E990-3ADE-19A1-A229EF788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r>
              <a:rPr lang="en-US" dirty="0"/>
              <a:t>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AAF0ED-E607-60EA-4FC6-637CA99D0A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4963" y="3665007"/>
            <a:ext cx="5907037" cy="31929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590542-2371-17A7-B1DB-4A1559FD6E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905022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474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78056-5419-4584-8EB2-17B4E6490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540"/>
            <a:ext cx="10515600" cy="808382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Causes of stress concentration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B09BF-7061-48D0-A2A5-2118ED3C3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046922"/>
            <a:ext cx="11475720" cy="4576638"/>
          </a:xfrm>
        </p:spPr>
        <p:txBody>
          <a:bodyPr>
            <a:noAutofit/>
          </a:bodyPr>
          <a:lstStyle/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sudden change in area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Variation in material properties 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applied at a very small area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Discontinuities due to holes, grooves, threads, fillets</a:t>
            </a:r>
          </a:p>
        </p:txBody>
      </p:sp>
    </p:spTree>
    <p:extLst>
      <p:ext uri="{BB962C8B-B14F-4D97-AF65-F5344CB8AC3E}">
        <p14:creationId xmlns:p14="http://schemas.microsoft.com/office/powerpoint/2010/main" val="1689559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5E69D-0552-428A-87CE-B2A96237C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8058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3B058-2429-429B-9898-A941E7C92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1113184"/>
            <a:ext cx="11357776" cy="473897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discontinuities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called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stress raisers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regions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which they occur are called areas of 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stress concentration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Stress concentrations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also arise from some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irregularity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 inherent in the member, such as tool marks, holes, notches, grooves, or threads.</a:t>
            </a:r>
          </a:p>
        </p:txBody>
      </p:sp>
    </p:spTree>
    <p:extLst>
      <p:ext uri="{BB962C8B-B14F-4D97-AF65-F5344CB8AC3E}">
        <p14:creationId xmlns:p14="http://schemas.microsoft.com/office/powerpoint/2010/main" val="3285486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567DE-16E1-426B-A2C5-4B9544E30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" y="185531"/>
            <a:ext cx="12031980" cy="702365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Concentration Factor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F1A69F-67A1-42AE-B33C-9E4CBA7B90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887895"/>
                <a:ext cx="11193780" cy="5784573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theoretical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stress concentration factor </a:t>
                </a:r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ratio 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the </a:t>
                </a:r>
                <a:r>
                  <a:rPr lang="en-US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maximum stress 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a member (notch or fillet) to the </a:t>
                </a:r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nominal stress.</a:t>
                </a:r>
                <a:endPara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stress-concentration factor depends for its value only on the geometry of the part. </a:t>
                </a:r>
              </a:p>
              <a:p>
                <a:pPr algn="just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Material used has no effect on the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This is why it is called a </a:t>
                </a:r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theoretical stress-concentration factor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F1A69F-67A1-42AE-B33C-9E4CBA7B90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887895"/>
                <a:ext cx="11193780" cy="5784573"/>
              </a:xfrm>
              <a:blipFill>
                <a:blip r:embed="rId2"/>
                <a:stretch>
                  <a:fillRect l="-1253" r="-1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3289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A83E1-00A2-4426-B677-25D1889D5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2175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DA60C-DD31-42FE-A17E-CD2AD8B94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257301"/>
            <a:ext cx="11132820" cy="452628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geometric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shapes to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determine stress-concentration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factors is a difficult problem, and not many solutions can be found.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Most stress-concentration factors are found by using 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techniques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401780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9EE4F-41C9-4152-82B5-ECF2DF69F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2036"/>
            <a:ext cx="10515600" cy="689112"/>
          </a:xfrm>
          <a:solidFill>
            <a:schemeClr val="accent2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 static loading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EB7E1-AC6D-4393-B649-89EDB66EE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" y="901148"/>
            <a:ext cx="11354130" cy="5431072"/>
          </a:xfr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concentration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ductile materials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so serious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in brittle materials,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ductile materials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deformation or yielding takes place which reduces the concentration.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brittle materials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cracks may appear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these local concentrations of stress which will increase the stress over the rest of the section. </a:t>
            </a:r>
          </a:p>
        </p:txBody>
      </p:sp>
    </p:spTree>
    <p:extLst>
      <p:ext uri="{BB962C8B-B14F-4D97-AF65-F5344CB8AC3E}">
        <p14:creationId xmlns:p14="http://schemas.microsoft.com/office/powerpoint/2010/main" val="3889449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980DA-A035-43CB-BCC3-7698EDBDD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9032"/>
          </a:xfrm>
          <a:solidFill>
            <a:schemeClr val="accent2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Cyclic Loading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06569-9FFD-4DAA-90C6-0903B7C9C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4158"/>
            <a:ext cx="10515600" cy="5903842"/>
          </a:xfr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Stress concentration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ductile materials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always serious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Because the ductility of the material is 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effective in relieving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concentration of stress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caused by cracks, flaws, surface roughness, or any sharp discontinuity in the geometrical form of the member.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the stress at any point in a member is above the endurance limit of the material, a crack may develop under the action of repeated load and the crack will lead to failure of the member.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10302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83290-570F-43B6-8FD1-E2E8AE8D2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6455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3EB146-9AC2-4FAE-8642-0E3374C5F2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11580"/>
                <a:ext cx="10515600" cy="4965383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Mathematically,</a:t>
                </a:r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0">
                              <a:latin typeface="Cambria Math" panose="02040503050406030204" pitchFamily="18" charset="0"/>
                            </a:rPr>
                            <m:t>𝐊</m:t>
                          </m:r>
                        </m:e>
                        <m:sub>
                          <m:r>
                            <a:rPr lang="en-US" sz="3200" b="1" i="0">
                              <a:latin typeface="Cambria Math" panose="02040503050406030204" pitchFamily="18" charset="0"/>
                            </a:rPr>
                            <m:t>𝐭</m:t>
                          </m:r>
                        </m:sub>
                      </m:sSub>
                      <m:r>
                        <a:rPr lang="en-US" sz="32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1" i="0">
                              <a:latin typeface="Cambria Math" panose="02040503050406030204" pitchFamily="18" charset="0"/>
                            </a:rPr>
                            <m:t>𝐦𝐚𝐱𝐢𝐦𝐮𝐦</m:t>
                          </m:r>
                          <m:r>
                            <a:rPr lang="en-US" sz="3200" b="1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1" i="0">
                              <a:latin typeface="Cambria Math" panose="02040503050406030204" pitchFamily="18" charset="0"/>
                            </a:rPr>
                            <m:t>𝐬𝐭𝐫𝐞𝐬𝐬</m:t>
                          </m:r>
                        </m:num>
                        <m:den>
                          <m:r>
                            <a:rPr lang="en-US" sz="3200" b="1" i="0">
                              <a:latin typeface="Cambria Math" panose="02040503050406030204" pitchFamily="18" charset="0"/>
                            </a:rPr>
                            <m:t>𝐧𝐨𝐦𝐢𝐧𝐚𝐥</m:t>
                          </m:r>
                          <m:r>
                            <a:rPr lang="en-US" sz="3200" b="1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1" i="0">
                              <a:latin typeface="Cambria Math" panose="02040503050406030204" pitchFamily="18" charset="0"/>
                            </a:rPr>
                            <m:t>𝐬𝐭𝐫𝐞𝐬𝐬</m:t>
                          </m:r>
                        </m:den>
                      </m:f>
                    </m:oMath>
                  </m:oMathPara>
                </a14:m>
                <a:endPara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sz="3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depends upon the </a:t>
                </a:r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material</a:t>
                </a:r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geometry of the part</a:t>
                </a:r>
                <a:endParaRPr lang="en-US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3EB146-9AC2-4FAE-8642-0E3374C5F2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11580"/>
                <a:ext cx="10515600" cy="4965383"/>
              </a:xfrm>
              <a:blipFill>
                <a:blip r:embed="rId2"/>
                <a:stretch>
                  <a:fillRect l="-1507" r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8029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83290-570F-43B6-8FD1-E2E8AE8D2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6455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Notch Sensitivity Factor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EB146-9AC2-4FAE-8642-0E3374C5F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1580"/>
            <a:ext cx="10515600" cy="496538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NSF is a property of material which measures the sensitivity of material to stress concentration.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value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range from 0 to 1.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609508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59B0F-F23D-48BA-9AA7-E825208D6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3595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of Reducing Stress Concentration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8C5D3-94DC-4EA8-83D7-9B54CE1AF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8720"/>
            <a:ext cx="11186160" cy="5669280"/>
          </a:xfrm>
        </p:spPr>
        <p:txBody>
          <a:bodyPr>
            <a:norm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presence of stress concentration cannot be totally eliminated but it may be reduced to some extent.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 transitions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fillets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sections of different geometries. Sharp corners in cross section can cause stress concentration.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 selection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 materials with a high toughness or ductility, which can absorb more energy before failure.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reinforced material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such fibers and polymers to enhance strength and toughness.</a:t>
            </a:r>
          </a:p>
        </p:txBody>
      </p:sp>
    </p:spTree>
    <p:extLst>
      <p:ext uri="{BB962C8B-B14F-4D97-AF65-F5344CB8AC3E}">
        <p14:creationId xmlns:p14="http://schemas.microsoft.com/office/powerpoint/2010/main" val="3786312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90580-CBBF-4A35-8EDE-B68510FB7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C09C6-AB1C-4822-BEE0-E8F240AFE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3000"/>
            <a:ext cx="10515600" cy="5033963"/>
          </a:xfrm>
        </p:spPr>
        <p:txBody>
          <a:bodyPr>
            <a:normAutofit/>
          </a:bodyPr>
          <a:lstStyle/>
          <a:p>
            <a:pPr marL="514350" indent="-514350" algn="just">
              <a:lnSpc>
                <a:spcPct val="150000"/>
              </a:lnSpc>
              <a:buFont typeface="+mj-lt"/>
              <a:buAutoNum type="arabicPeriod" startAt="4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 treatment: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microstructure and mechanical properties of the material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 startAt="4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Finite element analysis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(FEA): used to simulate and predict stress concentration in complex components.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 startAt="4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gradual taper: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order to distribute stress over a large area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0917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3B521-CF27-4505-AE4A-06314D3E1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0755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Fatigue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D7863-67C1-4A58-AF99-89187377A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880"/>
            <a:ext cx="11163300" cy="5532120"/>
          </a:xfrm>
        </p:spPr>
        <p:txBody>
          <a:bodyPr>
            <a:norm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has been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 experimentally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when a material is subjected to repeated stresses,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fails at stresses below the yield point stresses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type of failure of a material is known as 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fatigue.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failure is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caused by means of a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progressive crack formation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are usually fine and of microscopic size. </a:t>
            </a:r>
          </a:p>
          <a:p>
            <a:pPr algn="just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failure may occur even without any prior indication. </a:t>
            </a:r>
          </a:p>
        </p:txBody>
      </p:sp>
    </p:spTree>
    <p:extLst>
      <p:ext uri="{BB962C8B-B14F-4D97-AF65-F5344CB8AC3E}">
        <p14:creationId xmlns:p14="http://schemas.microsoft.com/office/powerpoint/2010/main" val="3685801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27E9F-9E10-404A-B185-C203B1CA1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765"/>
            <a:ext cx="10515600" cy="675861"/>
          </a:xfrm>
          <a:solidFill>
            <a:schemeClr val="accent2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Endurance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Limit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CE41B9-D9FD-4AC1-A135-4322672ABA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768626"/>
                <a:ext cx="10515600" cy="6089374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Endurance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fatigue limit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is the maximum value of the stress that a material can withstand for an infinite number of cycles without failure.</a:t>
                </a:r>
              </a:p>
              <a:p>
                <a:pPr lvl="1" algn="just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Reversed bending loading: 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endurance limit</a:t>
                </a:r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just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For other types of loading:  </a:t>
                </a:r>
                <a:r>
                  <a:rPr lang="en-US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Endurance Strength</a:t>
                </a:r>
                <a:r>
                  <a:rPr lang="en-US" sz="28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may be used when referring the fatigue strength of the material. </a:t>
                </a:r>
              </a:p>
              <a:p>
                <a:pPr algn="just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Endurance strength: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safe maximum stress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which can be applied to the machine part working under actual conditions.</a:t>
                </a:r>
              </a:p>
              <a:p>
                <a:pPr algn="just">
                  <a:lnSpc>
                    <a:spcPct val="150000"/>
                  </a:lnSpc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CE41B9-D9FD-4AC1-A135-4322672ABA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768626"/>
                <a:ext cx="10515600" cy="6089374"/>
              </a:xfrm>
              <a:blipFill>
                <a:blip r:embed="rId2"/>
                <a:stretch>
                  <a:fillRect l="-1043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1986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787ED-03E1-42AD-8FFF-F04BD01B2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1797"/>
          </a:xfrm>
          <a:solidFill>
            <a:schemeClr val="accent2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 affecting the endurance limit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6C300-8354-4A68-B054-44239EF90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6922"/>
            <a:ext cx="10515600" cy="5811078"/>
          </a:xfrm>
        </p:spPr>
        <p:txBody>
          <a:bodyPr>
            <a:normAutofit/>
          </a:bodyPr>
          <a:lstStyle/>
          <a:p>
            <a:pPr marL="514350" lvl="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loading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(load factor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{reversed bending load, reversed axial load, reversed torsional load}</a:t>
            </a:r>
          </a:p>
          <a:p>
            <a:pPr marL="514350" lvl="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Surface finish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surface finish factor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{polished, machined, sharp notch, mill scale}</a:t>
            </a:r>
          </a:p>
          <a:p>
            <a:pPr marL="514350" lvl="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of the standard part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factor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514350" lvl="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Miscellaneous factors {reliability factor, temperature factor, impact factor, etc.}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866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5ABAD-6449-4E37-A4D3-A6035BAB6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8058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274782-37B1-4168-9D11-4572AD31E6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3184"/>
                <a:ext cx="10515600" cy="5744816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It has been found experimentally that endurance limit of a material subjected to fatigue loading is a function of ultimate tensile strength.</a:t>
                </a:r>
              </a:p>
              <a:p>
                <a:pPr marL="571500" indent="-571500" algn="ctr">
                  <a:lnSpc>
                    <a:spcPct val="150000"/>
                  </a:lnSpc>
                  <a:buFont typeface="+mj-lt"/>
                  <a:buAutoNum type="romanLcPeriod"/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steel: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sz="3200" i="1">
                        <a:latin typeface="Cambria Math" panose="02040503050406030204" pitchFamily="18" charset="0"/>
                      </a:rPr>
                      <m:t>=0.5</m:t>
                    </m:r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endPara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71500" indent="-571500" algn="ctr">
                  <a:lnSpc>
                    <a:spcPct val="150000"/>
                  </a:lnSpc>
                  <a:buFont typeface="+mj-lt"/>
                  <a:buAutoNum type="romanLcPeriod"/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cast steel: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sz="3200" i="1">
                        <a:latin typeface="Cambria Math" panose="02040503050406030204" pitchFamily="18" charset="0"/>
                      </a:rPr>
                      <m:t>=0.4</m:t>
                    </m:r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endPara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71500" indent="-571500" algn="ctr">
                  <a:lnSpc>
                    <a:spcPct val="150000"/>
                  </a:lnSpc>
                  <a:buFont typeface="+mj-lt"/>
                  <a:buAutoNum type="romanLcPeriod"/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cast iron: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sz="3200" i="1">
                        <a:latin typeface="Cambria Math" panose="02040503050406030204" pitchFamily="18" charset="0"/>
                      </a:rPr>
                      <m:t>=0.35</m:t>
                    </m:r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endPara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71500" indent="-571500" algn="ctr">
                  <a:lnSpc>
                    <a:spcPct val="150000"/>
                  </a:lnSpc>
                  <a:buFont typeface="+mj-lt"/>
                  <a:buAutoNum type="romanLcPeriod"/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non-ferrous metal and alloy: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sz="3200" i="1">
                        <a:latin typeface="Cambria Math" panose="02040503050406030204" pitchFamily="18" charset="0"/>
                      </a:rPr>
                      <m:t>=0.3</m:t>
                    </m:r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endPara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274782-37B1-4168-9D11-4572AD31E6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3184"/>
                <a:ext cx="10515600" cy="5744816"/>
              </a:xfrm>
              <a:blipFill>
                <a:blip r:embed="rId2"/>
                <a:stretch>
                  <a:fillRect l="-1333" r="-1449" b="-14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5648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70A26-716C-4E67-A1BE-18CF8CA87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5035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 of Safety for Fatigue Loading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E821C0-506B-4A77-97D8-7C9A4105F5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80160"/>
                <a:ext cx="10515600" cy="4896803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Cambria Math" panose="02040503050406030204" pitchFamily="18" charset="0"/>
                        </a:rPr>
                        <m:t>𝑓𝑎𝑐𝑡𝑜𝑟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𝑠𝑎𝑓𝑒𝑡𝑦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𝑒𝑛𝑑𝑢𝑟𝑎𝑛𝑐𝑒</m:t>
                          </m:r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𝑙𝑖𝑚𝑖𝑡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𝑠𝑡𝑟𝑒𝑠𝑠</m:t>
                          </m:r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𝑤𝑜𝑟𝑘𝑖𝑛𝑔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𝑜𝑟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𝑎𝑙𝑙𝑜𝑤𝑎𝑏𝑙𝑒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𝑠𝑡𝑟𝑒𝑠𝑠</m:t>
                          </m:r>
                        </m:den>
                      </m:f>
                    </m:oMath>
                  </m:oMathPara>
                </a14:m>
                <a:endParaRPr lang="en-US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E821C0-506B-4A77-97D8-7C9A4105F5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80160"/>
                <a:ext cx="10515600" cy="489680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4854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59551-6957-4341-8AD1-B496D9B20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8058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avoid Fatigue Failure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E17E6-402B-46EB-9885-7B3F5D4A9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13184"/>
            <a:ext cx="12192000" cy="5744816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Factors to be Considered while Designing Machine Parts to Avoid </a:t>
            </a: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Fatigue Failure</a:t>
            </a:r>
            <a:endParaRPr lang="en-US" sz="3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variation in the size of the component should be as </a:t>
            </a: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gradual</a:t>
            </a:r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possible.</a:t>
            </a:r>
          </a:p>
          <a:p>
            <a:pPr marL="457200" lvl="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holes, notches and other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stress raisers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be avoided.</a:t>
            </a:r>
          </a:p>
          <a:p>
            <a:pPr marL="457200" lvl="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stress </a:t>
            </a: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de-concentrators such as fillets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notches should be provided. </a:t>
            </a:r>
          </a:p>
        </p:txBody>
      </p:sp>
    </p:spTree>
    <p:extLst>
      <p:ext uri="{BB962C8B-B14F-4D97-AF65-F5344CB8AC3E}">
        <p14:creationId xmlns:p14="http://schemas.microsoft.com/office/powerpoint/2010/main" val="3259844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BECEB-7E33-4AA4-9AE0-D08905518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1310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80041-6752-42E3-9EEA-81DBBC3C1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6436"/>
            <a:ext cx="10515600" cy="5050527"/>
          </a:xfrm>
        </p:spPr>
        <p:txBody>
          <a:bodyPr>
            <a:normAutofit/>
          </a:bodyPr>
          <a:lstStyle/>
          <a:p>
            <a:pPr marL="514350" lvl="0" indent="-514350" algn="just">
              <a:lnSpc>
                <a:spcPct val="150000"/>
              </a:lnSpc>
              <a:buFont typeface="+mj-lt"/>
              <a:buAutoNum type="arabicPeriod" startAt="4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parts should be </a:t>
            </a:r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protected from corrosive atmosphere.</a:t>
            </a:r>
          </a:p>
          <a:p>
            <a:pPr marL="457200" lvl="0" indent="-457200" algn="just">
              <a:lnSpc>
                <a:spcPct val="150000"/>
              </a:lnSpc>
              <a:buFont typeface="+mj-lt"/>
              <a:buAutoNum type="arabicPeriod" startAt="4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 finish of outer surface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component increases the fatigue life.</a:t>
            </a:r>
          </a:p>
          <a:p>
            <a:pPr marL="457200" lvl="0" indent="-457200" algn="just">
              <a:lnSpc>
                <a:spcPct val="150000"/>
              </a:lnSpc>
              <a:buFont typeface="+mj-lt"/>
              <a:buAutoNum type="arabicPeriod" startAt="4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 with high fatigue stre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ngth should be selected</a:t>
            </a:r>
          </a:p>
        </p:txBody>
      </p:sp>
    </p:spTree>
    <p:extLst>
      <p:ext uri="{BB962C8B-B14F-4D97-AF65-F5344CB8AC3E}">
        <p14:creationId xmlns:p14="http://schemas.microsoft.com/office/powerpoint/2010/main" val="161254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E47B0-D00E-46AF-9536-29DDB6DA8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0755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Codes and Standards (ISO standards)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54F38-A820-48D3-A7C3-3AA4E07AF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880"/>
            <a:ext cx="10515600" cy="485108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Why are codes and standards important in machine design?</a:t>
            </a:r>
          </a:p>
          <a:p>
            <a:pPr marL="571500" indent="-571500" algn="just">
              <a:lnSpc>
                <a:spcPct val="150000"/>
              </a:lnSpc>
              <a:buFont typeface="+mj-lt"/>
              <a:buAutoNum type="romanL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establish safety requirement</a:t>
            </a:r>
          </a:p>
          <a:p>
            <a:pPr marL="571500" indent="-571500" algn="just">
              <a:lnSpc>
                <a:spcPct val="150000"/>
              </a:lnSpc>
              <a:buFont typeface="+mj-lt"/>
              <a:buAutoNum type="romanL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establish design criteria</a:t>
            </a:r>
          </a:p>
          <a:p>
            <a:pPr marL="571500" indent="-571500" algn="just">
              <a:lnSpc>
                <a:spcPct val="150000"/>
              </a:lnSpc>
              <a:buFont typeface="+mj-lt"/>
              <a:buAutoNum type="romanL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establish performance standards that a machine must meet.</a:t>
            </a:r>
          </a:p>
        </p:txBody>
      </p:sp>
    </p:spTree>
    <p:extLst>
      <p:ext uri="{BB962C8B-B14F-4D97-AF65-F5344CB8AC3E}">
        <p14:creationId xmlns:p14="http://schemas.microsoft.com/office/powerpoint/2010/main" val="283895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D12EA-F8EB-42EC-AD5F-D75FDBF7B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531"/>
            <a:ext cx="10515600" cy="728870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9EF0A-40F5-40A5-81FB-541D6E475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1"/>
            <a:ext cx="10916478" cy="5943599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Standard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of specifications for parts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materials, or processes intended to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 uniformity, efficiency, and a specified quality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documents, formulated through a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cooperative effort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among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organizations,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government agencies and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interested parties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that define good practice in a particular field (machine design).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of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purposes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standard is to limit the multitude of variations that can arise from the arbitrary creation of a part, material, or process. .</a:t>
            </a:r>
          </a:p>
        </p:txBody>
      </p:sp>
    </p:spTree>
    <p:extLst>
      <p:ext uri="{BB962C8B-B14F-4D97-AF65-F5344CB8AC3E}">
        <p14:creationId xmlns:p14="http://schemas.microsoft.com/office/powerpoint/2010/main" val="3258477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9A4FB-D9CC-4CB6-BC24-210E2D274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4557"/>
            <a:ext cx="10515600" cy="702365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Codes and standard in machine design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A9F40-616B-4CB3-A339-F25BED818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46922"/>
            <a:ext cx="11567160" cy="581107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American Society of Mechanical Engineers (ASME)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ASME B31 (pressure pipping), ASME Y14 (engineering drawing and related documents)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International Standards Organization (ISO)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ISO 12100 (safety of machinery), ISO 13849 (safety related parts of control system)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Occupational safety and health Administration (OSHA)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Establish safety requirements for workers working near machine</a:t>
            </a:r>
          </a:p>
        </p:txBody>
      </p:sp>
    </p:spTree>
    <p:extLst>
      <p:ext uri="{BB962C8B-B14F-4D97-AF65-F5344CB8AC3E}">
        <p14:creationId xmlns:p14="http://schemas.microsoft.com/office/powerpoint/2010/main" val="1159798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47752-71B3-45DD-A684-7716805A2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22959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8C314-A290-4F8C-9173-EDBACA707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512" y="822960"/>
            <a:ext cx="10860157" cy="603504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matter how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astute a designer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be, and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much experience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 or he may have,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familiarity with the codes and standards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pertinent to a particular design project is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essential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Adherence to applicable codes and standards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provide experience-based guidance for the designer as to what constitutes good practice in that field, and 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assures that the product conforms to applicable legal requirements.</a:t>
            </a:r>
          </a:p>
        </p:txBody>
      </p:sp>
    </p:spTree>
    <p:extLst>
      <p:ext uri="{BB962C8B-B14F-4D97-AF65-F5344CB8AC3E}">
        <p14:creationId xmlns:p14="http://schemas.microsoft.com/office/powerpoint/2010/main" val="3584024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02588-BBF2-46FA-A73E-890F019F3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61392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CE233-166C-4541-B33B-D13BE2850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1392"/>
            <a:ext cx="10744200" cy="5265088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usually </a:t>
            </a:r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legally binding documents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compiled by a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governmental agency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that are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aimed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protecting the general welfare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its constituents and </a:t>
            </a:r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preventing property damage, injury, or loss of life.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purpose of a code is to achieve a specified degree of safety, efficiency, and performance or quality. </a:t>
            </a:r>
            <a:endParaRPr lang="en-US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0830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6EFB3-2083-485C-A135-E7F64678D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461"/>
            <a:ext cx="10515600" cy="782210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50B3B-00D3-4717-9CED-72D0A7840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1033670"/>
            <a:ext cx="11384280" cy="582433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a code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accomplished by requiring the application of accumulated knowledge and experience to the task of avoiding, eliminating, or reducing definable hazards.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usually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regarded as mandatory requirements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tell the user what to do and when to do it.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Codes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 one or more standards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giving them the force of law.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27859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98E23-B487-4A7F-BEEA-52C5C5C99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4805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62CA9-9F90-452B-A192-CDFD8303E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9930"/>
            <a:ext cx="10515600" cy="575807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designer’s responsibility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seeking out all applicable codes and standards relating to her or his particular design project.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company,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 does not follow code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requirements, may be 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accused of professional malpractice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may be subject to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litigation.</a:t>
            </a:r>
          </a:p>
        </p:txBody>
      </p:sp>
    </p:spTree>
    <p:extLst>
      <p:ext uri="{BB962C8B-B14F-4D97-AF65-F5344CB8AC3E}">
        <p14:creationId xmlns:p14="http://schemas.microsoft.com/office/powerpoint/2010/main" val="2012436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92F67-DED0-4AD5-BEC0-A541D9F30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 for your attention</a:t>
            </a:r>
            <a:b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</a:t>
            </a:r>
            <a:b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207927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9709</TotalTime>
  <Words>4414</Words>
  <Application>Microsoft Office PowerPoint</Application>
  <PresentationFormat>Widescreen</PresentationFormat>
  <Paragraphs>368</Paragraphs>
  <Slides>80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8" baseType="lpstr">
      <vt:lpstr>Arial</vt:lpstr>
      <vt:lpstr>Calibri</vt:lpstr>
      <vt:lpstr>Calibri Light</vt:lpstr>
      <vt:lpstr>Cambria Math</vt:lpstr>
      <vt:lpstr>Times New Roman</vt:lpstr>
      <vt:lpstr>URWPalladioL-Roma</vt:lpstr>
      <vt:lpstr>Wingdings</vt:lpstr>
      <vt:lpstr>Office Theme</vt:lpstr>
      <vt:lpstr>MBEYA UNIVERSITY OF SCIENCE AND TECHNOLOGY     COLLEGE: CET     DEPARTMENT: MIE ORDINARY DIPLOMA IN AUTO ELE &amp; AUTO, SAFETY AND  MECHANICAL ENGINEERING  (SECOND YEAR) MODULE NAME: MACHINE ELEMENT AND DESIGN I   CODE: ME 6112  TOPIC 1: INTRODUCTION TO MACHINE ELEMENT AND DESIGN ACADEMIC YEAR: 2025/2026              SEMESTER: II</vt:lpstr>
      <vt:lpstr> FACILITATOR: Eng. KULWA KISHOSHA LUTEMA CONTACTS: Phone: 0765 316 760                          Email: kishoshakl3@gmail.com   LECTURE ROOM/TIME: Tuesday; SPORT HALL (19:15 – 21:30PM)  Friday; LPII-BF-R  (09:55-12:10)   OFFICE: MECHANICAL STAFF ROOM C-204  </vt:lpstr>
      <vt:lpstr>LECTURE 1:  INTRODUCTION TO MACHINE ELEMENT AND DESIGN  IN   MACHINE ELEMENT AND DESIGN I</vt:lpstr>
      <vt:lpstr>PowerPoint Presentation</vt:lpstr>
      <vt:lpstr>.</vt:lpstr>
      <vt:lpstr>.</vt:lpstr>
      <vt:lpstr>.</vt:lpstr>
      <vt:lpstr>Introduction </vt:lpstr>
      <vt:lpstr>CONT…</vt:lpstr>
      <vt:lpstr>CONT…</vt:lpstr>
      <vt:lpstr>CONT…</vt:lpstr>
      <vt:lpstr>CONT…</vt:lpstr>
      <vt:lpstr>What to expect during designing process?</vt:lpstr>
      <vt:lpstr>.</vt:lpstr>
      <vt:lpstr>Important Knowledge in Machine Design</vt:lpstr>
      <vt:lpstr>Type of design</vt:lpstr>
      <vt:lpstr>CONT…</vt:lpstr>
      <vt:lpstr>CONT…</vt:lpstr>
      <vt:lpstr>Factors to be considered in Machine Design </vt:lpstr>
      <vt:lpstr>General Considerations in Machine Design</vt:lpstr>
      <vt:lpstr>CONT…</vt:lpstr>
      <vt:lpstr>CONT…</vt:lpstr>
      <vt:lpstr>CONT…</vt:lpstr>
      <vt:lpstr>CONT…</vt:lpstr>
      <vt:lpstr>CONT…</vt:lpstr>
      <vt:lpstr>CONT…</vt:lpstr>
      <vt:lpstr>Significance of Mechanical Design</vt:lpstr>
      <vt:lpstr>Comparison</vt:lpstr>
      <vt:lpstr>Design procedure (General Procedure)</vt:lpstr>
      <vt:lpstr>CONT…</vt:lpstr>
      <vt:lpstr>CONT…</vt:lpstr>
      <vt:lpstr>Characteristics of a good designer</vt:lpstr>
      <vt:lpstr>Design Terminology</vt:lpstr>
      <vt:lpstr>CONT…</vt:lpstr>
      <vt:lpstr>Stress And Strain</vt:lpstr>
      <vt:lpstr>CONT…</vt:lpstr>
      <vt:lpstr>Factor of safety</vt:lpstr>
      <vt:lpstr>CONT…</vt:lpstr>
      <vt:lpstr>CONT…</vt:lpstr>
      <vt:lpstr>Factor Affecting Factor of Safety</vt:lpstr>
      <vt:lpstr>CONT…</vt:lpstr>
      <vt:lpstr>Stress</vt:lpstr>
      <vt:lpstr>CONT…</vt:lpstr>
      <vt:lpstr>.</vt:lpstr>
      <vt:lpstr>.</vt:lpstr>
      <vt:lpstr>Design against static load</vt:lpstr>
      <vt:lpstr>Failure under static load</vt:lpstr>
      <vt:lpstr>Cyclic Stresses</vt:lpstr>
      <vt:lpstr>CONT…</vt:lpstr>
      <vt:lpstr>CONT…</vt:lpstr>
      <vt:lpstr>Notes</vt:lpstr>
      <vt:lpstr>CONT…</vt:lpstr>
      <vt:lpstr>CONT…</vt:lpstr>
      <vt:lpstr>Stress concentration</vt:lpstr>
      <vt:lpstr>. </vt:lpstr>
      <vt:lpstr>Causes of stress concentration</vt:lpstr>
      <vt:lpstr>CONT…</vt:lpstr>
      <vt:lpstr>Stress Concentration Factor</vt:lpstr>
      <vt:lpstr>CONT…</vt:lpstr>
      <vt:lpstr> In static loading</vt:lpstr>
      <vt:lpstr>In Cyclic Loading</vt:lpstr>
      <vt:lpstr>CONT…</vt:lpstr>
      <vt:lpstr>Notch Sensitivity Factor</vt:lpstr>
      <vt:lpstr>Methods of Reducing Stress Concentration</vt:lpstr>
      <vt:lpstr>CONT… </vt:lpstr>
      <vt:lpstr>Fatigue</vt:lpstr>
      <vt:lpstr>Endurance Limit</vt:lpstr>
      <vt:lpstr>Factor affecting the endurance limit</vt:lpstr>
      <vt:lpstr>Note</vt:lpstr>
      <vt:lpstr>Factor of Safety for Fatigue Loading</vt:lpstr>
      <vt:lpstr>How to avoid Fatigue Failure</vt:lpstr>
      <vt:lpstr>CONT…</vt:lpstr>
      <vt:lpstr>Codes and Standards (ISO standards)</vt:lpstr>
      <vt:lpstr>CONT…</vt:lpstr>
      <vt:lpstr>Codes and standard in machine design</vt:lpstr>
      <vt:lpstr>CONT…</vt:lpstr>
      <vt:lpstr>CONT…</vt:lpstr>
      <vt:lpstr>CONT…</vt:lpstr>
      <vt:lpstr>CONT…</vt:lpstr>
      <vt:lpstr>Thanks for your attention  LEARNING   IS THE   PROCESS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MBEYA UNIVERSITY OF SCIENCE AND TECHNOLOGY COLLEGE: CET                 DEPARTMENT: MIE DIPLOMA IN  MECHANICAL  ENGINEERING (third year) MODULE NAME: MACHINE ELEMENT AND DESIGN III    CODE: ME 6309  TOPIC 1: FRICTION DRIVES ACADEMIC YEAR: 2022/2023              SEMESTER: II FACILITATOR: GABRIEL L SWILLA LECTURE ROOM/TIME: LPII-BF-P1 (Monday 0955 to 1210) CONSULTATION TIME: Tuesday and Wednesday (0900 to 1300) LECTURE OFFICE: C-204</dc:title>
  <dc:creator>Gabriel Swilla</dc:creator>
  <cp:lastModifiedBy>KULWA KISHOSHA</cp:lastModifiedBy>
  <cp:revision>183</cp:revision>
  <dcterms:created xsi:type="dcterms:W3CDTF">2023-03-22T03:14:10Z</dcterms:created>
  <dcterms:modified xsi:type="dcterms:W3CDTF">2026-04-10T17:32:39Z</dcterms:modified>
</cp:coreProperties>
</file>