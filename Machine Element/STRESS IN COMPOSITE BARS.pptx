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9" r:id="rId3"/>
    <p:sldId id="290" r:id="rId4"/>
    <p:sldId id="257" r:id="rId5"/>
    <p:sldId id="258" r:id="rId6"/>
    <p:sldId id="259" r:id="rId7"/>
    <p:sldId id="260" r:id="rId8"/>
    <p:sldId id="261" r:id="rId9"/>
    <p:sldId id="262" r:id="rId10"/>
    <p:sldId id="265" r:id="rId11"/>
    <p:sldId id="266" r:id="rId12"/>
    <p:sldId id="288"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3" d="100"/>
          <a:sy n="63" d="100"/>
        </p:scale>
        <p:origin x="76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FAA76-4E36-7477-6614-3A6B423137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1D7EB7-E90A-7A21-37CB-8ADA0868E6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7253C3-E7A5-11F3-DB24-14123D7005E7}"/>
              </a:ext>
            </a:extLst>
          </p:cNvPr>
          <p:cNvSpPr>
            <a:spLocks noGrp="1"/>
          </p:cNvSpPr>
          <p:nvPr>
            <p:ph type="dt" sz="half" idx="10"/>
          </p:nvPr>
        </p:nvSpPr>
        <p:spPr/>
        <p:txBody>
          <a:bodyPr/>
          <a:lstStyle/>
          <a:p>
            <a:fld id="{7219C35E-FBC1-4AA5-9EBA-13EB3C333FAC}" type="datetimeFigureOut">
              <a:rPr lang="en-US" smtClean="0"/>
              <a:t>4/20/2026</a:t>
            </a:fld>
            <a:endParaRPr lang="en-US"/>
          </a:p>
        </p:txBody>
      </p:sp>
      <p:sp>
        <p:nvSpPr>
          <p:cNvPr id="5" name="Footer Placeholder 4">
            <a:extLst>
              <a:ext uri="{FF2B5EF4-FFF2-40B4-BE49-F238E27FC236}">
                <a16:creationId xmlns:a16="http://schemas.microsoft.com/office/drawing/2014/main" id="{EDBF278F-FFAD-23C5-8F1E-288496A7CF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BBDE13-7F50-6DFA-B0CC-94B5ADF83AB5}"/>
              </a:ext>
            </a:extLst>
          </p:cNvPr>
          <p:cNvSpPr>
            <a:spLocks noGrp="1"/>
          </p:cNvSpPr>
          <p:nvPr>
            <p:ph type="sldNum" sz="quarter" idx="12"/>
          </p:nvPr>
        </p:nvSpPr>
        <p:spPr/>
        <p:txBody>
          <a:bodyPr/>
          <a:lstStyle/>
          <a:p>
            <a:fld id="{0D1FD311-CA4B-4182-B014-2383E8C559F7}" type="slidenum">
              <a:rPr lang="en-US" smtClean="0"/>
              <a:t>‹#›</a:t>
            </a:fld>
            <a:endParaRPr lang="en-US"/>
          </a:p>
        </p:txBody>
      </p:sp>
    </p:spTree>
    <p:extLst>
      <p:ext uri="{BB962C8B-B14F-4D97-AF65-F5344CB8AC3E}">
        <p14:creationId xmlns:p14="http://schemas.microsoft.com/office/powerpoint/2010/main" val="4239098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6F5FA-A8F7-3C98-3C86-1FFB90B546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75A1DD-8E69-32A5-6CC5-EC7A109677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5934BC-6A0B-966A-7E88-C218278E668C}"/>
              </a:ext>
            </a:extLst>
          </p:cNvPr>
          <p:cNvSpPr>
            <a:spLocks noGrp="1"/>
          </p:cNvSpPr>
          <p:nvPr>
            <p:ph type="dt" sz="half" idx="10"/>
          </p:nvPr>
        </p:nvSpPr>
        <p:spPr/>
        <p:txBody>
          <a:bodyPr/>
          <a:lstStyle/>
          <a:p>
            <a:fld id="{7219C35E-FBC1-4AA5-9EBA-13EB3C333FAC}" type="datetimeFigureOut">
              <a:rPr lang="en-US" smtClean="0"/>
              <a:t>4/20/2026</a:t>
            </a:fld>
            <a:endParaRPr lang="en-US"/>
          </a:p>
        </p:txBody>
      </p:sp>
      <p:sp>
        <p:nvSpPr>
          <p:cNvPr id="5" name="Footer Placeholder 4">
            <a:extLst>
              <a:ext uri="{FF2B5EF4-FFF2-40B4-BE49-F238E27FC236}">
                <a16:creationId xmlns:a16="http://schemas.microsoft.com/office/drawing/2014/main" id="{5882CC69-9394-9F8C-640F-B7B0998D3D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6C2153-7566-6CBC-8F6E-CC9C6FF0CB03}"/>
              </a:ext>
            </a:extLst>
          </p:cNvPr>
          <p:cNvSpPr>
            <a:spLocks noGrp="1"/>
          </p:cNvSpPr>
          <p:nvPr>
            <p:ph type="sldNum" sz="quarter" idx="12"/>
          </p:nvPr>
        </p:nvSpPr>
        <p:spPr/>
        <p:txBody>
          <a:bodyPr/>
          <a:lstStyle/>
          <a:p>
            <a:fld id="{0D1FD311-CA4B-4182-B014-2383E8C559F7}" type="slidenum">
              <a:rPr lang="en-US" smtClean="0"/>
              <a:t>‹#›</a:t>
            </a:fld>
            <a:endParaRPr lang="en-US"/>
          </a:p>
        </p:txBody>
      </p:sp>
    </p:spTree>
    <p:extLst>
      <p:ext uri="{BB962C8B-B14F-4D97-AF65-F5344CB8AC3E}">
        <p14:creationId xmlns:p14="http://schemas.microsoft.com/office/powerpoint/2010/main" val="1304469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B8222-85ED-96AF-A186-F93A0D9EE9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B242B0-568D-BA17-EA0A-1B04C76D83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63C83A-E5BD-C2B5-A2C5-883711143480}"/>
              </a:ext>
            </a:extLst>
          </p:cNvPr>
          <p:cNvSpPr>
            <a:spLocks noGrp="1"/>
          </p:cNvSpPr>
          <p:nvPr>
            <p:ph type="dt" sz="half" idx="10"/>
          </p:nvPr>
        </p:nvSpPr>
        <p:spPr/>
        <p:txBody>
          <a:bodyPr/>
          <a:lstStyle/>
          <a:p>
            <a:fld id="{7219C35E-FBC1-4AA5-9EBA-13EB3C333FAC}" type="datetimeFigureOut">
              <a:rPr lang="en-US" smtClean="0"/>
              <a:t>4/20/2026</a:t>
            </a:fld>
            <a:endParaRPr lang="en-US"/>
          </a:p>
        </p:txBody>
      </p:sp>
      <p:sp>
        <p:nvSpPr>
          <p:cNvPr id="5" name="Footer Placeholder 4">
            <a:extLst>
              <a:ext uri="{FF2B5EF4-FFF2-40B4-BE49-F238E27FC236}">
                <a16:creationId xmlns:a16="http://schemas.microsoft.com/office/drawing/2014/main" id="{CF5B8664-F844-5D4A-F62A-81C35DF6E3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6810C-A145-3A09-1C0F-021751AAB2C4}"/>
              </a:ext>
            </a:extLst>
          </p:cNvPr>
          <p:cNvSpPr>
            <a:spLocks noGrp="1"/>
          </p:cNvSpPr>
          <p:nvPr>
            <p:ph type="sldNum" sz="quarter" idx="12"/>
          </p:nvPr>
        </p:nvSpPr>
        <p:spPr/>
        <p:txBody>
          <a:bodyPr/>
          <a:lstStyle/>
          <a:p>
            <a:fld id="{0D1FD311-CA4B-4182-B014-2383E8C559F7}" type="slidenum">
              <a:rPr lang="en-US" smtClean="0"/>
              <a:t>‹#›</a:t>
            </a:fld>
            <a:endParaRPr lang="en-US"/>
          </a:p>
        </p:txBody>
      </p:sp>
    </p:spTree>
    <p:extLst>
      <p:ext uri="{BB962C8B-B14F-4D97-AF65-F5344CB8AC3E}">
        <p14:creationId xmlns:p14="http://schemas.microsoft.com/office/powerpoint/2010/main" val="1336999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CBC11-950B-EA22-343B-431BFD56A4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15F51A-E395-D2B0-6EF9-5FE14F4C9B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55CB4C-7818-C99C-0770-58C55CE0C7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58647D-25EA-083C-7A30-627F0DB436D4}"/>
              </a:ext>
            </a:extLst>
          </p:cNvPr>
          <p:cNvSpPr>
            <a:spLocks noGrp="1"/>
          </p:cNvSpPr>
          <p:nvPr>
            <p:ph type="dt" sz="half" idx="10"/>
          </p:nvPr>
        </p:nvSpPr>
        <p:spPr/>
        <p:txBody>
          <a:bodyPr/>
          <a:lstStyle/>
          <a:p>
            <a:fld id="{7219C35E-FBC1-4AA5-9EBA-13EB3C333FAC}" type="datetimeFigureOut">
              <a:rPr lang="en-US" smtClean="0"/>
              <a:t>4/20/2026</a:t>
            </a:fld>
            <a:endParaRPr lang="en-US"/>
          </a:p>
        </p:txBody>
      </p:sp>
      <p:sp>
        <p:nvSpPr>
          <p:cNvPr id="6" name="Footer Placeholder 5">
            <a:extLst>
              <a:ext uri="{FF2B5EF4-FFF2-40B4-BE49-F238E27FC236}">
                <a16:creationId xmlns:a16="http://schemas.microsoft.com/office/drawing/2014/main" id="{E2E004ED-73E8-574E-3068-81303576CB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7F80BB-FDA8-2D61-2D9C-63B15003FEB8}"/>
              </a:ext>
            </a:extLst>
          </p:cNvPr>
          <p:cNvSpPr>
            <a:spLocks noGrp="1"/>
          </p:cNvSpPr>
          <p:nvPr>
            <p:ph type="sldNum" sz="quarter" idx="12"/>
          </p:nvPr>
        </p:nvSpPr>
        <p:spPr/>
        <p:txBody>
          <a:bodyPr/>
          <a:lstStyle/>
          <a:p>
            <a:fld id="{0D1FD311-CA4B-4182-B014-2383E8C559F7}" type="slidenum">
              <a:rPr lang="en-US" smtClean="0"/>
              <a:t>‹#›</a:t>
            </a:fld>
            <a:endParaRPr lang="en-US"/>
          </a:p>
        </p:txBody>
      </p:sp>
    </p:spTree>
    <p:extLst>
      <p:ext uri="{BB962C8B-B14F-4D97-AF65-F5344CB8AC3E}">
        <p14:creationId xmlns:p14="http://schemas.microsoft.com/office/powerpoint/2010/main" val="1932332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758E8-702F-04FF-3775-180A07C133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5FD82E-D185-EE02-123C-CE3F9B75C8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18028B-0CB4-9873-AE3A-50701EB49D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FE4B369-889A-3615-4ACE-C244C4112D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F86EF7-94AA-6FC7-A2C2-3A4CA121E8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0062715-D076-52CD-8669-C3B20B58EAF5}"/>
              </a:ext>
            </a:extLst>
          </p:cNvPr>
          <p:cNvSpPr>
            <a:spLocks noGrp="1"/>
          </p:cNvSpPr>
          <p:nvPr>
            <p:ph type="dt" sz="half" idx="10"/>
          </p:nvPr>
        </p:nvSpPr>
        <p:spPr/>
        <p:txBody>
          <a:bodyPr/>
          <a:lstStyle/>
          <a:p>
            <a:fld id="{7219C35E-FBC1-4AA5-9EBA-13EB3C333FAC}" type="datetimeFigureOut">
              <a:rPr lang="en-US" smtClean="0"/>
              <a:t>4/20/2026</a:t>
            </a:fld>
            <a:endParaRPr lang="en-US"/>
          </a:p>
        </p:txBody>
      </p:sp>
      <p:sp>
        <p:nvSpPr>
          <p:cNvPr id="8" name="Footer Placeholder 7">
            <a:extLst>
              <a:ext uri="{FF2B5EF4-FFF2-40B4-BE49-F238E27FC236}">
                <a16:creationId xmlns:a16="http://schemas.microsoft.com/office/drawing/2014/main" id="{4A6ADDFD-5F13-3357-A15B-E1EC8610F8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969201-CE19-760F-C207-069B6E7094D6}"/>
              </a:ext>
            </a:extLst>
          </p:cNvPr>
          <p:cNvSpPr>
            <a:spLocks noGrp="1"/>
          </p:cNvSpPr>
          <p:nvPr>
            <p:ph type="sldNum" sz="quarter" idx="12"/>
          </p:nvPr>
        </p:nvSpPr>
        <p:spPr/>
        <p:txBody>
          <a:bodyPr/>
          <a:lstStyle/>
          <a:p>
            <a:fld id="{0D1FD311-CA4B-4182-B014-2383E8C559F7}" type="slidenum">
              <a:rPr lang="en-US" smtClean="0"/>
              <a:t>‹#›</a:t>
            </a:fld>
            <a:endParaRPr lang="en-US"/>
          </a:p>
        </p:txBody>
      </p:sp>
    </p:spTree>
    <p:extLst>
      <p:ext uri="{BB962C8B-B14F-4D97-AF65-F5344CB8AC3E}">
        <p14:creationId xmlns:p14="http://schemas.microsoft.com/office/powerpoint/2010/main" val="972661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5B83B-8BB6-C374-C108-62B2E8133D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54B0E50-0251-D3B7-C58C-C56832F14725}"/>
              </a:ext>
            </a:extLst>
          </p:cNvPr>
          <p:cNvSpPr>
            <a:spLocks noGrp="1"/>
          </p:cNvSpPr>
          <p:nvPr>
            <p:ph type="dt" sz="half" idx="10"/>
          </p:nvPr>
        </p:nvSpPr>
        <p:spPr/>
        <p:txBody>
          <a:bodyPr/>
          <a:lstStyle/>
          <a:p>
            <a:fld id="{7219C35E-FBC1-4AA5-9EBA-13EB3C333FAC}" type="datetimeFigureOut">
              <a:rPr lang="en-US" smtClean="0"/>
              <a:t>4/20/2026</a:t>
            </a:fld>
            <a:endParaRPr lang="en-US"/>
          </a:p>
        </p:txBody>
      </p:sp>
      <p:sp>
        <p:nvSpPr>
          <p:cNvPr id="4" name="Footer Placeholder 3">
            <a:extLst>
              <a:ext uri="{FF2B5EF4-FFF2-40B4-BE49-F238E27FC236}">
                <a16:creationId xmlns:a16="http://schemas.microsoft.com/office/drawing/2014/main" id="{22DF3241-4109-5BEB-F2BD-1DE3052A14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7B3C287-EB0A-35F5-11B2-E56014A5FABA}"/>
              </a:ext>
            </a:extLst>
          </p:cNvPr>
          <p:cNvSpPr>
            <a:spLocks noGrp="1"/>
          </p:cNvSpPr>
          <p:nvPr>
            <p:ph type="sldNum" sz="quarter" idx="12"/>
          </p:nvPr>
        </p:nvSpPr>
        <p:spPr/>
        <p:txBody>
          <a:bodyPr/>
          <a:lstStyle/>
          <a:p>
            <a:fld id="{0D1FD311-CA4B-4182-B014-2383E8C559F7}" type="slidenum">
              <a:rPr lang="en-US" smtClean="0"/>
              <a:t>‹#›</a:t>
            </a:fld>
            <a:endParaRPr lang="en-US"/>
          </a:p>
        </p:txBody>
      </p:sp>
    </p:spTree>
    <p:extLst>
      <p:ext uri="{BB962C8B-B14F-4D97-AF65-F5344CB8AC3E}">
        <p14:creationId xmlns:p14="http://schemas.microsoft.com/office/powerpoint/2010/main" val="2608746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077065-2549-F326-AB12-A887910EB506}"/>
              </a:ext>
            </a:extLst>
          </p:cNvPr>
          <p:cNvSpPr>
            <a:spLocks noGrp="1"/>
          </p:cNvSpPr>
          <p:nvPr>
            <p:ph type="dt" sz="half" idx="10"/>
          </p:nvPr>
        </p:nvSpPr>
        <p:spPr/>
        <p:txBody>
          <a:bodyPr/>
          <a:lstStyle/>
          <a:p>
            <a:fld id="{7219C35E-FBC1-4AA5-9EBA-13EB3C333FAC}" type="datetimeFigureOut">
              <a:rPr lang="en-US" smtClean="0"/>
              <a:t>4/20/2026</a:t>
            </a:fld>
            <a:endParaRPr lang="en-US"/>
          </a:p>
        </p:txBody>
      </p:sp>
      <p:sp>
        <p:nvSpPr>
          <p:cNvPr id="3" name="Footer Placeholder 2">
            <a:extLst>
              <a:ext uri="{FF2B5EF4-FFF2-40B4-BE49-F238E27FC236}">
                <a16:creationId xmlns:a16="http://schemas.microsoft.com/office/drawing/2014/main" id="{AF1FC115-FFCB-F4CC-2032-B74FBD3940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4E5FD5-23FF-B87B-50CE-2B1DC2CE1BF1}"/>
              </a:ext>
            </a:extLst>
          </p:cNvPr>
          <p:cNvSpPr>
            <a:spLocks noGrp="1"/>
          </p:cNvSpPr>
          <p:nvPr>
            <p:ph type="sldNum" sz="quarter" idx="12"/>
          </p:nvPr>
        </p:nvSpPr>
        <p:spPr/>
        <p:txBody>
          <a:bodyPr/>
          <a:lstStyle/>
          <a:p>
            <a:fld id="{0D1FD311-CA4B-4182-B014-2383E8C559F7}" type="slidenum">
              <a:rPr lang="en-US" smtClean="0"/>
              <a:t>‹#›</a:t>
            </a:fld>
            <a:endParaRPr lang="en-US"/>
          </a:p>
        </p:txBody>
      </p:sp>
    </p:spTree>
    <p:extLst>
      <p:ext uri="{BB962C8B-B14F-4D97-AF65-F5344CB8AC3E}">
        <p14:creationId xmlns:p14="http://schemas.microsoft.com/office/powerpoint/2010/main" val="1593827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B5E70-2403-640B-70C4-080D2C81E1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FAE5B3F-ED02-C68F-8A22-18981C5BC1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353AAA0-36C1-976B-ED05-51901257B3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D2FDE7-6C6B-FD22-9CBA-1C36561BB9EC}"/>
              </a:ext>
            </a:extLst>
          </p:cNvPr>
          <p:cNvSpPr>
            <a:spLocks noGrp="1"/>
          </p:cNvSpPr>
          <p:nvPr>
            <p:ph type="dt" sz="half" idx="10"/>
          </p:nvPr>
        </p:nvSpPr>
        <p:spPr/>
        <p:txBody>
          <a:bodyPr/>
          <a:lstStyle/>
          <a:p>
            <a:fld id="{7219C35E-FBC1-4AA5-9EBA-13EB3C333FAC}" type="datetimeFigureOut">
              <a:rPr lang="en-US" smtClean="0"/>
              <a:t>4/20/2026</a:t>
            </a:fld>
            <a:endParaRPr lang="en-US"/>
          </a:p>
        </p:txBody>
      </p:sp>
      <p:sp>
        <p:nvSpPr>
          <p:cNvPr id="6" name="Footer Placeholder 5">
            <a:extLst>
              <a:ext uri="{FF2B5EF4-FFF2-40B4-BE49-F238E27FC236}">
                <a16:creationId xmlns:a16="http://schemas.microsoft.com/office/drawing/2014/main" id="{D8315A3D-163C-461D-F83C-354E682248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DD21A4-6F6F-6449-DF41-87384D5C0A45}"/>
              </a:ext>
            </a:extLst>
          </p:cNvPr>
          <p:cNvSpPr>
            <a:spLocks noGrp="1"/>
          </p:cNvSpPr>
          <p:nvPr>
            <p:ph type="sldNum" sz="quarter" idx="12"/>
          </p:nvPr>
        </p:nvSpPr>
        <p:spPr/>
        <p:txBody>
          <a:bodyPr/>
          <a:lstStyle/>
          <a:p>
            <a:fld id="{0D1FD311-CA4B-4182-B014-2383E8C559F7}" type="slidenum">
              <a:rPr lang="en-US" smtClean="0"/>
              <a:t>‹#›</a:t>
            </a:fld>
            <a:endParaRPr lang="en-US"/>
          </a:p>
        </p:txBody>
      </p:sp>
    </p:spTree>
    <p:extLst>
      <p:ext uri="{BB962C8B-B14F-4D97-AF65-F5344CB8AC3E}">
        <p14:creationId xmlns:p14="http://schemas.microsoft.com/office/powerpoint/2010/main" val="97561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872B0-003A-16B7-DFB2-FC587E1F05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FD0264-0117-E652-0615-315707C9B6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A91E72-C6D9-1364-50CF-DB04221E12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AEE1DD-7860-5E49-2513-62C57299CA00}"/>
              </a:ext>
            </a:extLst>
          </p:cNvPr>
          <p:cNvSpPr>
            <a:spLocks noGrp="1"/>
          </p:cNvSpPr>
          <p:nvPr>
            <p:ph type="dt" sz="half" idx="10"/>
          </p:nvPr>
        </p:nvSpPr>
        <p:spPr/>
        <p:txBody>
          <a:bodyPr/>
          <a:lstStyle/>
          <a:p>
            <a:fld id="{7219C35E-FBC1-4AA5-9EBA-13EB3C333FAC}" type="datetimeFigureOut">
              <a:rPr lang="en-US" smtClean="0"/>
              <a:t>4/20/2026</a:t>
            </a:fld>
            <a:endParaRPr lang="en-US"/>
          </a:p>
        </p:txBody>
      </p:sp>
      <p:sp>
        <p:nvSpPr>
          <p:cNvPr id="6" name="Footer Placeholder 5">
            <a:extLst>
              <a:ext uri="{FF2B5EF4-FFF2-40B4-BE49-F238E27FC236}">
                <a16:creationId xmlns:a16="http://schemas.microsoft.com/office/drawing/2014/main" id="{5A427079-8F3C-3195-79BF-F99CBE4E67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BB5FC4-85CD-6EAC-979E-000C4E082C2E}"/>
              </a:ext>
            </a:extLst>
          </p:cNvPr>
          <p:cNvSpPr>
            <a:spLocks noGrp="1"/>
          </p:cNvSpPr>
          <p:nvPr>
            <p:ph type="sldNum" sz="quarter" idx="12"/>
          </p:nvPr>
        </p:nvSpPr>
        <p:spPr/>
        <p:txBody>
          <a:bodyPr/>
          <a:lstStyle/>
          <a:p>
            <a:fld id="{0D1FD311-CA4B-4182-B014-2383E8C559F7}" type="slidenum">
              <a:rPr lang="en-US" smtClean="0"/>
              <a:t>‹#›</a:t>
            </a:fld>
            <a:endParaRPr lang="en-US"/>
          </a:p>
        </p:txBody>
      </p:sp>
    </p:spTree>
    <p:extLst>
      <p:ext uri="{BB962C8B-B14F-4D97-AF65-F5344CB8AC3E}">
        <p14:creationId xmlns:p14="http://schemas.microsoft.com/office/powerpoint/2010/main" val="1947464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19AB0-1185-4006-AEF4-5B6CB68B68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D42DC7-D0ED-70C0-4D3C-11E3FFC56F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E9B10A-5CB8-7445-2C38-53FBD0EE3E90}"/>
              </a:ext>
            </a:extLst>
          </p:cNvPr>
          <p:cNvSpPr>
            <a:spLocks noGrp="1"/>
          </p:cNvSpPr>
          <p:nvPr>
            <p:ph type="dt" sz="half" idx="10"/>
          </p:nvPr>
        </p:nvSpPr>
        <p:spPr/>
        <p:txBody>
          <a:bodyPr/>
          <a:lstStyle/>
          <a:p>
            <a:fld id="{7219C35E-FBC1-4AA5-9EBA-13EB3C333FAC}" type="datetimeFigureOut">
              <a:rPr lang="en-US" smtClean="0"/>
              <a:t>4/20/2026</a:t>
            </a:fld>
            <a:endParaRPr lang="en-US"/>
          </a:p>
        </p:txBody>
      </p:sp>
      <p:sp>
        <p:nvSpPr>
          <p:cNvPr id="5" name="Footer Placeholder 4">
            <a:extLst>
              <a:ext uri="{FF2B5EF4-FFF2-40B4-BE49-F238E27FC236}">
                <a16:creationId xmlns:a16="http://schemas.microsoft.com/office/drawing/2014/main" id="{62A1E2D0-EE76-D431-69CD-6D2B70A4FE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937EE0-A51F-3D6B-08C1-43839024A64E}"/>
              </a:ext>
            </a:extLst>
          </p:cNvPr>
          <p:cNvSpPr>
            <a:spLocks noGrp="1"/>
          </p:cNvSpPr>
          <p:nvPr>
            <p:ph type="sldNum" sz="quarter" idx="12"/>
          </p:nvPr>
        </p:nvSpPr>
        <p:spPr/>
        <p:txBody>
          <a:bodyPr/>
          <a:lstStyle/>
          <a:p>
            <a:fld id="{0D1FD311-CA4B-4182-B014-2383E8C559F7}" type="slidenum">
              <a:rPr lang="en-US" smtClean="0"/>
              <a:t>‹#›</a:t>
            </a:fld>
            <a:endParaRPr lang="en-US"/>
          </a:p>
        </p:txBody>
      </p:sp>
    </p:spTree>
    <p:extLst>
      <p:ext uri="{BB962C8B-B14F-4D97-AF65-F5344CB8AC3E}">
        <p14:creationId xmlns:p14="http://schemas.microsoft.com/office/powerpoint/2010/main" val="3348830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B2DB70-CFE5-B451-F318-4BF3085B78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961419-A483-59D2-15C8-A7C87656FC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967980-8E00-436D-91D2-7BE267BAE11D}"/>
              </a:ext>
            </a:extLst>
          </p:cNvPr>
          <p:cNvSpPr>
            <a:spLocks noGrp="1"/>
          </p:cNvSpPr>
          <p:nvPr>
            <p:ph type="dt" sz="half" idx="10"/>
          </p:nvPr>
        </p:nvSpPr>
        <p:spPr/>
        <p:txBody>
          <a:bodyPr/>
          <a:lstStyle/>
          <a:p>
            <a:fld id="{7219C35E-FBC1-4AA5-9EBA-13EB3C333FAC}" type="datetimeFigureOut">
              <a:rPr lang="en-US" smtClean="0"/>
              <a:t>4/20/2026</a:t>
            </a:fld>
            <a:endParaRPr lang="en-US"/>
          </a:p>
        </p:txBody>
      </p:sp>
      <p:sp>
        <p:nvSpPr>
          <p:cNvPr id="5" name="Footer Placeholder 4">
            <a:extLst>
              <a:ext uri="{FF2B5EF4-FFF2-40B4-BE49-F238E27FC236}">
                <a16:creationId xmlns:a16="http://schemas.microsoft.com/office/drawing/2014/main" id="{CC49E0B8-8F72-96DF-4E75-61B152C626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87C4DC-B0B4-166F-B5B5-D1DF1F3B0973}"/>
              </a:ext>
            </a:extLst>
          </p:cNvPr>
          <p:cNvSpPr>
            <a:spLocks noGrp="1"/>
          </p:cNvSpPr>
          <p:nvPr>
            <p:ph type="sldNum" sz="quarter" idx="12"/>
          </p:nvPr>
        </p:nvSpPr>
        <p:spPr/>
        <p:txBody>
          <a:bodyPr/>
          <a:lstStyle/>
          <a:p>
            <a:fld id="{0D1FD311-CA4B-4182-B014-2383E8C559F7}" type="slidenum">
              <a:rPr lang="en-US" smtClean="0"/>
              <a:t>‹#›</a:t>
            </a:fld>
            <a:endParaRPr lang="en-US"/>
          </a:p>
        </p:txBody>
      </p:sp>
    </p:spTree>
    <p:extLst>
      <p:ext uri="{BB962C8B-B14F-4D97-AF65-F5344CB8AC3E}">
        <p14:creationId xmlns:p14="http://schemas.microsoft.com/office/powerpoint/2010/main" val="828902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B68492-BC52-D6F8-AE45-8BDF086329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9BFBC6-368B-27A7-4103-0ED3F400C5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F301E5-8E63-5174-7116-F855F3ADE2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19C35E-FBC1-4AA5-9EBA-13EB3C333FAC}" type="datetimeFigureOut">
              <a:rPr lang="en-US" smtClean="0"/>
              <a:t>4/20/2026</a:t>
            </a:fld>
            <a:endParaRPr lang="en-US"/>
          </a:p>
        </p:txBody>
      </p:sp>
      <p:sp>
        <p:nvSpPr>
          <p:cNvPr id="5" name="Footer Placeholder 4">
            <a:extLst>
              <a:ext uri="{FF2B5EF4-FFF2-40B4-BE49-F238E27FC236}">
                <a16:creationId xmlns:a16="http://schemas.microsoft.com/office/drawing/2014/main" id="{244DD152-104B-3DF0-CC0C-16328EBD81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F40E8C1-4CBD-9CCD-F054-5E9D0FA946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1FD311-CA4B-4182-B014-2383E8C559F7}" type="slidenum">
              <a:rPr lang="en-US" smtClean="0"/>
              <a:t>‹#›</a:t>
            </a:fld>
            <a:endParaRPr lang="en-US"/>
          </a:p>
        </p:txBody>
      </p:sp>
    </p:spTree>
    <p:extLst>
      <p:ext uri="{BB962C8B-B14F-4D97-AF65-F5344CB8AC3E}">
        <p14:creationId xmlns:p14="http://schemas.microsoft.com/office/powerpoint/2010/main" val="23878849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microsoft.com/office/2007/relationships/hdphoto" Target="../media/hdphoto5.wdp"/></Relationships>
</file>

<file path=ppt/slides/_rels/slide14.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microsoft.com/office/2007/relationships/hdphoto" Target="../media/hdphoto7.wdp"/></Relationships>
</file>

<file path=ppt/slides/_rels/slide1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19.png"/><Relationship Id="rId1" Type="http://schemas.openxmlformats.org/officeDocument/2006/relationships/slideLayout" Target="../slideLayouts/slideLayout2.xml"/><Relationship Id="rId5" Type="http://schemas.microsoft.com/office/2007/relationships/hdphoto" Target="../media/hdphoto13.wdp"/><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21.png"/><Relationship Id="rId1" Type="http://schemas.openxmlformats.org/officeDocument/2006/relationships/slideLayout" Target="../slideLayouts/slideLayout2.xml"/><Relationship Id="rId5" Type="http://schemas.microsoft.com/office/2007/relationships/hdphoto" Target="../media/hdphoto15.wdp"/><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23.png"/><Relationship Id="rId1" Type="http://schemas.openxmlformats.org/officeDocument/2006/relationships/slideLayout" Target="../slideLayouts/slideLayout2.xml"/><Relationship Id="rId5" Type="http://schemas.microsoft.com/office/2007/relationships/hdphoto" Target="../media/hdphoto17.wdp"/><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39737"/>
            <a:ext cx="8750188" cy="787357"/>
          </a:xfrm>
        </p:spPr>
        <p:txBody>
          <a:bodyPr>
            <a:normAutofit/>
          </a:bodyPr>
          <a:lstStyle/>
          <a:p>
            <a:r>
              <a:rPr lang="en-US" sz="4400" b="1" dirty="0">
                <a:latin typeface="Times New Roman" panose="02020603050405020304" pitchFamily="18" charset="0"/>
                <a:cs typeface="Times New Roman" panose="02020603050405020304" pitchFamily="18" charset="0"/>
              </a:rPr>
              <a:t>STRESS IN COMPOSITE BARS</a:t>
            </a:r>
          </a:p>
        </p:txBody>
      </p:sp>
      <p:sp>
        <p:nvSpPr>
          <p:cNvPr id="3" name="Subtitle 2"/>
          <p:cNvSpPr>
            <a:spLocks noGrp="1"/>
          </p:cNvSpPr>
          <p:nvPr>
            <p:ph type="subTitle" idx="1"/>
          </p:nvPr>
        </p:nvSpPr>
        <p:spPr>
          <a:xfrm>
            <a:off x="898216" y="1529394"/>
            <a:ext cx="10471094" cy="4919957"/>
          </a:xfrm>
        </p:spPr>
        <p:txBody>
          <a:bodyPr/>
          <a:lstStyle/>
          <a:p>
            <a:r>
              <a:rPr lang="en-US" dirty="0">
                <a:solidFill>
                  <a:srgbClr val="FF0000"/>
                </a:solidFill>
                <a:latin typeface="Times New Roman" panose="02020603050405020304" pitchFamily="18" charset="0"/>
                <a:cs typeface="Times New Roman" panose="02020603050405020304" pitchFamily="18" charset="0"/>
              </a:rPr>
              <a:t>Covering Contents:</a:t>
            </a:r>
          </a:p>
          <a:p>
            <a:pPr marL="342900" indent="-342900"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Stress in composite bars made up of two different materials</a:t>
            </a:r>
          </a:p>
          <a:p>
            <a:pPr marL="342900" indent="-342900"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Stresses due to Change in Temperature -Thermal Stresses </a:t>
            </a:r>
          </a:p>
          <a:p>
            <a:pPr marL="342900" indent="-342900"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Linear and Lateral Strain </a:t>
            </a:r>
          </a:p>
          <a:p>
            <a:pPr marL="342900" indent="-342900"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Poisson's Ratio</a:t>
            </a:r>
          </a:p>
          <a:p>
            <a:pPr marL="342900" indent="-342900"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Volumetric Strain</a:t>
            </a:r>
          </a:p>
          <a:p>
            <a:pPr marL="342900" indent="-342900"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Bulk Modulus </a:t>
            </a:r>
          </a:p>
          <a:p>
            <a:pPr marL="342900" indent="-342900"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Impact Stress </a:t>
            </a:r>
          </a:p>
          <a:p>
            <a:pPr marL="342900" indent="-342900"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Resilience</a:t>
            </a:r>
          </a:p>
          <a:p>
            <a:pPr marL="342900" indent="-342900">
              <a:buFont typeface="Wingdings" panose="05000000000000000000" pitchFamily="2" charset="2"/>
              <a:buChar char="v"/>
            </a:pPr>
            <a:endParaRPr lang="en-US" dirty="0"/>
          </a:p>
        </p:txBody>
      </p:sp>
    </p:spTree>
    <p:extLst>
      <p:ext uri="{BB962C8B-B14F-4D97-AF65-F5344CB8AC3E}">
        <p14:creationId xmlns:p14="http://schemas.microsoft.com/office/powerpoint/2010/main" val="1979103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27C54-B90B-52FE-107E-41CF70F06A22}"/>
              </a:ext>
            </a:extLst>
          </p:cNvPr>
          <p:cNvSpPr>
            <a:spLocks noGrp="1"/>
          </p:cNvSpPr>
          <p:nvPr>
            <p:ph type="ctrTitle"/>
          </p:nvPr>
        </p:nvSpPr>
        <p:spPr>
          <a:xfrm>
            <a:off x="1524000" y="609601"/>
            <a:ext cx="9144000" cy="619759"/>
          </a:xfrm>
        </p:spPr>
        <p:txBody>
          <a:bodyPr>
            <a:normAutofit/>
          </a:bodyPr>
          <a:lstStyle/>
          <a:p>
            <a:r>
              <a:rPr lang="en-US" sz="3200" b="1" dirty="0">
                <a:latin typeface="Times New Roman" panose="02020603050405020304" pitchFamily="18" charset="0"/>
                <a:cs typeface="Times New Roman" panose="02020603050405020304" pitchFamily="18" charset="0"/>
              </a:rPr>
              <a:t>STRESS IN COMPOSITE BARS</a:t>
            </a:r>
            <a:endParaRPr lang="en-US"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CD4F32C-A385-85A2-4B43-19E6702A1F85}"/>
              </a:ext>
            </a:extLst>
          </p:cNvPr>
          <p:cNvSpPr>
            <a:spLocks noGrp="1"/>
          </p:cNvSpPr>
          <p:nvPr>
            <p:ph type="subTitle" idx="1"/>
          </p:nvPr>
        </p:nvSpPr>
        <p:spPr>
          <a:xfrm>
            <a:off x="640080" y="1493520"/>
            <a:ext cx="11104880" cy="4663441"/>
          </a:xfrm>
        </p:spPr>
        <p:txBody>
          <a:bodyPr>
            <a:normAutofit/>
          </a:bodyPr>
          <a:lstStyle/>
          <a:p>
            <a:pPr algn="just"/>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 composite bar may be defined as a bar made up of two or more different materials, joined together, in such a manner that the system extends or contracts as one unit, equally, when subjected to tension or compression. </a:t>
            </a:r>
          </a:p>
        </p:txBody>
      </p:sp>
    </p:spTree>
    <p:extLst>
      <p:ext uri="{BB962C8B-B14F-4D97-AF65-F5344CB8AC3E}">
        <p14:creationId xmlns:p14="http://schemas.microsoft.com/office/powerpoint/2010/main" val="2648853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C446AA-9915-BAD8-15BB-DF757E7EB9DD}"/>
              </a:ext>
            </a:extLst>
          </p:cNvPr>
          <p:cNvSpPr>
            <a:spLocks noGrp="1"/>
          </p:cNvSpPr>
          <p:nvPr>
            <p:ph idx="1"/>
          </p:nvPr>
        </p:nvSpPr>
        <p:spPr>
          <a:xfrm>
            <a:off x="838200" y="325120"/>
            <a:ext cx="10515600" cy="5851843"/>
          </a:xfrm>
        </p:spPr>
        <p:txBody>
          <a:bodyPr>
            <a:normAutofit/>
          </a:bodyPr>
          <a:lstStyle/>
          <a:p>
            <a:pPr marL="0" indent="0" algn="just">
              <a:buNone/>
            </a:pPr>
            <a:r>
              <a:rPr lang="en-US" sz="3200" dirty="0">
                <a:latin typeface="Times New Roman" panose="02020603050405020304" pitchFamily="18" charset="0"/>
                <a:cs typeface="Times New Roman" panose="02020603050405020304" pitchFamily="18" charset="0"/>
              </a:rPr>
              <a:t>In case of composite bars, the following points should be kept in view:</a:t>
            </a:r>
          </a:p>
          <a:p>
            <a:pPr marL="0" indent="0" algn="just">
              <a:buNone/>
            </a:pPr>
            <a:endParaRPr lang="en-US" sz="3200" dirty="0">
              <a:latin typeface="Times New Roman" panose="02020603050405020304" pitchFamily="18" charset="0"/>
              <a:cs typeface="Times New Roman" panose="02020603050405020304" pitchFamily="18" charset="0"/>
            </a:endParaRPr>
          </a:p>
          <a:p>
            <a:pPr marL="514350" indent="-514350">
              <a:buAutoNum type="arabicPeriod"/>
            </a:pPr>
            <a:r>
              <a:rPr lang="en-US" sz="3200" dirty="0">
                <a:latin typeface="Times New Roman" panose="02020603050405020304" pitchFamily="18" charset="0"/>
                <a:cs typeface="Times New Roman" panose="02020603050405020304" pitchFamily="18" charset="0"/>
              </a:rPr>
              <a:t>The extension or contraction of the bar being equal, the strain </a:t>
            </a:r>
            <a:r>
              <a:rPr lang="en-US" sz="3200" i="1" dirty="0">
                <a:latin typeface="Times New Roman" panose="02020603050405020304" pitchFamily="18" charset="0"/>
                <a:cs typeface="Times New Roman" panose="02020603050405020304" pitchFamily="18" charset="0"/>
              </a:rPr>
              <a:t>i.e</a:t>
            </a:r>
            <a:r>
              <a:rPr lang="en-US" sz="3200" dirty="0">
                <a:latin typeface="Times New Roman" panose="02020603050405020304" pitchFamily="18" charset="0"/>
                <a:cs typeface="Times New Roman" panose="02020603050405020304" pitchFamily="18" charset="0"/>
              </a:rPr>
              <a:t>. deformation per unit length is also equal.</a:t>
            </a:r>
          </a:p>
          <a:p>
            <a:pPr marL="0" indent="0">
              <a:buNone/>
            </a:pPr>
            <a:endParaRPr lang="en-US" sz="3200" dirty="0">
              <a:latin typeface="Times New Roman" panose="02020603050405020304" pitchFamily="18" charset="0"/>
              <a:cs typeface="Times New Roman" panose="02020603050405020304" pitchFamily="18" charset="0"/>
            </a:endParaRPr>
          </a:p>
          <a:p>
            <a:pPr marL="0" indent="0">
              <a:buNone/>
            </a:pPr>
            <a:r>
              <a:rPr lang="en-US" sz="3200" b="1" dirty="0">
                <a:latin typeface="Times New Roman" panose="02020603050405020304" pitchFamily="18" charset="0"/>
                <a:cs typeface="Times New Roman" panose="02020603050405020304" pitchFamily="18" charset="0"/>
              </a:rPr>
              <a:t>2. </a:t>
            </a:r>
            <a:r>
              <a:rPr lang="en-US" sz="3200" dirty="0">
                <a:latin typeface="Times New Roman" panose="02020603050405020304" pitchFamily="18" charset="0"/>
                <a:cs typeface="Times New Roman" panose="02020603050405020304" pitchFamily="18" charset="0"/>
              </a:rPr>
              <a:t>The total external load on the bar is equal to the sum of the loads carried by different materials.</a:t>
            </a:r>
            <a:endParaRPr lang="en-US" sz="3200" dirty="0"/>
          </a:p>
        </p:txBody>
      </p:sp>
    </p:spTree>
    <p:extLst>
      <p:ext uri="{BB962C8B-B14F-4D97-AF65-F5344CB8AC3E}">
        <p14:creationId xmlns:p14="http://schemas.microsoft.com/office/powerpoint/2010/main" val="3149443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550258" y="1132884"/>
            <a:ext cx="11280298" cy="5089891"/>
          </a:xfrm>
          <a:prstGeom prst="rect">
            <a:avLst/>
          </a:prstGeom>
        </p:spPr>
      </p:pic>
    </p:spTree>
    <p:extLst>
      <p:ext uri="{BB962C8B-B14F-4D97-AF65-F5344CB8AC3E}">
        <p14:creationId xmlns:p14="http://schemas.microsoft.com/office/powerpoint/2010/main" val="2470258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89760" y="13464"/>
            <a:ext cx="8554720" cy="6732776"/>
          </a:xfrm>
          <a:prstGeom prst="rect">
            <a:avLst/>
          </a:prstGeom>
        </p:spPr>
      </p:pic>
    </p:spTree>
    <p:extLst>
      <p:ext uri="{BB962C8B-B14F-4D97-AF65-F5344CB8AC3E}">
        <p14:creationId xmlns:p14="http://schemas.microsoft.com/office/powerpoint/2010/main" val="4199307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biLevel thresh="75000"/>
          </a:blip>
          <a:stretch>
            <a:fillRect/>
          </a:stretch>
        </p:blipFill>
        <p:spPr>
          <a:xfrm>
            <a:off x="1290320" y="0"/>
            <a:ext cx="10594126" cy="6705600"/>
          </a:xfrm>
          <a:prstGeom prst="rect">
            <a:avLst/>
          </a:prstGeom>
        </p:spPr>
      </p:pic>
    </p:spTree>
    <p:extLst>
      <p:ext uri="{BB962C8B-B14F-4D97-AF65-F5344CB8AC3E}">
        <p14:creationId xmlns:p14="http://schemas.microsoft.com/office/powerpoint/2010/main" val="1681069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biLevel thresh="75000"/>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376555" y="1438496"/>
            <a:ext cx="11671372" cy="3698697"/>
          </a:xfrm>
          <a:prstGeom prst="rect">
            <a:avLst/>
          </a:prstGeom>
          <a:effectLst>
            <a:outerShdw blurRad="50800" dist="50800" dir="5400000" algn="ctr" rotWithShape="0">
              <a:srgbClr val="000000"/>
            </a:outerShdw>
          </a:effectLst>
          <a:scene3d>
            <a:camera prst="orthographicFront"/>
            <a:lightRig rig="threePt" dir="t"/>
          </a:scene3d>
          <a:sp3d>
            <a:bevelT/>
          </a:sp3d>
        </p:spPr>
      </p:pic>
    </p:spTree>
    <p:extLst>
      <p:ext uri="{BB962C8B-B14F-4D97-AF65-F5344CB8AC3E}">
        <p14:creationId xmlns:p14="http://schemas.microsoft.com/office/powerpoint/2010/main" val="1660517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grayscl/>
            <a:extLst>
              <a:ext uri="{BEBA8EAE-BF5A-486C-A8C5-ECC9F3942E4B}">
                <a14:imgProps xmlns:a14="http://schemas.microsoft.com/office/drawing/2010/main">
                  <a14:imgLayer r:embed="rId3">
                    <a14:imgEffect>
                      <a14:brightnessContrast bright="20000" contrast="-20000"/>
                    </a14:imgEffect>
                  </a14:imgLayer>
                </a14:imgProps>
              </a:ext>
            </a:extLst>
          </a:blip>
          <a:stretch>
            <a:fillRect/>
          </a:stretch>
        </p:blipFill>
        <p:spPr>
          <a:xfrm>
            <a:off x="120496" y="193040"/>
            <a:ext cx="11726243" cy="6471920"/>
          </a:xfrm>
          <a:prstGeom prst="rect">
            <a:avLst/>
          </a:prstGeom>
        </p:spPr>
      </p:pic>
    </p:spTree>
    <p:extLst>
      <p:ext uri="{BB962C8B-B14F-4D97-AF65-F5344CB8AC3E}">
        <p14:creationId xmlns:p14="http://schemas.microsoft.com/office/powerpoint/2010/main" val="3320562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922492" y="347959"/>
            <a:ext cx="10471094" cy="6198498"/>
          </a:xfrm>
          <a:prstGeom prst="rect">
            <a:avLst/>
          </a:prstGeom>
        </p:spPr>
      </p:pic>
    </p:spTree>
    <p:extLst>
      <p:ext uri="{BB962C8B-B14F-4D97-AF65-F5344CB8AC3E}">
        <p14:creationId xmlns:p14="http://schemas.microsoft.com/office/powerpoint/2010/main" val="1638811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85523"/>
            <a:ext cx="9144000" cy="1399922"/>
          </a:xfrm>
        </p:spPr>
        <p:txBody>
          <a:bodyPr>
            <a:normAutofit/>
          </a:bodyPr>
          <a:lstStyle/>
          <a:p>
            <a:r>
              <a:rPr lang="en-US" sz="4000" dirty="0">
                <a:solidFill>
                  <a:srgbClr val="FF0000"/>
                </a:solidFill>
              </a:rPr>
              <a:t>Stresses due to Change in Temperature -Thermal Stresses </a:t>
            </a:r>
          </a:p>
        </p:txBody>
      </p:sp>
      <p:sp>
        <p:nvSpPr>
          <p:cNvPr id="3" name="Subtitle 2"/>
          <p:cNvSpPr>
            <a:spLocks noGrp="1"/>
          </p:cNvSpPr>
          <p:nvPr>
            <p:ph type="subTitle" idx="1"/>
          </p:nvPr>
        </p:nvSpPr>
        <p:spPr>
          <a:xfrm>
            <a:off x="477429" y="2039193"/>
            <a:ext cx="11280297" cy="4353514"/>
          </a:xfrm>
        </p:spPr>
        <p:txBody>
          <a:bodyPr>
            <a:noAutofit/>
          </a:bodyPr>
          <a:lstStyle/>
          <a:p>
            <a:pPr algn="l">
              <a:lnSpc>
                <a:spcPct val="150000"/>
              </a:lnSpc>
            </a:pPr>
            <a:r>
              <a:rPr lang="en-US" sz="2800" dirty="0">
                <a:solidFill>
                  <a:srgbClr val="231F20"/>
                </a:solidFill>
                <a:latin typeface="Times-Roman"/>
              </a:rPr>
              <a:t>Whenever there is some </a:t>
            </a:r>
            <a:r>
              <a:rPr lang="en-US" sz="2800" dirty="0">
                <a:solidFill>
                  <a:schemeClr val="accent1"/>
                </a:solidFill>
                <a:latin typeface="Times-Roman"/>
              </a:rPr>
              <a:t>increase</a:t>
            </a:r>
            <a:r>
              <a:rPr lang="en-US" sz="2800" dirty="0">
                <a:solidFill>
                  <a:srgbClr val="231F20"/>
                </a:solidFill>
                <a:latin typeface="Times-Roman"/>
              </a:rPr>
              <a:t> or </a:t>
            </a:r>
            <a:r>
              <a:rPr lang="en-US" sz="2800" dirty="0">
                <a:solidFill>
                  <a:schemeClr val="accent1"/>
                </a:solidFill>
                <a:latin typeface="Times-Roman"/>
              </a:rPr>
              <a:t>decrease</a:t>
            </a:r>
            <a:r>
              <a:rPr lang="en-US" sz="2800" dirty="0">
                <a:solidFill>
                  <a:srgbClr val="231F20"/>
                </a:solidFill>
                <a:latin typeface="Times-Roman"/>
              </a:rPr>
              <a:t> in the temperature of a body, it causes the body to </a:t>
            </a:r>
            <a:r>
              <a:rPr lang="en-US" sz="2800" dirty="0">
                <a:solidFill>
                  <a:srgbClr val="FF0000"/>
                </a:solidFill>
                <a:latin typeface="Times-Roman"/>
              </a:rPr>
              <a:t>expand</a:t>
            </a:r>
            <a:r>
              <a:rPr lang="en-US" sz="2800" dirty="0">
                <a:solidFill>
                  <a:srgbClr val="231F20"/>
                </a:solidFill>
                <a:latin typeface="Times-Roman"/>
              </a:rPr>
              <a:t> or </a:t>
            </a:r>
            <a:r>
              <a:rPr lang="en-US" sz="2800" dirty="0">
                <a:solidFill>
                  <a:srgbClr val="FF0000"/>
                </a:solidFill>
                <a:latin typeface="Times-Roman"/>
              </a:rPr>
              <a:t>contract.</a:t>
            </a:r>
            <a:r>
              <a:rPr lang="en-US" sz="2800" dirty="0">
                <a:solidFill>
                  <a:srgbClr val="231F20"/>
                </a:solidFill>
                <a:latin typeface="Times-Roman"/>
              </a:rPr>
              <a:t> A little consideration will show that if the body is allowed to expand or contract freely, with the </a:t>
            </a:r>
            <a:r>
              <a:rPr lang="en-US" sz="2800" dirty="0">
                <a:solidFill>
                  <a:srgbClr val="FF0000"/>
                </a:solidFill>
                <a:latin typeface="Times-Roman"/>
              </a:rPr>
              <a:t>rise or fall of the temperature</a:t>
            </a:r>
            <a:r>
              <a:rPr lang="en-US" sz="2800" dirty="0">
                <a:solidFill>
                  <a:srgbClr val="231F20"/>
                </a:solidFill>
                <a:latin typeface="Times-Roman"/>
              </a:rPr>
              <a:t>, no stresses are induced in the body. But, if the </a:t>
            </a:r>
            <a:r>
              <a:rPr lang="en-US" sz="2800" dirty="0">
                <a:solidFill>
                  <a:srgbClr val="FF0000"/>
                </a:solidFill>
                <a:latin typeface="Times-Roman"/>
              </a:rPr>
              <a:t>deformation</a:t>
            </a:r>
            <a:r>
              <a:rPr lang="en-US" sz="2800" dirty="0">
                <a:solidFill>
                  <a:srgbClr val="231F20"/>
                </a:solidFill>
                <a:latin typeface="Times-Roman"/>
              </a:rPr>
              <a:t> of the body is </a:t>
            </a:r>
            <a:r>
              <a:rPr lang="en-US" sz="2800" dirty="0">
                <a:solidFill>
                  <a:srgbClr val="FF0000"/>
                </a:solidFill>
                <a:latin typeface="Times-Roman"/>
              </a:rPr>
              <a:t>prevented</a:t>
            </a:r>
            <a:r>
              <a:rPr lang="en-US" sz="2800" dirty="0">
                <a:solidFill>
                  <a:srgbClr val="231F20"/>
                </a:solidFill>
                <a:latin typeface="Times-Roman"/>
              </a:rPr>
              <a:t>, some stresses are </a:t>
            </a:r>
            <a:r>
              <a:rPr lang="en-US" sz="2800" dirty="0">
                <a:solidFill>
                  <a:schemeClr val="accent1"/>
                </a:solidFill>
                <a:latin typeface="Times-Roman"/>
              </a:rPr>
              <a:t>induced</a:t>
            </a:r>
            <a:r>
              <a:rPr lang="en-US" sz="2800" dirty="0">
                <a:solidFill>
                  <a:srgbClr val="231F20"/>
                </a:solidFill>
                <a:latin typeface="Times-Roman"/>
              </a:rPr>
              <a:t> in the body. Such stresses are known as </a:t>
            </a:r>
            <a:r>
              <a:rPr lang="en-US" sz="2800" b="1" i="1" dirty="0">
                <a:solidFill>
                  <a:srgbClr val="231F20"/>
                </a:solidFill>
                <a:latin typeface="Times-BoldItalic"/>
              </a:rPr>
              <a:t>thermal stresses.</a:t>
            </a:r>
            <a:r>
              <a:rPr lang="en-US" sz="2800" dirty="0"/>
              <a:t> </a:t>
            </a:r>
            <a:br>
              <a:rPr lang="en-US" sz="2800" dirty="0"/>
            </a:br>
            <a:endParaRPr lang="en-US" sz="2800" dirty="0"/>
          </a:p>
        </p:txBody>
      </p:sp>
    </p:spTree>
    <p:extLst>
      <p:ext uri="{BB962C8B-B14F-4D97-AF65-F5344CB8AC3E}">
        <p14:creationId xmlns:p14="http://schemas.microsoft.com/office/powerpoint/2010/main" val="2143937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79731" y="574534"/>
            <a:ext cx="10972800" cy="5737253"/>
          </a:xfrm>
        </p:spPr>
        <p:txBody>
          <a:bodyPr>
            <a:normAutofit/>
          </a:bodyPr>
          <a:lstStyle/>
          <a:p>
            <a:pPr algn="l"/>
            <a:r>
              <a:rPr lang="en-US" sz="2800" b="1" dirty="0">
                <a:latin typeface="Times New Roman" panose="02020603050405020304" pitchFamily="18" charset="0"/>
                <a:cs typeface="Times New Roman" panose="02020603050405020304" pitchFamily="18" charset="0"/>
              </a:rPr>
              <a:t>Notes : </a:t>
            </a:r>
          </a:p>
          <a:p>
            <a:pPr algn="l"/>
            <a:endParaRPr lang="en-US" sz="2800" b="1" dirty="0">
              <a:latin typeface="Times New Roman" panose="02020603050405020304" pitchFamily="18" charset="0"/>
              <a:cs typeface="Times New Roman" panose="02020603050405020304" pitchFamily="18" charset="0"/>
            </a:endParaRPr>
          </a:p>
          <a:p>
            <a:pPr algn="l"/>
            <a:r>
              <a:rPr lang="en-US" sz="3200" b="1" dirty="0">
                <a:latin typeface="Times New Roman" panose="02020603050405020304" pitchFamily="18" charset="0"/>
                <a:cs typeface="Times New Roman" panose="02020603050405020304" pitchFamily="18" charset="0"/>
              </a:rPr>
              <a:t>1. </a:t>
            </a:r>
            <a:r>
              <a:rPr lang="en-US" sz="3200" dirty="0">
                <a:latin typeface="Times New Roman" panose="02020603050405020304" pitchFamily="18" charset="0"/>
                <a:cs typeface="Times New Roman" panose="02020603050405020304" pitchFamily="18" charset="0"/>
              </a:rPr>
              <a:t>When a body is composed of two or different materials having different coefficient of thermal expansions, then due to the rise in temperature, the material with higher coefficient of thermal expansion will be subjected to compressive stress whereas the material with low coefficient of expansion will be subjected to tensile stress.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7439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58CDF4-1BAE-32C8-CEAA-5FD7ADA2D851}"/>
              </a:ext>
            </a:extLst>
          </p:cNvPr>
          <p:cNvSpPr>
            <a:spLocks noGrp="1"/>
          </p:cNvSpPr>
          <p:nvPr>
            <p:ph idx="1"/>
          </p:nvPr>
        </p:nvSpPr>
        <p:spPr>
          <a:xfrm>
            <a:off x="965200" y="365760"/>
            <a:ext cx="10388600" cy="5811203"/>
          </a:xfrm>
        </p:spPr>
        <p:txBody>
          <a:bodyPr/>
          <a:lstStyle/>
          <a:p>
            <a:pPr marL="0" indent="0">
              <a:buNone/>
            </a:pPr>
            <a:endParaRPr lang="en-US" sz="3200" b="1" dirty="0"/>
          </a:p>
          <a:p>
            <a:pPr marL="0" indent="0">
              <a:buNone/>
            </a:pPr>
            <a:endParaRPr lang="en-US" sz="3200" b="1" dirty="0"/>
          </a:p>
          <a:p>
            <a:pPr marL="0" indent="0">
              <a:buNone/>
            </a:pPr>
            <a:r>
              <a:rPr lang="en-US" sz="3200" b="1" dirty="0">
                <a:latin typeface="Times New Roman" panose="02020603050405020304" pitchFamily="18" charset="0"/>
                <a:cs typeface="Times New Roman" panose="02020603050405020304" pitchFamily="18" charset="0"/>
              </a:rPr>
              <a:t>2. </a:t>
            </a:r>
            <a:r>
              <a:rPr lang="en-US" sz="3200" dirty="0">
                <a:latin typeface="Times New Roman" panose="02020603050405020304" pitchFamily="18" charset="0"/>
                <a:cs typeface="Times New Roman" panose="02020603050405020304" pitchFamily="18" charset="0"/>
              </a:rPr>
              <a:t>When a thin </a:t>
            </a:r>
            <a:r>
              <a:rPr lang="en-US" sz="3200" dirty="0" err="1">
                <a:latin typeface="Times New Roman" panose="02020603050405020304" pitchFamily="18" charset="0"/>
                <a:cs typeface="Times New Roman" panose="02020603050405020304" pitchFamily="18" charset="0"/>
              </a:rPr>
              <a:t>tyre</a:t>
            </a:r>
            <a:r>
              <a:rPr lang="en-US" sz="3200" dirty="0">
                <a:latin typeface="Times New Roman" panose="02020603050405020304" pitchFamily="18" charset="0"/>
                <a:cs typeface="Times New Roman" panose="02020603050405020304" pitchFamily="18" charset="0"/>
              </a:rPr>
              <a:t> is shrunk on to a wheel of diameter </a:t>
            </a:r>
            <a:r>
              <a:rPr lang="en-US" sz="3200" i="1" dirty="0">
                <a:latin typeface="Times New Roman" panose="02020603050405020304" pitchFamily="18" charset="0"/>
                <a:cs typeface="Times New Roman" panose="02020603050405020304" pitchFamily="18" charset="0"/>
              </a:rPr>
              <a:t>D</a:t>
            </a:r>
            <a:r>
              <a:rPr lang="en-US" sz="3200" dirty="0">
                <a:latin typeface="Times New Roman" panose="02020603050405020304" pitchFamily="18" charset="0"/>
                <a:cs typeface="Times New Roman" panose="02020603050405020304" pitchFamily="18" charset="0"/>
              </a:rPr>
              <a:t>, its internal diameter </a:t>
            </a:r>
            <a:r>
              <a:rPr lang="en-US" sz="3200" i="1" dirty="0">
                <a:latin typeface="Times New Roman" panose="02020603050405020304" pitchFamily="18" charset="0"/>
                <a:cs typeface="Times New Roman" panose="02020603050405020304" pitchFamily="18" charset="0"/>
              </a:rPr>
              <a:t>d </a:t>
            </a:r>
            <a:r>
              <a:rPr lang="en-US" sz="3200" dirty="0">
                <a:latin typeface="Times New Roman" panose="02020603050405020304" pitchFamily="18" charset="0"/>
                <a:cs typeface="Times New Roman" panose="02020603050405020304" pitchFamily="18" charset="0"/>
              </a:rPr>
              <a:t>is a little less than the wheel diameter. When the </a:t>
            </a:r>
            <a:r>
              <a:rPr lang="en-US" sz="3200" dirty="0" err="1">
                <a:latin typeface="Times New Roman" panose="02020603050405020304" pitchFamily="18" charset="0"/>
                <a:cs typeface="Times New Roman" panose="02020603050405020304" pitchFamily="18" charset="0"/>
              </a:rPr>
              <a:t>tyre</a:t>
            </a:r>
            <a:r>
              <a:rPr lang="en-US" sz="3200" dirty="0">
                <a:latin typeface="Times New Roman" panose="02020603050405020304" pitchFamily="18" charset="0"/>
                <a:cs typeface="Times New Roman" panose="02020603050405020304" pitchFamily="18" charset="0"/>
              </a:rPr>
              <a:t> is heated, its circumference π </a:t>
            </a:r>
            <a:r>
              <a:rPr lang="en-US" sz="3200" i="1" dirty="0">
                <a:latin typeface="Times New Roman" panose="02020603050405020304" pitchFamily="18" charset="0"/>
                <a:cs typeface="Times New Roman" panose="02020603050405020304" pitchFamily="18" charset="0"/>
              </a:rPr>
              <a:t>d </a:t>
            </a:r>
            <a:r>
              <a:rPr lang="en-US" sz="3200" dirty="0">
                <a:latin typeface="Times New Roman" panose="02020603050405020304" pitchFamily="18" charset="0"/>
                <a:cs typeface="Times New Roman" panose="02020603050405020304" pitchFamily="18" charset="0"/>
              </a:rPr>
              <a:t>will increase to π </a:t>
            </a:r>
            <a:r>
              <a:rPr lang="en-US" sz="3200" i="1" dirty="0">
                <a:latin typeface="Times New Roman" panose="02020603050405020304" pitchFamily="18" charset="0"/>
                <a:cs typeface="Times New Roman" panose="02020603050405020304" pitchFamily="18" charset="0"/>
              </a:rPr>
              <a:t>D</a:t>
            </a:r>
            <a:r>
              <a:rPr lang="en-US" sz="3200" dirty="0">
                <a:latin typeface="Times New Roman" panose="02020603050405020304" pitchFamily="18" charset="0"/>
                <a:cs typeface="Times New Roman" panose="02020603050405020304" pitchFamily="18" charset="0"/>
              </a:rPr>
              <a:t>. In this condition, it is slipped on to the wheel. When it cools, it wants to return to its original circumference π </a:t>
            </a:r>
            <a:r>
              <a:rPr lang="en-US" sz="3200" i="1" dirty="0">
                <a:latin typeface="Times New Roman" panose="02020603050405020304" pitchFamily="18" charset="0"/>
                <a:cs typeface="Times New Roman" panose="02020603050405020304" pitchFamily="18" charset="0"/>
              </a:rPr>
              <a:t>d</a:t>
            </a:r>
            <a:r>
              <a:rPr lang="en-US" sz="3200" dirty="0">
                <a:latin typeface="Times New Roman" panose="02020603050405020304" pitchFamily="18" charset="0"/>
                <a:cs typeface="Times New Roman" panose="02020603050405020304" pitchFamily="18" charset="0"/>
              </a:rPr>
              <a:t>, but the wheel if it is assumed to be rigid, prevents it from doing so.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812420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biLevel thresh="75000"/>
          </a:blip>
          <a:stretch>
            <a:fillRect/>
          </a:stretch>
        </p:blipFill>
        <p:spPr>
          <a:xfrm>
            <a:off x="1003412" y="314960"/>
            <a:ext cx="8755583" cy="1971040"/>
          </a:xfrm>
          <a:prstGeom prst="rect">
            <a:avLst/>
          </a:prstGeom>
        </p:spPr>
      </p:pic>
      <p:pic>
        <p:nvPicPr>
          <p:cNvPr id="3" name="Picture 2"/>
          <p:cNvPicPr>
            <a:picLocks noChangeAspect="1"/>
          </p:cNvPicPr>
          <p:nvPr/>
        </p:nvPicPr>
        <p:blipFill>
          <a:blip r:embed="rId3">
            <a:biLevel thresh="75000"/>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582627" y="2675057"/>
            <a:ext cx="11182653" cy="3634303"/>
          </a:xfrm>
          <a:prstGeom prst="rect">
            <a:avLst/>
          </a:prstGeom>
        </p:spPr>
      </p:pic>
    </p:spTree>
    <p:extLst>
      <p:ext uri="{BB962C8B-B14F-4D97-AF65-F5344CB8AC3E}">
        <p14:creationId xmlns:p14="http://schemas.microsoft.com/office/powerpoint/2010/main" val="378307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grayscl/>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849664" y="453154"/>
            <a:ext cx="9580970" cy="5842450"/>
          </a:xfrm>
          <a:prstGeom prst="rect">
            <a:avLst/>
          </a:prstGeom>
        </p:spPr>
      </p:pic>
    </p:spTree>
    <p:extLst>
      <p:ext uri="{BB962C8B-B14F-4D97-AF65-F5344CB8AC3E}">
        <p14:creationId xmlns:p14="http://schemas.microsoft.com/office/powerpoint/2010/main" val="3371533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biLevel thresh="75000"/>
          </a:blip>
          <a:stretch>
            <a:fillRect/>
          </a:stretch>
        </p:blipFill>
        <p:spPr>
          <a:xfrm>
            <a:off x="609600" y="325596"/>
            <a:ext cx="11013440" cy="2072164"/>
          </a:xfrm>
          <a:prstGeom prst="rect">
            <a:avLst/>
          </a:prstGeom>
        </p:spPr>
      </p:pic>
      <p:pic>
        <p:nvPicPr>
          <p:cNvPr id="5" name="Content Placeholder 4"/>
          <p:cNvPicPr>
            <a:picLocks noGrp="1" noChangeAspect="1"/>
          </p:cNvPicPr>
          <p:nvPr>
            <p:ph idx="1"/>
          </p:nvPr>
        </p:nvPicPr>
        <p:blipFill>
          <a:blip r:embed="rId3">
            <a:grayscl/>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609600" y="2794682"/>
            <a:ext cx="11013440" cy="3737722"/>
          </a:xfrm>
          <a:prstGeom prst="rect">
            <a:avLst/>
          </a:prstGeom>
        </p:spPr>
      </p:pic>
    </p:spTree>
    <p:extLst>
      <p:ext uri="{BB962C8B-B14F-4D97-AF65-F5344CB8AC3E}">
        <p14:creationId xmlns:p14="http://schemas.microsoft.com/office/powerpoint/2010/main" val="35479053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grayscl/>
            <a:extLst>
              <a:ext uri="{BEBA8EAE-BF5A-486C-A8C5-ECC9F3942E4B}">
                <a14:imgProps xmlns:a14="http://schemas.microsoft.com/office/drawing/2010/main">
                  <a14:imgLayer r:embed="rId3">
                    <a14:imgEffect>
                      <a14:sharpenSoften amount="50000"/>
                    </a14:imgEffect>
                    <a14:imgEffect>
                      <a14:saturation sat="300000"/>
                    </a14:imgEffect>
                  </a14:imgLayer>
                </a14:imgProps>
              </a:ext>
            </a:extLst>
          </a:blip>
          <a:stretch>
            <a:fillRect/>
          </a:stretch>
        </p:blipFill>
        <p:spPr>
          <a:xfrm>
            <a:off x="760651" y="542166"/>
            <a:ext cx="9297749" cy="5807748"/>
          </a:xfrm>
          <a:prstGeom prst="rect">
            <a:avLst/>
          </a:prstGeom>
        </p:spPr>
      </p:pic>
    </p:spTree>
    <p:extLst>
      <p:ext uri="{BB962C8B-B14F-4D97-AF65-F5344CB8AC3E}">
        <p14:creationId xmlns:p14="http://schemas.microsoft.com/office/powerpoint/2010/main" val="3113054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Note that;</a:t>
            </a:r>
          </a:p>
        </p:txBody>
      </p:sp>
      <p:sp>
        <p:nvSpPr>
          <p:cNvPr id="3" name="Content Placeholder 2"/>
          <p:cNvSpPr>
            <a:spLocks noGrp="1"/>
          </p:cNvSpPr>
          <p:nvPr>
            <p:ph idx="1"/>
          </p:nvPr>
        </p:nvSpPr>
        <p:spPr/>
        <p:txBody>
          <a:bodyPr/>
          <a:lstStyle/>
          <a:p>
            <a:r>
              <a:rPr lang="en-US" dirty="0"/>
              <a:t>Since the free expansion of the copper bar is more than the free expansion of the steel tube, therefore the copper bar is subjected to a *compressive stress, while the steel tube is subjected to a tensile stress.</a:t>
            </a:r>
          </a:p>
          <a:p>
            <a:r>
              <a:rPr lang="en-US" dirty="0"/>
              <a:t>Let a compressive force </a:t>
            </a:r>
            <a:r>
              <a:rPr lang="en-US" i="1" dirty="0"/>
              <a:t>P </a:t>
            </a:r>
            <a:r>
              <a:rPr lang="en-US" dirty="0"/>
              <a:t>newton on the copper bar opposes the extra expansion of the copper bar and an equal tensile force </a:t>
            </a:r>
            <a:r>
              <a:rPr lang="en-US" i="1" dirty="0"/>
              <a:t>P </a:t>
            </a:r>
            <a:r>
              <a:rPr lang="en-US" dirty="0"/>
              <a:t>on the steel tube pulls the steel tube so that the net effect of reduction in length of copper bar and the increase in length of steel tube </a:t>
            </a:r>
            <a:r>
              <a:rPr lang="en-US" dirty="0" err="1"/>
              <a:t>equalises</a:t>
            </a:r>
            <a:r>
              <a:rPr lang="en-US" dirty="0"/>
              <a:t> the difference in free expansion of the two. </a:t>
            </a:r>
          </a:p>
          <a:p>
            <a:pPr marL="0" indent="0">
              <a:buNone/>
            </a:pPr>
            <a:endParaRPr lang="en-US" dirty="0"/>
          </a:p>
        </p:txBody>
      </p:sp>
    </p:spTree>
    <p:extLst>
      <p:ext uri="{BB962C8B-B14F-4D97-AF65-F5344CB8AC3E}">
        <p14:creationId xmlns:p14="http://schemas.microsoft.com/office/powerpoint/2010/main" val="3998193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59500"/>
          </a:xfrm>
        </p:spPr>
        <p:txBody>
          <a:bodyPr>
            <a:normAutofit/>
          </a:bodyPr>
          <a:lstStyle/>
          <a:p>
            <a:r>
              <a:rPr lang="en-US" sz="2800" dirty="0"/>
              <a:t>∴ Reduction in length of copper bar due to force </a:t>
            </a:r>
            <a:r>
              <a:rPr lang="en-US" sz="2800" i="1" dirty="0"/>
              <a:t>P</a:t>
            </a:r>
            <a:r>
              <a:rPr lang="en-US" sz="2800" dirty="0"/>
              <a:t> is given by: </a:t>
            </a:r>
          </a:p>
        </p:txBody>
      </p:sp>
      <p:pic>
        <p:nvPicPr>
          <p:cNvPr id="4" name="Content Placeholder 3"/>
          <p:cNvPicPr>
            <a:picLocks noGrp="1" noChangeAspect="1"/>
          </p:cNvPicPr>
          <p:nvPr>
            <p:ph idx="1"/>
          </p:nvPr>
        </p:nvPicPr>
        <p:blipFill>
          <a:blip r:embed="rId2">
            <a:biLevel thresh="75000"/>
          </a:blip>
          <a:stretch>
            <a:fillRect/>
          </a:stretch>
        </p:blipFill>
        <p:spPr>
          <a:xfrm>
            <a:off x="1503680" y="1701818"/>
            <a:ext cx="9428952" cy="4688822"/>
          </a:xfrm>
          <a:prstGeom prst="rect">
            <a:avLst/>
          </a:prstGeom>
        </p:spPr>
      </p:pic>
      <p:pic>
        <p:nvPicPr>
          <p:cNvPr id="5" name="Picture 4"/>
          <p:cNvPicPr>
            <a:picLocks noChangeAspect="1"/>
          </p:cNvPicPr>
          <p:nvPr/>
        </p:nvPicPr>
        <p:blipFill>
          <a:blip r:embed="rId3">
            <a:biLevel thresh="75000"/>
          </a:blip>
          <a:stretch>
            <a:fillRect/>
          </a:stretch>
        </p:blipFill>
        <p:spPr>
          <a:xfrm>
            <a:off x="9708678" y="609601"/>
            <a:ext cx="1518122" cy="915024"/>
          </a:xfrm>
          <a:prstGeom prst="rect">
            <a:avLst/>
          </a:prstGeom>
        </p:spPr>
      </p:pic>
    </p:spTree>
    <p:extLst>
      <p:ext uri="{BB962C8B-B14F-4D97-AF65-F5344CB8AC3E}">
        <p14:creationId xmlns:p14="http://schemas.microsoft.com/office/powerpoint/2010/main" val="37871566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815045"/>
          </a:xfrm>
        </p:spPr>
        <p:txBody>
          <a:bodyPr>
            <a:normAutofit/>
          </a:bodyPr>
          <a:lstStyle/>
          <a:p>
            <a:r>
              <a:rPr lang="en-US" sz="3200" dirty="0"/>
              <a:t>In other words, we can also say that since the coefficient of thermal expansion for copper (</a:t>
            </a:r>
            <a:r>
              <a:rPr lang="en-US" sz="3200" b="1" dirty="0"/>
              <a:t>α</a:t>
            </a:r>
            <a:r>
              <a:rPr lang="en-US" sz="1800" b="1" dirty="0"/>
              <a:t>c</a:t>
            </a:r>
            <a:r>
              <a:rPr lang="en-US" sz="3200" dirty="0"/>
              <a:t>) is more than the coefficient of thermal expansion for steel (</a:t>
            </a:r>
            <a:r>
              <a:rPr lang="en-US" sz="3200" b="1" dirty="0"/>
              <a:t>α</a:t>
            </a:r>
            <a:r>
              <a:rPr lang="en-US" sz="1600" b="1" i="1" dirty="0"/>
              <a:t>s</a:t>
            </a:r>
            <a:r>
              <a:rPr lang="en-US" sz="3200" dirty="0"/>
              <a:t>), therefore the copper bar will be subjected to compressive stress and the steel tube will be subjected to tensile stress. </a:t>
            </a:r>
          </a:p>
        </p:txBody>
      </p:sp>
      <p:pic>
        <p:nvPicPr>
          <p:cNvPr id="4" name="Content Placeholder 3"/>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783071" y="3180169"/>
            <a:ext cx="10196526" cy="2791753"/>
          </a:xfrm>
          <a:prstGeom prst="rect">
            <a:avLst/>
          </a:prstGeom>
        </p:spPr>
      </p:pic>
    </p:spTree>
    <p:extLst>
      <p:ext uri="{BB962C8B-B14F-4D97-AF65-F5344CB8AC3E}">
        <p14:creationId xmlns:p14="http://schemas.microsoft.com/office/powerpoint/2010/main" val="491721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0505" y="663547"/>
            <a:ext cx="6319879" cy="428878"/>
          </a:xfrm>
        </p:spPr>
        <p:txBody>
          <a:bodyPr>
            <a:normAutofit fontScale="90000"/>
          </a:bodyPr>
          <a:lstStyle/>
          <a:p>
            <a:r>
              <a:rPr lang="en-US" dirty="0"/>
              <a:t>Linear and Lateral Strain </a:t>
            </a:r>
          </a:p>
        </p:txBody>
      </p:sp>
      <p:sp>
        <p:nvSpPr>
          <p:cNvPr id="3" name="Content Placeholder 2"/>
          <p:cNvSpPr>
            <a:spLocks noGrp="1"/>
          </p:cNvSpPr>
          <p:nvPr>
            <p:ph idx="1"/>
          </p:nvPr>
        </p:nvSpPr>
        <p:spPr>
          <a:xfrm>
            <a:off x="655455" y="1270450"/>
            <a:ext cx="10698345" cy="5130350"/>
          </a:xfrm>
        </p:spPr>
        <p:txBody>
          <a:bodyPr>
            <a:normAutofit/>
          </a:bodyPr>
          <a:lstStyle/>
          <a:p>
            <a:pPr marL="0" indent="0">
              <a:buNone/>
            </a:pPr>
            <a:r>
              <a:rPr lang="en-US" dirty="0"/>
              <a:t> Consider a circular bar of diameter </a:t>
            </a:r>
            <a:r>
              <a:rPr lang="en-US" i="1" dirty="0"/>
              <a:t>d </a:t>
            </a:r>
            <a:r>
              <a:rPr lang="en-US" dirty="0"/>
              <a:t>and length </a:t>
            </a:r>
            <a:r>
              <a:rPr lang="en-US" i="1" dirty="0"/>
              <a:t>l</a:t>
            </a:r>
            <a:r>
              <a:rPr lang="en-US" dirty="0"/>
              <a:t>, subjected to a tensile force </a:t>
            </a:r>
            <a:r>
              <a:rPr lang="en-US" i="1" dirty="0"/>
              <a:t>P </a:t>
            </a:r>
            <a:r>
              <a:rPr lang="en-US" dirty="0"/>
              <a:t>as shown in Fig. 4.19 (</a:t>
            </a:r>
            <a:r>
              <a:rPr lang="en-US" i="1" dirty="0"/>
              <a:t>a</a:t>
            </a:r>
            <a:r>
              <a:rPr lang="en-US" dirty="0"/>
              <a:t>)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A little consideration will show that due to tensile force, the length of the bar increases by an amount </a:t>
            </a:r>
            <a:r>
              <a:rPr lang="en-US" dirty="0" err="1"/>
              <a:t>δ</a:t>
            </a:r>
            <a:r>
              <a:rPr lang="en-US" i="1" dirty="0" err="1"/>
              <a:t>l</a:t>
            </a:r>
            <a:r>
              <a:rPr lang="en-US" i="1" dirty="0"/>
              <a:t> </a:t>
            </a:r>
            <a:r>
              <a:rPr lang="en-US" dirty="0"/>
              <a:t>and the diameter decreases by an amount </a:t>
            </a:r>
            <a:r>
              <a:rPr lang="en-US" dirty="0" err="1"/>
              <a:t>δ</a:t>
            </a:r>
            <a:r>
              <a:rPr lang="en-US" i="1" dirty="0" err="1"/>
              <a:t>d</a:t>
            </a:r>
            <a:r>
              <a:rPr lang="en-US" dirty="0"/>
              <a:t>, as shown in Fig. 4.19 (</a:t>
            </a:r>
            <a:r>
              <a:rPr lang="en-US" i="1" dirty="0"/>
              <a:t>b</a:t>
            </a:r>
            <a:r>
              <a:rPr lang="en-US" dirty="0"/>
              <a:t>). Similarly, if the bar is subjected to a compressive force, the length of bar will decrease which will be followed by increase in diameter.</a:t>
            </a:r>
          </a:p>
          <a:p>
            <a:pPr marL="0" indent="0">
              <a:buNone/>
            </a:pPr>
            <a:endParaRPr lang="en-US" dirty="0"/>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2674823" y="2192941"/>
            <a:ext cx="6052617" cy="2064099"/>
          </a:xfrm>
          <a:prstGeom prst="rect">
            <a:avLst/>
          </a:prstGeom>
        </p:spPr>
      </p:pic>
    </p:spTree>
    <p:extLst>
      <p:ext uri="{BB962C8B-B14F-4D97-AF65-F5344CB8AC3E}">
        <p14:creationId xmlns:p14="http://schemas.microsoft.com/office/powerpoint/2010/main" val="2480492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20191"/>
            <a:ext cx="10515600" cy="5456772"/>
          </a:xfrm>
        </p:spPr>
        <p:txBody>
          <a:bodyPr/>
          <a:lstStyle/>
          <a:p>
            <a:pPr marL="0" indent="0">
              <a:buNone/>
            </a:pPr>
            <a:r>
              <a:rPr lang="en-US" dirty="0"/>
              <a:t>It is thus obvious, that every direct stress is accompanied by a strain in its own direction which is known as </a:t>
            </a:r>
            <a:r>
              <a:rPr lang="en-US" b="1" i="1" dirty="0"/>
              <a:t>linear strain </a:t>
            </a:r>
            <a:r>
              <a:rPr lang="en-US" dirty="0"/>
              <a:t>and an opposite kind of strain in every direction, at right angles to it, is known as </a:t>
            </a:r>
            <a:r>
              <a:rPr lang="en-US" b="1" i="1" dirty="0"/>
              <a:t>lateral strain.</a:t>
            </a:r>
            <a:r>
              <a:rPr lang="en-US" dirty="0"/>
              <a:t> </a:t>
            </a:r>
          </a:p>
        </p:txBody>
      </p:sp>
    </p:spTree>
    <p:extLst>
      <p:ext uri="{BB962C8B-B14F-4D97-AF65-F5344CB8AC3E}">
        <p14:creationId xmlns:p14="http://schemas.microsoft.com/office/powerpoint/2010/main" val="26583183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4131" y="365126"/>
            <a:ext cx="7622698" cy="678748"/>
          </a:xfrm>
        </p:spPr>
        <p:txBody>
          <a:bodyPr>
            <a:normAutofit fontScale="90000"/>
          </a:bodyPr>
          <a:lstStyle/>
          <a:p>
            <a:r>
              <a:rPr lang="en-US" dirty="0"/>
              <a:t>                        Poisson's Ratio </a:t>
            </a:r>
          </a:p>
        </p:txBody>
      </p:sp>
      <p:sp>
        <p:nvSpPr>
          <p:cNvPr id="3" name="Content Placeholder 2"/>
          <p:cNvSpPr>
            <a:spLocks noGrp="1"/>
          </p:cNvSpPr>
          <p:nvPr>
            <p:ph idx="1"/>
          </p:nvPr>
        </p:nvSpPr>
        <p:spPr>
          <a:xfrm>
            <a:off x="838200" y="1367554"/>
            <a:ext cx="10515600" cy="4809409"/>
          </a:xfrm>
        </p:spPr>
        <p:txBody>
          <a:bodyPr/>
          <a:lstStyle/>
          <a:p>
            <a:pPr marL="0" indent="0">
              <a:buNone/>
            </a:pPr>
            <a:r>
              <a:rPr lang="en-US" dirty="0"/>
              <a:t>It has been found experimentally that when a body is stressed within elastic limit, the lateral strain bears a constant ratio to the linear strain, Mathematically, </a:t>
            </a:r>
          </a:p>
          <a:p>
            <a:pPr marL="0" indent="0">
              <a:buNone/>
            </a:pPr>
            <a:endParaRPr lang="en-US" dirty="0"/>
          </a:p>
          <a:p>
            <a:pPr marL="0" indent="0">
              <a:buNone/>
            </a:pPr>
            <a:endParaRPr lang="en-US" dirty="0"/>
          </a:p>
          <a:p>
            <a:pPr marL="0" indent="0">
              <a:buNone/>
            </a:pPr>
            <a:endParaRPr lang="en-US" dirty="0"/>
          </a:p>
          <a:p>
            <a:r>
              <a:rPr lang="en-US" dirty="0"/>
              <a:t>This constant is known as </a:t>
            </a:r>
            <a:r>
              <a:rPr lang="en-US" b="1" dirty="0"/>
              <a:t>Poisson's ratio </a:t>
            </a:r>
            <a:r>
              <a:rPr lang="en-US" dirty="0"/>
              <a:t>and is denoted by 1/</a:t>
            </a:r>
            <a:r>
              <a:rPr lang="en-US" i="1" dirty="0"/>
              <a:t>m </a:t>
            </a:r>
            <a:r>
              <a:rPr lang="en-US" dirty="0"/>
              <a:t>or μ.</a:t>
            </a:r>
          </a:p>
          <a:p>
            <a:r>
              <a:rPr lang="en-US" dirty="0"/>
              <a:t>Following are the values of Poisson's ratio for some of the materials commonly used in engineering practice. </a:t>
            </a:r>
          </a:p>
          <a:p>
            <a:pPr marL="0" indent="0">
              <a:buNone/>
            </a:pPr>
            <a:endParaRPr lang="en-US" dirty="0"/>
          </a:p>
        </p:txBody>
      </p:sp>
      <p:pic>
        <p:nvPicPr>
          <p:cNvPr id="5" name="Picture 4"/>
          <p:cNvPicPr>
            <a:picLocks noChangeAspect="1"/>
          </p:cNvPicPr>
          <p:nvPr/>
        </p:nvPicPr>
        <p:blipFill>
          <a:blip r:embed="rId2">
            <a:biLevel thresh="75000"/>
          </a:blip>
          <a:stretch>
            <a:fillRect/>
          </a:stretch>
        </p:blipFill>
        <p:spPr>
          <a:xfrm>
            <a:off x="3714246" y="2647466"/>
            <a:ext cx="3269140" cy="1487565"/>
          </a:xfrm>
          <a:prstGeom prst="rect">
            <a:avLst/>
          </a:prstGeom>
        </p:spPr>
      </p:pic>
    </p:spTree>
    <p:extLst>
      <p:ext uri="{BB962C8B-B14F-4D97-AF65-F5344CB8AC3E}">
        <p14:creationId xmlns:p14="http://schemas.microsoft.com/office/powerpoint/2010/main" val="28975846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288349" cy="792035"/>
          </a:xfrm>
        </p:spPr>
        <p:txBody>
          <a:bodyPr/>
          <a:lstStyle/>
          <a:p>
            <a:pPr algn="ctr"/>
            <a:r>
              <a:rPr lang="en-US" dirty="0"/>
              <a:t>Volumetric Strain</a:t>
            </a:r>
          </a:p>
        </p:txBody>
      </p:sp>
      <p:sp>
        <p:nvSpPr>
          <p:cNvPr id="3" name="Content Placeholder 2"/>
          <p:cNvSpPr>
            <a:spLocks noGrp="1"/>
          </p:cNvSpPr>
          <p:nvPr>
            <p:ph idx="1"/>
          </p:nvPr>
        </p:nvSpPr>
        <p:spPr>
          <a:xfrm>
            <a:off x="838200" y="1157161"/>
            <a:ext cx="10515600" cy="5019803"/>
          </a:xfrm>
        </p:spPr>
        <p:txBody>
          <a:bodyPr/>
          <a:lstStyle/>
          <a:p>
            <a:pPr marL="0" indent="0">
              <a:buNone/>
            </a:pPr>
            <a:r>
              <a:rPr lang="en-US" dirty="0"/>
              <a:t>When a body is subjected to a system of forces, it undergoes some changes in its dimensions. In other words, the volume of the body is changed. The ratio of the change in volume to the original volume is known as </a:t>
            </a:r>
            <a:r>
              <a:rPr lang="en-US" b="1" i="1" dirty="0"/>
              <a:t>volumetric strain. </a:t>
            </a:r>
            <a:r>
              <a:rPr lang="en-US" dirty="0"/>
              <a:t>Mathematically, volumetric strain, </a:t>
            </a:r>
            <a:br>
              <a:rPr lang="en-US" dirty="0"/>
            </a:br>
            <a:endParaRPr lang="en-US" dirty="0"/>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colorTemperature colorTemp="5900"/>
                    </a14:imgEffect>
                    <a14:imgEffect>
                      <a14:saturation sat="33000"/>
                    </a14:imgEffect>
                    <a14:imgEffect>
                      <a14:brightnessContrast bright="-34000" contrast="86000"/>
                    </a14:imgEffect>
                  </a14:imgLayer>
                </a14:imgProps>
              </a:ext>
            </a:extLst>
          </a:blip>
          <a:stretch>
            <a:fillRect/>
          </a:stretch>
        </p:blipFill>
        <p:spPr>
          <a:xfrm>
            <a:off x="1043873" y="2767476"/>
            <a:ext cx="9532417" cy="3762797"/>
          </a:xfrm>
          <a:prstGeom prst="rect">
            <a:avLst/>
          </a:prstGeom>
        </p:spPr>
      </p:pic>
    </p:spTree>
    <p:extLst>
      <p:ext uri="{BB962C8B-B14F-4D97-AF65-F5344CB8AC3E}">
        <p14:creationId xmlns:p14="http://schemas.microsoft.com/office/powerpoint/2010/main" val="1748104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2234"/>
            <a:ext cx="10515600" cy="704008"/>
          </a:xfrm>
        </p:spPr>
        <p:txBody>
          <a:bodyPr/>
          <a:lstStyle/>
          <a:p>
            <a:pPr algn="ctr"/>
            <a:r>
              <a:rPr lang="en-US" dirty="0"/>
              <a:t>Bulk Modulus </a:t>
            </a:r>
          </a:p>
        </p:txBody>
      </p:sp>
      <p:sp>
        <p:nvSpPr>
          <p:cNvPr id="3" name="Content Placeholder 2"/>
          <p:cNvSpPr>
            <a:spLocks noGrp="1"/>
          </p:cNvSpPr>
          <p:nvPr>
            <p:ph idx="1"/>
          </p:nvPr>
        </p:nvSpPr>
        <p:spPr>
          <a:xfrm>
            <a:off x="838200" y="1076242"/>
            <a:ext cx="10514926" cy="5259822"/>
          </a:xfrm>
        </p:spPr>
        <p:txBody>
          <a:bodyPr/>
          <a:lstStyle/>
          <a:p>
            <a:pPr marL="0" indent="0">
              <a:buNone/>
            </a:pPr>
            <a:r>
              <a:rPr lang="en-US" dirty="0"/>
              <a:t>When a body is subjected to three mutually perpendicular stresses, of equal intensity, then the ratio of the direct stress to the corresponding volumetric strain is known as </a:t>
            </a:r>
            <a:r>
              <a:rPr lang="en-US" b="1" i="1" dirty="0"/>
              <a:t>bulk modulus. </a:t>
            </a:r>
            <a:r>
              <a:rPr lang="en-US" dirty="0"/>
              <a:t>It is usually denoted by </a:t>
            </a:r>
            <a:r>
              <a:rPr lang="en-US" i="1" dirty="0"/>
              <a:t>K</a:t>
            </a:r>
            <a:r>
              <a:rPr lang="en-US" dirty="0"/>
              <a:t>. Mathematically, bulk modulus, </a:t>
            </a:r>
          </a:p>
          <a:p>
            <a:pPr marL="0" indent="0">
              <a:buNone/>
            </a:pPr>
            <a:endParaRPr lang="en-US" dirty="0"/>
          </a:p>
          <a:p>
            <a:pPr marL="0" indent="0">
              <a:buNone/>
            </a:pPr>
            <a:endParaRPr lang="en-US" dirty="0"/>
          </a:p>
          <a:p>
            <a:pPr marL="0" indent="0">
              <a:buNone/>
            </a:pPr>
            <a:r>
              <a:rPr lang="en-US" dirty="0"/>
              <a:t>Relation Between Bulk Modulus and Young’s Modulus</a:t>
            </a:r>
          </a:p>
          <a:p>
            <a:pPr marL="0" indent="0">
              <a:buNone/>
            </a:pPr>
            <a:r>
              <a:rPr lang="en-US" dirty="0"/>
              <a:t>The bulk modulus (</a:t>
            </a:r>
            <a:r>
              <a:rPr lang="en-US" i="1" dirty="0"/>
              <a:t>K</a:t>
            </a:r>
            <a:r>
              <a:rPr lang="en-US" dirty="0"/>
              <a:t>) and Young's modulus (</a:t>
            </a:r>
            <a:r>
              <a:rPr lang="en-US" i="1" dirty="0"/>
              <a:t>E</a:t>
            </a:r>
            <a:r>
              <a:rPr lang="en-US" dirty="0"/>
              <a:t>) are related by the following relation, </a:t>
            </a:r>
            <a:br>
              <a:rPr lang="en-US" dirty="0"/>
            </a:br>
            <a:endParaRPr lang="en-US" dirty="0"/>
          </a:p>
          <a:p>
            <a:pPr marL="0" indent="0">
              <a:buNone/>
            </a:pPr>
            <a:endParaRPr lang="en-US" dirty="0"/>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brightnessContrast bright="-43000" contrast="91000"/>
                    </a14:imgEffect>
                  </a14:imgLayer>
                </a14:imgProps>
              </a:ext>
            </a:extLst>
          </a:blip>
          <a:stretch>
            <a:fillRect/>
          </a:stretch>
        </p:blipFill>
        <p:spPr>
          <a:xfrm>
            <a:off x="4828037" y="4774332"/>
            <a:ext cx="2351873" cy="1165696"/>
          </a:xfrm>
          <a:prstGeom prst="rect">
            <a:avLst/>
          </a:prstGeom>
        </p:spPr>
      </p:pic>
      <p:pic>
        <p:nvPicPr>
          <p:cNvPr id="5" name="Picture 4"/>
          <p:cNvPicPr>
            <a:picLocks noChangeAspect="1"/>
          </p:cNvPicPr>
          <p:nvPr/>
        </p:nvPicPr>
        <p:blipFill>
          <a:blip r:embed="rId4">
            <a:extLst>
              <a:ext uri="{BEBA8EAE-BF5A-486C-A8C5-ECC9F3942E4B}">
                <a14:imgProps xmlns:a14="http://schemas.microsoft.com/office/drawing/2010/main">
                  <a14:imgLayer r:embed="rId5">
                    <a14:imgEffect>
                      <a14:brightnessContrast bright="-44000" contrast="100000"/>
                    </a14:imgEffect>
                  </a14:imgLayer>
                </a14:imgProps>
              </a:ext>
            </a:extLst>
          </a:blip>
          <a:stretch>
            <a:fillRect/>
          </a:stretch>
        </p:blipFill>
        <p:spPr>
          <a:xfrm>
            <a:off x="5691883" y="2230999"/>
            <a:ext cx="2547992" cy="1058238"/>
          </a:xfrm>
          <a:prstGeom prst="rect">
            <a:avLst/>
          </a:prstGeom>
        </p:spPr>
      </p:pic>
    </p:spTree>
    <p:extLst>
      <p:ext uri="{BB962C8B-B14F-4D97-AF65-F5344CB8AC3E}">
        <p14:creationId xmlns:p14="http://schemas.microsoft.com/office/powerpoint/2010/main" val="39840965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5901"/>
            <a:ext cx="10515600" cy="5581062"/>
          </a:xfrm>
        </p:spPr>
        <p:txBody>
          <a:bodyPr/>
          <a:lstStyle/>
          <a:p>
            <a:r>
              <a:rPr lang="en-US" dirty="0"/>
              <a:t>Relation Between Young’s Modulus and Modulus of Rigidity</a:t>
            </a:r>
          </a:p>
          <a:p>
            <a:pPr marL="0" indent="0">
              <a:buNone/>
            </a:pPr>
            <a:r>
              <a:rPr lang="en-US" dirty="0"/>
              <a:t>The Young's modulus (</a:t>
            </a:r>
            <a:r>
              <a:rPr lang="en-US" i="1" dirty="0"/>
              <a:t>E</a:t>
            </a:r>
            <a:r>
              <a:rPr lang="en-US" dirty="0"/>
              <a:t>) and modulus of rigidity (</a:t>
            </a:r>
            <a:r>
              <a:rPr lang="en-US" i="1" dirty="0"/>
              <a:t>G</a:t>
            </a:r>
            <a:r>
              <a:rPr lang="en-US" dirty="0"/>
              <a:t>) are related by the following relation, </a:t>
            </a:r>
          </a:p>
          <a:p>
            <a:pPr marL="0" indent="0">
              <a:buNone/>
            </a:pPr>
            <a:endParaRPr lang="en-US" dirty="0"/>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84000"/>
                    </a14:imgEffect>
                  </a14:imgLayer>
                </a14:imgProps>
              </a:ext>
            </a:extLst>
          </a:blip>
          <a:stretch>
            <a:fillRect/>
          </a:stretch>
        </p:blipFill>
        <p:spPr>
          <a:xfrm>
            <a:off x="4140485" y="1741951"/>
            <a:ext cx="2453757" cy="1124539"/>
          </a:xfrm>
          <a:prstGeom prst="rect">
            <a:avLst/>
          </a:prstGeom>
        </p:spPr>
      </p:pic>
      <p:pic>
        <p:nvPicPr>
          <p:cNvPr id="5" name="Picture 4"/>
          <p:cNvPicPr>
            <a:picLocks noChangeAspect="1"/>
          </p:cNvPicPr>
          <p:nvPr/>
        </p:nvPicPr>
        <p:blipFill>
          <a:blip r:embed="rId4">
            <a:extLst>
              <a:ext uri="{BEBA8EAE-BF5A-486C-A8C5-ECC9F3942E4B}">
                <a14:imgProps xmlns:a14="http://schemas.microsoft.com/office/drawing/2010/main">
                  <a14:imgLayer r:embed="rId5">
                    <a14:imgEffect>
                      <a14:brightnessContrast bright="-30000" contrast="81000"/>
                    </a14:imgEffect>
                  </a14:imgLayer>
                </a14:imgProps>
              </a:ext>
            </a:extLst>
          </a:blip>
          <a:stretch>
            <a:fillRect/>
          </a:stretch>
        </p:blipFill>
        <p:spPr>
          <a:xfrm>
            <a:off x="751841" y="3429000"/>
            <a:ext cx="10601960" cy="2747963"/>
          </a:xfrm>
          <a:prstGeom prst="rect">
            <a:avLst/>
          </a:prstGeom>
        </p:spPr>
      </p:pic>
    </p:spTree>
    <p:extLst>
      <p:ext uri="{BB962C8B-B14F-4D97-AF65-F5344CB8AC3E}">
        <p14:creationId xmlns:p14="http://schemas.microsoft.com/office/powerpoint/2010/main" val="21196390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3446" y="365125"/>
            <a:ext cx="10100354" cy="816403"/>
          </a:xfrm>
        </p:spPr>
        <p:txBody>
          <a:bodyPr/>
          <a:lstStyle/>
          <a:p>
            <a:pPr algn="ctr"/>
            <a:r>
              <a:rPr lang="en-US" dirty="0"/>
              <a:t>Impact Stress </a:t>
            </a:r>
          </a:p>
        </p:txBody>
      </p:sp>
      <p:sp>
        <p:nvSpPr>
          <p:cNvPr id="3" name="Content Placeholder 2"/>
          <p:cNvSpPr>
            <a:spLocks noGrp="1"/>
          </p:cNvSpPr>
          <p:nvPr>
            <p:ph idx="1"/>
          </p:nvPr>
        </p:nvSpPr>
        <p:spPr>
          <a:xfrm>
            <a:off x="838200" y="1181528"/>
            <a:ext cx="10638034" cy="5274923"/>
          </a:xfrm>
        </p:spPr>
        <p:txBody>
          <a:bodyPr/>
          <a:lstStyle/>
          <a:p>
            <a:r>
              <a:rPr lang="en-US" dirty="0"/>
              <a:t>Sometimes, machine members are subjected to the load with impact. The stress produced in the member due to the falling load is known as </a:t>
            </a:r>
            <a:r>
              <a:rPr lang="en-US" b="1" i="1" dirty="0"/>
              <a:t>impact stress.</a:t>
            </a:r>
          </a:p>
          <a:p>
            <a:r>
              <a:rPr lang="en-US" dirty="0"/>
              <a:t>Consider a bar carrying a load </a:t>
            </a:r>
            <a:r>
              <a:rPr lang="en-US" i="1" dirty="0"/>
              <a:t>W </a:t>
            </a:r>
            <a:r>
              <a:rPr lang="en-US" dirty="0"/>
              <a:t>at a height </a:t>
            </a:r>
            <a:r>
              <a:rPr lang="en-US" i="1" dirty="0"/>
              <a:t>h </a:t>
            </a:r>
            <a:r>
              <a:rPr lang="en-US" dirty="0"/>
              <a:t>and falling on the collar provided at the lower end, as shown in Fig. </a:t>
            </a:r>
            <a:br>
              <a:rPr lang="en-US" dirty="0"/>
            </a:br>
            <a:endParaRPr lang="en-US" dirty="0"/>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brightnessContrast bright="-27000" contrast="74000"/>
                    </a14:imgEffect>
                  </a14:imgLayer>
                </a14:imgProps>
              </a:ext>
            </a:extLst>
          </a:blip>
          <a:stretch>
            <a:fillRect/>
          </a:stretch>
        </p:blipFill>
        <p:spPr>
          <a:xfrm>
            <a:off x="838200" y="3431569"/>
            <a:ext cx="6929919" cy="3154165"/>
          </a:xfrm>
          <a:prstGeom prst="rect">
            <a:avLst/>
          </a:prstGeom>
        </p:spPr>
      </p:pic>
      <p:pic>
        <p:nvPicPr>
          <p:cNvPr id="6" name="Picture 5"/>
          <p:cNvPicPr>
            <a:picLocks noChangeAspect="1"/>
          </p:cNvPicPr>
          <p:nvPr/>
        </p:nvPicPr>
        <p:blipFill>
          <a:blip r:embed="rId4">
            <a:extLst>
              <a:ext uri="{BEBA8EAE-BF5A-486C-A8C5-ECC9F3942E4B}">
                <a14:imgProps xmlns:a14="http://schemas.microsoft.com/office/drawing/2010/main">
                  <a14:imgLayer r:embed="rId5">
                    <a14:imgEffect>
                      <a14:brightnessContrast bright="-27000" contrast="71000"/>
                    </a14:imgEffect>
                  </a14:imgLayer>
                </a14:imgProps>
              </a:ext>
            </a:extLst>
          </a:blip>
          <a:stretch>
            <a:fillRect/>
          </a:stretch>
        </p:blipFill>
        <p:spPr>
          <a:xfrm>
            <a:off x="7768119" y="2920908"/>
            <a:ext cx="3585681" cy="3736746"/>
          </a:xfrm>
          <a:prstGeom prst="rect">
            <a:avLst/>
          </a:prstGeom>
        </p:spPr>
      </p:pic>
    </p:spTree>
    <p:extLst>
      <p:ext uri="{BB962C8B-B14F-4D97-AF65-F5344CB8AC3E}">
        <p14:creationId xmlns:p14="http://schemas.microsoft.com/office/powerpoint/2010/main" val="11416477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grayscl/>
            <a:extLst>
              <a:ext uri="{BEBA8EAE-BF5A-486C-A8C5-ECC9F3942E4B}">
                <a14:imgProps xmlns:a14="http://schemas.microsoft.com/office/drawing/2010/main">
                  <a14:imgLayer r:embed="rId3">
                    <a14:imgEffect>
                      <a14:colorTemperature colorTemp="5900"/>
                    </a14:imgEffect>
                    <a14:imgEffect>
                      <a14:brightnessContrast bright="-20000" contrast="81000"/>
                    </a14:imgEffect>
                  </a14:imgLayer>
                </a14:imgProps>
              </a:ext>
            </a:extLst>
          </a:blip>
          <a:stretch>
            <a:fillRect/>
          </a:stretch>
        </p:blipFill>
        <p:spPr>
          <a:xfrm>
            <a:off x="658700" y="93612"/>
            <a:ext cx="10856265" cy="6594864"/>
          </a:xfrm>
          <a:prstGeom prst="rect">
            <a:avLst/>
          </a:prstGeom>
        </p:spPr>
      </p:pic>
    </p:spTree>
    <p:extLst>
      <p:ext uri="{BB962C8B-B14F-4D97-AF65-F5344CB8AC3E}">
        <p14:creationId xmlns:p14="http://schemas.microsoft.com/office/powerpoint/2010/main" val="1781283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biLevel thresh="75000"/>
          </a:blip>
          <a:stretch>
            <a:fillRect/>
          </a:stretch>
        </p:blipFill>
        <p:spPr>
          <a:xfrm>
            <a:off x="701040" y="284481"/>
            <a:ext cx="10749280" cy="1574800"/>
          </a:xfrm>
          <a:prstGeom prst="rect">
            <a:avLst/>
          </a:prstGeom>
        </p:spPr>
      </p:pic>
      <p:pic>
        <p:nvPicPr>
          <p:cNvPr id="5" name="Picture 4"/>
          <p:cNvPicPr>
            <a:picLocks noChangeAspect="1"/>
          </p:cNvPicPr>
          <p:nvPr/>
        </p:nvPicPr>
        <p:blipFill>
          <a:blip r:embed="rId3">
            <a:biLevel thresh="75000"/>
          </a:blip>
          <a:stretch>
            <a:fillRect/>
          </a:stretch>
        </p:blipFill>
        <p:spPr>
          <a:xfrm>
            <a:off x="1140430" y="2184400"/>
            <a:ext cx="9811821" cy="3972560"/>
          </a:xfrm>
          <a:prstGeom prst="rect">
            <a:avLst/>
          </a:prstGeom>
        </p:spPr>
      </p:pic>
    </p:spTree>
    <p:extLst>
      <p:ext uri="{BB962C8B-B14F-4D97-AF65-F5344CB8AC3E}">
        <p14:creationId xmlns:p14="http://schemas.microsoft.com/office/powerpoint/2010/main" val="12650222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biLevel thresh="75000"/>
          </a:blip>
          <a:stretch>
            <a:fillRect/>
          </a:stretch>
        </p:blipFill>
        <p:spPr>
          <a:xfrm>
            <a:off x="1962364" y="739739"/>
            <a:ext cx="8776756" cy="5862006"/>
          </a:xfrm>
          <a:prstGeom prst="rect">
            <a:avLst/>
          </a:prstGeom>
        </p:spPr>
      </p:pic>
    </p:spTree>
    <p:extLst>
      <p:ext uri="{BB962C8B-B14F-4D97-AF65-F5344CB8AC3E}">
        <p14:creationId xmlns:p14="http://schemas.microsoft.com/office/powerpoint/2010/main" val="5799983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3433"/>
            <a:ext cx="10515600" cy="1027415"/>
          </a:xfrm>
        </p:spPr>
        <p:txBody>
          <a:bodyPr/>
          <a:lstStyle/>
          <a:p>
            <a:pPr algn="ctr"/>
            <a:r>
              <a:rPr lang="en-US" b="1" dirty="0">
                <a:latin typeface="Bookman Old Style" panose="02050604050505020204" pitchFamily="18" charset="0"/>
              </a:rPr>
              <a:t>Resilience </a:t>
            </a:r>
          </a:p>
        </p:txBody>
      </p:sp>
      <p:sp>
        <p:nvSpPr>
          <p:cNvPr id="3" name="Content Placeholder 2"/>
          <p:cNvSpPr>
            <a:spLocks noGrp="1"/>
          </p:cNvSpPr>
          <p:nvPr>
            <p:ph idx="1"/>
          </p:nvPr>
        </p:nvSpPr>
        <p:spPr>
          <a:xfrm>
            <a:off x="838200" y="1366463"/>
            <a:ext cx="10515600" cy="4810500"/>
          </a:xfrm>
        </p:spPr>
        <p:txBody>
          <a:bodyPr/>
          <a:lstStyle/>
          <a:p>
            <a:pPr marL="0" indent="0">
              <a:buNone/>
            </a:pPr>
            <a:endParaRPr lang="en-US" dirty="0"/>
          </a:p>
          <a:p>
            <a:pPr marL="0" indent="0">
              <a:buNone/>
            </a:pPr>
            <a:r>
              <a:rPr lang="en-US" dirty="0"/>
              <a:t>When a body is </a:t>
            </a:r>
            <a:r>
              <a:rPr lang="en-US" dirty="0">
                <a:solidFill>
                  <a:srgbClr val="FF0000"/>
                </a:solidFill>
              </a:rPr>
              <a:t>loaded within elastic limit</a:t>
            </a:r>
            <a:r>
              <a:rPr lang="en-US" dirty="0"/>
              <a:t>, it </a:t>
            </a:r>
            <a:r>
              <a:rPr lang="en-US" dirty="0">
                <a:solidFill>
                  <a:srgbClr val="00B0F0"/>
                </a:solidFill>
              </a:rPr>
              <a:t>changes its dimensions </a:t>
            </a:r>
            <a:r>
              <a:rPr lang="en-US" dirty="0"/>
              <a:t>and on the </a:t>
            </a:r>
            <a:r>
              <a:rPr lang="en-US" dirty="0">
                <a:solidFill>
                  <a:srgbClr val="00B0F0"/>
                </a:solidFill>
              </a:rPr>
              <a:t>removal of the load</a:t>
            </a:r>
            <a:r>
              <a:rPr lang="en-US" dirty="0"/>
              <a:t>, it </a:t>
            </a:r>
            <a:r>
              <a:rPr lang="en-US" dirty="0">
                <a:solidFill>
                  <a:srgbClr val="FF0000"/>
                </a:solidFill>
              </a:rPr>
              <a:t>regains its original dimensions</a:t>
            </a:r>
            <a:r>
              <a:rPr lang="en-US" dirty="0"/>
              <a:t>. </a:t>
            </a:r>
          </a:p>
          <a:p>
            <a:pPr marL="0" indent="0">
              <a:buNone/>
            </a:pPr>
            <a:r>
              <a:rPr lang="en-US" dirty="0"/>
              <a:t>So long as it remains loaded, it has </a:t>
            </a:r>
            <a:r>
              <a:rPr lang="en-US" dirty="0">
                <a:solidFill>
                  <a:srgbClr val="FF0000"/>
                </a:solidFill>
              </a:rPr>
              <a:t>stored energy in itself</a:t>
            </a:r>
            <a:r>
              <a:rPr lang="en-US" dirty="0"/>
              <a:t>. </a:t>
            </a:r>
          </a:p>
          <a:p>
            <a:pPr marL="0" indent="0">
              <a:buNone/>
            </a:pPr>
            <a:r>
              <a:rPr lang="en-US" dirty="0"/>
              <a:t>On removing the load, </a:t>
            </a:r>
            <a:r>
              <a:rPr lang="en-US" dirty="0">
                <a:solidFill>
                  <a:srgbClr val="FF0000"/>
                </a:solidFill>
              </a:rPr>
              <a:t>the energy stored is given off as in the case of a spring</a:t>
            </a:r>
            <a:r>
              <a:rPr lang="en-US" dirty="0"/>
              <a:t>. </a:t>
            </a:r>
          </a:p>
          <a:p>
            <a:pPr marL="0" indent="0">
              <a:buNone/>
            </a:pPr>
            <a:r>
              <a:rPr lang="en-US" dirty="0"/>
              <a:t>This energy, which is absorbed in a body when strained within elastic limit, is known as </a:t>
            </a:r>
            <a:r>
              <a:rPr lang="en-US" b="1" i="1" dirty="0">
                <a:solidFill>
                  <a:srgbClr val="FF0000"/>
                </a:solidFill>
              </a:rPr>
              <a:t>strain energy</a:t>
            </a:r>
            <a:r>
              <a:rPr lang="en-US" b="1" dirty="0"/>
              <a:t>. </a:t>
            </a:r>
            <a:r>
              <a:rPr lang="en-US" dirty="0"/>
              <a:t>The strain energy is always capable of doing some work. </a:t>
            </a:r>
            <a:br>
              <a:rPr lang="en-US" dirty="0"/>
            </a:br>
            <a:endParaRPr lang="en-US" dirty="0"/>
          </a:p>
        </p:txBody>
      </p:sp>
    </p:spTree>
    <p:extLst>
      <p:ext uri="{BB962C8B-B14F-4D97-AF65-F5344CB8AC3E}">
        <p14:creationId xmlns:p14="http://schemas.microsoft.com/office/powerpoint/2010/main" val="19704674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5901" y="955498"/>
            <a:ext cx="11075542" cy="5311738"/>
          </a:xfrm>
        </p:spPr>
        <p:txBody>
          <a:bodyPr/>
          <a:lstStyle/>
          <a:p>
            <a:pPr marL="0" indent="0">
              <a:buNone/>
            </a:pPr>
            <a:r>
              <a:rPr lang="en-US" dirty="0"/>
              <a:t>The </a:t>
            </a:r>
            <a:r>
              <a:rPr lang="en-US" dirty="0">
                <a:solidFill>
                  <a:srgbClr val="FF0000"/>
                </a:solidFill>
              </a:rPr>
              <a:t>strain energy</a:t>
            </a:r>
            <a:r>
              <a:rPr lang="en-US" dirty="0"/>
              <a:t> stored in a body due to </a:t>
            </a:r>
            <a:r>
              <a:rPr lang="en-US" dirty="0">
                <a:solidFill>
                  <a:srgbClr val="FF0000"/>
                </a:solidFill>
              </a:rPr>
              <a:t>external loading</a:t>
            </a:r>
            <a:r>
              <a:rPr lang="en-US" dirty="0"/>
              <a:t>, within elastic limit, is known as </a:t>
            </a:r>
            <a:r>
              <a:rPr lang="en-US" b="1" i="1" dirty="0">
                <a:solidFill>
                  <a:srgbClr val="FF0000"/>
                </a:solidFill>
              </a:rPr>
              <a:t>resilience</a:t>
            </a:r>
            <a:r>
              <a:rPr lang="en-US" b="1" i="1" dirty="0"/>
              <a:t> </a:t>
            </a:r>
            <a:r>
              <a:rPr lang="en-US" dirty="0"/>
              <a:t>and the maximum energy which can be stored in a body up to the elastic limit is called </a:t>
            </a:r>
            <a:r>
              <a:rPr lang="en-US" b="1" i="1" dirty="0">
                <a:solidFill>
                  <a:srgbClr val="FF0000"/>
                </a:solidFill>
              </a:rPr>
              <a:t>proof resilience</a:t>
            </a:r>
            <a:r>
              <a:rPr lang="en-US" i="1" dirty="0"/>
              <a:t>. </a:t>
            </a:r>
          </a:p>
          <a:p>
            <a:pPr marL="0" indent="0">
              <a:buNone/>
            </a:pPr>
            <a:r>
              <a:rPr lang="en-US" dirty="0"/>
              <a:t>The proof resilience per unit volume of a material is known as </a:t>
            </a:r>
            <a:r>
              <a:rPr lang="en-US" b="1" i="1" dirty="0">
                <a:solidFill>
                  <a:srgbClr val="FF0000"/>
                </a:solidFill>
              </a:rPr>
              <a:t>modulus of resilience</a:t>
            </a:r>
            <a:r>
              <a:rPr lang="en-US" b="1" dirty="0"/>
              <a:t>. </a:t>
            </a:r>
          </a:p>
          <a:p>
            <a:pPr marL="0" indent="0">
              <a:buNone/>
            </a:pPr>
            <a:r>
              <a:rPr lang="en-US" dirty="0"/>
              <a:t>It is an important property of a material and gives capacity of the material to bear impact or shocks. </a:t>
            </a:r>
          </a:p>
          <a:p>
            <a:pPr marL="0" indent="0">
              <a:buNone/>
            </a:pPr>
            <a:r>
              <a:rPr lang="en-US" dirty="0"/>
              <a:t>Mathematically, </a:t>
            </a:r>
            <a:r>
              <a:rPr lang="en-US" dirty="0">
                <a:solidFill>
                  <a:srgbClr val="FF0000"/>
                </a:solidFill>
              </a:rPr>
              <a:t>strain energy stored </a:t>
            </a:r>
            <a:r>
              <a:rPr lang="en-US" dirty="0"/>
              <a:t>in a body due to tensile or compressive load or resilience is given by the formula:</a:t>
            </a:r>
          </a:p>
          <a:p>
            <a:pPr marL="0" indent="0">
              <a:buNone/>
            </a:pPr>
            <a:br>
              <a:rPr lang="en-US" dirty="0"/>
            </a:br>
            <a:r>
              <a:rPr lang="en-US" dirty="0"/>
              <a:t>and </a:t>
            </a:r>
          </a:p>
        </p:txBody>
      </p:sp>
      <p:pic>
        <p:nvPicPr>
          <p:cNvPr id="4" name="Picture 3"/>
          <p:cNvPicPr>
            <a:picLocks noChangeAspect="1"/>
          </p:cNvPicPr>
          <p:nvPr/>
        </p:nvPicPr>
        <p:blipFill>
          <a:blip r:embed="rId2">
            <a:biLevel thresh="75000"/>
          </a:blip>
          <a:stretch>
            <a:fillRect/>
          </a:stretch>
        </p:blipFill>
        <p:spPr>
          <a:xfrm>
            <a:off x="8598902" y="4430409"/>
            <a:ext cx="2331316" cy="961275"/>
          </a:xfrm>
          <a:prstGeom prst="rect">
            <a:avLst/>
          </a:prstGeom>
        </p:spPr>
      </p:pic>
      <p:pic>
        <p:nvPicPr>
          <p:cNvPr id="5" name="Picture 4"/>
          <p:cNvPicPr>
            <a:picLocks noChangeAspect="1"/>
          </p:cNvPicPr>
          <p:nvPr/>
        </p:nvPicPr>
        <p:blipFill>
          <a:blip r:embed="rId3">
            <a:biLevel thresh="75000"/>
          </a:blip>
          <a:stretch>
            <a:fillRect/>
          </a:stretch>
        </p:blipFill>
        <p:spPr>
          <a:xfrm>
            <a:off x="1885790" y="4911047"/>
            <a:ext cx="2624606" cy="1356189"/>
          </a:xfrm>
          <a:prstGeom prst="rect">
            <a:avLst/>
          </a:prstGeom>
        </p:spPr>
      </p:pic>
    </p:spTree>
    <p:extLst>
      <p:ext uri="{BB962C8B-B14F-4D97-AF65-F5344CB8AC3E}">
        <p14:creationId xmlns:p14="http://schemas.microsoft.com/office/powerpoint/2010/main" val="28788749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biLevel thresh="75000"/>
          </a:blip>
          <a:stretch>
            <a:fillRect/>
          </a:stretch>
        </p:blipFill>
        <p:spPr>
          <a:xfrm>
            <a:off x="1160980" y="1037690"/>
            <a:ext cx="9688530" cy="5322013"/>
          </a:xfrm>
          <a:prstGeom prst="rect">
            <a:avLst/>
          </a:prstGeom>
        </p:spPr>
      </p:pic>
    </p:spTree>
    <p:extLst>
      <p:ext uri="{BB962C8B-B14F-4D97-AF65-F5344CB8AC3E}">
        <p14:creationId xmlns:p14="http://schemas.microsoft.com/office/powerpoint/2010/main" val="40127699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biLevel thresh="75000"/>
          </a:blip>
          <a:stretch>
            <a:fillRect/>
          </a:stretch>
        </p:blipFill>
        <p:spPr>
          <a:xfrm>
            <a:off x="1243173" y="393090"/>
            <a:ext cx="9606337" cy="907390"/>
          </a:xfrm>
          <a:prstGeom prst="rect">
            <a:avLst/>
          </a:prstGeom>
        </p:spPr>
      </p:pic>
      <p:pic>
        <p:nvPicPr>
          <p:cNvPr id="5" name="Content Placeholder 4"/>
          <p:cNvPicPr>
            <a:picLocks noGrp="1" noChangeAspect="1"/>
          </p:cNvPicPr>
          <p:nvPr>
            <p:ph idx="1"/>
          </p:nvPr>
        </p:nvPicPr>
        <p:blipFill>
          <a:blip r:embed="rId3">
            <a:biLevel thresh="75000"/>
          </a:blip>
          <a:stretch>
            <a:fillRect/>
          </a:stretch>
        </p:blipFill>
        <p:spPr>
          <a:xfrm>
            <a:off x="1601056" y="1463040"/>
            <a:ext cx="8989888" cy="5214590"/>
          </a:xfrm>
          <a:prstGeom prst="rect">
            <a:avLst/>
          </a:prstGeom>
        </p:spPr>
      </p:pic>
    </p:spTree>
    <p:extLst>
      <p:ext uri="{BB962C8B-B14F-4D97-AF65-F5344CB8AC3E}">
        <p14:creationId xmlns:p14="http://schemas.microsoft.com/office/powerpoint/2010/main" val="1083865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938</TotalTime>
  <Words>1189</Words>
  <Application>Microsoft Office PowerPoint</Application>
  <PresentationFormat>Widescreen</PresentationFormat>
  <Paragraphs>71</Paragraphs>
  <Slides>33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Arial</vt:lpstr>
      <vt:lpstr>Bookman Old Style</vt:lpstr>
      <vt:lpstr>Calibri</vt:lpstr>
      <vt:lpstr>Calibri Light</vt:lpstr>
      <vt:lpstr>Times New Roman</vt:lpstr>
      <vt:lpstr>Times-BoldItalic</vt:lpstr>
      <vt:lpstr>Times-Roman</vt:lpstr>
      <vt:lpstr>Wingdings</vt:lpstr>
      <vt:lpstr>Office Theme</vt:lpstr>
      <vt:lpstr>STRESS IN COMPOSITE BARS</vt:lpstr>
      <vt:lpstr>STRESS IN COMPOSITE BARS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Stresses due to Change in Temperature -Thermal Stresses </vt:lpstr>
      <vt:lpstr>PowerPoint Presentation</vt:lpstr>
      <vt:lpstr>PowerPoint Presentation</vt:lpstr>
      <vt:lpstr>PowerPoint Presentation</vt:lpstr>
      <vt:lpstr>PowerPoint Presentation</vt:lpstr>
      <vt:lpstr>PowerPoint Presentation</vt:lpstr>
      <vt:lpstr>PowerPoint Presentation</vt:lpstr>
      <vt:lpstr>Note that;</vt:lpstr>
      <vt:lpstr>∴ Reduction in length of copper bar due to force P is given by: </vt:lpstr>
      <vt:lpstr>In other words, we can also say that since the coefficient of thermal expansion for copper (αc) is more than the coefficient of thermal expansion for steel (αs), therefore the copper bar will be subjected to compressive stress and the steel tube will be subjected to tensile stress. </vt:lpstr>
      <vt:lpstr>Linear and Lateral Strain </vt:lpstr>
      <vt:lpstr>PowerPoint Presentation</vt:lpstr>
      <vt:lpstr>                        Poisson's Ratio </vt:lpstr>
      <vt:lpstr>Volumetric Strain</vt:lpstr>
      <vt:lpstr>Bulk Modulus </vt:lpstr>
      <vt:lpstr>PowerPoint Presentation</vt:lpstr>
      <vt:lpstr>Impact Stress </vt:lpstr>
      <vt:lpstr>PowerPoint Presentation</vt:lpstr>
      <vt:lpstr>PowerPoint Presentation</vt:lpstr>
      <vt:lpstr>PowerPoint Presentation</vt:lpstr>
      <vt:lpstr>Resilience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SRESS IN COMPOSITE BARS</dc:title>
  <dc:creator>KISHOSHA</dc:creator>
  <cp:lastModifiedBy>KULWA KISHOSHA</cp:lastModifiedBy>
  <cp:revision>39</cp:revision>
  <dcterms:created xsi:type="dcterms:W3CDTF">2025-03-27T16:32:10Z</dcterms:created>
  <dcterms:modified xsi:type="dcterms:W3CDTF">2026-04-20T17:25:46Z</dcterms:modified>
</cp:coreProperties>
</file>